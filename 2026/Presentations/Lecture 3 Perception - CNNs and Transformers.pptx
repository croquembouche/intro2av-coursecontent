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dat" ContentType="application/x-fontdata"/>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a389799acc4b09" /><Relationship Type="http://schemas.openxmlformats.org/officeDocument/2006/relationships/extended-properties" Target="/docProps/app.xml" Id="R017b835d8be24b22" /><Relationship Type="http://schemas.openxmlformats.org/officeDocument/2006/relationships/officeDocument" Target="/ppt/presentation.xml" Id="R52f55aa0376744b2"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c4227fbb3a674cd8"/>
  </p:sldMasterIdLst>
  <p:notesMasterIdLst>
    <p:notesMasterId xmlns:r="http://schemas.openxmlformats.org/officeDocument/2006/relationships" r:id="Re18e16aa2f894271"/>
  </p:notesMasterIdLst>
  <p:sldIdLst>
    <p:sldId xmlns:r="http://schemas.openxmlformats.org/officeDocument/2006/relationships" id="256" r:id="Rcb9dfb0ea1f0412c"/>
    <p:sldId xmlns:r="http://schemas.openxmlformats.org/officeDocument/2006/relationships" id="257" r:id="Rdcfbfa3191c14d56"/>
    <p:sldId xmlns:r="http://schemas.openxmlformats.org/officeDocument/2006/relationships" id="258" r:id="R4b88a99181694d33"/>
    <p:sldId xmlns:r="http://schemas.openxmlformats.org/officeDocument/2006/relationships" id="259" r:id="Rdea890db532a4f39"/>
    <p:sldId xmlns:r="http://schemas.openxmlformats.org/officeDocument/2006/relationships" id="260" r:id="R859cd9daae36456b"/>
    <p:sldId xmlns:r="http://schemas.openxmlformats.org/officeDocument/2006/relationships" id="261" r:id="R3dbfbb778a9040b9"/>
    <p:sldId xmlns:r="http://schemas.openxmlformats.org/officeDocument/2006/relationships" id="262" r:id="R3df3044e0821485e"/>
    <p:sldId xmlns:r="http://schemas.openxmlformats.org/officeDocument/2006/relationships" id="263" r:id="R684a11e5ba6b4269"/>
    <p:sldId xmlns:r="http://schemas.openxmlformats.org/officeDocument/2006/relationships" id="264" r:id="Rcd5b04c72387417c"/>
    <p:sldId xmlns:r="http://schemas.openxmlformats.org/officeDocument/2006/relationships" id="265" r:id="R41a3373aeb504f17"/>
    <p:sldId xmlns:r="http://schemas.openxmlformats.org/officeDocument/2006/relationships" id="266" r:id="R5bb20bc6b7794524"/>
    <p:sldId xmlns:r="http://schemas.openxmlformats.org/officeDocument/2006/relationships" id="267" r:id="Rf256d0f5d6084b47"/>
    <p:sldId xmlns:r="http://schemas.openxmlformats.org/officeDocument/2006/relationships" id="268" r:id="Ree8dc0df570d475e"/>
    <p:sldId xmlns:r="http://schemas.openxmlformats.org/officeDocument/2006/relationships" id="269" r:id="R51ed67f239a84df4"/>
    <p:sldId xmlns:r="http://schemas.openxmlformats.org/officeDocument/2006/relationships" id="270" r:id="R32b936bada544b14"/>
    <p:sldId xmlns:r="http://schemas.openxmlformats.org/officeDocument/2006/relationships" id="271" r:id="R9aab29f198044ff9"/>
    <p:sldId xmlns:r="http://schemas.openxmlformats.org/officeDocument/2006/relationships" id="272" r:id="R101f865082eb46e5"/>
    <p:sldId xmlns:r="http://schemas.openxmlformats.org/officeDocument/2006/relationships" id="273" r:id="Rf15bfb41c4ab45a5"/>
    <p:sldId xmlns:r="http://schemas.openxmlformats.org/officeDocument/2006/relationships" id="274" r:id="R6d9c313324cc4eb5"/>
    <p:sldId xmlns:r="http://schemas.openxmlformats.org/officeDocument/2006/relationships" id="275" r:id="R5c64ba092b6e4842"/>
    <p:sldId xmlns:r="http://schemas.openxmlformats.org/officeDocument/2006/relationships" id="276" r:id="R8f69e6e36c354675"/>
    <p:sldId xmlns:r="http://schemas.openxmlformats.org/officeDocument/2006/relationships" id="277" r:id="R5f7ff16da3874bdf"/>
    <p:sldId xmlns:r="http://schemas.openxmlformats.org/officeDocument/2006/relationships" id="278" r:id="Rbd4a150692964f22"/>
    <p:sldId xmlns:r="http://schemas.openxmlformats.org/officeDocument/2006/relationships" id="279" r:id="R9d1ba35259b84ad2"/>
    <p:sldId xmlns:r="http://schemas.openxmlformats.org/officeDocument/2006/relationships" id="280" r:id="R05725b36b8894c4e"/>
    <p:sldId xmlns:r="http://schemas.openxmlformats.org/officeDocument/2006/relationships" id="281" r:id="Rcd62c95a3d6f4d02"/>
    <p:sldId xmlns:r="http://schemas.openxmlformats.org/officeDocument/2006/relationships" id="282" r:id="R0821f589a63b4342"/>
    <p:sldId xmlns:r="http://schemas.openxmlformats.org/officeDocument/2006/relationships" id="283" r:id="R4c1fa147195246d9"/>
    <p:sldId xmlns:r="http://schemas.openxmlformats.org/officeDocument/2006/relationships" id="284" r:id="Rc0343409079b43d3"/>
    <p:sldId xmlns:r="http://schemas.openxmlformats.org/officeDocument/2006/relationships" id="285" r:id="R308dcd61d5524447"/>
    <p:sldId xmlns:r="http://schemas.openxmlformats.org/officeDocument/2006/relationships" id="286" r:id="Rc7df3c472b864a58"/>
    <p:sldId xmlns:r="http://schemas.openxmlformats.org/officeDocument/2006/relationships" id="287" r:id="R61d1b7722b6d4153"/>
    <p:sldId xmlns:r="http://schemas.openxmlformats.org/officeDocument/2006/relationships" id="288" r:id="Rac942f6917a64955"/>
  </p:sldIdLst>
  <p:sldSz cx="9144000" cy="5143500"/>
  <p:notesSz cx="6858000" cy="9144000"/>
  <p:embeddedFontLst>
    <p:embeddedFont>
      <p:font typeface="Helvetica Neue"/>
      <p:regular xmlns:r="http://schemas.openxmlformats.org/officeDocument/2006/relationships" r:id="R78f399f64e01439a"/>
      <p:bold xmlns:r="http://schemas.openxmlformats.org/officeDocument/2006/relationships" r:id="R11b21f4ee6f1432d"/>
      <p:italic xmlns:r="http://schemas.openxmlformats.org/officeDocument/2006/relationships" r:id="R246f5ad709ce4311"/>
      <p:boldItalic xmlns:r="http://schemas.openxmlformats.org/officeDocument/2006/relationships" r:id="R06bed29ff9a44401"/>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cf6c61583e15467f" /><Relationship Type="http://schemas.openxmlformats.org/officeDocument/2006/relationships/slideMaster" Target="/ppt/slideMasters/slideMaster1.xml" Id="Rc4227fbb3a674cd8" /><Relationship Type="http://schemas.openxmlformats.org/officeDocument/2006/relationships/notesMaster" Target="/ppt/notesMasters/notesMaster1.xml" Id="Re18e16aa2f894271" /><Relationship Type="http://schemas.openxmlformats.org/officeDocument/2006/relationships/presProps" Target="/ppt/presProps.xml" Id="R95e8acad046e4bf6" /><Relationship Type="http://schemas.openxmlformats.org/officeDocument/2006/relationships/viewProps" Target="/ppt/viewProps.xml" Id="Rd49bef74fd7e43fd" /><Relationship Type="http://schemas.openxmlformats.org/officeDocument/2006/relationships/tableStyles" Target="/ppt/tableStyles.xml" Id="R3d02c21289ae4d50" /><Relationship Type="http://schemas.openxmlformats.org/officeDocument/2006/relationships/font" Target="/ppt/fonts/font.dat" Id="R78f399f64e01439a" /><Relationship Type="http://schemas.openxmlformats.org/officeDocument/2006/relationships/font" Target="/ppt/fonts/font2.dat" Id="R11b21f4ee6f1432d" /><Relationship Type="http://schemas.openxmlformats.org/officeDocument/2006/relationships/font" Target="/ppt/fonts/font3.dat" Id="R246f5ad709ce4311" /><Relationship Type="http://schemas.openxmlformats.org/officeDocument/2006/relationships/font" Target="/ppt/fonts/font4.dat" Id="R06bed29ff9a44401" /><Relationship Type="http://schemas.openxmlformats.org/officeDocument/2006/relationships/slide" Target="/ppt/slides/slide1.xml" Id="Rcb9dfb0ea1f0412c" /><Relationship Type="http://schemas.openxmlformats.org/officeDocument/2006/relationships/slide" Target="/ppt/slides/slide2.xml" Id="Rdcfbfa3191c14d56" /><Relationship Type="http://schemas.openxmlformats.org/officeDocument/2006/relationships/slide" Target="/ppt/slides/slide3.xml" Id="R4b88a99181694d33" /><Relationship Type="http://schemas.openxmlformats.org/officeDocument/2006/relationships/slide" Target="/ppt/slides/slide4.xml" Id="Rdea890db532a4f39" /><Relationship Type="http://schemas.openxmlformats.org/officeDocument/2006/relationships/slide" Target="/ppt/slides/slide5.xml" Id="R859cd9daae36456b" /><Relationship Type="http://schemas.openxmlformats.org/officeDocument/2006/relationships/slide" Target="/ppt/slides/slide6.xml" Id="R3dbfbb778a9040b9" /><Relationship Type="http://schemas.openxmlformats.org/officeDocument/2006/relationships/slide" Target="/ppt/slides/slide7.xml" Id="R3df3044e0821485e" /><Relationship Type="http://schemas.openxmlformats.org/officeDocument/2006/relationships/slide" Target="/ppt/slides/slide8.xml" Id="R684a11e5ba6b4269" /><Relationship Type="http://schemas.openxmlformats.org/officeDocument/2006/relationships/slide" Target="/ppt/slides/slide9.xml" Id="Rcd5b04c72387417c" /><Relationship Type="http://schemas.openxmlformats.org/officeDocument/2006/relationships/slide" Target="/ppt/slides/slide10.xml" Id="R41a3373aeb504f17" /><Relationship Type="http://schemas.openxmlformats.org/officeDocument/2006/relationships/slide" Target="/ppt/slides/slide11.xml" Id="R5bb20bc6b7794524" /><Relationship Type="http://schemas.openxmlformats.org/officeDocument/2006/relationships/slide" Target="/ppt/slides/slide12.xml" Id="Rf256d0f5d6084b47" /><Relationship Type="http://schemas.openxmlformats.org/officeDocument/2006/relationships/slide" Target="/ppt/slides/slide13.xml" Id="Ree8dc0df570d475e" /><Relationship Type="http://schemas.openxmlformats.org/officeDocument/2006/relationships/slide" Target="/ppt/slides/slide14.xml" Id="R51ed67f239a84df4" /><Relationship Type="http://schemas.openxmlformats.org/officeDocument/2006/relationships/slide" Target="/ppt/slides/slide15.xml" Id="R32b936bada544b14" /><Relationship Type="http://schemas.openxmlformats.org/officeDocument/2006/relationships/slide" Target="/ppt/slides/slide16.xml" Id="R9aab29f198044ff9" /><Relationship Type="http://schemas.openxmlformats.org/officeDocument/2006/relationships/slide" Target="/ppt/slides/slide17.xml" Id="R101f865082eb46e5" /><Relationship Type="http://schemas.openxmlformats.org/officeDocument/2006/relationships/slide" Target="/ppt/slides/slide18.xml" Id="Rf15bfb41c4ab45a5" /><Relationship Type="http://schemas.openxmlformats.org/officeDocument/2006/relationships/slide" Target="/ppt/slides/slide19.xml" Id="R6d9c313324cc4eb5" /><Relationship Type="http://schemas.openxmlformats.org/officeDocument/2006/relationships/slide" Target="/ppt/slides/slide20.xml" Id="R5c64ba092b6e4842" /><Relationship Type="http://schemas.openxmlformats.org/officeDocument/2006/relationships/slide" Target="/ppt/slides/slide21.xml" Id="R8f69e6e36c354675" /><Relationship Type="http://schemas.openxmlformats.org/officeDocument/2006/relationships/slide" Target="/ppt/slides/slide22.xml" Id="R5f7ff16da3874bdf" /><Relationship Type="http://schemas.openxmlformats.org/officeDocument/2006/relationships/slide" Target="/ppt/slides/slide23.xml" Id="Rbd4a150692964f22" /><Relationship Type="http://schemas.openxmlformats.org/officeDocument/2006/relationships/slide" Target="/ppt/slides/slide24.xml" Id="R9d1ba35259b84ad2" /><Relationship Type="http://schemas.openxmlformats.org/officeDocument/2006/relationships/slide" Target="/ppt/slides/slide25.xml" Id="R05725b36b8894c4e" /><Relationship Type="http://schemas.openxmlformats.org/officeDocument/2006/relationships/slide" Target="/ppt/slides/slide26.xml" Id="Rcd62c95a3d6f4d02" /><Relationship Type="http://schemas.openxmlformats.org/officeDocument/2006/relationships/slide" Target="/ppt/slides/slide27.xml" Id="R0821f589a63b4342" /><Relationship Type="http://schemas.openxmlformats.org/officeDocument/2006/relationships/slide" Target="/ppt/slides/slide28.xml" Id="R4c1fa147195246d9" /><Relationship Type="http://schemas.openxmlformats.org/officeDocument/2006/relationships/slide" Target="/ppt/slides/slide29.xml" Id="Rc0343409079b43d3" /><Relationship Type="http://schemas.openxmlformats.org/officeDocument/2006/relationships/slide" Target="/ppt/slides/slide30.xml" Id="R308dcd61d5524447" /><Relationship Type="http://schemas.openxmlformats.org/officeDocument/2006/relationships/slide" Target="/ppt/slides/slide31.xml" Id="Rc7df3c472b864a58" /><Relationship Type="http://schemas.openxmlformats.org/officeDocument/2006/relationships/slide" Target="/ppt/slides/slide32.xml" Id="R61d1b7722b6d4153" /><Relationship Type="http://schemas.openxmlformats.org/officeDocument/2006/relationships/slide" Target="/ppt/slides/slide33.xml" Id="Rac942f6917a649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a0959a81a484b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UD Primary and Secondary">
      <a:dk1>
        <a:srgbClr val="000000"/>
      </a:dk1>
      <a:lt1>
        <a:srgbClr val="FFFFFF"/>
      </a:lt1>
      <a:dk2>
        <a:srgbClr val="00539F"/>
      </a:dk2>
      <a:lt2>
        <a:srgbClr val="EEECE1"/>
      </a:lt2>
      <a:accent1>
        <a:srgbClr val="4F81BD"/>
      </a:accent1>
      <a:accent2>
        <a:srgbClr val="AF1E2D"/>
      </a:accent2>
      <a:accent3>
        <a:srgbClr val="BED600"/>
      </a:accent3>
      <a:accent4>
        <a:srgbClr val="5A8E22"/>
      </a:accent4>
      <a:accent5>
        <a:srgbClr val="00A0DF"/>
      </a:accent5>
      <a:accent6>
        <a:srgbClr val="EF8200"/>
      </a:accent6>
      <a:hlink>
        <a:srgbClr val="00539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D Primary and Secondar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246eb36bc1430e" /><Relationship Type="http://schemas.openxmlformats.org/officeDocument/2006/relationships/notesMaster" Target="/ppt/notesMasters/notesMaster1.xml" Id="R3b581a1b4f794b8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c13fccc8904d1c" /><Relationship Type="http://schemas.openxmlformats.org/officeDocument/2006/relationships/notesMaster" Target="/ppt/notesMasters/notesMaster1.xml" Id="R4f33daf0a3094a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df5ffcb2eb41e2" /><Relationship Type="http://schemas.openxmlformats.org/officeDocument/2006/relationships/notesMaster" Target="/ppt/notesMasters/notesMaster1.xml" Id="Rdf61451acecc4b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b0477d462f4f5f" /><Relationship Type="http://schemas.openxmlformats.org/officeDocument/2006/relationships/notesMaster" Target="/ppt/notesMasters/notesMaster1.xml" Id="R6cb34ba4e4eb41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f66bee4ace4059" /><Relationship Type="http://schemas.openxmlformats.org/officeDocument/2006/relationships/notesMaster" Target="/ppt/notesMasters/notesMaster1.xml" Id="R8a4317bc6cd040c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dcdd970aa947a3" /><Relationship Type="http://schemas.openxmlformats.org/officeDocument/2006/relationships/notesMaster" Target="/ppt/notesMasters/notesMaster1.xml" Id="R8556b7af9d3c41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0322efd31e78428f" /><Relationship Type="http://schemas.openxmlformats.org/officeDocument/2006/relationships/notesMaster" Target="/ppt/notesMasters/notesMaster1.xml" Id="R667ba73ef8704858" /></Relationships>
</file>

<file path=ppt/notesSlides/_rels/notesSlide8.xml.rels>&#65279;<?xml version="1.0" encoding="utf-8"?><Relationships xmlns="http://schemas.openxmlformats.org/package/2006/relationships"><Relationship Type="http://schemas.openxmlformats.org/officeDocument/2006/relationships/slide" Target="/ppt/slides/slide8.xml" Id="R75d8533abe0f4f85" /><Relationship Type="http://schemas.openxmlformats.org/officeDocument/2006/relationships/notesMaster" Target="/ppt/notesMasters/notesMaster1.xml" Id="R126e357521e44f41" /></Relationships>
</file>

<file path=ppt/notesSlides/_rels/notesSlide9.xml.rels>&#65279;<?xml version="1.0" encoding="utf-8"?><Relationships xmlns="http://schemas.openxmlformats.org/package/2006/relationships"><Relationship Type="http://schemas.openxmlformats.org/officeDocument/2006/relationships/slide" Target="/ppt/slides/slide9.xml" Id="R0543306830e84dee" /><Relationship Type="http://schemas.openxmlformats.org/officeDocument/2006/relationships/notesMaster" Target="/ppt/notesMasters/notesMaster1.xml" Id="R4396ab679ba9452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82011b7c5b24664" /><Relationship Type="http://schemas.openxmlformats.org/officeDocument/2006/relationships/notesMaster" Target="/ppt/notesMasters/notesMaster1.xml" Id="R966cb694186a42d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96157d7c7bb482f" /><Relationship Type="http://schemas.openxmlformats.org/officeDocument/2006/relationships/notesMaster" Target="/ppt/notesMasters/notesMaster1.xml" Id="R2eeea5f081c3430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984e99d8ebb4ae0" /><Relationship Type="http://schemas.openxmlformats.org/officeDocument/2006/relationships/notesMaster" Target="/ppt/notesMasters/notesMaster1.xml" Id="R700c4c0ed17345d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48c4147814d446e" /><Relationship Type="http://schemas.openxmlformats.org/officeDocument/2006/relationships/notesMaster" Target="/ppt/notesMasters/notesMaster1.xml" Id="R89472442a558484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21aefba79344723" /><Relationship Type="http://schemas.openxmlformats.org/officeDocument/2006/relationships/notesMaster" Target="/ppt/notesMasters/notesMaster1.xml" Id="R30218817b4a94f8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a628b29608b413a" /><Relationship Type="http://schemas.openxmlformats.org/officeDocument/2006/relationships/notesMaster" Target="/ppt/notesMasters/notesMaster1.xml" Id="R980bccc62943465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b152b20ec114c6e" /><Relationship Type="http://schemas.openxmlformats.org/officeDocument/2006/relationships/notesMaster" Target="/ppt/notesMasters/notesMaster1.xml" Id="R05293790c340469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caafcba3425474e" /><Relationship Type="http://schemas.openxmlformats.org/officeDocument/2006/relationships/notesMaster" Target="/ppt/notesMasters/notesMaster1.xml" Id="R2616c4368112454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b1ee50beb1b4219" /><Relationship Type="http://schemas.openxmlformats.org/officeDocument/2006/relationships/notesMaster" Target="/ppt/notesMasters/notesMaster1.xml" Id="Re3d9e11c94934a8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b45aa6e35c84420" /><Relationship Type="http://schemas.openxmlformats.org/officeDocument/2006/relationships/notesMaster" Target="/ppt/notesMasters/notesMaster1.xml" Id="Rd12a27339b394cd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03edf96e5cf41ac" /><Relationship Type="http://schemas.openxmlformats.org/officeDocument/2006/relationships/notesMaster" Target="/ppt/notesMasters/notesMaster1.xml" Id="R2253b1ae1c3e4ca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625d9bb6f2a40c1" /><Relationship Type="http://schemas.openxmlformats.org/officeDocument/2006/relationships/notesMaster" Target="/ppt/notesMasters/notesMaster1.xml" Id="R4104dd48a93b4a7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0ca4043196d4ca9" /><Relationship Type="http://schemas.openxmlformats.org/officeDocument/2006/relationships/notesMaster" Target="/ppt/notesMasters/notesMaster1.xml" Id="Rffd85f1c238242b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8da98a2f49345b3" /><Relationship Type="http://schemas.openxmlformats.org/officeDocument/2006/relationships/notesMaster" Target="/ppt/notesMasters/notesMaster1.xml" Id="R1d1c7775d6ac467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324a97bc6e24551" /><Relationship Type="http://schemas.openxmlformats.org/officeDocument/2006/relationships/notesMaster" Target="/ppt/notesMasters/notesMaster1.xml" Id="R40a05b5aa851431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d90ade78d6d4c28" /><Relationship Type="http://schemas.openxmlformats.org/officeDocument/2006/relationships/notesMaster" Target="/ppt/notesMasters/notesMaster1.xml" Id="R1025bd43927840b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ddfa3a1e5734563" /><Relationship Type="http://schemas.openxmlformats.org/officeDocument/2006/relationships/notesMaster" Target="/ppt/notesMasters/notesMaster1.xml" Id="R1899a6d8599d4fb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ee803b50844444a" /><Relationship Type="http://schemas.openxmlformats.org/officeDocument/2006/relationships/notesMaster" Target="/ppt/notesMasters/notesMaster1.xml" Id="R018eb883eeb841e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16b5efe7c5844d1" /><Relationship Type="http://schemas.openxmlformats.org/officeDocument/2006/relationships/notesMaster" Target="/ppt/notesMasters/notesMaster1.xml" Id="R96febf93ee3d43f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3edff1b9b244de5" /><Relationship Type="http://schemas.openxmlformats.org/officeDocument/2006/relationships/notesMaster" Target="/ppt/notesMasters/notesMaster1.xml" Id="R07653ae5b6bb44f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80cf7db264b417c" /><Relationship Type="http://schemas.openxmlformats.org/officeDocument/2006/relationships/notesMaster" Target="/ppt/notesMasters/notesMaster1.xml" Id="R5a8c33e2da244b0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fdc6a0b77514bbc" /><Relationship Type="http://schemas.openxmlformats.org/officeDocument/2006/relationships/notesMaster" Target="/ppt/notesMasters/notesMaster1.xml" Id="R53c34e2d0ef440a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58915a125f84ceb" /><Relationship Type="http://schemas.openxmlformats.org/officeDocument/2006/relationships/notesMaster" Target="/ppt/notesMasters/notesMaster1.xml" Id="R230d1b06f2ac449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02a1fc738844bf6" /><Relationship Type="http://schemas.openxmlformats.org/officeDocument/2006/relationships/notesMaster" Target="/ppt/notesMasters/notesMaster1.xml" Id="Rc9eafdfc25464e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1 minutes (0–1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Introduce the lecture as a design story. We will learn useful visual patterns, ask why the network design changed, then extend the same reasoning to context and attention. Examples are digits and objects in driving scenes. No in-class coding or software exercise. The sequence is pedagogical, not a claim that inventions followed one linear path.</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https://d2l.ai/chapter_convolutional-neural-networks/why-conv.html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car-logo.png: Original course CAR Lab logo</a:t>
            </a:r>
            <a:endParaRPr/>
          </a:p>
          <a:p xmlns:a="http://schemas.openxmlformats.org/drawingml/2006/main">
            <a:pPr marL="0" lvl="0" indent="0" algn="l">
              <a:lnSpc>
                <a:spcPct val="100000"/>
              </a:lnSpc>
              <a:spcBef>
                <a:spcPts val="360"/>
              </a:spcBef>
              <a:spcAft>
                <a:spcPts val="0"/>
              </a:spcAft>
              <a:buSzPts val="1400"/>
              <a:buNone/>
            </a:pPr>
            <a:r>
              <a:t>Existing University of Delaware course PowerPoint template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2.25 minutes (1–3.25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Ask students what they rely on to identify the car at night. Shape, parts and their arrangement can remain helpful when color and brightness change. Generated teaching scenes, not model predictions. This establishes the purpose before nodes or kernels.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https://d2l.ai/chapter_convolutional-neural-networks/why-conv.html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car_day.png: AI-generated conceptual teaching illustration</a:t>
            </a:r>
            <a:endParaRPr/>
          </a:p>
          <a:p xmlns:a="http://schemas.openxmlformats.org/drawingml/2006/main">
            <a:pPr marL="0" lvl="0" indent="0" algn="l">
              <a:lnSpc>
                <a:spcPct val="100000"/>
              </a:lnSpc>
              <a:spcBef>
                <a:spcPts val="360"/>
              </a:spcBef>
              <a:spcAft>
                <a:spcPts val="0"/>
              </a:spcAft>
              <a:buSzPts val="1400"/>
              <a:buNone/>
            </a:pPr>
            <a:r>
              <a:t>ImageGen, 2026-09-04. Conceptual illustration, not model output.</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car_night.png: AI-generated conceptual teaching illustration</a:t>
            </a:r>
            <a:endParaRPr/>
          </a:p>
          <a:p xmlns:a="http://schemas.openxmlformats.org/drawingml/2006/main">
            <a:pPr marL="0" lvl="0" indent="0" algn="l">
              <a:lnSpc>
                <a:spcPct val="100000"/>
              </a:lnSpc>
              <a:spcBef>
                <a:spcPts val="360"/>
              </a:spcBef>
              <a:spcAft>
                <a:spcPts val="0"/>
              </a:spcAft>
              <a:buSzPts val="1400"/>
              <a:buNone/>
            </a:pPr>
            <a:r>
              <a:t>ImageGen, 2026-09-04. Conceptual illustration, not model output.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2 minutes (3.25–5.25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Connect digit recognition to object recognition. The five-output example later restricts digits to 0–4 for readability. A five-class object recognizer could use five different category labels. Multiple objects in one scene need an appropriate output, such as boxes and classes; five class scores alone do not locate them. The detection image is a published YOLO still, not a transformer result.</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https://d2l.ai/chapter_convolutional-neural-networks/why-conv.html</a:t>
            </a:r>
            <a:endParaRPr/>
          </a:p>
          <a:p xmlns:a="http://schemas.openxmlformats.org/drawingml/2006/main">
            <a:pPr marL="0" lvl="0" indent="0" algn="l">
              <a:lnSpc>
                <a:spcPct val="100000"/>
              </a:lnSpc>
              <a:spcBef>
                <a:spcPts val="360"/>
              </a:spcBef>
              <a:spcAft>
                <a:spcPts val="0"/>
              </a:spcAft>
              <a:buSzPts val="1400"/>
              <a:buNone/>
            </a:pPr>
            <a:r>
              <a:t>https://pjreddie.com/darknet/yolo/</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writing.png: Existing course handwriting illustration</a:t>
            </a:r>
            <a:endParaRPr/>
          </a:p>
          <a:p xmlns:a="http://schemas.openxmlformats.org/drawingml/2006/main">
            <a:pPr marL="0" lvl="0" indent="0" algn="l">
              <a:lnSpc>
                <a:spcPct val="100000"/>
              </a:lnSpc>
              <a:spcBef>
                <a:spcPts val="360"/>
              </a:spcBef>
              <a:spcAft>
                <a:spcPts val="0"/>
              </a:spcAft>
              <a:buSzPts val="1400"/>
              <a:buNone/>
            </a:pPr>
            <a:r>
              <a:t>Earlier course handwriting illustration; not asserted to be dataset samples.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detection.png: Static published figure: Published YOLO detection still and close-up</a:t>
            </a:r>
            <a:endParaRPr/>
          </a:p>
          <a:p xmlns:a="http://schemas.openxmlformats.org/drawingml/2006/main">
            <a:pPr marL="0" lvl="0" indent="0" algn="l">
              <a:lnSpc>
                <a:spcPct val="100000"/>
              </a:lnSpc>
              <a:spcBef>
                <a:spcPts val="360"/>
              </a:spcBef>
              <a:spcAft>
                <a:spcPts val="0"/>
              </a:spcAft>
              <a:buSzPts val="1400"/>
              <a:buNone/>
            </a:pPr>
            <a:r>
              <a:t>https://pjreddie.com/darknet/yolo/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2.75 minutes (5.25–8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Explain one connection as an adjustable influence. Pixel values supply the inputs; hidden responses depend on weighted combinations and activations. The shown four hidden circles stand for a chosen N, and the input column uses an ellipsis. This is the baseline neural network before convolution. Ask for a trade-off in choosing N, but do not spend a slide on architecture tuning.</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https://d2l.ai/chapter_convolutional-neural-networks/why-conv.html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dense.png: AI-generated conceptual teaching diagram</a:t>
            </a:r>
            <a:endParaRPr/>
          </a:p>
          <a:p xmlns:a="http://schemas.openxmlformats.org/drawingml/2006/main">
            <a:pPr marL="0" lvl="0" indent="0" algn="l">
              <a:lnSpc>
                <a:spcPct val="100000"/>
              </a:lnSpc>
              <a:spcBef>
                <a:spcPts val="360"/>
              </a:spcBef>
              <a:spcAft>
                <a:spcPts val="0"/>
              </a:spcAft>
              <a:buSzPts val="1400"/>
              <a:buNone/>
            </a:pPr>
            <a:r>
              <a:t>ImageGen, 2026-09-04. Illustrative network, not measured activations.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3.25 minutes (8–11.25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Follow the same digit 3 through a schematic training update. The first prediction gives class 1 a larger score. An error packet returns, the weight dials turn, and another forward pass produces different scores. The dials stand for learned weights throughout the network, not a two-weight model. Scores and dial movements are illustrative, not measured results. Loss measures error; backpropagation computes how the loss depends on weights; an optimizer makes small updates. A particular update need not improve every example. At inference, the learned weights normally stay fixed.</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https://d2l.ai/chapter_convolutional-neural-networks/why-conv.html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training.gif: AI-generated process illustration sequenced as a GIF</a:t>
            </a:r>
            <a:endParaRPr/>
          </a:p>
          <a:p xmlns:a="http://schemas.openxmlformats.org/drawingml/2006/main">
            <a:pPr marL="0" lvl="0" indent="0" algn="l">
              <a:lnSpc>
                <a:spcPct val="100000"/>
              </a:lnSpc>
              <a:spcBef>
                <a:spcPts val="360"/>
              </a:spcBef>
              <a:spcAft>
                <a:spcPts val="0"/>
              </a:spcAft>
              <a:buSzPts val="1400"/>
              <a:buNone/>
            </a:pPr>
            <a:r>
              <a:t>/home/william/.codex/generated_images/01a06e34-cbd2-7722-83b8-26580858a25f/exec-c837fbd0-3cf2-4ba8-92d0-8cf092dedaf4.png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2 minutes (11.25–13.25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Watch four pixels become eight: first the image grows, then four input nodes appear, then their connections appear. The same three hidden nodes remain. Four inputs need twelve first-layer weights; eight inputs need twenty-four. This count excludes biases. The animation changes the network design, not its weights during training. It motivates asking whether every distant pixel is needed to detect a small local pattern.</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https://d2l.ai/chapter_convolutional-neural-networks/why-conv.html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dense_growth.gif: AI-generated process illustration sequenced as a GIF</a:t>
            </a:r>
            <a:endParaRPr/>
          </a:p>
          <a:p xmlns:a="http://schemas.openxmlformats.org/drawingml/2006/main">
            <a:pPr marL="0" lvl="0" indent="0" algn="l">
              <a:lnSpc>
                <a:spcPct val="100000"/>
              </a:lnSpc>
              <a:spcBef>
                <a:spcPts val="360"/>
              </a:spcBef>
              <a:spcAft>
                <a:spcPts val="0"/>
              </a:spcAft>
              <a:buSzPts val="1400"/>
              <a:buNone/>
            </a:pPr>
            <a:r>
              <a:t>/home/william/.codex/generated_images/01a06e34-cbd2-7722-83b8-26580858a25f/exec-31ce29b3-bfe9-4c0f-b324-0bac18edd36e.png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2.75 minutes (13.25–16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The animation exposes one local filter application. Pixel rows are 0,0,0; 1,1,1; 1,1,1. Filter rows are -1,-1,-1; 0,0,0; 1,1,1. Multiplying corresponding values produces rows 0,0,0; 0,0,0; 1,1,1, whose sum is 3. The displayed weights are a deliberately simple illustrative filter; a trained network learns filter weights from examples. Students need only see nearby pixel values become one response, not calculate every cell. The input image still retains all its pixels. A response is evidence for a pattern, not an object category. Local receptive fields helped inspire early neural vision models, including Neocognitron in 1980.</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https://d2l.ai/chapter_convolutional-neural-networks/why-conv.html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local_response.gif: AI-generated process illustration sequenced as a GIF</a:t>
            </a:r>
            <a:endParaRPr/>
          </a:p>
          <a:p xmlns:a="http://schemas.openxmlformats.org/drawingml/2006/main">
            <a:pPr marL="0" lvl="0" indent="0" algn="l">
              <a:lnSpc>
                <a:spcPct val="100000"/>
              </a:lnSpc>
              <a:spcBef>
                <a:spcPts val="360"/>
              </a:spcBef>
              <a:spcAft>
                <a:spcPts val="0"/>
              </a:spcAft>
              <a:buSzPts val="1400"/>
              <a:buNone/>
            </a:pPr>
            <a:r>
              <a:t>/home/william/.codex/generated_images/01a06e34-cbd2-7722-83b8-26580858a25f/exec-9138d842-b064-4f82-ba35-9323253c7fdb.png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2 minutes (16–18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Pause for students to propose sharing a detector. The static pair shows the same digit at two positions in equal-sized image frames. There is no measured model prediction. Convolution shifts responses with the input; it does not by itself guarantee an unchanged final classification. This motivates reusing weights across positions.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https://d2l.ai/chapter_convolutional-neural-networks/why-conv.html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digit_left.png: Static frame from the digit-position illustration</a:t>
            </a:r>
            <a:endParaRPr/>
          </a:p>
          <a:p xmlns:a="http://schemas.openxmlformats.org/drawingml/2006/main">
            <a:pPr marL="0" lvl="0" indent="0" algn="l">
              <a:lnSpc>
                <a:spcPct val="100000"/>
              </a:lnSpc>
              <a:spcBef>
                <a:spcPts val="360"/>
              </a:spcBef>
              <a:spcAft>
                <a:spcPts val="0"/>
              </a:spcAft>
              <a:buSzPts val="1400"/>
              <a:buNone/>
            </a:pPr>
            <a:r>
              <a:t>Translated crop of the same existing course handwriting illustration</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digit_right.png: Static frame from the digit-position illustration</a:t>
            </a:r>
            <a:endParaRPr/>
          </a:p>
          <a:p xmlns:a="http://schemas.openxmlformats.org/drawingml/2006/main">
            <a:pPr marL="0" lvl="0" indent="0" algn="l">
              <a:lnSpc>
                <a:spcPct val="100000"/>
              </a:lnSpc>
              <a:spcBef>
                <a:spcPts val="360"/>
              </a:spcBef>
              <a:spcAft>
                <a:spcPts val="0"/>
              </a:spcAft>
              <a:buSzPts val="1400"/>
              <a:buNone/>
            </a:pPr>
            <a:r>
              <a:t>Translated crop of the same existing course handwriting illustration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2.75 minutes (18–20.75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Trace the animation. Sliding applies the weights; training changes them. The feature map preserves where a pattern responds. The animation is a schematic operation, not output measured on the running digit. Do not multiply every cell. If asked about padding, explain that values around the border allow edge positions to be processed.</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https://d2l.ai/chapter_convolutional-neural-networks/why-conv.html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05_convolution.gif: Original animated GIF</a:t>
            </a:r>
            <a:endParaRPr/>
          </a:p>
          <a:p xmlns:a="http://schemas.openxmlformats.org/drawingml/2006/main">
            <a:pPr marL="0" lvl="0" indent="0" algn="l">
              <a:lnSpc>
                <a:spcPct val="100000"/>
              </a:lnSpc>
              <a:spcBef>
                <a:spcPts val="360"/>
              </a:spcBef>
              <a:spcAft>
                <a:spcPts val="0"/>
              </a:spcAft>
              <a:buSzPts val="1400"/>
              <a:buNone/>
            </a:pPr>
            <a:r>
              <a:t>https://raw.githubusercontent.com/vdumoulin/conv_arithmetic/master/gif/no_padding_no_strides.gif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2 minutes (20.75–22.75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Two simple 2-by-2 filters expose what changes when the weights differ. The same 4-by-4 input stays fixed while each output map fills. Filter A uses rows 1,0 and 1,0; filter B uses rows 1,1 and 0,0. These small illustrative filters are used for readability. A final map is rows 0,2,0; 1,2,1; 1,1,1. B is rows 1,1,0; 1,1,0; 2,2,1. Selected stages omit intervening window positions. Moving one filter reuses its weights; using a second filter adds another set of weights. Actual learned channels need not correspond to a named human feature. Filters can be computed in parallel.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https://d2l.ai/chapter_convolutional-neural-networks/why-conv.html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filter_bank.gif: AI-generated process illustration sequenced as a GIF</a:t>
            </a:r>
            <a:endParaRPr/>
          </a:p>
          <a:p xmlns:a="http://schemas.openxmlformats.org/drawingml/2006/main">
            <a:pPr marL="0" lvl="0" indent="0" algn="l">
              <a:lnSpc>
                <a:spcPct val="100000"/>
              </a:lnSpc>
              <a:spcBef>
                <a:spcPts val="360"/>
              </a:spcBef>
              <a:spcAft>
                <a:spcPts val="0"/>
              </a:spcAft>
              <a:buSzPts val="1400"/>
              <a:buNone/>
            </a:pPr>
            <a:r>
              <a:t>/home/william/.codex/generated_images/01a06e34-cbd2-7722-83b8-26580858a25f/exec-ecb41374-fa91-4936-b79f-7c9e2806ac92.png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2.75 minutes (22.75–25.5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Follow the highlighted group as the animation fills one output cell at a time in the fixed 4-by-4 example. In each nonoverlapping 2-by-2 block, max pooling retains 4,5,3,7. It loses other values and exact within-group location. Pooling reduces spatial resolution, not feature-channel count here. It is a design option; strided operations also reduce resolution. Pause briefly to ask what an average would retain differently.</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https://d2l.ai/chapter_convolutional-neural-networks/pooling.html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pooling_motion.gif: AI-generated teaching storyboard assembled as an animated GIF</a:t>
            </a:r>
            <a:endParaRPr/>
          </a:p>
          <a:p xmlns:a="http://schemas.openxmlformats.org/drawingml/2006/main">
            <a:pPr marL="0" lvl="0" indent="0" algn="l">
              <a:lnSpc>
                <a:spcPct val="100000"/>
              </a:lnSpc>
              <a:spcBef>
                <a:spcPts val="360"/>
              </a:spcBef>
              <a:spcAft>
                <a:spcPts val="0"/>
              </a:spcAft>
              <a:buSzPts val="1400"/>
              <a:buNone/>
            </a:pPr>
            <a:r>
              <a:t>/home/william/.codex/generated_images/01a06e34-cbd2-7722-83b8-26580858a25f/exec-818d7e1c-1773-482e-a184-0df172e22aed.png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2 minutes (25.5–27.5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Trace the pedestrian crop to the full scene. It is the same generated image region, not a detection or measured downsampling experiment. Ask why a digit classifier may tolerate some spatial reduction while a road detector must preserve small-object evidence. This consequence of pooling will later motivate multiscale features.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https://d2l.ai/chapter_convolutional-neural-networks/why-conv.html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road.png: Static frame: Sequence of AI-generated teaching scenes, not model predictions</a:t>
            </a:r>
            <a:endParaRPr/>
          </a:p>
          <a:p xmlns:a="http://schemas.openxmlformats.org/drawingml/2006/main">
            <a:pPr marL="0" lvl="0" indent="0" algn="l">
              <a:lnSpc>
                <a:spcPct val="100000"/>
              </a:lnSpc>
              <a:spcBef>
                <a:spcPts val="360"/>
              </a:spcBef>
              <a:spcAft>
                <a:spcPts val="0"/>
              </a:spcAft>
              <a:buSzPts val="1400"/>
              <a:buNone/>
            </a:pPr>
            <a:r>
              <a:t>ImageGen, 2026-09-04.</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pedestrian_detail.png: Crop of the same conceptual road illustration</a:t>
            </a:r>
            <a:endParaRPr/>
          </a:p>
          <a:p xmlns:a="http://schemas.openxmlformats.org/drawingml/2006/main">
            <a:pPr marL="0" lvl="0" indent="0" algn="l">
              <a:lnSpc>
                <a:spcPct val="100000"/>
              </a:lnSpc>
              <a:spcBef>
                <a:spcPts val="360"/>
              </a:spcBef>
              <a:spcAft>
                <a:spcPts val="0"/>
              </a:spcAft>
              <a:buSzPts val="1400"/>
              <a:buNone/>
            </a:pPr>
            <a:r>
              <a:t>ImageGen, 2026-09-04. Conceptual illustration, not model output.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2.75 minutes (27.5–30.25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Use the illustration as intuition, not an assertion that real channels literally store labeled wheels or doors. Repeated layers mix earlier responses and gather evidence over larger regions. A wheel alone is ambiguous; its arrangement with windows and body structure is more informative. Return briefly to how strokes combine into a digit.</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https://d2l.ai/chapter_convolutional-neural-networks/why-conv.html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hierarchy_motion.gif: AI-generated teaching storyboard assembled as an animated GIF</a:t>
            </a:r>
            <a:endParaRPr/>
          </a:p>
          <a:p xmlns:a="http://schemas.openxmlformats.org/drawingml/2006/main">
            <a:pPr marL="0" lvl="0" indent="0" algn="l">
              <a:lnSpc>
                <a:spcPct val="100000"/>
              </a:lnSpc>
              <a:spcBef>
                <a:spcPts val="360"/>
              </a:spcBef>
              <a:spcAft>
                <a:spcPts val="0"/>
              </a:spcAft>
              <a:buSzPts val="1400"/>
              <a:buNone/>
            </a:pPr>
            <a:r>
              <a:t>/home/william/.codex/generated_images/01a06e34-cbd2-7722-83b8-26580858a25f/exec-59942154-b4ca-4041-b51a-92cf758b56fa.png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2 minutes (30.25–32.25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Trace the actual state changes in a schematic forward pass. Filter response maps fill with values, spatial pooling produces smaller maps, subsequent processing combines features, and the prediction head produces class scores. Digit 3 has the largest final score in this illustrative example. The diagrams do not encode a measured model or a literal cell-by-cell calculation. Weights remain fixed during this forward pass. Activations are omitted for visual simplicity and introduced next. LeNet demonstrates handwriting recognition; AlexNet later scaled learned representations to natural images with data, GPUs and training improvements.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https://d2l.ai/chapter_convolutional-neural-networks/why-conv.html</a:t>
            </a:r>
            <a:endParaRPr/>
          </a:p>
          <a:p xmlns:a="http://schemas.openxmlformats.org/drawingml/2006/main">
            <a:pPr marL="0" lvl="0" indent="0" algn="l">
              <a:lnSpc>
                <a:spcPct val="100000"/>
              </a:lnSpc>
              <a:spcBef>
                <a:spcPts val="360"/>
              </a:spcBef>
              <a:spcAft>
                <a:spcPts val="0"/>
              </a:spcAft>
              <a:buSzPts val="1400"/>
              <a:buNone/>
            </a:pPr>
            <a:r>
              <a:t>https://bottou.org/papers/lecun-98h</a:t>
            </a:r>
            <a:endParaRPr/>
          </a:p>
          <a:p xmlns:a="http://schemas.openxmlformats.org/drawingml/2006/main">
            <a:pPr marL="0" lvl="0" indent="0" algn="l">
              <a:lnSpc>
                <a:spcPct val="100000"/>
              </a:lnSpc>
              <a:spcBef>
                <a:spcPts val="360"/>
              </a:spcBef>
              <a:spcAft>
                <a:spcPts val="0"/>
              </a:spcAft>
              <a:buSzPts val="1400"/>
              <a:buNone/>
            </a:pPr>
            <a:r>
              <a:t>https://papers.nips.cc/paper_files/paper/2012/hash/c399862d3b9d6b76c8436e924a68c45b-Abstract.html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cnn_flow.gif: AI-generated process illustration sequenced as a GIF</a:t>
            </a:r>
            <a:endParaRPr/>
          </a:p>
          <a:p xmlns:a="http://schemas.openxmlformats.org/drawingml/2006/main">
            <a:pPr marL="0" lvl="0" indent="0" algn="l">
              <a:lnSpc>
                <a:spcPct val="100000"/>
              </a:lnSpc>
              <a:spcBef>
                <a:spcPts val="360"/>
              </a:spcBef>
              <a:spcAft>
                <a:spcPts val="0"/>
              </a:spcAft>
              <a:buSzPts val="1400"/>
              <a:buNone/>
            </a:pPr>
            <a:r>
              <a:t>/home/william/.codex/generated_images/01a06e34-cbd2-7722-83b8-26580858a25f/exec-4bfc5921-ef38-4425-aa70-5321e245aa0f.png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2 minutes (32.25–34.25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Watch individual filter responses pass through the activation and populate an output grid. Input rows are 2,-1,3 and -2,1,-3. Positive values pass through unchanged; negative values become zero. The completed output is 2,0,3 and 0,1,0. The input responses stay visible as a reference. This is an elementwise transformation, not permanent deletion of weights or connections. The sequence is slowed for teaching; all elements can be processed in parallel. ReLU adds a nonlinear response rule. Backpropagation and an optimizer perform the weight updates.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https://d2l.ai/chapter_multilayer-perceptrons/mlp.html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relu_responses.gif: AI-generated process illustration sequenced as a GIF</a:t>
            </a:r>
            <a:endParaRPr/>
          </a:p>
          <a:p xmlns:a="http://schemas.openxmlformats.org/drawingml/2006/main">
            <a:pPr marL="0" lvl="0" indent="0" algn="l">
              <a:lnSpc>
                <a:spcPct val="100000"/>
              </a:lnSpc>
              <a:spcBef>
                <a:spcPts val="360"/>
              </a:spcBef>
              <a:spcAft>
                <a:spcPts val="0"/>
              </a:spcAft>
              <a:buSzPts val="1400"/>
              <a:buNone/>
            </a:pPr>
            <a:r>
              <a:t>/home/william/.codex/generated_images/01a06e34-cbd2-7722-83b8-26580858a25f/exec-ebe1a99e-4f9c-4e97-a285-a5079dac20a5.png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2.75 minutes (34.25–37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The marker moves through negative, zero and positive input values. Read the two current outputs together. ReLU remains zero for negative inputs. Leaky ReLU uses an illustrative fixed slope of 0.1 there: -3 gives -0.3, -2 gives -0.2, and -1 gives -0.1. Both return the input when it is positive. These changing outputs show sensitivity, not a training simulation. If a unit stays negative across relevant examples, a flat ReLU can block the local learning signal through that activation. One negative response does not mean a dead unit. Leaky ReLU preserves a nonzero negative-side derivative; it does not guarantee better learning. PReLU learns its slope instead.</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https://arxiv.org/abs/1502.01852</a:t>
            </a:r>
            <a:endParaRPr/>
          </a:p>
          <a:p xmlns:a="http://schemas.openxmlformats.org/drawingml/2006/main">
            <a:pPr marL="0" lvl="0" indent="0" algn="l">
              <a:lnSpc>
                <a:spcPct val="100000"/>
              </a:lnSpc>
              <a:spcBef>
                <a:spcPts val="360"/>
              </a:spcBef>
              <a:spcAft>
                <a:spcPts val="0"/>
              </a:spcAft>
              <a:buSzPts val="1400"/>
              <a:buNone/>
            </a:pPr>
            <a:r>
              <a:t>https://ai.stanford.edu/~amaas/papers/relu_hybrid_icml2013_final.pdf</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leaky_sensitivity.gif: AI-generated process illustration sequenced as a GIF</a:t>
            </a:r>
            <a:endParaRPr/>
          </a:p>
          <a:p xmlns:a="http://schemas.openxmlformats.org/drawingml/2006/main">
            <a:pPr marL="0" lvl="0" indent="0" algn="l">
              <a:lnSpc>
                <a:spcPct val="100000"/>
              </a:lnSpc>
              <a:spcBef>
                <a:spcPts val="360"/>
              </a:spcBef>
              <a:spcAft>
                <a:spcPts val="0"/>
              </a:spcAft>
              <a:buSzPts val="1400"/>
              <a:buNone/>
            </a:pPr>
            <a:r>
              <a:t>/home/william/.codex/generated_images/01a06e34-cbd2-7722-83b8-26580858a25f/exec-2af7769e-6862-4eaf-8525-30871b7fc6e6.png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2.75 minutes (37–39.75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Show the same car under lighting, weather and occlusion changes. Invite students to identify what remains and what disappears. These are generated scenarios with no model scores. An architecture cannot reliably learn every relevant variation from examples that never show it. Representative data and task-appropriate augmentation address a different problem from connectivity.</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https://d2l.ai/chapter_convolutional-neural-networks/why-conv.html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car_day.png: AI-generated conceptual teaching illustration</a:t>
            </a:r>
            <a:endParaRPr/>
          </a:p>
          <a:p xmlns:a="http://schemas.openxmlformats.org/drawingml/2006/main">
            <a:pPr marL="0" lvl="0" indent="0" algn="l">
              <a:lnSpc>
                <a:spcPct val="100000"/>
              </a:lnSpc>
              <a:spcBef>
                <a:spcPts val="360"/>
              </a:spcBef>
              <a:spcAft>
                <a:spcPts val="0"/>
              </a:spcAft>
              <a:buSzPts val="1400"/>
              <a:buNone/>
            </a:pPr>
            <a:r>
              <a:t>ImageGen, 2026-09-04. Conceptual illustration, not model output.</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car_night.png: AI-generated conceptual teaching illustration</a:t>
            </a:r>
            <a:endParaRPr/>
          </a:p>
          <a:p xmlns:a="http://schemas.openxmlformats.org/drawingml/2006/main">
            <a:pPr marL="0" lvl="0" indent="0" algn="l">
              <a:lnSpc>
                <a:spcPct val="100000"/>
              </a:lnSpc>
              <a:spcBef>
                <a:spcPts val="360"/>
              </a:spcBef>
              <a:spcAft>
                <a:spcPts val="0"/>
              </a:spcAft>
              <a:buSzPts val="1400"/>
              <a:buNone/>
            </a:pPr>
            <a:r>
              <a:t>ImageGen, 2026-09-04. Conceptual illustration, not model output.</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car_rain.png: AI-generated conceptual teaching illustration</a:t>
            </a:r>
            <a:endParaRPr/>
          </a:p>
          <a:p xmlns:a="http://schemas.openxmlformats.org/drawingml/2006/main">
            <a:pPr marL="0" lvl="0" indent="0" algn="l">
              <a:lnSpc>
                <a:spcPct val="100000"/>
              </a:lnSpc>
              <a:spcBef>
                <a:spcPts val="360"/>
              </a:spcBef>
              <a:spcAft>
                <a:spcPts val="0"/>
              </a:spcAft>
              <a:buSzPts val="1400"/>
              <a:buNone/>
            </a:pPr>
            <a:r>
              <a:t>ImageGen, 2026-09-04. Conceptual illustration, not model output.</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car_occluded.png: AI-generated conceptual teaching illustration</a:t>
            </a:r>
            <a:endParaRPr/>
          </a:p>
          <a:p xmlns:a="http://schemas.openxmlformats.org/drawingml/2006/main">
            <a:pPr marL="0" lvl="0" indent="0" algn="l">
              <a:lnSpc>
                <a:spcPct val="100000"/>
              </a:lnSpc>
              <a:spcBef>
                <a:spcPts val="360"/>
              </a:spcBef>
              <a:spcAft>
                <a:spcPts val="0"/>
              </a:spcAft>
              <a:buSzPts val="1400"/>
              <a:buNone/>
            </a:pPr>
            <a:r>
              <a:t>ImageGen, 2026-09-04. Conceptual illustration, not model output.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2 minutes (39.75–41.75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Explain train versus evaluation data in words. Separate held-out validation used for design decisions from a final test set used for evaluation. Different writing styles, small objects and night scenes can fail differently. Data augmentation must preserve the label. Dropout can discourage dependence on a few activations during training, but is not permanent pruning. Keep that as optional context rather than another operator lesson.</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https://d2l.ai/chapter_convolutional-neural-networks/why-conv.html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car_day.png: AI-generated conceptual teaching illustration</a:t>
            </a:r>
            <a:endParaRPr/>
          </a:p>
          <a:p xmlns:a="http://schemas.openxmlformats.org/drawingml/2006/main">
            <a:pPr marL="0" lvl="0" indent="0" algn="l">
              <a:lnSpc>
                <a:spcPct val="100000"/>
              </a:lnSpc>
              <a:spcBef>
                <a:spcPts val="360"/>
              </a:spcBef>
              <a:spcAft>
                <a:spcPts val="0"/>
              </a:spcAft>
              <a:buSzPts val="1400"/>
              <a:buNone/>
            </a:pPr>
            <a:r>
              <a:t>ImageGen, 2026-09-04. Conceptual illustration, not model output.</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car_occluded.png: AI-generated conceptual teaching illustration</a:t>
            </a:r>
            <a:endParaRPr/>
          </a:p>
          <a:p xmlns:a="http://schemas.openxmlformats.org/drawingml/2006/main">
            <a:pPr marL="0" lvl="0" indent="0" algn="l">
              <a:lnSpc>
                <a:spcPct val="100000"/>
              </a:lnSpc>
              <a:spcBef>
                <a:spcPts val="360"/>
              </a:spcBef>
              <a:spcAft>
                <a:spcPts val="0"/>
              </a:spcAft>
              <a:buSzPts val="1400"/>
              <a:buNone/>
            </a:pPr>
            <a:r>
              <a:t>ImageGen, 2026-09-04. Conceptual illustration, not model output.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2.75 minutes (41.75–44.5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Follow concrete feature values through the two paths. Input [2,1] stays unchanged on the shortcut. The other branch computes an illustrative correction [0,1]. The addition produces [2,2]. These are successive stages of one forward pass, not training iterations. A real block learns the correction from training; this example only shows what the shortcut preserves and how addition combines the two paths. Deeper plain networks can be harder to optimize even with more capacity. ResNet helps very deep networks learn; it is not solely a remedy for overfitting or vanishing gradients. Historical anchor: 2015 preprint, CVPR 2016.</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https://arxiv.org/abs/1512.03385</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residual_motion.gif: AI-generated process illustration sequenced as a GIF</a:t>
            </a:r>
            <a:endParaRPr/>
          </a:p>
          <a:p xmlns:a="http://schemas.openxmlformats.org/drawingml/2006/main">
            <a:pPr marL="0" lvl="0" indent="0" algn="l">
              <a:lnSpc>
                <a:spcPct val="100000"/>
              </a:lnSpc>
              <a:spcBef>
                <a:spcPts val="360"/>
              </a:spcBef>
              <a:spcAft>
                <a:spcPts val="0"/>
              </a:spcAft>
              <a:buSzPts val="1400"/>
              <a:buNone/>
            </a:pPr>
            <a:r>
              <a:t>/home/william/.codex/generated_images/01a06e34-cbd2-7722-83b8-26580858a25f/exec-1dc8b620-410d-4713-9e27-83587a3e26ff.png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2 minutes (44.5–46.5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The coarse 2-by-2 map contains one active cell. Nearest-neighbor upsampling copies it into four cells of a 4-by-4 grid. The finer map contains two localized responses. Copies of the two maps reach the addition, producing a combined map with broad context, stronger overlapping evidence, and the separate fine response. This illustrates the top-down upsampling and lateral addition in a feature pyramid; channel projections and later smoothing operations are omitted. Repeat the mechanism across levels to connect the hierarchy. FPN addresses scale, distinct from the optimization problem of ResNet. Combining features cannot restore evidence that the sensor never captured.</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https://arxiv.org/abs/1612.03144</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pyramid_flow.gif: AI-generated process illustration sequenced as a GIF</a:t>
            </a:r>
            <a:endParaRPr/>
          </a:p>
          <a:p xmlns:a="http://schemas.openxmlformats.org/drawingml/2006/main">
            <a:pPr marL="0" lvl="0" indent="0" algn="l">
              <a:lnSpc>
                <a:spcPct val="100000"/>
              </a:lnSpc>
              <a:spcBef>
                <a:spcPts val="360"/>
              </a:spcBef>
              <a:spcAft>
                <a:spcPts val="0"/>
              </a:spcAft>
              <a:buSzPts val="1400"/>
              <a:buNone/>
            </a:pPr>
            <a:r>
              <a:t>/home/william/.codex/generated_images/01a06e34-cbd2-7722-83b8-26580858a25f/exec-518ce8f8-a539-4b3a-a61b-a66ea305714f.png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2 minutes (46.5–48.5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Discuss a small improvement in average recognition that costs too much latency. MobileNet2017 is a brief example: it separates spatial filtering from channel mixing to reduce work. Do not show another full architecture or operation count. Runtime depends on the hardware and implementation, so fewer mathematical operations do not always mean proportionally less latency.</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https://arxiv.org/abs/1704.04861</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road.png: Static frame: Sequence of AI-generated teaching scenes, not model predictions</a:t>
            </a:r>
            <a:endParaRPr/>
          </a:p>
          <a:p xmlns:a="http://schemas.openxmlformats.org/drawingml/2006/main">
            <a:pPr marL="0" lvl="0" indent="0" algn="l">
              <a:lnSpc>
                <a:spcPct val="100000"/>
              </a:lnSpc>
              <a:spcBef>
                <a:spcPts val="360"/>
              </a:spcBef>
              <a:spcAft>
                <a:spcPts val="0"/>
              </a:spcAft>
              <a:buSzPts val="1400"/>
              <a:buNone/>
            </a:pPr>
            <a:r>
              <a:t>ImageGen, 2026-09-04.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2 minutes (48.5–50.5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Read by problem rather than memorizing architecture names. LeNet represents local sharing for handwriting. AlexNet combined scale, data, GPUs, ReLU and regularization. ResNet addressed deep optimization; FPN addressed scale. This is selected history, not the full chronology. Earlier pooling and activation ideas predate many named architectures.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https://bottou.org/papers/lecun-98h</a:t>
            </a:r>
            <a:endParaRPr/>
          </a:p>
          <a:p xmlns:a="http://schemas.openxmlformats.org/drawingml/2006/main">
            <a:pPr marL="0" lvl="0" indent="0" algn="l">
              <a:lnSpc>
                <a:spcPct val="100000"/>
              </a:lnSpc>
              <a:spcBef>
                <a:spcPts val="360"/>
              </a:spcBef>
              <a:spcAft>
                <a:spcPts val="0"/>
              </a:spcAft>
              <a:buSzPts val="1400"/>
              <a:buNone/>
            </a:pPr>
            <a:r>
              <a:t>https://papers.nips.cc/paper_files/paper/2012/hash/c399862d3b9d6b76c8436e924a68c45b-Abstract.html</a:t>
            </a:r>
            <a:endParaRPr/>
          </a:p>
          <a:p xmlns:a="http://schemas.openxmlformats.org/drawingml/2006/main">
            <a:pPr marL="0" lvl="0" indent="0" algn="l">
              <a:lnSpc>
                <a:spcPct val="100000"/>
              </a:lnSpc>
              <a:spcBef>
                <a:spcPts val="360"/>
              </a:spcBef>
              <a:spcAft>
                <a:spcPts val="0"/>
              </a:spcAft>
              <a:buSzPts val="1400"/>
              <a:buNone/>
            </a:pPr>
            <a:r>
              <a:t>https://arxiv.org/abs/1512.03385</a:t>
            </a:r>
            <a:endParaRPr/>
          </a:p>
          <a:p xmlns:a="http://schemas.openxmlformats.org/drawingml/2006/main">
            <a:pPr marL="0" lvl="0" indent="0" algn="l">
              <a:lnSpc>
                <a:spcPct val="100000"/>
              </a:lnSpc>
              <a:spcBef>
                <a:spcPts val="360"/>
              </a:spcBef>
              <a:spcAft>
                <a:spcPts val="0"/>
              </a:spcAft>
              <a:buSzPts val="1400"/>
              <a:buNone/>
            </a:pPr>
            <a:r>
              <a:t>https://arxiv.org/abs/1612.03144</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2.75 minutes (50.5–53.25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Pause for answers. Crosswalk and vehicle position can help interpret local evidence. The scene is generated and a still image does not establish future motion or intent. This motivates representations that integrate context; it does not assert that object recognition alone solves driving.</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https://d2l.ai/chapter_convolutional-neural-networks/why-conv.html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scene.png: Static frame: Sequence of AI-generated teaching scenes, not model predictions</a:t>
            </a:r>
            <a:endParaRPr/>
          </a:p>
          <a:p xmlns:a="http://schemas.openxmlformats.org/drawingml/2006/main">
            <a:pPr marL="0" lvl="0" indent="0" algn="l">
              <a:lnSpc>
                <a:spcPct val="100000"/>
              </a:lnSpc>
              <a:spcBef>
                <a:spcPts val="360"/>
              </a:spcBef>
              <a:spcAft>
                <a:spcPts val="0"/>
              </a:spcAft>
              <a:buSzPts val="1400"/>
              <a:buNone/>
            </a:pPr>
            <a:r>
              <a:t>ImageGen, 2026-09-04.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2 minutes (53.25–55.25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Be accurate: CNNs can capture long-range dependencies. The animation shows a dilated filter sampling spaced input locations; blue is input and cyan is output. The contrast is standard convolution versus input-dependent attention, not local versus intelligent. Large kernels do not inherently erase details; spatial reduction can. There are dynamic convolution variants, outside this introduction. Attention offers a different way to combine distant evidence.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https://d2l.ai/chapter_convolutional-neural-networks/why-conv.html</a:t>
            </a:r>
            <a:endParaRPr/>
          </a:p>
          <a:p xmlns:a="http://schemas.openxmlformats.org/drawingml/2006/main">
            <a:pPr marL="0" lvl="0" indent="0" algn="l">
              <a:lnSpc>
                <a:spcPct val="100000"/>
              </a:lnSpc>
              <a:spcBef>
                <a:spcPts val="360"/>
              </a:spcBef>
              <a:spcAft>
                <a:spcPts val="0"/>
              </a:spcAft>
              <a:buSzPts val="1400"/>
              <a:buNone/>
            </a:pPr>
            <a:r>
              <a:t>https://arxiv.org/abs/1706.03762</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dilation_motion.gif: Original animated GIF: dilated convolution</a:t>
            </a:r>
            <a:endParaRPr/>
          </a:p>
          <a:p xmlns:a="http://schemas.openxmlformats.org/drawingml/2006/main">
            <a:pPr marL="0" lvl="0" indent="0" algn="l">
              <a:lnSpc>
                <a:spcPct val="100000"/>
              </a:lnSpc>
              <a:spcBef>
                <a:spcPts val="360"/>
              </a:spcBef>
              <a:spcAft>
                <a:spcPts val="0"/>
              </a:spcAft>
              <a:buSzPts val="1400"/>
              <a:buNone/>
            </a:pPr>
            <a:r>
              <a:t>https://github.com/vdumoulin/conv_arithmetic</a:t>
            </a:r>
            <a:endParaRPr/>
          </a:p>
          <a:p xmlns:a="http://schemas.openxmlformats.org/drawingml/2006/main">
            <a:pPr marL="0" lvl="0" indent="0" algn="l">
              <a:lnSpc>
                <a:spcPct val="100000"/>
              </a:lnSpc>
              <a:spcBef>
                <a:spcPts val="360"/>
              </a:spcBef>
              <a:spcAft>
                <a:spcPts val="0"/>
              </a:spcAft>
              <a:buSzPts val="1400"/>
              <a:buNone/>
            </a:pPr>
            <a:r>
              <a:t>https://raw.githubusercontent.com/vdumoulin/conv_arithmetic/master/gif/dilation.gif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2 minutes (55.25–57.25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Read the sentence and ask what it refers to. Animal helps interpret it in this sentence. Attention predates the 2017 Transformer; the Transformer made it central to sequence processing. The point is context-dependent information sharing, not a language-model history or measured attention result.</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https://arxiv.org/abs/1706.03762</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2.75 minutes (57.25–60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Watch one digit image split into four spatial patches. The separated patches pass through a learned embedding and become feature vectors; position information is added. The colors and vector entries are illustrative, not outputs of a trained ViT. Each patch is an image region, not an independent digit or necessarily a complete object. Four patches keep the demonstration readable. Original ViT embeds nonoverlapping patches and adds learned position embeddings. The implementation can embed all patches in parallel; the sequence separates their movement for teaching.</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https://arxiv.org/abs/2010.11929</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patches_motion.gif: AI-generated process illustration sequenced as a GIF</a:t>
            </a:r>
            <a:endParaRPr/>
          </a:p>
          <a:p xmlns:a="http://schemas.openxmlformats.org/drawingml/2006/main">
            <a:pPr marL="0" lvl="0" indent="0" algn="l">
              <a:lnSpc>
                <a:spcPct val="100000"/>
              </a:lnSpc>
              <a:spcBef>
                <a:spcPts val="360"/>
              </a:spcBef>
              <a:spcAft>
                <a:spcPts val="0"/>
              </a:spcAft>
              <a:buSzPts val="1400"/>
              <a:buNone/>
            </a:pPr>
            <a:r>
              <a:t>/home/william/.codex/generated_images/01a06e34-cbd2-7722-83b8-26580858a25f/exec-364af27d-d987-41c3-8353-702bcfbdef07.png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3.25 minutes (60–63.25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The animation begins after the query has compared with the available patch features and produced attention weights. For one component of the value vectors, patches A, B and C supply 4, 2 and 0. Illustrative weights 0.6, 0.3 and 0.1 sum to one. Multiplication gives contributions 2.4, 0.6 and 0. These move to the addition and produce 3.0. The full attention output repeats this weighted combination across feature components. The values are not class probabilities, object labels or measured attention. Learned query/key projections produce input-dependent weights; learned value projections provide the features to combine. A token can also contribute to its own update.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https://arxiv.org/abs/1706.03762</a:t>
            </a:r>
            <a:endParaRPr/>
          </a:p>
          <a:p xmlns:a="http://schemas.openxmlformats.org/drawingml/2006/main">
            <a:pPr marL="0" lvl="0" indent="0" algn="l">
              <a:lnSpc>
                <a:spcPct val="100000"/>
              </a:lnSpc>
              <a:spcBef>
                <a:spcPts val="360"/>
              </a:spcBef>
              <a:spcAft>
                <a:spcPts val="0"/>
              </a:spcAft>
              <a:buSzPts val="1400"/>
              <a:buNone/>
            </a:pPr>
            <a:r>
              <a:t>https://arxiv.org/abs/2010.11929</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attention_motion.gif: AI-generated process illustration sequenced as a GIF</a:t>
            </a:r>
            <a:endParaRPr/>
          </a:p>
          <a:p xmlns:a="http://schemas.openxmlformats.org/drawingml/2006/main">
            <a:pPr marL="0" lvl="0" indent="0" algn="l">
              <a:lnSpc>
                <a:spcPct val="100000"/>
              </a:lnSpc>
              <a:spcBef>
                <a:spcPts val="360"/>
              </a:spcBef>
              <a:spcAft>
                <a:spcPts val="0"/>
              </a:spcAft>
              <a:buSzPts val="1400"/>
              <a:buNone/>
            </a:pPr>
            <a:r>
              <a:t>/home/william/.codex/generated_images/01a06e34-cbd2-7722-83b8-26580858a25f/exec-2c5357ee-2c17-4eb7-998d-d1656e152ca5.png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2 minutes (63.25–65.25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Connect this directly to training in the earlier CNN. We usually do not hand-label desired attention links. Learned projections produce current-image weights. Attention is a mechanism, not guaranteed understanding or a causal explanation. Ask students how an always-present background could become a shortcut. Q/K/V names and matrix formulas remain outside the main lecture.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https://arxiv.org/abs/1706.03762</a:t>
            </a:r>
            <a:endParaRPr/>
          </a:p>
          <a:p xmlns:a="http://schemas.openxmlformats.org/drawingml/2006/main">
            <a:pPr marL="0" lvl="0" indent="0" algn="l">
              <a:lnSpc>
                <a:spcPct val="100000"/>
              </a:lnSpc>
              <a:spcBef>
                <a:spcPts val="360"/>
              </a:spcBef>
              <a:spcAft>
                <a:spcPts val="0"/>
              </a:spcAft>
              <a:buSzPts val="1400"/>
              <a:buNone/>
            </a:pPr>
            <a:r>
              <a:t>https://arxiv.org/abs/2010.11929</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attention.png: Static frame: AI-generated conceptual attention illustration in three stages</a:t>
            </a:r>
            <a:endParaRPr/>
          </a:p>
          <a:p xmlns:a="http://schemas.openxmlformats.org/drawingml/2006/main">
            <a:pPr marL="0" lvl="0" indent="0" algn="l">
              <a:lnSpc>
                <a:spcPct val="100000"/>
              </a:lnSpc>
              <a:spcBef>
                <a:spcPts val="360"/>
              </a:spcBef>
              <a:spcAft>
                <a:spcPts val="0"/>
              </a:spcAft>
              <a:buSzPts val="1400"/>
              <a:buNone/>
            </a:pPr>
            <a:r>
              <a:t>ImageGen, 2026-09-04. Invented connections, not measured attention.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2.75 minutes (65.25–68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Trace the simplified transformer overview. Real blocks also use residual paths and normalization to support training; mention their purpose without a new derivation. Multiple attention heads can learn different mixing patterns, but each need not represent a named relationship. Original ViT used large-scale training and a classification head. Features can also feed other task outputs.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https://arxiv.org/abs/2010.11929</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transformer.png: AI-generated conceptual teaching diagram</a:t>
            </a:r>
            <a:endParaRPr/>
          </a:p>
          <a:p xmlns:a="http://schemas.openxmlformats.org/drawingml/2006/main">
            <a:pPr marL="0" lvl="0" indent="0" algn="l">
              <a:lnSpc>
                <a:spcPct val="100000"/>
              </a:lnSpc>
              <a:spcBef>
                <a:spcPts val="360"/>
              </a:spcBef>
              <a:spcAft>
                <a:spcPts val="0"/>
              </a:spcAft>
              <a:buSzPts val="1400"/>
              <a:buNone/>
            </a:pPr>
            <a:r>
              <a:t>ImageGen, 2026-09-04. Illustrative network, not measured activations.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1.5 minutes (68–69.5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Revisit the task distinction now that students know the feature builders. A ViT classifier by itself does not output bounding boxes. DETR is an optional named example of combining CNN features and a transformer for set prediction; do not teach query matching here. The published YOLO still is evidence of the output format, not a DETR result.</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https://arxiv.org/abs/2010.11929</a:t>
            </a:r>
            <a:endParaRPr/>
          </a:p>
          <a:p xmlns:a="http://schemas.openxmlformats.org/drawingml/2006/main">
            <a:pPr marL="0" lvl="0" indent="0" algn="l">
              <a:lnSpc>
                <a:spcPct val="100000"/>
              </a:lnSpc>
              <a:spcBef>
                <a:spcPts val="360"/>
              </a:spcBef>
              <a:spcAft>
                <a:spcPts val="0"/>
              </a:spcAft>
              <a:buSzPts val="1400"/>
              <a:buNone/>
            </a:pPr>
            <a:r>
              <a:t>https://arxiv.org/abs/2005.12872</a:t>
            </a:r>
            <a:endParaRPr/>
          </a:p>
          <a:p xmlns:a="http://schemas.openxmlformats.org/drawingml/2006/main">
            <a:pPr marL="0" lvl="0" indent="0" algn="l">
              <a:lnSpc>
                <a:spcPct val="100000"/>
              </a:lnSpc>
              <a:spcBef>
                <a:spcPts val="360"/>
              </a:spcBef>
              <a:spcAft>
                <a:spcPts val="0"/>
              </a:spcAft>
              <a:buSzPts val="1400"/>
              <a:buNone/>
            </a:pPr>
            <a:r>
              <a:t>https://pjreddie.com/darknet/yolo/</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writing.png: Existing course handwriting illustration</a:t>
            </a:r>
            <a:endParaRPr/>
          </a:p>
          <a:p xmlns:a="http://schemas.openxmlformats.org/drawingml/2006/main">
            <a:pPr marL="0" lvl="0" indent="0" algn="l">
              <a:lnSpc>
                <a:spcPct val="100000"/>
              </a:lnSpc>
              <a:spcBef>
                <a:spcPts val="360"/>
              </a:spcBef>
              <a:spcAft>
                <a:spcPts val="0"/>
              </a:spcAft>
              <a:buSzPts val="1400"/>
              <a:buNone/>
            </a:pPr>
            <a:r>
              <a:t>Earlier course handwriting illustration; not asserted to be dataset samples.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detection.png: Static published figure: Published YOLO detection still and close-up</a:t>
            </a:r>
            <a:endParaRPr/>
          </a:p>
          <a:p xmlns:a="http://schemas.openxmlformats.org/drawingml/2006/main">
            <a:pPr marL="0" lvl="0" indent="0" algn="l">
              <a:lnSpc>
                <a:spcPct val="100000"/>
              </a:lnSpc>
              <a:spcBef>
                <a:spcPts val="360"/>
              </a:spcBef>
              <a:spcAft>
                <a:spcPts val="0"/>
              </a:spcAft>
              <a:buSzPts val="1400"/>
              <a:buNone/>
            </a:pPr>
            <a:r>
              <a:t>https://pjreddie.com/darknet/yolo/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2 minutes (69.5–71.5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At fixed image resolution, smaller patches increase token count. Doubling token count quadruples the number of score pairs in global attention, though full runtime includes other operations. Keep the idea qualitative on the slide. Ask students to suggest fewer comparisons without discarding all context.</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https://arxiv.org/abs/2010.11929</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patches.png: AI-generated conceptual teaching diagram</a:t>
            </a:r>
            <a:endParaRPr/>
          </a:p>
          <a:p xmlns:a="http://schemas.openxmlformats.org/drawingml/2006/main">
            <a:pPr marL="0" lvl="0" indent="0" algn="l">
              <a:lnSpc>
                <a:spcPct val="100000"/>
              </a:lnSpc>
              <a:spcBef>
                <a:spcPts val="360"/>
              </a:spcBef>
              <a:spcAft>
                <a:spcPts val="0"/>
              </a:spcAft>
              <a:buSzPts val="1400"/>
              <a:buNone/>
            </a:pPr>
            <a:r>
              <a:t>ImageGen, 2026-09-04. Illustrative network, not measured activations.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2 minutes (71.5–73.5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A and B remain at fixed image positions while their window grouping changes. They begin in separate 2-by-2 windows. After the shift they share the central window, and feature packets can pass between them. Their displayed vectors change from [1,0] and [0,1] to illustrative mixtures [0.7,0.3] and [0.3,0.7]. These values illustrate information mixing, not a measured Swin block; other tokens and full block operations are omitted. The window grouping shifts between successive layers, not continuously during one attention calculation. Edge masking is omitted. Cross-window communication develops across layers; patch merging builds coarser levels.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https://arxiv.org/abs/2103.14030</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windows_motion.gif: AI-generated process illustration sequenced as a GIF</a:t>
            </a:r>
            <a:endParaRPr/>
          </a:p>
          <a:p xmlns:a="http://schemas.openxmlformats.org/drawingml/2006/main">
            <a:pPr marL="0" lvl="0" indent="0" algn="l">
              <a:lnSpc>
                <a:spcPct val="100000"/>
              </a:lnSpc>
              <a:spcBef>
                <a:spcPts val="360"/>
              </a:spcBef>
              <a:spcAft>
                <a:spcPts val="0"/>
              </a:spcAft>
              <a:buSzPts val="1400"/>
              <a:buNone/>
            </a:pPr>
            <a:r>
              <a:t>/home/william/.codex/generated_images/01a06e34-cbd2-7722-83b8-26580858a25f/exec-dbeddbe7-0d3b-4f24-9816-d3a4a119a326.png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1.5 minutes (73.5–75 minutes).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Use two difficult scenarios and ask whether attention guarantees success. No. Occlusion removes evidence; unfamiliar weather changes appearance; background shortcuts can mislead both model families. More data, better sensor evidence and evaluation may be more valuable than changing the architecture.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[Concept references]</a:t>
            </a:r>
            <a:endParaRPr/>
          </a:p>
          <a:p xmlns:a="http://schemas.openxmlformats.org/drawingml/2006/main">
            <a:pPr marL="0" lvl="0" indent="0" algn="l">
              <a:lnSpc>
                <a:spcPct val="100000"/>
              </a:lnSpc>
              <a:spcBef>
                <a:spcPts val="360"/>
              </a:spcBef>
              <a:spcAft>
                <a:spcPts val="0"/>
              </a:spcAft>
              <a:buSzPts val="1400"/>
              <a:buNone/>
            </a:pPr>
            <a:r>
              <a:t>https://arxiv.org/abs/2010.11929</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[Visual sources]</a:t>
            </a:r>
            <a:endParaRPr/>
          </a:p>
          <a:p xmlns:a="http://schemas.openxmlformats.org/drawingml/2006/main">
            <a:pPr marL="0" lvl="0" indent="0" algn="l">
              <a:lnSpc>
                <a:spcPct val="100000"/>
              </a:lnSpc>
              <a:spcBef>
                <a:spcPts val="360"/>
              </a:spcBef>
              <a:spcAft>
                <a:spcPts val="0"/>
              </a:spcAft>
              <a:buSzPts val="1400"/>
              <a:buNone/>
            </a:pPr>
            <a:r>
              <a:t>car_rain.png: AI-generated conceptual teaching illustration</a:t>
            </a:r>
            <a:endParaRPr/>
          </a:p>
          <a:p xmlns:a="http://schemas.openxmlformats.org/drawingml/2006/main">
            <a:pPr marL="0" lvl="0" indent="0" algn="l">
              <a:lnSpc>
                <a:spcPct val="100000"/>
              </a:lnSpc>
              <a:spcBef>
                <a:spcPts val="360"/>
              </a:spcBef>
              <a:spcAft>
                <a:spcPts val="0"/>
              </a:spcAft>
              <a:buSzPts val="1400"/>
              <a:buNone/>
            </a:pPr>
            <a:r>
              <a:t>ImageGen, 2026-09-04. Conceptual illustration, not model output.</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car_occluded.png: AI-generated conceptual teaching illustration</a:t>
            </a:r>
            <a:endParaRPr/>
          </a:p>
          <a:p xmlns:a="http://schemas.openxmlformats.org/drawingml/2006/main">
            <a:pPr marL="0" lvl="0" indent="0" algn="l">
              <a:lnSpc>
                <a:spcPct val="100000"/>
              </a:lnSpc>
              <a:spcBef>
                <a:spcPts val="360"/>
              </a:spcBef>
              <a:spcAft>
                <a:spcPts val="0"/>
              </a:spcAft>
              <a:buSzPts val="1400"/>
              <a:buNone/>
            </a:pPr>
            <a:r>
              <a:t>ImageGen, 2026-09-04. Conceptual illustration, not model output.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719dafd70d4f50" /><Relationship Type="http://schemas.openxmlformats.org/officeDocument/2006/relationships/image" Target="/ppt/media/image.jpeg" Id="Ra55f7fc148e3476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13bfa6136be49c8" /><Relationship Type="http://schemas.openxmlformats.org/officeDocument/2006/relationships/image" Target="/ppt/media/image.png" Id="Rf396e92eaa40441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8816327ae094497" /><Relationship Type="http://schemas.openxmlformats.org/officeDocument/2006/relationships/image" Target="/ppt/media/image2.jpeg" Id="R05d52003473e4f83" /><Relationship Type="http://schemas.openxmlformats.org/officeDocument/2006/relationships/image" Target="/ppt/media/image.png" Id="R2c4edc3fb69f496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dcc52a8c8064895" /><Relationship Type="http://schemas.openxmlformats.org/officeDocument/2006/relationships/image" Target="/ppt/media/image2.jpeg" Id="R278a0b48095742ec" /><Relationship Type="http://schemas.openxmlformats.org/officeDocument/2006/relationships/image" Target="/ppt/media/image.png" Id="Ra3eb94fad051430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f01364e539745d9" /><Relationship Type="http://schemas.openxmlformats.org/officeDocument/2006/relationships/image" Target="/ppt/media/image2.jpeg" Id="Rc62094e5e2424ef0" /><Relationship Type="http://schemas.openxmlformats.org/officeDocument/2006/relationships/image" Target="/ppt/media/image.png" Id="R67b8eb0146e44cf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144465d45fd4307" /><Relationship Type="http://schemas.openxmlformats.org/officeDocument/2006/relationships/image" Target="/ppt/media/image2.jpeg" Id="R47f02d15d5464af7" /><Relationship Type="http://schemas.openxmlformats.org/officeDocument/2006/relationships/image" Target="/ppt/media/image.png" Id="Rae11f81e34964c0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007b9a64dc24c10" /><Relationship Type="http://schemas.openxmlformats.org/officeDocument/2006/relationships/image" Target="/ppt/media/image2.jpeg" Id="R1b9024d19ff449c3" /><Relationship Type="http://schemas.openxmlformats.org/officeDocument/2006/relationships/image" Target="/ppt/media/image.png" Id="Rd44cdcdffdbc443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3b992e55c674bc0" /><Relationship Type="http://schemas.openxmlformats.org/officeDocument/2006/relationships/image" Target="/ppt/media/image2.jpeg" Id="Rcc51dca89e7f48e3" /><Relationship Type="http://schemas.openxmlformats.org/officeDocument/2006/relationships/image" Target="/ppt/media/image.png" Id="Red45d9371d1a490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ba3461ee5724b0c" /><Relationship Type="http://schemas.openxmlformats.org/officeDocument/2006/relationships/image" Target="/ppt/media/image2.jpeg" Id="R8403ca8802094a9f" /><Relationship Type="http://schemas.openxmlformats.org/officeDocument/2006/relationships/image" Target="/ppt/media/image.png" Id="R63f5d2d0691144f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77e1e7dff424db1" /><Relationship Type="http://schemas.openxmlformats.org/officeDocument/2006/relationships/image" Target="/ppt/media/image2.jpeg" Id="R4e9bf056b67b431f" /><Relationship Type="http://schemas.openxmlformats.org/officeDocument/2006/relationships/image" Target="/ppt/media/image.png" Id="Rce343d36d48e4db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d90271af3f4483e" /><Relationship Type="http://schemas.openxmlformats.org/officeDocument/2006/relationships/image" Target="/ppt/media/image2.jpeg" Id="R88c2826fda9543f5" /><Relationship Type="http://schemas.openxmlformats.org/officeDocument/2006/relationships/image" Target="/ppt/media/image.png" Id="R97f7e3d50a034d51"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15181889a9754d21" /><Relationship Type="http://schemas.openxmlformats.org/officeDocument/2006/relationships/image" Target="/ppt/media/image2.jpeg" Id="Ra7d4743494da4d10" /><Relationship Type="http://schemas.openxmlformats.org/officeDocument/2006/relationships/image" Target="/ppt/media/image.png" Id="R74df844d00cf4d70" /></Relationships>
</file>

<file path=ppt/slideLayouts/slideLayout1.xml><?xml version="1.0" encoding="utf-8"?>
<p:sldLayout xmlns:p="http://schemas.openxmlformats.org/presentationml/2006/main" matchingName="Title Slide" type="title">
  <p:cSld name="TITLE">
    <p:bg>
      <p:bgPr>
        <a:blipFill xmlns:a="http://schemas.openxmlformats.org/drawingml/2006/main">
          <a:blip xmlns:r="http://schemas.openxmlformats.org/officeDocument/2006/relationships" r:embed="Ra55f7fc148e34769">
            <a:alphaModFix/>
          </a:blip>
          <a:stretch>
            <a:fillRect l="0" t="0" r="0" b="0"/>
          </a:stretch>
        </a:blipFill>
      </p:bgPr>
    </p:bg>
    <p:spTree>
      <p:nvGrpSpPr>
        <p:cNvPr id="1" name=""/>
        <p:cNvGrpSpPr/>
        <p:nvPr/>
      </p:nvGrpSpPr>
      <p:grpSpPr>
        <a:xfrm xmlns:a="http://schemas.openxmlformats.org/drawingml/2006/main"/>
      </p:grpSpPr>
      <p:sp>
        <p:nvSpPr>
          <p:cNvPr id="14" name="Google Shape;14;p5">
            <a:extLst xmlns:a="http://schemas.openxmlformats.org/drawingml/2006/main">
              <a:ext uri="{FF2B5EF4-FFF2-40B4-BE49-F238E27FC236}">
                <a16:creationId xmlns:a16="http://schemas.microsoft.com/office/drawing/2014/main" id="{EE9ED71F-3551-4438-85B7-9B9AE6CDE244}"/>
              </a:ext>
            </a:extLst>
          </p:cNvPr>
          <p:cNvSpPr>
            <a:spLocks xmlns:a="http://schemas.openxmlformats.org/drawingml/2006/main" noGrp="1"/>
          </p:cNvSpPr>
          <p:nvPr>
            <p:ph type="ctrTitle" idx="0"/>
          </p:nvPr>
        </p:nvSpPr>
        <p:spPr>
          <a:xfrm xmlns:a="http://schemas.openxmlformats.org/drawingml/2006/main">
            <a:off x="685800" y="1597819"/>
            <a:ext cx="7772400" cy="11025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lt1"/>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15" name="Google Shape;15;p5">
            <a:extLst xmlns:a="http://schemas.openxmlformats.org/drawingml/2006/main">
              <a:ext uri="{FF2B5EF4-FFF2-40B4-BE49-F238E27FC236}">
                <a16:creationId xmlns:a16="http://schemas.microsoft.com/office/drawing/2014/main" id="{5EC03B77-5463-43C0-8A98-279C1E061655}"/>
              </a:ext>
            </a:extLst>
          </p:cNvPr>
          <p:cNvSpPr>
            <a:spLocks xmlns:a="http://schemas.openxmlformats.org/drawingml/2006/main" noGrp="1"/>
          </p:cNvSpPr>
          <p:nvPr>
            <p:ph type="subTitle" idx="1"/>
          </p:nvPr>
        </p:nvSpPr>
        <p:spPr>
          <a:xfrm xmlns:a="http://schemas.openxmlformats.org/drawingml/2006/main">
            <a:off x="1371600" y="2914650"/>
            <a:ext cx="6400800" cy="1314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algn="ctr">
              <a:lnSpc>
                <a:spcPct val="100000"/>
              </a:lnSpc>
              <a:spcBef>
                <a:spcPts val="360"/>
              </a:spcBef>
              <a:spcAft>
                <a:spcPts val="0"/>
              </a:spcAft>
              <a:buClr>
                <a:schemeClr val="accent5"/>
              </a:buClr>
              <a:buSzPts val="1800"/>
              <a:buNone/>
              <a:defRPr>
                <a:solidFill>
                  <a:schemeClr val="accent5"/>
                </a:solidFill>
              </a:defRPr>
            </a:lvl1pPr>
            <a:lvl2pPr algn="ctr">
              <a:lnSpc>
                <a:spcPct val="100000"/>
              </a:lnSpc>
              <a:spcBef>
                <a:spcPts val="360"/>
              </a:spcBef>
              <a:spcAft>
                <a:spcPts val="0"/>
              </a:spcAft>
              <a:buClr>
                <a:srgbClr val="888888"/>
              </a:buClr>
              <a:buSzPts val="1800"/>
              <a:buNone/>
              <a:defRPr>
                <a:solidFill>
                  <a:srgbClr val="888888"/>
                </a:solidFill>
              </a:defRPr>
            </a:lvl2pPr>
            <a:lvl3pPr algn="ctr">
              <a:lnSpc>
                <a:spcPct val="100000"/>
              </a:lnSpc>
              <a:spcBef>
                <a:spcPts val="360"/>
              </a:spcBef>
              <a:spcAft>
                <a:spcPts val="0"/>
              </a:spcAft>
              <a:buClr>
                <a:srgbClr val="888888"/>
              </a:buClr>
              <a:buSzPts val="1800"/>
              <a:buNone/>
              <a:defRPr>
                <a:solidFill>
                  <a:srgbClr val="888888"/>
                </a:solidFill>
              </a:defRPr>
            </a:lvl3pPr>
            <a:lvl4pPr algn="ctr">
              <a:lnSpc>
                <a:spcPct val="100000"/>
              </a:lnSpc>
              <a:spcBef>
                <a:spcPts val="360"/>
              </a:spcBef>
              <a:spcAft>
                <a:spcPts val="0"/>
              </a:spcAft>
              <a:buClr>
                <a:srgbClr val="888888"/>
              </a:buClr>
              <a:buSzPts val="1800"/>
              <a:buNone/>
              <a:defRPr>
                <a:solidFill>
                  <a:srgbClr val="888888"/>
                </a:solidFill>
              </a:defRPr>
            </a:lvl4pPr>
            <a:lvl5pPr algn="ctr">
              <a:lnSpc>
                <a:spcPct val="100000"/>
              </a:lnSpc>
              <a:spcBef>
                <a:spcPts val="360"/>
              </a:spcBef>
              <a:spcAft>
                <a:spcPts val="0"/>
              </a:spcAft>
              <a:buClr>
                <a:srgbClr val="888888"/>
              </a:buClr>
              <a:buSzPts val="1800"/>
              <a:buNone/>
              <a:defRPr>
                <a:solidFill>
                  <a:srgbClr val="888888"/>
                </a:solidFill>
              </a:defRPr>
            </a:lvl5pPr>
            <a:lvl6pPr algn="ctr">
              <a:lnSpc>
                <a:spcPct val="100000"/>
              </a:lnSpc>
              <a:spcBef>
                <a:spcPts val="400"/>
              </a:spcBef>
              <a:spcAft>
                <a:spcPts val="0"/>
              </a:spcAft>
              <a:buClr>
                <a:srgbClr val="888888"/>
              </a:buClr>
              <a:buSzPts val="2000"/>
              <a:buNone/>
              <a:defRPr>
                <a:solidFill>
                  <a:srgbClr val="888888"/>
                </a:solidFill>
              </a:defRPr>
            </a:lvl6pPr>
            <a:lvl7pPr algn="ctr">
              <a:lnSpc>
                <a:spcPct val="100000"/>
              </a:lnSpc>
              <a:spcBef>
                <a:spcPts val="400"/>
              </a:spcBef>
              <a:spcAft>
                <a:spcPts val="0"/>
              </a:spcAft>
              <a:buClr>
                <a:srgbClr val="888888"/>
              </a:buClr>
              <a:buSzPts val="2000"/>
              <a:buNone/>
              <a:defRPr>
                <a:solidFill>
                  <a:srgbClr val="888888"/>
                </a:solidFill>
              </a:defRPr>
            </a:lvl7pPr>
            <a:lvl8pPr algn="ctr">
              <a:lnSpc>
                <a:spcPct val="100000"/>
              </a:lnSpc>
              <a:spcBef>
                <a:spcPts val="400"/>
              </a:spcBef>
              <a:spcAft>
                <a:spcPts val="0"/>
              </a:spcAft>
              <a:buClr>
                <a:srgbClr val="888888"/>
              </a:buClr>
              <a:buSzPts val="2000"/>
              <a:buNone/>
              <a:defRPr>
                <a:solidFill>
                  <a:srgbClr val="888888"/>
                </a:solidFill>
              </a:defRPr>
            </a:lvl8pPr>
            <a:lvl9pPr algn="ctr">
              <a:lnSpc>
                <a:spcPct val="100000"/>
              </a:lnSpc>
              <a:spcBef>
                <a:spcPts val="400"/>
              </a:spcBef>
              <a:spcAft>
                <a:spcPts val="0"/>
              </a:spcAft>
              <a:buClr>
                <a:srgbClr val="888888"/>
              </a:buClr>
              <a:buSzPts val="2000"/>
              <a:buNone/>
              <a:defRPr>
                <a:solidFill>
                  <a:srgbClr val="888888"/>
                </a:solidFill>
              </a:defRPr>
            </a:lvl9pPr>
          </a:lstStyle>
          <a:p xmlns:a="http://schemas.openxmlformats.org/drawingml/2006/main"/>
        </p:txBody>
      </p:sp>
    </p:spTree>
  </p:cSld>
</p:sldLayout>
</file>

<file path=ppt/slideLayouts/slideLayout2.xml><?xml version="1.0" encoding="utf-8"?>
<p:sldLayout xmlns:p="http://schemas.openxmlformats.org/presentationml/2006/main" matchingName="Title and Content" type="obj">
  <p:cSld name="OBJECT">
    <p:bg>
      <p:bgPr>
        <a:solidFill xmlns:a="http://schemas.openxmlformats.org/drawingml/2006/main">
          <a:schemeClr val="lt1"/>
        </a:solidFill>
      </p:bgPr>
    </p:bg>
    <p:spTree>
      <p:nvGrpSpPr>
        <p:cNvPr id="1" name=""/>
        <p:cNvGrpSpPr/>
        <p:nvPr/>
      </p:nvGrpSpPr>
      <p:grpSpPr>
        <a:xfrm xmlns:a="http://schemas.openxmlformats.org/drawingml/2006/main"/>
      </p:grpSpPr>
      <p:sp>
        <p:nvSpPr>
          <p:cNvPr id="17" name="Google Shape;17;p6">
            <a:extLst xmlns:a="http://schemas.openxmlformats.org/drawingml/2006/main">
              <a:ext uri="{FF2B5EF4-FFF2-40B4-BE49-F238E27FC236}">
                <a16:creationId xmlns:a16="http://schemas.microsoft.com/office/drawing/2014/main" id="{C79D7B47-0CBE-41BC-A27C-BF942DC17ACF}"/>
              </a:ext>
            </a:extLst>
          </p:cNvPr>
          <p:cNvSpPr>
            <a:spLocks xmlns:a="http://schemas.openxmlformats.org/drawingml/2006/main" noGrp="1"/>
          </p:cNvSpPr>
          <p:nvPr>
            <p:ph type="title" idx="0"/>
          </p:nvPr>
        </p:nvSpPr>
        <p:spPr>
          <a:xfrm xmlns:a="http://schemas.openxmlformats.org/drawingml/2006/main">
            <a:off x="457200" y="528490"/>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18" name="Google Shape;18;p6">
            <a:extLst xmlns:a="http://schemas.openxmlformats.org/drawingml/2006/main">
              <a:ext uri="{FF2B5EF4-FFF2-40B4-BE49-F238E27FC236}">
                <a16:creationId xmlns:a16="http://schemas.microsoft.com/office/drawing/2014/main" id="{74BC8D3C-C384-4A5D-B3F3-C6EB1E7B3B5D}"/>
              </a:ext>
            </a:extLst>
          </p:cNvPr>
          <p:cNvSpPr>
            <a:spLocks xmlns:a="http://schemas.openxmlformats.org/drawingml/2006/main" noGrp="1"/>
          </p:cNvSpPr>
          <p:nvPr>
            <p:ph type="body" idx="1"/>
          </p:nvPr>
        </p:nvSpPr>
        <p:spPr>
          <a:xfrm xmlns:a="http://schemas.openxmlformats.org/drawingml/2006/main">
            <a:off x="457200" y="1543050"/>
            <a:ext cx="8229600" cy="2651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42900" algn="l">
              <a:lnSpc>
                <a:spcPct val="100000"/>
              </a:lnSpc>
              <a:spcBef>
                <a:spcPts val="360"/>
              </a:spcBef>
              <a:spcAft>
                <a:spcPts val="0"/>
              </a:spcAft>
              <a:buClr>
                <a:srgbClr val="006096"/>
              </a:buClr>
              <a:buSzPts val="1800"/>
              <a:buChar char="•"/>
              <a:defRPr>
                <a:solidFill>
                  <a:srgbClr val="006096"/>
                </a:solidFill>
              </a:defRPr>
            </a:lvl1pPr>
            <a:lvl2pPr marL="914400" indent="-342900" algn="l">
              <a:lnSpc>
                <a:spcPct val="100000"/>
              </a:lnSpc>
              <a:spcBef>
                <a:spcPts val="360"/>
              </a:spcBef>
              <a:spcAft>
                <a:spcPts val="0"/>
              </a:spcAft>
              <a:buClr>
                <a:srgbClr val="006096"/>
              </a:buClr>
              <a:buSzPts val="1800"/>
              <a:buChar char="–"/>
              <a:defRPr>
                <a:solidFill>
                  <a:srgbClr val="006096"/>
                </a:solidFill>
              </a:defRPr>
            </a:lvl2pPr>
            <a:lvl3pPr marL="1371600" indent="-342900" algn="l">
              <a:lnSpc>
                <a:spcPct val="100000"/>
              </a:lnSpc>
              <a:spcBef>
                <a:spcPts val="360"/>
              </a:spcBef>
              <a:spcAft>
                <a:spcPts val="0"/>
              </a:spcAft>
              <a:buClr>
                <a:srgbClr val="006096"/>
              </a:buClr>
              <a:buSzPts val="1800"/>
              <a:buChar char="•"/>
              <a:defRPr>
                <a:solidFill>
                  <a:srgbClr val="006096"/>
                </a:solidFill>
              </a:defRPr>
            </a:lvl3pPr>
            <a:lvl4pPr marL="1828800" indent="-342900" algn="l">
              <a:lnSpc>
                <a:spcPct val="100000"/>
              </a:lnSpc>
              <a:spcBef>
                <a:spcPts val="360"/>
              </a:spcBef>
              <a:spcAft>
                <a:spcPts val="0"/>
              </a:spcAft>
              <a:buClr>
                <a:srgbClr val="006096"/>
              </a:buClr>
              <a:buSzPts val="1800"/>
              <a:buChar char="–"/>
              <a:defRPr>
                <a:solidFill>
                  <a:srgbClr val="006096"/>
                </a:solidFill>
              </a:defRPr>
            </a:lvl4pPr>
            <a:lvl5pPr marL="2286000" indent="-342900" algn="l">
              <a:lnSpc>
                <a:spcPct val="100000"/>
              </a:lnSpc>
              <a:spcBef>
                <a:spcPts val="360"/>
              </a:spcBef>
              <a:spcAft>
                <a:spcPts val="0"/>
              </a:spcAft>
              <a:buClr>
                <a:srgbClr val="006096"/>
              </a:buClr>
              <a:buSzPts val="1800"/>
              <a:buChar char="»"/>
              <a:defRPr>
                <a:solidFill>
                  <a:srgbClr val="006096"/>
                </a:solidFill>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xmlns:a="http://schemas.openxmlformats.org/drawingml/2006/main"/>
        </p:txBody>
      </p:sp>
      <p:sp>
        <p:nvSpPr>
          <p:cNvPr id="19" name="Google Shape;19;p6">
            <a:extLst xmlns:a="http://schemas.openxmlformats.org/drawingml/2006/main">
              <a:ext uri="{FF2B5EF4-FFF2-40B4-BE49-F238E27FC236}">
                <a16:creationId xmlns:a16="http://schemas.microsoft.com/office/drawing/2014/main" id="{7A507B5B-61C7-47F8-9CA2-2E85FB24A3C7}"/>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24" name="Google Shape;20;p6"/>
          <p:cNvPicPr>
            <a:picLocks xmlns:a="http://schemas.openxmlformats.org/drawingml/2006/main" noChangeAspect="1"/>
          </p:cNvPicPr>
          <p:nvPr/>
        </p:nvPicPr>
        <p:blipFill rotWithShape="1">
          <a:blip xmlns:r="http://schemas.openxmlformats.org/officeDocument/2006/relationships" xmlns:a="http://schemas.openxmlformats.org/drawingml/2006/main" r:embed="Rf396e92eaa404414">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3.xml><?xml version="1.0" encoding="utf-8"?>
<p:sldLayout xmlns:p="http://schemas.openxmlformats.org/presentationml/2006/main" matchingName="Custom Layout">
  <p:cSld name="Custom Layout">
    <p:bg>
      <p:bgPr>
        <a:blipFill xmlns:a="http://schemas.openxmlformats.org/drawingml/2006/main">
          <a:blip xmlns:r="http://schemas.openxmlformats.org/officeDocument/2006/relationships" r:embed="R05d52003473e4f83">
            <a:alphaModFix/>
          </a:blip>
          <a:stretch>
            <a:fillRect l="0" t="0" r="0" b="0"/>
          </a:stretch>
        </a:blipFill>
      </p:bgPr>
    </p:bg>
    <p:spTree>
      <p:nvGrpSpPr>
        <p:cNvPr id="1" name=""/>
        <p:cNvGrpSpPr/>
        <p:nvPr/>
      </p:nvGrpSpPr>
      <p:grpSpPr>
        <a:xfrm xmlns:a="http://schemas.openxmlformats.org/drawingml/2006/main"/>
      </p:grpSpPr>
      <p:sp>
        <p:nvSpPr>
          <p:cNvPr id="22" name="Google Shape;22;p7">
            <a:extLst xmlns:a="http://schemas.openxmlformats.org/drawingml/2006/main">
              <a:ext uri="{FF2B5EF4-FFF2-40B4-BE49-F238E27FC236}">
                <a16:creationId xmlns:a16="http://schemas.microsoft.com/office/drawing/2014/main" id="{642AC0A4-E9F6-4A67-87FC-91551F30940B}"/>
              </a:ext>
            </a:extLst>
          </p:cNvPr>
          <p:cNvSpPr>
            <a:spLocks xmlns:a="http://schemas.openxmlformats.org/drawingml/2006/main" noGrp="1"/>
          </p:cNvSpPr>
          <p:nvPr>
            <p:ph type="title" idx="0"/>
          </p:nvPr>
        </p:nvSpPr>
        <p:spPr>
          <a:xfrm xmlns:a="http://schemas.openxmlformats.org/drawingml/2006/main">
            <a:off x="457200" y="914400"/>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23" name="Google Shape;23;p7">
            <a:extLst xmlns:a="http://schemas.openxmlformats.org/drawingml/2006/main">
              <a:ext uri="{FF2B5EF4-FFF2-40B4-BE49-F238E27FC236}">
                <a16:creationId xmlns:a16="http://schemas.microsoft.com/office/drawing/2014/main" id="{20B5EA5C-A8C7-4A8F-A0AF-244DAB62F05D}"/>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r>
              <a:t>1</a:t>
            </a:r>
            <a:endParaRPr>
              <a:solidFill>
                <a:schemeClr val="dk2"/>
              </a:solidFill>
            </a:endParaRPr>
          </a:p>
        </p:txBody>
      </p:sp>
      <p:pic>
        <p:nvPicPr>
          <p:cNvPr id="27" name="Google Shape;24;p7"/>
          <p:cNvPicPr>
            <a:picLocks xmlns:a="http://schemas.openxmlformats.org/drawingml/2006/main" noChangeAspect="1"/>
          </p:cNvPicPr>
          <p:nvPr/>
        </p:nvPicPr>
        <p:blipFill rotWithShape="1">
          <a:blip xmlns:r="http://schemas.openxmlformats.org/officeDocument/2006/relationships" xmlns:a="http://schemas.openxmlformats.org/drawingml/2006/main" r:embed="R2c4edc3fb69f4966">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4.xml><?xml version="1.0" encoding="utf-8"?>
<p:sldLayout xmlns:p="http://schemas.openxmlformats.org/presentationml/2006/main" matchingName="Section Header" type="secHead">
  <p:cSld name="SECTION_HEADER">
    <p:bg>
      <p:bgPr>
        <a:blipFill xmlns:a="http://schemas.openxmlformats.org/drawingml/2006/main">
          <a:blip xmlns:r="http://schemas.openxmlformats.org/officeDocument/2006/relationships" r:embed="R278a0b48095742ec">
            <a:alphaModFix/>
          </a:blip>
          <a:stretch>
            <a:fillRect l="0" t="0" r="0" b="0"/>
          </a:stretch>
        </a:blipFill>
      </p:bgPr>
    </p:bg>
    <p:spTree>
      <p:nvGrpSpPr>
        <p:cNvPr id="1" name=""/>
        <p:cNvGrpSpPr/>
        <p:nvPr/>
      </p:nvGrpSpPr>
      <p:grpSpPr>
        <a:xfrm xmlns:a="http://schemas.openxmlformats.org/drawingml/2006/main"/>
      </p:grpSpPr>
      <p:sp>
        <p:nvSpPr>
          <p:cNvPr id="26" name="Google Shape;26;p8">
            <a:extLst xmlns:a="http://schemas.openxmlformats.org/drawingml/2006/main">
              <a:ext uri="{FF2B5EF4-FFF2-40B4-BE49-F238E27FC236}">
                <a16:creationId xmlns:a16="http://schemas.microsoft.com/office/drawing/2014/main" id="{E3E70F02-DD3D-47A5-8F35-820EE6519C51}"/>
              </a:ext>
            </a:extLst>
          </p:cNvPr>
          <p:cNvSpPr>
            <a:spLocks xmlns:a="http://schemas.openxmlformats.org/drawingml/2006/main" noGrp="1"/>
          </p:cNvSpPr>
          <p:nvPr>
            <p:ph type="title" idx="0"/>
          </p:nvPr>
        </p:nvSpPr>
        <p:spPr>
          <a:xfrm xmlns:a="http://schemas.openxmlformats.org/drawingml/2006/main">
            <a:off x="722313" y="2477691"/>
            <a:ext cx="7772400" cy="10215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lnSpc>
                <a:spcPct val="100000"/>
              </a:lnSpc>
              <a:spcBef>
                <a:spcPts val="0"/>
              </a:spcBef>
              <a:spcAft>
                <a:spcPts val="0"/>
              </a:spcAft>
              <a:buSzPts val="1400"/>
              <a:buNone/>
              <a:defRPr sz="3200" b="1" cap="none">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27" name="Google Shape;27;p8">
            <a:extLst xmlns:a="http://schemas.openxmlformats.org/drawingml/2006/main">
              <a:ext uri="{FF2B5EF4-FFF2-40B4-BE49-F238E27FC236}">
                <a16:creationId xmlns:a16="http://schemas.microsoft.com/office/drawing/2014/main" id="{28F565E2-66D6-4375-B6AE-4D09BF9715F4}"/>
              </a:ext>
            </a:extLst>
          </p:cNvPr>
          <p:cNvSpPr>
            <a:spLocks xmlns:a="http://schemas.openxmlformats.org/drawingml/2006/main" noGrp="1"/>
          </p:cNvSpPr>
          <p:nvPr>
            <p:ph type="body" idx="1"/>
          </p:nvPr>
        </p:nvSpPr>
        <p:spPr>
          <a:xfrm xmlns:a="http://schemas.openxmlformats.org/drawingml/2006/main">
            <a:off x="722313" y="1352550"/>
            <a:ext cx="7772400" cy="11251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lnSpc>
                <a:spcPct val="100000"/>
              </a:lnSpc>
              <a:spcBef>
                <a:spcPts val="400"/>
              </a:spcBef>
              <a:spcAft>
                <a:spcPts val="0"/>
              </a:spcAft>
              <a:buClr>
                <a:srgbClr val="888888"/>
              </a:buClr>
              <a:buSzPts val="2000"/>
              <a:buNone/>
              <a:defRPr sz="2000">
                <a:solidFill>
                  <a:srgbClr val="888888"/>
                </a:solidFill>
              </a:defRPr>
            </a:lvl1pPr>
            <a:lvl2pPr marL="914400" indent="-228600" algn="l">
              <a:lnSpc>
                <a:spcPct val="100000"/>
              </a:lnSpc>
              <a:spcBef>
                <a:spcPts val="360"/>
              </a:spcBef>
              <a:spcAft>
                <a:spcPts val="0"/>
              </a:spcAft>
              <a:buClr>
                <a:srgbClr val="888888"/>
              </a:buClr>
              <a:buSzPts val="1800"/>
              <a:buNone/>
              <a:defRPr sz="1800">
                <a:solidFill>
                  <a:srgbClr val="888888"/>
                </a:solidFill>
              </a:defRPr>
            </a:lvl2pPr>
            <a:lvl3pPr marL="1371600" indent="-228600" algn="l">
              <a:lnSpc>
                <a:spcPct val="100000"/>
              </a:lnSpc>
              <a:spcBef>
                <a:spcPts val="320"/>
              </a:spcBef>
              <a:spcAft>
                <a:spcPts val="0"/>
              </a:spcAft>
              <a:buClr>
                <a:srgbClr val="888888"/>
              </a:buClr>
              <a:buSzPts val="1600"/>
              <a:buNone/>
              <a:defRPr sz="1600">
                <a:solidFill>
                  <a:srgbClr val="888888"/>
                </a:solidFill>
              </a:defRPr>
            </a:lvl3pPr>
            <a:lvl4pPr marL="1828800" indent="-228600" algn="l">
              <a:lnSpc>
                <a:spcPct val="100000"/>
              </a:lnSpc>
              <a:spcBef>
                <a:spcPts val="280"/>
              </a:spcBef>
              <a:spcAft>
                <a:spcPts val="0"/>
              </a:spcAft>
              <a:buClr>
                <a:srgbClr val="888888"/>
              </a:buClr>
              <a:buSzPts val="1400"/>
              <a:buNone/>
              <a:defRPr sz="1400">
                <a:solidFill>
                  <a:srgbClr val="888888"/>
                </a:solidFill>
              </a:defRPr>
            </a:lvl4pPr>
            <a:lvl5pPr marL="2286000" indent="-228600" algn="l">
              <a:lnSpc>
                <a:spcPct val="100000"/>
              </a:lnSpc>
              <a:spcBef>
                <a:spcPts val="280"/>
              </a:spcBef>
              <a:spcAft>
                <a:spcPts val="0"/>
              </a:spcAft>
              <a:buClr>
                <a:srgbClr val="888888"/>
              </a:buClr>
              <a:buSzPts val="1400"/>
              <a:buNone/>
              <a:defRPr sz="1400">
                <a:solidFill>
                  <a:srgbClr val="888888"/>
                </a:solidFill>
              </a:defRPr>
            </a:lvl5pPr>
            <a:lvl6pPr marL="2743200" indent="-228600" algn="l">
              <a:lnSpc>
                <a:spcPct val="100000"/>
              </a:lnSpc>
              <a:spcBef>
                <a:spcPts val="280"/>
              </a:spcBef>
              <a:spcAft>
                <a:spcPts val="0"/>
              </a:spcAft>
              <a:buClr>
                <a:srgbClr val="888888"/>
              </a:buClr>
              <a:buSzPts val="1400"/>
              <a:buNone/>
              <a:defRPr sz="1400">
                <a:solidFill>
                  <a:srgbClr val="888888"/>
                </a:solidFill>
              </a:defRPr>
            </a:lvl6pPr>
            <a:lvl7pPr marL="3200400" indent="-228600" algn="l">
              <a:lnSpc>
                <a:spcPct val="100000"/>
              </a:lnSpc>
              <a:spcBef>
                <a:spcPts val="280"/>
              </a:spcBef>
              <a:spcAft>
                <a:spcPts val="0"/>
              </a:spcAft>
              <a:buClr>
                <a:srgbClr val="888888"/>
              </a:buClr>
              <a:buSzPts val="1400"/>
              <a:buNone/>
              <a:defRPr sz="1400">
                <a:solidFill>
                  <a:srgbClr val="888888"/>
                </a:solidFill>
              </a:defRPr>
            </a:lvl7pPr>
            <a:lvl8pPr marL="3657600" indent="-228600" algn="l">
              <a:lnSpc>
                <a:spcPct val="100000"/>
              </a:lnSpc>
              <a:spcBef>
                <a:spcPts val="280"/>
              </a:spcBef>
              <a:spcAft>
                <a:spcPts val="0"/>
              </a:spcAft>
              <a:buClr>
                <a:srgbClr val="888888"/>
              </a:buClr>
              <a:buSzPts val="1400"/>
              <a:buNone/>
              <a:defRPr sz="1400">
                <a:solidFill>
                  <a:srgbClr val="888888"/>
                </a:solidFill>
              </a:defRPr>
            </a:lvl8pPr>
            <a:lvl9pPr marL="4114800" indent="-228600" algn="l">
              <a:lnSpc>
                <a:spcPct val="100000"/>
              </a:lnSpc>
              <a:spcBef>
                <a:spcPts val="280"/>
              </a:spcBef>
              <a:spcAft>
                <a:spcPts val="0"/>
              </a:spcAft>
              <a:buClr>
                <a:srgbClr val="888888"/>
              </a:buClr>
              <a:buSzPts val="1400"/>
              <a:buNone/>
              <a:defRPr sz="1400">
                <a:solidFill>
                  <a:srgbClr val="888888"/>
                </a:solidFill>
              </a:defRPr>
            </a:lvl9pPr>
          </a:lstStyle>
          <a:p xmlns:a="http://schemas.openxmlformats.org/drawingml/2006/main"/>
        </p:txBody>
      </p:sp>
      <p:sp>
        <p:nvSpPr>
          <p:cNvPr id="28" name="Google Shape;28;p8">
            <a:extLst xmlns:a="http://schemas.openxmlformats.org/drawingml/2006/main">
              <a:ext uri="{FF2B5EF4-FFF2-40B4-BE49-F238E27FC236}">
                <a16:creationId xmlns:a16="http://schemas.microsoft.com/office/drawing/2014/main" id="{E36CAC64-3B77-4E3D-9866-47C6993BB1E3}"/>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33" name="Google Shape;29;p8"/>
          <p:cNvPicPr>
            <a:picLocks xmlns:a="http://schemas.openxmlformats.org/drawingml/2006/main" noChangeAspect="1"/>
          </p:cNvPicPr>
          <p:nvPr/>
        </p:nvPicPr>
        <p:blipFill rotWithShape="1">
          <a:blip xmlns:r="http://schemas.openxmlformats.org/officeDocument/2006/relationships" xmlns:a="http://schemas.openxmlformats.org/drawingml/2006/main" r:embed="Ra3eb94fad0514307">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5.xml><?xml version="1.0" encoding="utf-8"?>
<p:sldLayout xmlns:p="http://schemas.openxmlformats.org/presentationml/2006/main" matchingName="Two Content" type="twoObj">
  <p:cSld name="TWO_OBJECTS">
    <p:bg>
      <p:bgPr>
        <a:blipFill xmlns:a="http://schemas.openxmlformats.org/drawingml/2006/main">
          <a:blip xmlns:r="http://schemas.openxmlformats.org/officeDocument/2006/relationships" r:embed="Rc62094e5e2424ef0">
            <a:alphaModFix/>
          </a:blip>
          <a:stretch>
            <a:fillRect l="0" t="0" r="0" b="0"/>
          </a:stretch>
        </a:blipFill>
      </p:bgPr>
    </p:bg>
    <p:spTree>
      <p:nvGrpSpPr>
        <p:cNvPr id="1" name=""/>
        <p:cNvGrpSpPr/>
        <p:nvPr/>
      </p:nvGrpSpPr>
      <p:grpSpPr>
        <a:xfrm xmlns:a="http://schemas.openxmlformats.org/drawingml/2006/main"/>
      </p:grpSpPr>
      <p:sp>
        <p:nvSpPr>
          <p:cNvPr id="31" name="Google Shape;31;p9">
            <a:extLst xmlns:a="http://schemas.openxmlformats.org/drawingml/2006/main">
              <a:ext uri="{FF2B5EF4-FFF2-40B4-BE49-F238E27FC236}">
                <a16:creationId xmlns:a16="http://schemas.microsoft.com/office/drawing/2014/main" id="{572AB830-7281-4F1F-A6A2-10F9214EF704}"/>
              </a:ext>
            </a:extLst>
          </p:cNvPr>
          <p:cNvSpPr>
            <a:spLocks xmlns:a="http://schemas.openxmlformats.org/drawingml/2006/main" noGrp="1"/>
          </p:cNvSpPr>
          <p:nvPr>
            <p:ph type="title" idx="0"/>
          </p:nvPr>
        </p:nvSpPr>
        <p:spPr>
          <a:xfrm xmlns:a="http://schemas.openxmlformats.org/drawingml/2006/main">
            <a:off x="457200" y="514350"/>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32" name="Google Shape;32;p9">
            <a:extLst xmlns:a="http://schemas.openxmlformats.org/drawingml/2006/main">
              <a:ext uri="{FF2B5EF4-FFF2-40B4-BE49-F238E27FC236}">
                <a16:creationId xmlns:a16="http://schemas.microsoft.com/office/drawing/2014/main" id="{882D9A88-529D-4EA8-BEBD-7A937BCCDCFD}"/>
              </a:ext>
            </a:extLst>
          </p:cNvPr>
          <p:cNvSpPr>
            <a:spLocks xmlns:a="http://schemas.openxmlformats.org/drawingml/2006/main" noGrp="1"/>
          </p:cNvSpPr>
          <p:nvPr>
            <p:ph type="body" idx="1"/>
          </p:nvPr>
        </p:nvSpPr>
        <p:spPr>
          <a:xfrm xmlns:a="http://schemas.openxmlformats.org/drawingml/2006/main">
            <a:off x="457200" y="1085851"/>
            <a:ext cx="4038600" cy="31087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406400" algn="l">
              <a:lnSpc>
                <a:spcPct val="100000"/>
              </a:lnSpc>
              <a:spcBef>
                <a:spcPts val="560"/>
              </a:spcBef>
              <a:spcAft>
                <a:spcPts val="0"/>
              </a:spcAft>
              <a:buClr>
                <a:schemeClr val="dk2"/>
              </a:buClr>
              <a:buSzPts val="2800"/>
              <a:buChar char="•"/>
              <a:defRPr sz="2800"/>
            </a:lvl1pPr>
            <a:lvl2pPr marL="914400" indent="-381000" algn="l">
              <a:lnSpc>
                <a:spcPct val="100000"/>
              </a:lnSpc>
              <a:spcBef>
                <a:spcPts val="480"/>
              </a:spcBef>
              <a:spcAft>
                <a:spcPts val="0"/>
              </a:spcAft>
              <a:buClr>
                <a:schemeClr val="dk2"/>
              </a:buClr>
              <a:buSzPts val="2400"/>
              <a:buChar char="–"/>
              <a:defRPr sz="2400"/>
            </a:lvl2pPr>
            <a:lvl3pPr marL="1371600" indent="-355600" algn="l">
              <a:lnSpc>
                <a:spcPct val="100000"/>
              </a:lnSpc>
              <a:spcBef>
                <a:spcPts val="400"/>
              </a:spcBef>
              <a:spcAft>
                <a:spcPts val="0"/>
              </a:spcAft>
              <a:buClr>
                <a:schemeClr val="dk2"/>
              </a:buClr>
              <a:buSzPts val="2000"/>
              <a:buChar char="•"/>
              <a:defRPr sz="2000"/>
            </a:lvl3pPr>
            <a:lvl4pPr marL="1828800" indent="-342900" algn="l">
              <a:lnSpc>
                <a:spcPct val="100000"/>
              </a:lnSpc>
              <a:spcBef>
                <a:spcPts val="360"/>
              </a:spcBef>
              <a:spcAft>
                <a:spcPts val="0"/>
              </a:spcAft>
              <a:buClr>
                <a:schemeClr val="dk2"/>
              </a:buClr>
              <a:buSzPts val="1800"/>
              <a:buChar char="–"/>
              <a:defRPr sz="1800"/>
            </a:lvl4pPr>
            <a:lvl5pPr marL="2286000" indent="-342900" algn="l">
              <a:lnSpc>
                <a:spcPct val="100000"/>
              </a:lnSpc>
              <a:spcBef>
                <a:spcPts val="360"/>
              </a:spcBef>
              <a:spcAft>
                <a:spcPts val="0"/>
              </a:spcAft>
              <a:buClr>
                <a:schemeClr val="dk2"/>
              </a:buClr>
              <a:buSzPts val="1800"/>
              <a:buChar char="»"/>
              <a:defRPr sz="1800"/>
            </a:lvl5pPr>
            <a:lvl6pPr marL="2743200" indent="-342900" algn="l">
              <a:lnSpc>
                <a:spcPct val="100000"/>
              </a:lnSpc>
              <a:spcBef>
                <a:spcPts val="360"/>
              </a:spcBef>
              <a:spcAft>
                <a:spcPts val="0"/>
              </a:spcAft>
              <a:buClr>
                <a:schemeClr val="dk1"/>
              </a:buClr>
              <a:buSzPts val="1800"/>
              <a:buChar char="•"/>
              <a:defRPr sz="1800"/>
            </a:lvl6pPr>
            <a:lvl7pPr marL="3200400" indent="-342900" algn="l">
              <a:lnSpc>
                <a:spcPct val="100000"/>
              </a:lnSpc>
              <a:spcBef>
                <a:spcPts val="360"/>
              </a:spcBef>
              <a:spcAft>
                <a:spcPts val="0"/>
              </a:spcAft>
              <a:buClr>
                <a:schemeClr val="dk1"/>
              </a:buClr>
              <a:buSzPts val="1800"/>
              <a:buChar char="•"/>
              <a:defRPr sz="1800"/>
            </a:lvl7pPr>
            <a:lvl8pPr marL="3657600" indent="-342900" algn="l">
              <a:lnSpc>
                <a:spcPct val="100000"/>
              </a:lnSpc>
              <a:spcBef>
                <a:spcPts val="360"/>
              </a:spcBef>
              <a:spcAft>
                <a:spcPts val="0"/>
              </a:spcAft>
              <a:buClr>
                <a:schemeClr val="dk1"/>
              </a:buClr>
              <a:buSzPts val="1800"/>
              <a:buChar char="•"/>
              <a:defRPr sz="1800"/>
            </a:lvl8pPr>
            <a:lvl9pPr marL="4114800" indent="-342900" algn="l">
              <a:lnSpc>
                <a:spcPct val="100000"/>
              </a:lnSpc>
              <a:spcBef>
                <a:spcPts val="360"/>
              </a:spcBef>
              <a:spcAft>
                <a:spcPts val="0"/>
              </a:spcAft>
              <a:buClr>
                <a:schemeClr val="dk1"/>
              </a:buClr>
              <a:buSzPts val="1800"/>
              <a:buChar char="•"/>
              <a:defRPr sz="1800"/>
            </a:lvl9pPr>
          </a:lstStyle>
          <a:p xmlns:a="http://schemas.openxmlformats.org/drawingml/2006/main"/>
        </p:txBody>
      </p:sp>
      <p:sp>
        <p:nvSpPr>
          <p:cNvPr id="33" name="Google Shape;33;p9">
            <a:extLst xmlns:a="http://schemas.openxmlformats.org/drawingml/2006/main">
              <a:ext uri="{FF2B5EF4-FFF2-40B4-BE49-F238E27FC236}">
                <a16:creationId xmlns:a16="http://schemas.microsoft.com/office/drawing/2014/main" id="{FFD379FB-FC6A-411B-9864-DAB682D25069}"/>
              </a:ext>
            </a:extLst>
          </p:cNvPr>
          <p:cNvSpPr>
            <a:spLocks xmlns:a="http://schemas.openxmlformats.org/drawingml/2006/main" noGrp="1"/>
          </p:cNvSpPr>
          <p:nvPr>
            <p:ph type="body" idx="2"/>
          </p:nvPr>
        </p:nvSpPr>
        <p:spPr>
          <a:xfrm xmlns:a="http://schemas.openxmlformats.org/drawingml/2006/main">
            <a:off x="4648200" y="1085851"/>
            <a:ext cx="4038600" cy="31087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406400" algn="l">
              <a:lnSpc>
                <a:spcPct val="100000"/>
              </a:lnSpc>
              <a:spcBef>
                <a:spcPts val="560"/>
              </a:spcBef>
              <a:spcAft>
                <a:spcPts val="0"/>
              </a:spcAft>
              <a:buClr>
                <a:schemeClr val="dk2"/>
              </a:buClr>
              <a:buSzPts val="2800"/>
              <a:buChar char="•"/>
              <a:defRPr sz="2800"/>
            </a:lvl1pPr>
            <a:lvl2pPr marL="914400" indent="-381000" algn="l">
              <a:lnSpc>
                <a:spcPct val="100000"/>
              </a:lnSpc>
              <a:spcBef>
                <a:spcPts val="480"/>
              </a:spcBef>
              <a:spcAft>
                <a:spcPts val="0"/>
              </a:spcAft>
              <a:buClr>
                <a:schemeClr val="dk2"/>
              </a:buClr>
              <a:buSzPts val="2400"/>
              <a:buChar char="–"/>
              <a:defRPr sz="2400"/>
            </a:lvl2pPr>
            <a:lvl3pPr marL="1371600" indent="-355600" algn="l">
              <a:lnSpc>
                <a:spcPct val="100000"/>
              </a:lnSpc>
              <a:spcBef>
                <a:spcPts val="400"/>
              </a:spcBef>
              <a:spcAft>
                <a:spcPts val="0"/>
              </a:spcAft>
              <a:buClr>
                <a:schemeClr val="dk2"/>
              </a:buClr>
              <a:buSzPts val="2000"/>
              <a:buChar char="•"/>
              <a:defRPr sz="2000"/>
            </a:lvl3pPr>
            <a:lvl4pPr marL="1828800" indent="-342900" algn="l">
              <a:lnSpc>
                <a:spcPct val="100000"/>
              </a:lnSpc>
              <a:spcBef>
                <a:spcPts val="360"/>
              </a:spcBef>
              <a:spcAft>
                <a:spcPts val="0"/>
              </a:spcAft>
              <a:buClr>
                <a:schemeClr val="dk2"/>
              </a:buClr>
              <a:buSzPts val="1800"/>
              <a:buChar char="–"/>
              <a:defRPr sz="1800"/>
            </a:lvl4pPr>
            <a:lvl5pPr marL="2286000" indent="-342900" algn="l">
              <a:lnSpc>
                <a:spcPct val="100000"/>
              </a:lnSpc>
              <a:spcBef>
                <a:spcPts val="360"/>
              </a:spcBef>
              <a:spcAft>
                <a:spcPts val="0"/>
              </a:spcAft>
              <a:buClr>
                <a:schemeClr val="dk2"/>
              </a:buClr>
              <a:buSzPts val="1800"/>
              <a:buChar char="»"/>
              <a:defRPr sz="1800"/>
            </a:lvl5pPr>
            <a:lvl6pPr marL="2743200" indent="-342900" algn="l">
              <a:lnSpc>
                <a:spcPct val="100000"/>
              </a:lnSpc>
              <a:spcBef>
                <a:spcPts val="360"/>
              </a:spcBef>
              <a:spcAft>
                <a:spcPts val="0"/>
              </a:spcAft>
              <a:buClr>
                <a:schemeClr val="dk1"/>
              </a:buClr>
              <a:buSzPts val="1800"/>
              <a:buChar char="•"/>
              <a:defRPr sz="1800"/>
            </a:lvl6pPr>
            <a:lvl7pPr marL="3200400" indent="-342900" algn="l">
              <a:lnSpc>
                <a:spcPct val="100000"/>
              </a:lnSpc>
              <a:spcBef>
                <a:spcPts val="360"/>
              </a:spcBef>
              <a:spcAft>
                <a:spcPts val="0"/>
              </a:spcAft>
              <a:buClr>
                <a:schemeClr val="dk1"/>
              </a:buClr>
              <a:buSzPts val="1800"/>
              <a:buChar char="•"/>
              <a:defRPr sz="1800"/>
            </a:lvl7pPr>
            <a:lvl8pPr marL="3657600" indent="-342900" algn="l">
              <a:lnSpc>
                <a:spcPct val="100000"/>
              </a:lnSpc>
              <a:spcBef>
                <a:spcPts val="360"/>
              </a:spcBef>
              <a:spcAft>
                <a:spcPts val="0"/>
              </a:spcAft>
              <a:buClr>
                <a:schemeClr val="dk1"/>
              </a:buClr>
              <a:buSzPts val="1800"/>
              <a:buChar char="•"/>
              <a:defRPr sz="1800"/>
            </a:lvl8pPr>
            <a:lvl9pPr marL="4114800" indent="-342900" algn="l">
              <a:lnSpc>
                <a:spcPct val="100000"/>
              </a:lnSpc>
              <a:spcBef>
                <a:spcPts val="360"/>
              </a:spcBef>
              <a:spcAft>
                <a:spcPts val="0"/>
              </a:spcAft>
              <a:buClr>
                <a:schemeClr val="dk1"/>
              </a:buClr>
              <a:buSzPts val="1800"/>
              <a:buChar char="•"/>
              <a:defRPr sz="1800"/>
            </a:lvl9pPr>
          </a:lstStyle>
          <a:p xmlns:a="http://schemas.openxmlformats.org/drawingml/2006/main"/>
        </p:txBody>
      </p:sp>
      <p:sp>
        <p:nvSpPr>
          <p:cNvPr id="34" name="Google Shape;34;p9">
            <a:extLst xmlns:a="http://schemas.openxmlformats.org/drawingml/2006/main">
              <a:ext uri="{FF2B5EF4-FFF2-40B4-BE49-F238E27FC236}">
                <a16:creationId xmlns:a16="http://schemas.microsoft.com/office/drawing/2014/main" id="{40A3B26B-30F2-4DD4-8A73-C8DCE1238AAE}"/>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40" name="Google Shape;35;p9"/>
          <p:cNvPicPr>
            <a:picLocks xmlns:a="http://schemas.openxmlformats.org/drawingml/2006/main" noChangeAspect="1"/>
          </p:cNvPicPr>
          <p:nvPr/>
        </p:nvPicPr>
        <p:blipFill rotWithShape="1">
          <a:blip xmlns:r="http://schemas.openxmlformats.org/officeDocument/2006/relationships" xmlns:a="http://schemas.openxmlformats.org/drawingml/2006/main" r:embed="R67b8eb0146e44cf8">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6.xml><?xml version="1.0" encoding="utf-8"?>
<p:sldLayout xmlns:p="http://schemas.openxmlformats.org/presentationml/2006/main" matchingName="Comparison">
  <p:cSld name="Comparison">
    <p:bg>
      <p:bgPr>
        <a:blipFill xmlns:a="http://schemas.openxmlformats.org/drawingml/2006/main">
          <a:blip xmlns:r="http://schemas.openxmlformats.org/officeDocument/2006/relationships" r:embed="R47f02d15d5464af7">
            <a:alphaModFix/>
          </a:blip>
          <a:stretch>
            <a:fillRect l="0" t="0" r="0" b="0"/>
          </a:stretch>
        </a:blipFill>
      </p:bgPr>
    </p:bg>
    <p:spTree>
      <p:nvGrpSpPr>
        <p:cNvPr id="1" name=""/>
        <p:cNvGrpSpPr/>
        <p:nvPr/>
      </p:nvGrpSpPr>
      <p:grpSpPr>
        <a:xfrm xmlns:a="http://schemas.openxmlformats.org/drawingml/2006/main"/>
      </p:grpSpPr>
      <p:sp>
        <p:nvSpPr>
          <p:cNvPr id="37" name="Google Shape;37;p10">
            <a:extLst xmlns:a="http://schemas.openxmlformats.org/drawingml/2006/main">
              <a:ext uri="{FF2B5EF4-FFF2-40B4-BE49-F238E27FC236}">
                <a16:creationId xmlns:a16="http://schemas.microsoft.com/office/drawing/2014/main" id="{5132B670-240F-426D-A702-8349F6ACF749}"/>
              </a:ext>
            </a:extLst>
          </p:cNvPr>
          <p:cNvSpPr>
            <a:spLocks xmlns:a="http://schemas.openxmlformats.org/drawingml/2006/main" noGrp="1"/>
          </p:cNvSpPr>
          <p:nvPr>
            <p:ph type="body" idx="1"/>
          </p:nvPr>
        </p:nvSpPr>
        <p:spPr>
          <a:xfrm xmlns:a="http://schemas.openxmlformats.org/drawingml/2006/main">
            <a:off x="457200" y="514350"/>
            <a:ext cx="4040188" cy="7739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lnSpc>
                <a:spcPct val="100000"/>
              </a:lnSpc>
              <a:spcBef>
                <a:spcPts val="480"/>
              </a:spcBef>
              <a:spcAft>
                <a:spcPts val="0"/>
              </a:spcAft>
              <a:buClr>
                <a:schemeClr val="dk2"/>
              </a:buClr>
              <a:buSzPts val="2400"/>
              <a:buNone/>
              <a:defRPr sz="2400" b="1"/>
            </a:lvl1pPr>
            <a:lvl2pPr marL="914400" indent="-228600" algn="l">
              <a:lnSpc>
                <a:spcPct val="100000"/>
              </a:lnSpc>
              <a:spcBef>
                <a:spcPts val="400"/>
              </a:spcBef>
              <a:spcAft>
                <a:spcPts val="0"/>
              </a:spcAft>
              <a:buClr>
                <a:schemeClr val="dk2"/>
              </a:buClr>
              <a:buSzPts val="2000"/>
              <a:buNone/>
              <a:defRPr sz="2000" b="1"/>
            </a:lvl2pPr>
            <a:lvl3pPr marL="1371600" indent="-228600" algn="l">
              <a:lnSpc>
                <a:spcPct val="100000"/>
              </a:lnSpc>
              <a:spcBef>
                <a:spcPts val="360"/>
              </a:spcBef>
              <a:spcAft>
                <a:spcPts val="0"/>
              </a:spcAft>
              <a:buClr>
                <a:schemeClr val="dk2"/>
              </a:buClr>
              <a:buSzPts val="1800"/>
              <a:buNone/>
              <a:defRPr sz="1800" b="1"/>
            </a:lvl3pPr>
            <a:lvl4pPr marL="1828800" indent="-228600" algn="l">
              <a:lnSpc>
                <a:spcPct val="100000"/>
              </a:lnSpc>
              <a:spcBef>
                <a:spcPts val="320"/>
              </a:spcBef>
              <a:spcAft>
                <a:spcPts val="0"/>
              </a:spcAft>
              <a:buClr>
                <a:schemeClr val="dk2"/>
              </a:buClr>
              <a:buSzPts val="1600"/>
              <a:buNone/>
              <a:defRPr sz="1600" b="1"/>
            </a:lvl4pPr>
            <a:lvl5pPr marL="2286000" indent="-228600" algn="l">
              <a:lnSpc>
                <a:spcPct val="100000"/>
              </a:lnSpc>
              <a:spcBef>
                <a:spcPts val="320"/>
              </a:spcBef>
              <a:spcAft>
                <a:spcPts val="0"/>
              </a:spcAft>
              <a:buClr>
                <a:schemeClr val="dk2"/>
              </a:buClr>
              <a:buSzPts val="1600"/>
              <a:buNone/>
              <a:defRPr sz="1600" b="1"/>
            </a:lvl5pPr>
            <a:lvl6pPr marL="2743200" indent="-228600" algn="l">
              <a:lnSpc>
                <a:spcPct val="100000"/>
              </a:lnSpc>
              <a:spcBef>
                <a:spcPts val="320"/>
              </a:spcBef>
              <a:spcAft>
                <a:spcPts val="0"/>
              </a:spcAft>
              <a:buClr>
                <a:schemeClr val="dk1"/>
              </a:buClr>
              <a:buSzPts val="1600"/>
              <a:buNone/>
              <a:defRPr sz="1600" b="1"/>
            </a:lvl6pPr>
            <a:lvl7pPr marL="3200400" indent="-228600" algn="l">
              <a:lnSpc>
                <a:spcPct val="100000"/>
              </a:lnSpc>
              <a:spcBef>
                <a:spcPts val="320"/>
              </a:spcBef>
              <a:spcAft>
                <a:spcPts val="0"/>
              </a:spcAft>
              <a:buClr>
                <a:schemeClr val="dk1"/>
              </a:buClr>
              <a:buSzPts val="1600"/>
              <a:buNone/>
              <a:defRPr sz="1600" b="1"/>
            </a:lvl7pPr>
            <a:lvl8pPr marL="3657600" indent="-228600" algn="l">
              <a:lnSpc>
                <a:spcPct val="100000"/>
              </a:lnSpc>
              <a:spcBef>
                <a:spcPts val="320"/>
              </a:spcBef>
              <a:spcAft>
                <a:spcPts val="0"/>
              </a:spcAft>
              <a:buClr>
                <a:schemeClr val="dk1"/>
              </a:buClr>
              <a:buSzPts val="1600"/>
              <a:buNone/>
              <a:defRPr sz="1600" b="1"/>
            </a:lvl8pPr>
            <a:lvl9pPr marL="4114800" indent="-228600" algn="l">
              <a:lnSpc>
                <a:spcPct val="100000"/>
              </a:lnSpc>
              <a:spcBef>
                <a:spcPts val="320"/>
              </a:spcBef>
              <a:spcAft>
                <a:spcPts val="0"/>
              </a:spcAft>
              <a:buClr>
                <a:schemeClr val="dk1"/>
              </a:buClr>
              <a:buSzPts val="1600"/>
              <a:buNone/>
              <a:defRPr sz="1600" b="1"/>
            </a:lvl9pPr>
          </a:lstStyle>
          <a:p xmlns:a="http://schemas.openxmlformats.org/drawingml/2006/main"/>
        </p:txBody>
      </p:sp>
      <p:sp>
        <p:nvSpPr>
          <p:cNvPr id="38" name="Google Shape;38;p10">
            <a:extLst xmlns:a="http://schemas.openxmlformats.org/drawingml/2006/main">
              <a:ext uri="{FF2B5EF4-FFF2-40B4-BE49-F238E27FC236}">
                <a16:creationId xmlns:a16="http://schemas.microsoft.com/office/drawing/2014/main" id="{47B53898-A81A-4D92-BB3A-1247A98C010A}"/>
              </a:ext>
            </a:extLst>
          </p:cNvPr>
          <p:cNvSpPr>
            <a:spLocks xmlns:a="http://schemas.openxmlformats.org/drawingml/2006/main" noGrp="1"/>
          </p:cNvSpPr>
          <p:nvPr>
            <p:ph type="body" idx="2"/>
          </p:nvPr>
        </p:nvSpPr>
        <p:spPr>
          <a:xfrm xmlns:a="http://schemas.openxmlformats.org/drawingml/2006/main">
            <a:off x="457200" y="1288255"/>
            <a:ext cx="4040188"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81000" algn="l">
              <a:lnSpc>
                <a:spcPct val="100000"/>
              </a:lnSpc>
              <a:spcBef>
                <a:spcPts val="480"/>
              </a:spcBef>
              <a:spcAft>
                <a:spcPts val="0"/>
              </a:spcAft>
              <a:buClr>
                <a:schemeClr val="dk2"/>
              </a:buClr>
              <a:buSzPts val="2400"/>
              <a:buChar char="•"/>
              <a:defRPr sz="2400"/>
            </a:lvl1pPr>
            <a:lvl2pPr marL="914400" indent="-355600" algn="l">
              <a:lnSpc>
                <a:spcPct val="100000"/>
              </a:lnSpc>
              <a:spcBef>
                <a:spcPts val="400"/>
              </a:spcBef>
              <a:spcAft>
                <a:spcPts val="0"/>
              </a:spcAft>
              <a:buClr>
                <a:schemeClr val="dk2"/>
              </a:buClr>
              <a:buSzPts val="2000"/>
              <a:buChar char="–"/>
              <a:defRPr sz="2000"/>
            </a:lvl2pPr>
            <a:lvl3pPr marL="1371600" indent="-342900" algn="l">
              <a:lnSpc>
                <a:spcPct val="100000"/>
              </a:lnSpc>
              <a:spcBef>
                <a:spcPts val="360"/>
              </a:spcBef>
              <a:spcAft>
                <a:spcPts val="0"/>
              </a:spcAft>
              <a:buClr>
                <a:schemeClr val="dk2"/>
              </a:buClr>
              <a:buSzPts val="1800"/>
              <a:buChar char="•"/>
              <a:defRPr sz="1800"/>
            </a:lvl3pPr>
            <a:lvl4pPr marL="1828800" indent="-330200" algn="l">
              <a:lnSpc>
                <a:spcPct val="100000"/>
              </a:lnSpc>
              <a:spcBef>
                <a:spcPts val="320"/>
              </a:spcBef>
              <a:spcAft>
                <a:spcPts val="0"/>
              </a:spcAft>
              <a:buClr>
                <a:schemeClr val="dk2"/>
              </a:buClr>
              <a:buSzPts val="1600"/>
              <a:buChar char="–"/>
              <a:defRPr sz="1600"/>
            </a:lvl4pPr>
            <a:lvl5pPr marL="2286000" indent="-330200" algn="l">
              <a:lnSpc>
                <a:spcPct val="100000"/>
              </a:lnSpc>
              <a:spcBef>
                <a:spcPts val="320"/>
              </a:spcBef>
              <a:spcAft>
                <a:spcPts val="0"/>
              </a:spcAft>
              <a:buClr>
                <a:schemeClr val="dk2"/>
              </a:buClr>
              <a:buSzPts val="1600"/>
              <a:buChar char="»"/>
              <a:defRPr sz="1600"/>
            </a:lvl5pPr>
            <a:lvl6pPr marL="2743200" indent="-330200" algn="l">
              <a:lnSpc>
                <a:spcPct val="100000"/>
              </a:lnSpc>
              <a:spcBef>
                <a:spcPts val="320"/>
              </a:spcBef>
              <a:spcAft>
                <a:spcPts val="0"/>
              </a:spcAft>
              <a:buClr>
                <a:schemeClr val="dk1"/>
              </a:buClr>
              <a:buSzPts val="1600"/>
              <a:buChar char="•"/>
              <a:defRPr sz="1600"/>
            </a:lvl6pPr>
            <a:lvl7pPr marL="3200400" indent="-330200" algn="l">
              <a:lnSpc>
                <a:spcPct val="100000"/>
              </a:lnSpc>
              <a:spcBef>
                <a:spcPts val="320"/>
              </a:spcBef>
              <a:spcAft>
                <a:spcPts val="0"/>
              </a:spcAft>
              <a:buClr>
                <a:schemeClr val="dk1"/>
              </a:buClr>
              <a:buSzPts val="1600"/>
              <a:buChar char="•"/>
              <a:defRPr sz="1600"/>
            </a:lvl7pPr>
            <a:lvl8pPr marL="3657600" indent="-330200" algn="l">
              <a:lnSpc>
                <a:spcPct val="100000"/>
              </a:lnSpc>
              <a:spcBef>
                <a:spcPts val="320"/>
              </a:spcBef>
              <a:spcAft>
                <a:spcPts val="0"/>
              </a:spcAft>
              <a:buClr>
                <a:schemeClr val="dk1"/>
              </a:buClr>
              <a:buSzPts val="1600"/>
              <a:buChar char="•"/>
              <a:defRPr sz="1600"/>
            </a:lvl8pPr>
            <a:lvl9pPr marL="4114800" indent="-330200" algn="l">
              <a:lnSpc>
                <a:spcPct val="100000"/>
              </a:lnSpc>
              <a:spcBef>
                <a:spcPts val="320"/>
              </a:spcBef>
              <a:spcAft>
                <a:spcPts val="0"/>
              </a:spcAft>
              <a:buClr>
                <a:schemeClr val="dk1"/>
              </a:buClr>
              <a:buSzPts val="1600"/>
              <a:buChar char="•"/>
              <a:defRPr sz="1600"/>
            </a:lvl9pPr>
          </a:lstStyle>
          <a:p xmlns:a="http://schemas.openxmlformats.org/drawingml/2006/main"/>
        </p:txBody>
      </p:sp>
      <p:sp>
        <p:nvSpPr>
          <p:cNvPr id="39" name="Google Shape;39;p10">
            <a:extLst xmlns:a="http://schemas.openxmlformats.org/drawingml/2006/main">
              <a:ext uri="{FF2B5EF4-FFF2-40B4-BE49-F238E27FC236}">
                <a16:creationId xmlns:a16="http://schemas.microsoft.com/office/drawing/2014/main" id="{BCF58325-F569-4BB2-9070-680C3E96C1FD}"/>
              </a:ext>
            </a:extLst>
          </p:cNvPr>
          <p:cNvSpPr>
            <a:spLocks xmlns:a="http://schemas.openxmlformats.org/drawingml/2006/main" noGrp="1"/>
          </p:cNvSpPr>
          <p:nvPr>
            <p:ph type="body" idx="3"/>
          </p:nvPr>
        </p:nvSpPr>
        <p:spPr>
          <a:xfrm xmlns:a="http://schemas.openxmlformats.org/drawingml/2006/main">
            <a:off x="4645026" y="514350"/>
            <a:ext cx="4041775" cy="7739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lnSpc>
                <a:spcPct val="100000"/>
              </a:lnSpc>
              <a:spcBef>
                <a:spcPts val="480"/>
              </a:spcBef>
              <a:spcAft>
                <a:spcPts val="0"/>
              </a:spcAft>
              <a:buClr>
                <a:schemeClr val="dk2"/>
              </a:buClr>
              <a:buSzPts val="2400"/>
              <a:buNone/>
              <a:defRPr sz="2400" b="1"/>
            </a:lvl1pPr>
            <a:lvl2pPr marL="914400" indent="-228600" algn="l">
              <a:lnSpc>
                <a:spcPct val="100000"/>
              </a:lnSpc>
              <a:spcBef>
                <a:spcPts val="400"/>
              </a:spcBef>
              <a:spcAft>
                <a:spcPts val="0"/>
              </a:spcAft>
              <a:buClr>
                <a:schemeClr val="dk2"/>
              </a:buClr>
              <a:buSzPts val="2000"/>
              <a:buNone/>
              <a:defRPr sz="2000" b="1"/>
            </a:lvl2pPr>
            <a:lvl3pPr marL="1371600" indent="-228600" algn="l">
              <a:lnSpc>
                <a:spcPct val="100000"/>
              </a:lnSpc>
              <a:spcBef>
                <a:spcPts val="360"/>
              </a:spcBef>
              <a:spcAft>
                <a:spcPts val="0"/>
              </a:spcAft>
              <a:buClr>
                <a:schemeClr val="dk2"/>
              </a:buClr>
              <a:buSzPts val="1800"/>
              <a:buNone/>
              <a:defRPr sz="1800" b="1"/>
            </a:lvl3pPr>
            <a:lvl4pPr marL="1828800" indent="-228600" algn="l">
              <a:lnSpc>
                <a:spcPct val="100000"/>
              </a:lnSpc>
              <a:spcBef>
                <a:spcPts val="320"/>
              </a:spcBef>
              <a:spcAft>
                <a:spcPts val="0"/>
              </a:spcAft>
              <a:buClr>
                <a:schemeClr val="dk2"/>
              </a:buClr>
              <a:buSzPts val="1600"/>
              <a:buNone/>
              <a:defRPr sz="1600" b="1"/>
            </a:lvl4pPr>
            <a:lvl5pPr marL="2286000" indent="-228600" algn="l">
              <a:lnSpc>
                <a:spcPct val="100000"/>
              </a:lnSpc>
              <a:spcBef>
                <a:spcPts val="320"/>
              </a:spcBef>
              <a:spcAft>
                <a:spcPts val="0"/>
              </a:spcAft>
              <a:buClr>
                <a:schemeClr val="dk2"/>
              </a:buClr>
              <a:buSzPts val="1600"/>
              <a:buNone/>
              <a:defRPr sz="1600" b="1"/>
            </a:lvl5pPr>
            <a:lvl6pPr marL="2743200" indent="-228600" algn="l">
              <a:lnSpc>
                <a:spcPct val="100000"/>
              </a:lnSpc>
              <a:spcBef>
                <a:spcPts val="320"/>
              </a:spcBef>
              <a:spcAft>
                <a:spcPts val="0"/>
              </a:spcAft>
              <a:buClr>
                <a:schemeClr val="dk1"/>
              </a:buClr>
              <a:buSzPts val="1600"/>
              <a:buNone/>
              <a:defRPr sz="1600" b="1"/>
            </a:lvl6pPr>
            <a:lvl7pPr marL="3200400" indent="-228600" algn="l">
              <a:lnSpc>
                <a:spcPct val="100000"/>
              </a:lnSpc>
              <a:spcBef>
                <a:spcPts val="320"/>
              </a:spcBef>
              <a:spcAft>
                <a:spcPts val="0"/>
              </a:spcAft>
              <a:buClr>
                <a:schemeClr val="dk1"/>
              </a:buClr>
              <a:buSzPts val="1600"/>
              <a:buNone/>
              <a:defRPr sz="1600" b="1"/>
            </a:lvl7pPr>
            <a:lvl8pPr marL="3657600" indent="-228600" algn="l">
              <a:lnSpc>
                <a:spcPct val="100000"/>
              </a:lnSpc>
              <a:spcBef>
                <a:spcPts val="320"/>
              </a:spcBef>
              <a:spcAft>
                <a:spcPts val="0"/>
              </a:spcAft>
              <a:buClr>
                <a:schemeClr val="dk1"/>
              </a:buClr>
              <a:buSzPts val="1600"/>
              <a:buNone/>
              <a:defRPr sz="1600" b="1"/>
            </a:lvl8pPr>
            <a:lvl9pPr marL="4114800" indent="-228600" algn="l">
              <a:lnSpc>
                <a:spcPct val="100000"/>
              </a:lnSpc>
              <a:spcBef>
                <a:spcPts val="320"/>
              </a:spcBef>
              <a:spcAft>
                <a:spcPts val="0"/>
              </a:spcAft>
              <a:buClr>
                <a:schemeClr val="dk1"/>
              </a:buClr>
              <a:buSzPts val="1600"/>
              <a:buNone/>
              <a:defRPr sz="1600" b="1"/>
            </a:lvl9pPr>
          </a:lstStyle>
          <a:p xmlns:a="http://schemas.openxmlformats.org/drawingml/2006/main"/>
        </p:txBody>
      </p:sp>
      <p:sp>
        <p:nvSpPr>
          <p:cNvPr id="40" name="Google Shape;40;p10">
            <a:extLst xmlns:a="http://schemas.openxmlformats.org/drawingml/2006/main">
              <a:ext uri="{FF2B5EF4-FFF2-40B4-BE49-F238E27FC236}">
                <a16:creationId xmlns:a16="http://schemas.microsoft.com/office/drawing/2014/main" id="{471A090D-3F21-4FB3-A839-7EEC9B8C5E89}"/>
              </a:ext>
            </a:extLst>
          </p:cNvPr>
          <p:cNvSpPr>
            <a:spLocks xmlns:a="http://schemas.openxmlformats.org/drawingml/2006/main" noGrp="1"/>
          </p:cNvSpPr>
          <p:nvPr>
            <p:ph type="body" idx="4"/>
          </p:nvPr>
        </p:nvSpPr>
        <p:spPr>
          <a:xfrm xmlns:a="http://schemas.openxmlformats.org/drawingml/2006/main">
            <a:off x="4645026" y="1288255"/>
            <a:ext cx="4041775"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81000" algn="l">
              <a:lnSpc>
                <a:spcPct val="100000"/>
              </a:lnSpc>
              <a:spcBef>
                <a:spcPts val="480"/>
              </a:spcBef>
              <a:spcAft>
                <a:spcPts val="0"/>
              </a:spcAft>
              <a:buClr>
                <a:schemeClr val="dk2"/>
              </a:buClr>
              <a:buSzPts val="2400"/>
              <a:buChar char="•"/>
              <a:defRPr sz="2400"/>
            </a:lvl1pPr>
            <a:lvl2pPr marL="914400" indent="-355600" algn="l">
              <a:lnSpc>
                <a:spcPct val="100000"/>
              </a:lnSpc>
              <a:spcBef>
                <a:spcPts val="400"/>
              </a:spcBef>
              <a:spcAft>
                <a:spcPts val="0"/>
              </a:spcAft>
              <a:buClr>
                <a:schemeClr val="dk2"/>
              </a:buClr>
              <a:buSzPts val="2000"/>
              <a:buChar char="–"/>
              <a:defRPr sz="2000"/>
            </a:lvl2pPr>
            <a:lvl3pPr marL="1371600" indent="-342900" algn="l">
              <a:lnSpc>
                <a:spcPct val="100000"/>
              </a:lnSpc>
              <a:spcBef>
                <a:spcPts val="360"/>
              </a:spcBef>
              <a:spcAft>
                <a:spcPts val="0"/>
              </a:spcAft>
              <a:buClr>
                <a:schemeClr val="dk2"/>
              </a:buClr>
              <a:buSzPts val="1800"/>
              <a:buChar char="•"/>
              <a:defRPr sz="1800"/>
            </a:lvl3pPr>
            <a:lvl4pPr marL="1828800" indent="-330200" algn="l">
              <a:lnSpc>
                <a:spcPct val="100000"/>
              </a:lnSpc>
              <a:spcBef>
                <a:spcPts val="320"/>
              </a:spcBef>
              <a:spcAft>
                <a:spcPts val="0"/>
              </a:spcAft>
              <a:buClr>
                <a:schemeClr val="dk2"/>
              </a:buClr>
              <a:buSzPts val="1600"/>
              <a:buChar char="–"/>
              <a:defRPr sz="1600"/>
            </a:lvl4pPr>
            <a:lvl5pPr marL="2286000" indent="-330200" algn="l">
              <a:lnSpc>
                <a:spcPct val="100000"/>
              </a:lnSpc>
              <a:spcBef>
                <a:spcPts val="320"/>
              </a:spcBef>
              <a:spcAft>
                <a:spcPts val="0"/>
              </a:spcAft>
              <a:buClr>
                <a:schemeClr val="dk2"/>
              </a:buClr>
              <a:buSzPts val="1600"/>
              <a:buChar char="»"/>
              <a:defRPr sz="1600"/>
            </a:lvl5pPr>
            <a:lvl6pPr marL="2743200" indent="-330200" algn="l">
              <a:lnSpc>
                <a:spcPct val="100000"/>
              </a:lnSpc>
              <a:spcBef>
                <a:spcPts val="320"/>
              </a:spcBef>
              <a:spcAft>
                <a:spcPts val="0"/>
              </a:spcAft>
              <a:buClr>
                <a:schemeClr val="dk1"/>
              </a:buClr>
              <a:buSzPts val="1600"/>
              <a:buChar char="•"/>
              <a:defRPr sz="1600"/>
            </a:lvl6pPr>
            <a:lvl7pPr marL="3200400" indent="-330200" algn="l">
              <a:lnSpc>
                <a:spcPct val="100000"/>
              </a:lnSpc>
              <a:spcBef>
                <a:spcPts val="320"/>
              </a:spcBef>
              <a:spcAft>
                <a:spcPts val="0"/>
              </a:spcAft>
              <a:buClr>
                <a:schemeClr val="dk1"/>
              </a:buClr>
              <a:buSzPts val="1600"/>
              <a:buChar char="•"/>
              <a:defRPr sz="1600"/>
            </a:lvl7pPr>
            <a:lvl8pPr marL="3657600" indent="-330200" algn="l">
              <a:lnSpc>
                <a:spcPct val="100000"/>
              </a:lnSpc>
              <a:spcBef>
                <a:spcPts val="320"/>
              </a:spcBef>
              <a:spcAft>
                <a:spcPts val="0"/>
              </a:spcAft>
              <a:buClr>
                <a:schemeClr val="dk1"/>
              </a:buClr>
              <a:buSzPts val="1600"/>
              <a:buChar char="•"/>
              <a:defRPr sz="1600"/>
            </a:lvl8pPr>
            <a:lvl9pPr marL="4114800" indent="-330200" algn="l">
              <a:lnSpc>
                <a:spcPct val="100000"/>
              </a:lnSpc>
              <a:spcBef>
                <a:spcPts val="320"/>
              </a:spcBef>
              <a:spcAft>
                <a:spcPts val="0"/>
              </a:spcAft>
              <a:buClr>
                <a:schemeClr val="dk1"/>
              </a:buClr>
              <a:buSzPts val="1600"/>
              <a:buChar char="•"/>
              <a:defRPr sz="1600"/>
            </a:lvl9pPr>
          </a:lstStyle>
          <a:p xmlns:a="http://schemas.openxmlformats.org/drawingml/2006/main"/>
        </p:txBody>
      </p:sp>
      <p:sp>
        <p:nvSpPr>
          <p:cNvPr id="41" name="Google Shape;41;p10">
            <a:extLst xmlns:a="http://schemas.openxmlformats.org/drawingml/2006/main">
              <a:ext uri="{FF2B5EF4-FFF2-40B4-BE49-F238E27FC236}">
                <a16:creationId xmlns:a16="http://schemas.microsoft.com/office/drawing/2014/main" id="{74371D8F-0CCC-404B-99F0-BA0973EE7237}"/>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48" name="Google Shape;42;p10"/>
          <p:cNvPicPr>
            <a:picLocks xmlns:a="http://schemas.openxmlformats.org/drawingml/2006/main" noChangeAspect="1"/>
          </p:cNvPicPr>
          <p:nvPr/>
        </p:nvPicPr>
        <p:blipFill rotWithShape="1">
          <a:blip xmlns:r="http://schemas.openxmlformats.org/officeDocument/2006/relationships" xmlns:a="http://schemas.openxmlformats.org/drawingml/2006/main" r:embed="Rae11f81e34964c09">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7.xml><?xml version="1.0" encoding="utf-8"?>
<p:sldLayout xmlns:p="http://schemas.openxmlformats.org/presentationml/2006/main" matchingName="Title Only" type="titleOnly">
  <p:cSld name="TITLE_ONLY">
    <p:bg>
      <p:bgPr>
        <a:blipFill xmlns:a="http://schemas.openxmlformats.org/drawingml/2006/main">
          <a:blip xmlns:r="http://schemas.openxmlformats.org/officeDocument/2006/relationships" r:embed="R1b9024d19ff449c3">
            <a:alphaModFix/>
          </a:blip>
          <a:stretch>
            <a:fillRect l="0" t="0" r="0" b="0"/>
          </a:stretch>
        </a:blipFill>
      </p:bgPr>
    </p:bg>
    <p:spTree>
      <p:nvGrpSpPr>
        <p:cNvPr id="1" name=""/>
        <p:cNvGrpSpPr/>
        <p:nvPr/>
      </p:nvGrpSpPr>
      <p:grpSpPr>
        <a:xfrm xmlns:a="http://schemas.openxmlformats.org/drawingml/2006/main"/>
      </p:grpSpPr>
      <p:sp>
        <p:nvSpPr>
          <p:cNvPr id="44" name="Google Shape;44;p11">
            <a:extLst xmlns:a="http://schemas.openxmlformats.org/drawingml/2006/main">
              <a:ext uri="{FF2B5EF4-FFF2-40B4-BE49-F238E27FC236}">
                <a16:creationId xmlns:a16="http://schemas.microsoft.com/office/drawing/2014/main" id="{C72BA869-5F5A-4340-8BFF-955523601914}"/>
              </a:ext>
            </a:extLst>
          </p:cNvPr>
          <p:cNvSpPr>
            <a:spLocks xmlns:a="http://schemas.openxmlformats.org/drawingml/2006/main" noGrp="1"/>
          </p:cNvSpPr>
          <p:nvPr>
            <p:ph type="title" idx="0"/>
          </p:nvPr>
        </p:nvSpPr>
        <p:spPr>
          <a:xfrm xmlns:a="http://schemas.openxmlformats.org/drawingml/2006/main">
            <a:off x="457200" y="514350"/>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45" name="Google Shape;45;p11">
            <a:extLst xmlns:a="http://schemas.openxmlformats.org/drawingml/2006/main">
              <a:ext uri="{FF2B5EF4-FFF2-40B4-BE49-F238E27FC236}">
                <a16:creationId xmlns:a16="http://schemas.microsoft.com/office/drawing/2014/main" id="{DDBE5E72-ED27-4482-BAF2-AD787D74EEBE}"/>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49" name="Google Shape;46;p11"/>
          <p:cNvPicPr>
            <a:picLocks xmlns:a="http://schemas.openxmlformats.org/drawingml/2006/main" noChangeAspect="1"/>
          </p:cNvPicPr>
          <p:nvPr/>
        </p:nvPicPr>
        <p:blipFill rotWithShape="1">
          <a:blip xmlns:r="http://schemas.openxmlformats.org/officeDocument/2006/relationships" xmlns:a="http://schemas.openxmlformats.org/drawingml/2006/main" r:embed="Rd44cdcdffdbc4433">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8.xml><?xml version="1.0" encoding="utf-8"?>
<p:sldLayout xmlns:p="http://schemas.openxmlformats.org/presentationml/2006/main" matchingName="Blank" type="blank">
  <p:cSld name="BLANK">
    <p:bg>
      <p:bgPr>
        <a:blipFill xmlns:a="http://schemas.openxmlformats.org/drawingml/2006/main">
          <a:blip xmlns:r="http://schemas.openxmlformats.org/officeDocument/2006/relationships" r:embed="Rcc51dca89e7f48e3">
            <a:alphaModFix/>
          </a:blip>
          <a:stretch>
            <a:fillRect l="0" t="0" r="0" b="0"/>
          </a:stretch>
        </a:blipFill>
      </p:bgPr>
    </p:bg>
    <p:spTree>
      <p:nvGrpSpPr>
        <p:cNvPr id="1" name=""/>
        <p:cNvGrpSpPr/>
        <p:nvPr/>
      </p:nvGrpSpPr>
      <p:grpSpPr>
        <a:xfrm xmlns:a="http://schemas.openxmlformats.org/drawingml/2006/main"/>
      </p:grpSpPr>
      <p:sp>
        <p:nvSpPr>
          <p:cNvPr id="48" name="Google Shape;48;p12">
            <a:extLst xmlns:a="http://schemas.openxmlformats.org/drawingml/2006/main">
              <a:ext uri="{FF2B5EF4-FFF2-40B4-BE49-F238E27FC236}">
                <a16:creationId xmlns:a16="http://schemas.microsoft.com/office/drawing/2014/main" id="{67B86C1F-4CDF-4B46-979E-6AAE21529B98}"/>
              </a:ext>
            </a:extLst>
          </p:cNvPr>
          <p:cNvSpPr>
            <a:spLocks xmlns:a="http://schemas.openxmlformats.org/drawingml/2006/main" noGrp="1"/>
          </p:cNvSpPr>
          <p:nvPr>
            <p:ph type="sldNum" idx="12"/>
          </p:nvPr>
        </p:nvSpPr>
        <p:spPr>
          <a:xfrm xmlns:a="http://schemas.openxmlformats.org/drawingml/2006/main">
            <a:off x="32766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51" name="Google Shape;49;p12"/>
          <p:cNvPicPr>
            <a:picLocks xmlns:a="http://schemas.openxmlformats.org/drawingml/2006/main" noChangeAspect="1"/>
          </p:cNvPicPr>
          <p:nvPr/>
        </p:nvPicPr>
        <p:blipFill rotWithShape="1">
          <a:blip xmlns:r="http://schemas.openxmlformats.org/officeDocument/2006/relationships" xmlns:a="http://schemas.openxmlformats.org/drawingml/2006/main" r:embed="Red45d9371d1a4905">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9.xml><?xml version="1.0" encoding="utf-8"?>
<p:sldLayout xmlns:p="http://schemas.openxmlformats.org/presentationml/2006/main" matchingName="Content with Caption" type="objTx">
  <p:cSld name="OBJECT_WITH_CAPTION_TEXT">
    <p:bg>
      <p:bgPr>
        <a:blipFill xmlns:a="http://schemas.openxmlformats.org/drawingml/2006/main">
          <a:blip xmlns:r="http://schemas.openxmlformats.org/officeDocument/2006/relationships" r:embed="R8403ca8802094a9f">
            <a:alphaModFix/>
          </a:blip>
          <a:stretch>
            <a:fillRect l="0" t="0" r="0" b="0"/>
          </a:stretch>
        </a:blipFill>
      </p:bgPr>
    </p:bg>
    <p:spTree>
      <p:nvGrpSpPr>
        <p:cNvPr id="1" name=""/>
        <p:cNvGrpSpPr/>
        <p:nvPr/>
      </p:nvGrpSpPr>
      <p:grpSpPr>
        <a:xfrm xmlns:a="http://schemas.openxmlformats.org/drawingml/2006/main"/>
      </p:grpSpPr>
      <p:sp>
        <p:nvSpPr>
          <p:cNvPr id="51" name="Google Shape;51;p13">
            <a:extLst xmlns:a="http://schemas.openxmlformats.org/drawingml/2006/main">
              <a:ext uri="{FF2B5EF4-FFF2-40B4-BE49-F238E27FC236}">
                <a16:creationId xmlns:a16="http://schemas.microsoft.com/office/drawing/2014/main" id="{2A2D6E6E-4EDD-46AA-BC3B-FF5AEA5806E7}"/>
              </a:ext>
            </a:extLst>
          </p:cNvPr>
          <p:cNvSpPr>
            <a:spLocks xmlns:a="http://schemas.openxmlformats.org/drawingml/2006/main" noGrp="1"/>
          </p:cNvSpPr>
          <p:nvPr>
            <p:ph type="title" idx="0"/>
          </p:nvPr>
        </p:nvSpPr>
        <p:spPr>
          <a:xfrm xmlns:a="http://schemas.openxmlformats.org/drawingml/2006/main">
            <a:off x="457201" y="438150"/>
            <a:ext cx="3008313" cy="8715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100000"/>
              </a:lnSpc>
              <a:spcBef>
                <a:spcPts val="0"/>
              </a:spcBef>
              <a:spcAft>
                <a:spcPts val="0"/>
              </a:spcAft>
              <a:buSzPts val="1400"/>
              <a:buNone/>
              <a:defRPr sz="2000" b="1">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52" name="Google Shape;52;p13">
            <a:extLst xmlns:a="http://schemas.openxmlformats.org/drawingml/2006/main">
              <a:ext uri="{FF2B5EF4-FFF2-40B4-BE49-F238E27FC236}">
                <a16:creationId xmlns:a16="http://schemas.microsoft.com/office/drawing/2014/main" id="{2F07ADC9-0E3A-40F2-B18F-BF95BAF4D5D2}"/>
              </a:ext>
            </a:extLst>
          </p:cNvPr>
          <p:cNvSpPr>
            <a:spLocks xmlns:a="http://schemas.openxmlformats.org/drawingml/2006/main" noGrp="1"/>
          </p:cNvSpPr>
          <p:nvPr>
            <p:ph type="body" idx="1"/>
          </p:nvPr>
        </p:nvSpPr>
        <p:spPr>
          <a:xfrm xmlns:a="http://schemas.openxmlformats.org/drawingml/2006/main">
            <a:off x="3575050" y="438151"/>
            <a:ext cx="5111750" cy="365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431800" algn="l">
              <a:lnSpc>
                <a:spcPct val="100000"/>
              </a:lnSpc>
              <a:spcBef>
                <a:spcPts val="640"/>
              </a:spcBef>
              <a:spcAft>
                <a:spcPts val="0"/>
              </a:spcAft>
              <a:buClr>
                <a:schemeClr val="dk2"/>
              </a:buClr>
              <a:buSzPts val="3200"/>
              <a:buChar char="•"/>
              <a:defRPr sz="3200"/>
            </a:lvl1pPr>
            <a:lvl2pPr marL="914400" indent="-406400" algn="l">
              <a:lnSpc>
                <a:spcPct val="100000"/>
              </a:lnSpc>
              <a:spcBef>
                <a:spcPts val="560"/>
              </a:spcBef>
              <a:spcAft>
                <a:spcPts val="0"/>
              </a:spcAft>
              <a:buClr>
                <a:schemeClr val="dk2"/>
              </a:buClr>
              <a:buSzPts val="2800"/>
              <a:buChar char="–"/>
              <a:defRPr sz="2800"/>
            </a:lvl2pPr>
            <a:lvl3pPr marL="1371600" indent="-381000" algn="l">
              <a:lnSpc>
                <a:spcPct val="100000"/>
              </a:lnSpc>
              <a:spcBef>
                <a:spcPts val="480"/>
              </a:spcBef>
              <a:spcAft>
                <a:spcPts val="0"/>
              </a:spcAft>
              <a:buClr>
                <a:schemeClr val="dk2"/>
              </a:buClr>
              <a:buSzPts val="2400"/>
              <a:buChar char="•"/>
              <a:defRPr sz="2400"/>
            </a:lvl3pPr>
            <a:lvl4pPr marL="1828800" indent="-355600" algn="l">
              <a:lnSpc>
                <a:spcPct val="100000"/>
              </a:lnSpc>
              <a:spcBef>
                <a:spcPts val="400"/>
              </a:spcBef>
              <a:spcAft>
                <a:spcPts val="0"/>
              </a:spcAft>
              <a:buClr>
                <a:schemeClr val="dk2"/>
              </a:buClr>
              <a:buSzPts val="2000"/>
              <a:buChar char="–"/>
              <a:defRPr sz="2000"/>
            </a:lvl4pPr>
            <a:lvl5pPr marL="2286000" indent="-355600" algn="l">
              <a:lnSpc>
                <a:spcPct val="100000"/>
              </a:lnSpc>
              <a:spcBef>
                <a:spcPts val="400"/>
              </a:spcBef>
              <a:spcAft>
                <a:spcPts val="0"/>
              </a:spcAft>
              <a:buClr>
                <a:schemeClr val="dk2"/>
              </a:buClr>
              <a:buSzPts val="2000"/>
              <a:buChar char="»"/>
              <a:defRPr sz="2000"/>
            </a:lvl5pPr>
            <a:lvl6pPr marL="2743200" indent="-355600" algn="l">
              <a:lnSpc>
                <a:spcPct val="100000"/>
              </a:lnSpc>
              <a:spcBef>
                <a:spcPts val="400"/>
              </a:spcBef>
              <a:spcAft>
                <a:spcPts val="0"/>
              </a:spcAft>
              <a:buClr>
                <a:schemeClr val="dk1"/>
              </a:buClr>
              <a:buSzPts val="2000"/>
              <a:buChar char="•"/>
              <a:defRPr sz="2000"/>
            </a:lvl6pPr>
            <a:lvl7pPr marL="3200400" indent="-355600" algn="l">
              <a:lnSpc>
                <a:spcPct val="100000"/>
              </a:lnSpc>
              <a:spcBef>
                <a:spcPts val="400"/>
              </a:spcBef>
              <a:spcAft>
                <a:spcPts val="0"/>
              </a:spcAft>
              <a:buClr>
                <a:schemeClr val="dk1"/>
              </a:buClr>
              <a:buSzPts val="2000"/>
              <a:buChar char="•"/>
              <a:defRPr sz="2000"/>
            </a:lvl7pPr>
            <a:lvl8pPr marL="3657600" indent="-355600" algn="l">
              <a:lnSpc>
                <a:spcPct val="100000"/>
              </a:lnSpc>
              <a:spcBef>
                <a:spcPts val="400"/>
              </a:spcBef>
              <a:spcAft>
                <a:spcPts val="0"/>
              </a:spcAft>
              <a:buClr>
                <a:schemeClr val="dk1"/>
              </a:buClr>
              <a:buSzPts val="2000"/>
              <a:buChar char="•"/>
              <a:defRPr sz="2000"/>
            </a:lvl8pPr>
            <a:lvl9pPr marL="4114800" indent="-355600" algn="l">
              <a:lnSpc>
                <a:spcPct val="100000"/>
              </a:lnSpc>
              <a:spcBef>
                <a:spcPts val="400"/>
              </a:spcBef>
              <a:spcAft>
                <a:spcPts val="0"/>
              </a:spcAft>
              <a:buClr>
                <a:schemeClr val="dk1"/>
              </a:buClr>
              <a:buSzPts val="2000"/>
              <a:buChar char="•"/>
              <a:defRPr sz="2000"/>
            </a:lvl9pPr>
          </a:lstStyle>
          <a:p xmlns:a="http://schemas.openxmlformats.org/drawingml/2006/main"/>
        </p:txBody>
      </p:sp>
      <p:sp>
        <p:nvSpPr>
          <p:cNvPr id="53" name="Google Shape;53;p13">
            <a:extLst xmlns:a="http://schemas.openxmlformats.org/drawingml/2006/main">
              <a:ext uri="{FF2B5EF4-FFF2-40B4-BE49-F238E27FC236}">
                <a16:creationId xmlns:a16="http://schemas.microsoft.com/office/drawing/2014/main" id="{DAA04ECC-D61D-496C-9912-DDA30C3F9DF6}"/>
              </a:ext>
            </a:extLst>
          </p:cNvPr>
          <p:cNvSpPr>
            <a:spLocks xmlns:a="http://schemas.openxmlformats.org/drawingml/2006/main" noGrp="1"/>
          </p:cNvSpPr>
          <p:nvPr>
            <p:ph type="body" idx="2"/>
          </p:nvPr>
        </p:nvSpPr>
        <p:spPr>
          <a:xfrm xmlns:a="http://schemas.openxmlformats.org/drawingml/2006/main">
            <a:off x="457201" y="1428750"/>
            <a:ext cx="3008313" cy="26670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228600" algn="l">
              <a:lnSpc>
                <a:spcPct val="100000"/>
              </a:lnSpc>
              <a:spcBef>
                <a:spcPts val="280"/>
              </a:spcBef>
              <a:spcAft>
                <a:spcPts val="0"/>
              </a:spcAft>
              <a:buClr>
                <a:srgbClr val="006096"/>
              </a:buClr>
              <a:buSzPts val="1400"/>
              <a:buNone/>
              <a:defRPr sz="1400">
                <a:solidFill>
                  <a:srgbClr val="006096"/>
                </a:solidFill>
              </a:defRPr>
            </a:lvl1pPr>
            <a:lvl2pPr marL="914400" indent="-228600" algn="l">
              <a:lnSpc>
                <a:spcPct val="100000"/>
              </a:lnSpc>
              <a:spcBef>
                <a:spcPts val="240"/>
              </a:spcBef>
              <a:spcAft>
                <a:spcPts val="0"/>
              </a:spcAft>
              <a:buClr>
                <a:schemeClr val="dk2"/>
              </a:buClr>
              <a:buSzPts val="1200"/>
              <a:buNone/>
              <a:defRPr sz="1200"/>
            </a:lvl2pPr>
            <a:lvl3pPr marL="1371600" indent="-228600" algn="l">
              <a:lnSpc>
                <a:spcPct val="100000"/>
              </a:lnSpc>
              <a:spcBef>
                <a:spcPts val="200"/>
              </a:spcBef>
              <a:spcAft>
                <a:spcPts val="0"/>
              </a:spcAft>
              <a:buClr>
                <a:schemeClr val="dk2"/>
              </a:buClr>
              <a:buSzPts val="1000"/>
              <a:buNone/>
              <a:defRPr sz="1000"/>
            </a:lvl3pPr>
            <a:lvl4pPr marL="1828800" indent="-228600" algn="l">
              <a:lnSpc>
                <a:spcPct val="100000"/>
              </a:lnSpc>
              <a:spcBef>
                <a:spcPts val="180"/>
              </a:spcBef>
              <a:spcAft>
                <a:spcPts val="0"/>
              </a:spcAft>
              <a:buClr>
                <a:schemeClr val="dk2"/>
              </a:buClr>
              <a:buSzPts val="900"/>
              <a:buNone/>
              <a:defRPr sz="900"/>
            </a:lvl4pPr>
            <a:lvl5pPr marL="2286000" indent="-228600" algn="l">
              <a:lnSpc>
                <a:spcPct val="100000"/>
              </a:lnSpc>
              <a:spcBef>
                <a:spcPts val="180"/>
              </a:spcBef>
              <a:spcAft>
                <a:spcPts val="0"/>
              </a:spcAft>
              <a:buClr>
                <a:schemeClr val="dk2"/>
              </a:buClr>
              <a:buSzPts val="900"/>
              <a:buNone/>
              <a:defRPr sz="900"/>
            </a:lvl5pPr>
            <a:lvl6pPr marL="2743200" indent="-228600" algn="l">
              <a:lnSpc>
                <a:spcPct val="100000"/>
              </a:lnSpc>
              <a:spcBef>
                <a:spcPts val="180"/>
              </a:spcBef>
              <a:spcAft>
                <a:spcPts val="0"/>
              </a:spcAft>
              <a:buClr>
                <a:schemeClr val="dk1"/>
              </a:buClr>
              <a:buSzPts val="900"/>
              <a:buNone/>
              <a:defRPr sz="900"/>
            </a:lvl6pPr>
            <a:lvl7pPr marL="3200400" indent="-228600" algn="l">
              <a:lnSpc>
                <a:spcPct val="100000"/>
              </a:lnSpc>
              <a:spcBef>
                <a:spcPts val="180"/>
              </a:spcBef>
              <a:spcAft>
                <a:spcPts val="0"/>
              </a:spcAft>
              <a:buClr>
                <a:schemeClr val="dk1"/>
              </a:buClr>
              <a:buSzPts val="900"/>
              <a:buNone/>
              <a:defRPr sz="900"/>
            </a:lvl7pPr>
            <a:lvl8pPr marL="3657600" indent="-228600" algn="l">
              <a:lnSpc>
                <a:spcPct val="100000"/>
              </a:lnSpc>
              <a:spcBef>
                <a:spcPts val="180"/>
              </a:spcBef>
              <a:spcAft>
                <a:spcPts val="0"/>
              </a:spcAft>
              <a:buClr>
                <a:schemeClr val="dk1"/>
              </a:buClr>
              <a:buSzPts val="900"/>
              <a:buNone/>
              <a:defRPr sz="900"/>
            </a:lvl8pPr>
            <a:lvl9pPr marL="4114800" indent="-228600" algn="l">
              <a:lnSpc>
                <a:spcPct val="100000"/>
              </a:lnSpc>
              <a:spcBef>
                <a:spcPts val="180"/>
              </a:spcBef>
              <a:spcAft>
                <a:spcPts val="0"/>
              </a:spcAft>
              <a:buClr>
                <a:schemeClr val="dk1"/>
              </a:buClr>
              <a:buSzPts val="900"/>
              <a:buNone/>
              <a:defRPr sz="900"/>
            </a:lvl9pPr>
          </a:lstStyle>
          <a:p xmlns:a="http://schemas.openxmlformats.org/drawingml/2006/main"/>
        </p:txBody>
      </p:sp>
      <p:sp>
        <p:nvSpPr>
          <p:cNvPr id="54" name="Google Shape;54;p13">
            <a:extLst xmlns:a="http://schemas.openxmlformats.org/drawingml/2006/main">
              <a:ext uri="{FF2B5EF4-FFF2-40B4-BE49-F238E27FC236}">
                <a16:creationId xmlns:a16="http://schemas.microsoft.com/office/drawing/2014/main" id="{3FF89AA4-6F42-4B35-B555-5FD3165C0DF0}"/>
              </a:ext>
            </a:extLst>
          </p:cNvPr>
          <p:cNvSpPr>
            <a:spLocks xmlns:a="http://schemas.openxmlformats.org/drawingml/2006/main" noGrp="1"/>
          </p:cNvSpPr>
          <p:nvPr>
            <p:ph type="sldNum" idx="12"/>
          </p:nvPr>
        </p:nvSpPr>
        <p:spPr>
          <a:xfrm xmlns:a="http://schemas.openxmlformats.org/drawingml/2006/main">
            <a:off x="3563998"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60" name="Google Shape;55;p13"/>
          <p:cNvPicPr>
            <a:picLocks xmlns:a="http://schemas.openxmlformats.org/drawingml/2006/main" noChangeAspect="1"/>
          </p:cNvPicPr>
          <p:nvPr/>
        </p:nvPicPr>
        <p:blipFill rotWithShape="1">
          <a:blip xmlns:r="http://schemas.openxmlformats.org/officeDocument/2006/relationships" xmlns:a="http://schemas.openxmlformats.org/drawingml/2006/main" r:embed="R63f5d2d0691144f3">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10.xml><?xml version="1.0" encoding="utf-8"?>
<p:sldLayout xmlns:p="http://schemas.openxmlformats.org/presentationml/2006/main" matchingName="Picture with Caption" type="picTx">
  <p:cSld name="PICTURE_WITH_CAPTION_TEXT">
    <p:bg>
      <p:bgPr>
        <a:blipFill xmlns:a="http://schemas.openxmlformats.org/drawingml/2006/main">
          <a:blip xmlns:r="http://schemas.openxmlformats.org/officeDocument/2006/relationships" r:embed="R4e9bf056b67b431f">
            <a:alphaModFix/>
          </a:blip>
          <a:stretch>
            <a:fillRect l="0" t="0" r="0" b="0"/>
          </a:stretch>
        </a:blipFill>
      </p:bgPr>
    </p:bg>
    <p:spTree>
      <p:nvGrpSpPr>
        <p:cNvPr id="1" name=""/>
        <p:cNvGrpSpPr/>
        <p:nvPr/>
      </p:nvGrpSpPr>
      <p:grpSpPr>
        <a:xfrm xmlns:a="http://schemas.openxmlformats.org/drawingml/2006/main"/>
      </p:grpSpPr>
      <p:sp>
        <p:nvSpPr>
          <p:cNvPr id="57" name="Google Shape;57;p14">
            <a:extLst xmlns:a="http://schemas.openxmlformats.org/drawingml/2006/main">
              <a:ext uri="{FF2B5EF4-FFF2-40B4-BE49-F238E27FC236}">
                <a16:creationId xmlns:a16="http://schemas.microsoft.com/office/drawing/2014/main" id="{CF7C9820-D33E-447C-83DE-C1EA0A05BF55}"/>
              </a:ext>
            </a:extLst>
          </p:cNvPr>
          <p:cNvSpPr>
            <a:spLocks xmlns:a="http://schemas.openxmlformats.org/drawingml/2006/main" noGrp="1"/>
          </p:cNvSpPr>
          <p:nvPr>
            <p:ph type="title" idx="0"/>
          </p:nvPr>
        </p:nvSpPr>
        <p:spPr>
          <a:xfrm xmlns:a="http://schemas.openxmlformats.org/drawingml/2006/main">
            <a:off x="6096000" y="459580"/>
            <a:ext cx="2514600" cy="66436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100000"/>
              </a:lnSpc>
              <a:spcBef>
                <a:spcPts val="0"/>
              </a:spcBef>
              <a:spcAft>
                <a:spcPts val="0"/>
              </a:spcAft>
              <a:buSzPts val="1400"/>
              <a:buNone/>
              <a:defRPr sz="2000" b="1">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58" name="Google Shape;58;p14">
            <a:extLst xmlns:a="http://schemas.openxmlformats.org/drawingml/2006/main">
              <a:ext uri="{FF2B5EF4-FFF2-40B4-BE49-F238E27FC236}">
                <a16:creationId xmlns:a16="http://schemas.microsoft.com/office/drawing/2014/main" id="{1E1CD35B-791E-4E68-B758-53F1062D112F}"/>
              </a:ext>
            </a:extLst>
          </p:cNvPr>
          <p:cNvSpPr>
            <a:spLocks xmlns:a="http://schemas.openxmlformats.org/drawingml/2006/main" noGrp="1"/>
          </p:cNvSpPr>
          <p:nvPr>
            <p:ph type="pic" idx="2"/>
          </p:nvPr>
        </p:nvSpPr>
        <p:spPr>
          <a:xfrm xmlns:a="http://schemas.openxmlformats.org/drawingml/2006/main">
            <a:off x="457200" y="459580"/>
            <a:ext cx="5486400" cy="3636169"/>
          </a:xfrm>
          <a:prstGeom xmlns:a="http://schemas.openxmlformats.org/drawingml/2006/main" prst="rect">
            <a:avLst/>
          </a:prstGeom>
          <a:noFill xmlns:a="http://schemas.openxmlformats.org/drawingml/2006/main"/>
          <a:ln xmlns:a="http://schemas.openxmlformats.org/drawingml/2006/main">
            <a:noFill/>
          </a:ln>
        </p:spPr>
      </p:sp>
      <p:sp>
        <p:nvSpPr>
          <p:cNvPr id="59" name="Google Shape;59;p14">
            <a:extLst xmlns:a="http://schemas.openxmlformats.org/drawingml/2006/main">
              <a:ext uri="{FF2B5EF4-FFF2-40B4-BE49-F238E27FC236}">
                <a16:creationId xmlns:a16="http://schemas.microsoft.com/office/drawing/2014/main" id="{E7FE0A16-DCC9-4873-8B41-8DAE163200E2}"/>
              </a:ext>
            </a:extLst>
          </p:cNvPr>
          <p:cNvSpPr>
            <a:spLocks xmlns:a="http://schemas.openxmlformats.org/drawingml/2006/main" noGrp="1"/>
          </p:cNvSpPr>
          <p:nvPr>
            <p:ph type="body" idx="1"/>
          </p:nvPr>
        </p:nvSpPr>
        <p:spPr>
          <a:xfrm xmlns:a="http://schemas.openxmlformats.org/drawingml/2006/main">
            <a:off x="6096000" y="1200150"/>
            <a:ext cx="2514600" cy="60364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228600" algn="l">
              <a:lnSpc>
                <a:spcPct val="100000"/>
              </a:lnSpc>
              <a:spcBef>
                <a:spcPts val="280"/>
              </a:spcBef>
              <a:spcAft>
                <a:spcPts val="0"/>
              </a:spcAft>
              <a:buClr>
                <a:schemeClr val="dk2"/>
              </a:buClr>
              <a:buSzPts val="1400"/>
              <a:buNone/>
              <a:defRPr sz="1400"/>
            </a:lvl1pPr>
            <a:lvl2pPr marL="914400" indent="-228600" algn="l">
              <a:lnSpc>
                <a:spcPct val="100000"/>
              </a:lnSpc>
              <a:spcBef>
                <a:spcPts val="240"/>
              </a:spcBef>
              <a:spcAft>
                <a:spcPts val="0"/>
              </a:spcAft>
              <a:buClr>
                <a:schemeClr val="dk2"/>
              </a:buClr>
              <a:buSzPts val="1200"/>
              <a:buNone/>
              <a:defRPr sz="1200"/>
            </a:lvl2pPr>
            <a:lvl3pPr marL="1371600" indent="-228600" algn="l">
              <a:lnSpc>
                <a:spcPct val="100000"/>
              </a:lnSpc>
              <a:spcBef>
                <a:spcPts val="200"/>
              </a:spcBef>
              <a:spcAft>
                <a:spcPts val="0"/>
              </a:spcAft>
              <a:buClr>
                <a:schemeClr val="dk2"/>
              </a:buClr>
              <a:buSzPts val="1000"/>
              <a:buNone/>
              <a:defRPr sz="1000"/>
            </a:lvl3pPr>
            <a:lvl4pPr marL="1828800" indent="-228600" algn="l">
              <a:lnSpc>
                <a:spcPct val="100000"/>
              </a:lnSpc>
              <a:spcBef>
                <a:spcPts val="180"/>
              </a:spcBef>
              <a:spcAft>
                <a:spcPts val="0"/>
              </a:spcAft>
              <a:buClr>
                <a:schemeClr val="dk2"/>
              </a:buClr>
              <a:buSzPts val="900"/>
              <a:buNone/>
              <a:defRPr sz="900"/>
            </a:lvl4pPr>
            <a:lvl5pPr marL="2286000" indent="-228600" algn="l">
              <a:lnSpc>
                <a:spcPct val="100000"/>
              </a:lnSpc>
              <a:spcBef>
                <a:spcPts val="180"/>
              </a:spcBef>
              <a:spcAft>
                <a:spcPts val="0"/>
              </a:spcAft>
              <a:buClr>
                <a:schemeClr val="dk2"/>
              </a:buClr>
              <a:buSzPts val="900"/>
              <a:buNone/>
              <a:defRPr sz="900"/>
            </a:lvl5pPr>
            <a:lvl6pPr marL="2743200" indent="-228600" algn="l">
              <a:lnSpc>
                <a:spcPct val="100000"/>
              </a:lnSpc>
              <a:spcBef>
                <a:spcPts val="180"/>
              </a:spcBef>
              <a:spcAft>
                <a:spcPts val="0"/>
              </a:spcAft>
              <a:buClr>
                <a:schemeClr val="dk1"/>
              </a:buClr>
              <a:buSzPts val="900"/>
              <a:buNone/>
              <a:defRPr sz="900"/>
            </a:lvl6pPr>
            <a:lvl7pPr marL="3200400" indent="-228600" algn="l">
              <a:lnSpc>
                <a:spcPct val="100000"/>
              </a:lnSpc>
              <a:spcBef>
                <a:spcPts val="180"/>
              </a:spcBef>
              <a:spcAft>
                <a:spcPts val="0"/>
              </a:spcAft>
              <a:buClr>
                <a:schemeClr val="dk1"/>
              </a:buClr>
              <a:buSzPts val="900"/>
              <a:buNone/>
              <a:defRPr sz="900"/>
            </a:lvl7pPr>
            <a:lvl8pPr marL="3657600" indent="-228600" algn="l">
              <a:lnSpc>
                <a:spcPct val="100000"/>
              </a:lnSpc>
              <a:spcBef>
                <a:spcPts val="180"/>
              </a:spcBef>
              <a:spcAft>
                <a:spcPts val="0"/>
              </a:spcAft>
              <a:buClr>
                <a:schemeClr val="dk1"/>
              </a:buClr>
              <a:buSzPts val="900"/>
              <a:buNone/>
              <a:defRPr sz="900"/>
            </a:lvl8pPr>
            <a:lvl9pPr marL="4114800" indent="-228600" algn="l">
              <a:lnSpc>
                <a:spcPct val="100000"/>
              </a:lnSpc>
              <a:spcBef>
                <a:spcPts val="180"/>
              </a:spcBef>
              <a:spcAft>
                <a:spcPts val="0"/>
              </a:spcAft>
              <a:buClr>
                <a:schemeClr val="dk1"/>
              </a:buClr>
              <a:buSzPts val="900"/>
              <a:buNone/>
              <a:defRPr sz="900"/>
            </a:lvl9pPr>
          </a:lstStyle>
          <a:p xmlns:a="http://schemas.openxmlformats.org/drawingml/2006/main"/>
        </p:txBody>
      </p:sp>
      <p:sp>
        <p:nvSpPr>
          <p:cNvPr id="60" name="Google Shape;60;p14">
            <a:extLst xmlns:a="http://schemas.openxmlformats.org/drawingml/2006/main">
              <a:ext uri="{FF2B5EF4-FFF2-40B4-BE49-F238E27FC236}">
                <a16:creationId xmlns:a16="http://schemas.microsoft.com/office/drawing/2014/main" id="{BB41893C-B038-422B-9D08-44FB58DB226F}"/>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66" name="Google Shape;61;p14"/>
          <p:cNvPicPr>
            <a:picLocks xmlns:a="http://schemas.openxmlformats.org/drawingml/2006/main" noChangeAspect="1"/>
          </p:cNvPicPr>
          <p:nvPr/>
        </p:nvPicPr>
        <p:blipFill rotWithShape="1">
          <a:blip xmlns:r="http://schemas.openxmlformats.org/officeDocument/2006/relationships" xmlns:a="http://schemas.openxmlformats.org/drawingml/2006/main" r:embed="Rce343d36d48e4dbb">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11.xml><?xml version="1.0" encoding="utf-8"?>
<p:sldLayout xmlns:p="http://schemas.openxmlformats.org/presentationml/2006/main" matchingName="Title and Vertical Text" type="vertTx">
  <p:cSld name="VERTICAL_TEXT">
    <p:bg>
      <p:bgPr>
        <a:blipFill xmlns:a="http://schemas.openxmlformats.org/drawingml/2006/main">
          <a:blip xmlns:r="http://schemas.openxmlformats.org/officeDocument/2006/relationships" r:embed="R88c2826fda9543f5">
            <a:alphaModFix/>
          </a:blip>
          <a:stretch>
            <a:fillRect l="0" t="0" r="0" b="0"/>
          </a:stretch>
        </a:blipFill>
      </p:bgPr>
    </p:bg>
    <p:spTree>
      <p:nvGrpSpPr>
        <p:cNvPr id="1" name=""/>
        <p:cNvGrpSpPr/>
        <p:nvPr/>
      </p:nvGrpSpPr>
      <p:grpSpPr>
        <a:xfrm xmlns:a="http://schemas.openxmlformats.org/drawingml/2006/main"/>
      </p:grpSpPr>
      <p:sp>
        <p:nvSpPr>
          <p:cNvPr id="63" name="Google Shape;63;p15">
            <a:extLst xmlns:a="http://schemas.openxmlformats.org/drawingml/2006/main">
              <a:ext uri="{FF2B5EF4-FFF2-40B4-BE49-F238E27FC236}">
                <a16:creationId xmlns:a16="http://schemas.microsoft.com/office/drawing/2014/main" id="{685E8DEF-7480-49FD-AC15-32F9C6A90691}"/>
              </a:ext>
            </a:extLst>
          </p:cNvPr>
          <p:cNvSpPr>
            <a:spLocks xmlns:a="http://schemas.openxmlformats.org/drawingml/2006/main" noGrp="1"/>
          </p:cNvSpPr>
          <p:nvPr>
            <p:ph type="title" idx="0"/>
          </p:nvPr>
        </p:nvSpPr>
        <p:spPr>
          <a:xfrm xmlns:a="http://schemas.openxmlformats.org/drawingml/2006/main">
            <a:off x="457200" y="476250"/>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64" name="Google Shape;64;p15">
            <a:extLst xmlns:a="http://schemas.openxmlformats.org/drawingml/2006/main">
              <a:ext uri="{FF2B5EF4-FFF2-40B4-BE49-F238E27FC236}">
                <a16:creationId xmlns:a16="http://schemas.microsoft.com/office/drawing/2014/main" id="{257AC52E-7BE7-4427-B9E5-920F32576641}"/>
              </a:ext>
            </a:extLst>
          </p:cNvPr>
          <p:cNvSpPr>
            <a:spLocks xmlns:a="http://schemas.openxmlformats.org/drawingml/2006/main" noGrp="1"/>
          </p:cNvSpPr>
          <p:nvPr>
            <p:ph type="body" idx="1"/>
          </p:nvPr>
        </p:nvSpPr>
        <p:spPr>
          <a:xfrm xmlns:a="http://schemas.openxmlformats.org/drawingml/2006/main" rot="5400000">
            <a:off x="3246438" y="-1284287"/>
            <a:ext cx="2651125"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42900" algn="l">
              <a:lnSpc>
                <a:spcPct val="100000"/>
              </a:lnSpc>
              <a:spcBef>
                <a:spcPts val="360"/>
              </a:spcBef>
              <a:spcAft>
                <a:spcPts val="0"/>
              </a:spcAft>
              <a:buClr>
                <a:schemeClr val="dk2"/>
              </a:buClr>
              <a:buSzPts val="1800"/>
              <a:buChar char="•"/>
              <a:defRPr/>
            </a:lvl1pPr>
            <a:lvl2pPr marL="914400" indent="-342900" algn="l">
              <a:lnSpc>
                <a:spcPct val="100000"/>
              </a:lnSpc>
              <a:spcBef>
                <a:spcPts val="360"/>
              </a:spcBef>
              <a:spcAft>
                <a:spcPts val="0"/>
              </a:spcAft>
              <a:buClr>
                <a:schemeClr val="dk2"/>
              </a:buClr>
              <a:buSzPts val="1800"/>
              <a:buChar char="–"/>
              <a:defRPr/>
            </a:lvl2pPr>
            <a:lvl3pPr marL="1371600" indent="-342900" algn="l">
              <a:lnSpc>
                <a:spcPct val="100000"/>
              </a:lnSpc>
              <a:spcBef>
                <a:spcPts val="360"/>
              </a:spcBef>
              <a:spcAft>
                <a:spcPts val="0"/>
              </a:spcAft>
              <a:buClr>
                <a:schemeClr val="dk2"/>
              </a:buClr>
              <a:buSzPts val="1800"/>
              <a:buChar char="•"/>
              <a:defRPr/>
            </a:lvl3pPr>
            <a:lvl4pPr marL="1828800" indent="-342900" algn="l">
              <a:lnSpc>
                <a:spcPct val="100000"/>
              </a:lnSpc>
              <a:spcBef>
                <a:spcPts val="360"/>
              </a:spcBef>
              <a:spcAft>
                <a:spcPts val="0"/>
              </a:spcAft>
              <a:buClr>
                <a:schemeClr val="dk2"/>
              </a:buClr>
              <a:buSzPts val="1800"/>
              <a:buChar char="–"/>
              <a:defRPr/>
            </a:lvl4pPr>
            <a:lvl5pPr marL="2286000" indent="-342900" algn="l">
              <a:lnSpc>
                <a:spcPct val="100000"/>
              </a:lnSpc>
              <a:spcBef>
                <a:spcPts val="360"/>
              </a:spcBef>
              <a:spcAft>
                <a:spcPts val="0"/>
              </a:spcAft>
              <a:buClr>
                <a:schemeClr val="dk2"/>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xmlns:a="http://schemas.openxmlformats.org/drawingml/2006/main"/>
        </p:txBody>
      </p:sp>
      <p:sp>
        <p:nvSpPr>
          <p:cNvPr id="65" name="Google Shape;65;p15">
            <a:extLst xmlns:a="http://schemas.openxmlformats.org/drawingml/2006/main">
              <a:ext uri="{FF2B5EF4-FFF2-40B4-BE49-F238E27FC236}">
                <a16:creationId xmlns:a16="http://schemas.microsoft.com/office/drawing/2014/main" id="{CDC71E33-7814-4593-A560-4F4F1CEB3B0E}"/>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70" name="Google Shape;66;p15"/>
          <p:cNvPicPr>
            <a:picLocks xmlns:a="http://schemas.openxmlformats.org/drawingml/2006/main" noChangeAspect="1"/>
          </p:cNvPicPr>
          <p:nvPr/>
        </p:nvPicPr>
        <p:blipFill rotWithShape="1">
          <a:blip xmlns:r="http://schemas.openxmlformats.org/officeDocument/2006/relationships" xmlns:a="http://schemas.openxmlformats.org/drawingml/2006/main" r:embed="R97f7e3d50a034d51">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12.xml><?xml version="1.0" encoding="utf-8"?>
<p:sldLayout xmlns:p="http://schemas.openxmlformats.org/presentationml/2006/main" matchingName="Vertical Title and Text" type="vertTitleAndTx">
  <p:cSld name="VERTICAL_TITLE_AND_VERTICAL_TEXT">
    <p:bg>
      <p:bgPr>
        <a:blipFill xmlns:a="http://schemas.openxmlformats.org/drawingml/2006/main">
          <a:blip xmlns:r="http://schemas.openxmlformats.org/officeDocument/2006/relationships" r:embed="Ra7d4743494da4d10">
            <a:alphaModFix/>
          </a:blip>
          <a:stretch>
            <a:fillRect l="0" t="0" r="0" b="0"/>
          </a:stretch>
        </a:blipFill>
      </p:bgPr>
    </p:bg>
    <p:spTree>
      <p:nvGrpSpPr>
        <p:cNvPr id="1" name=""/>
        <p:cNvGrpSpPr/>
        <p:nvPr/>
      </p:nvGrpSpPr>
      <p:grpSpPr>
        <a:xfrm xmlns:a="http://schemas.openxmlformats.org/drawingml/2006/main"/>
      </p:grpSpPr>
      <p:sp>
        <p:nvSpPr>
          <p:cNvPr id="68" name="Google Shape;68;p16">
            <a:extLst xmlns:a="http://schemas.openxmlformats.org/drawingml/2006/main">
              <a:ext uri="{FF2B5EF4-FFF2-40B4-BE49-F238E27FC236}">
                <a16:creationId xmlns:a16="http://schemas.microsoft.com/office/drawing/2014/main" id="{D5328C58-70E2-49B4-BCAB-5F4D8F7FC5A0}"/>
              </a:ext>
            </a:extLst>
          </p:cNvPr>
          <p:cNvSpPr>
            <a:spLocks xmlns:a="http://schemas.openxmlformats.org/drawingml/2006/main" noGrp="1"/>
          </p:cNvSpPr>
          <p:nvPr>
            <p:ph type="title" idx="0"/>
          </p:nvPr>
        </p:nvSpPr>
        <p:spPr>
          <a:xfrm xmlns:a="http://schemas.openxmlformats.org/drawingml/2006/main" rot="5400000">
            <a:off x="5857724" y="1277143"/>
            <a:ext cx="3579813"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69" name="Google Shape;69;p16">
            <a:extLst xmlns:a="http://schemas.openxmlformats.org/drawingml/2006/main">
              <a:ext uri="{FF2B5EF4-FFF2-40B4-BE49-F238E27FC236}">
                <a16:creationId xmlns:a16="http://schemas.microsoft.com/office/drawing/2014/main" id="{707CA7D3-A880-4F84-B3AC-F929EB88C1CE}"/>
              </a:ext>
            </a:extLst>
          </p:cNvPr>
          <p:cNvSpPr>
            <a:spLocks xmlns:a="http://schemas.openxmlformats.org/drawingml/2006/main" noGrp="1"/>
          </p:cNvSpPr>
          <p:nvPr>
            <p:ph type="body" idx="1"/>
          </p:nvPr>
        </p:nvSpPr>
        <p:spPr>
          <a:xfrm xmlns:a="http://schemas.openxmlformats.org/drawingml/2006/main" rot="5400000">
            <a:off x="1677194" y="-704057"/>
            <a:ext cx="3579813"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42900" algn="l">
              <a:lnSpc>
                <a:spcPct val="100000"/>
              </a:lnSpc>
              <a:spcBef>
                <a:spcPts val="360"/>
              </a:spcBef>
              <a:spcAft>
                <a:spcPts val="0"/>
              </a:spcAft>
              <a:buClr>
                <a:schemeClr val="dk2"/>
              </a:buClr>
              <a:buSzPts val="1800"/>
              <a:buChar char="•"/>
              <a:defRPr/>
            </a:lvl1pPr>
            <a:lvl2pPr marL="914400" indent="-342900" algn="l">
              <a:lnSpc>
                <a:spcPct val="100000"/>
              </a:lnSpc>
              <a:spcBef>
                <a:spcPts val="360"/>
              </a:spcBef>
              <a:spcAft>
                <a:spcPts val="0"/>
              </a:spcAft>
              <a:buClr>
                <a:schemeClr val="dk2"/>
              </a:buClr>
              <a:buSzPts val="1800"/>
              <a:buChar char="–"/>
              <a:defRPr/>
            </a:lvl2pPr>
            <a:lvl3pPr marL="1371600" indent="-342900" algn="l">
              <a:lnSpc>
                <a:spcPct val="100000"/>
              </a:lnSpc>
              <a:spcBef>
                <a:spcPts val="360"/>
              </a:spcBef>
              <a:spcAft>
                <a:spcPts val="0"/>
              </a:spcAft>
              <a:buClr>
                <a:schemeClr val="dk2"/>
              </a:buClr>
              <a:buSzPts val="1800"/>
              <a:buChar char="•"/>
              <a:defRPr/>
            </a:lvl3pPr>
            <a:lvl4pPr marL="1828800" indent="-342900" algn="l">
              <a:lnSpc>
                <a:spcPct val="100000"/>
              </a:lnSpc>
              <a:spcBef>
                <a:spcPts val="360"/>
              </a:spcBef>
              <a:spcAft>
                <a:spcPts val="0"/>
              </a:spcAft>
              <a:buClr>
                <a:schemeClr val="dk2"/>
              </a:buClr>
              <a:buSzPts val="1800"/>
              <a:buChar char="–"/>
              <a:defRPr/>
            </a:lvl4pPr>
            <a:lvl5pPr marL="2286000" indent="-342900" algn="l">
              <a:lnSpc>
                <a:spcPct val="100000"/>
              </a:lnSpc>
              <a:spcBef>
                <a:spcPts val="360"/>
              </a:spcBef>
              <a:spcAft>
                <a:spcPts val="0"/>
              </a:spcAft>
              <a:buClr>
                <a:schemeClr val="dk2"/>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xmlns:a="http://schemas.openxmlformats.org/drawingml/2006/main"/>
        </p:txBody>
      </p:sp>
      <p:sp>
        <p:nvSpPr>
          <p:cNvPr id="70" name="Google Shape;70;p16">
            <a:extLst xmlns:a="http://schemas.openxmlformats.org/drawingml/2006/main">
              <a:ext uri="{FF2B5EF4-FFF2-40B4-BE49-F238E27FC236}">
                <a16:creationId xmlns:a16="http://schemas.microsoft.com/office/drawing/2014/main" id="{FFB6F35B-F066-437B-96A7-40DDC118CB88}"/>
              </a:ext>
            </a:extLst>
          </p:cNvPr>
          <p:cNvSpPr>
            <a:spLocks xmlns:a="http://schemas.openxmlformats.org/drawingml/2006/main" noGrp="1"/>
          </p:cNvSpPr>
          <p:nvPr>
            <p:ph type="sldNum" idx="12"/>
          </p:nvPr>
        </p:nvSpPr>
        <p:spPr>
          <a:xfrm xmlns:a="http://schemas.openxmlformats.org/drawingml/2006/main">
            <a:off x="33528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75" name="Google Shape;71;p16"/>
          <p:cNvPicPr>
            <a:picLocks xmlns:a="http://schemas.openxmlformats.org/drawingml/2006/main" noChangeAspect="1"/>
          </p:cNvPicPr>
          <p:nvPr/>
        </p:nvPicPr>
        <p:blipFill rotWithShape="1">
          <a:blip xmlns:r="http://schemas.openxmlformats.org/officeDocument/2006/relationships" xmlns:a="http://schemas.openxmlformats.org/drawingml/2006/main" r:embed="R74df844d00cf4d70">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jpeg" Id="Rdbe6dcc707b44958" /><Relationship Type="http://schemas.openxmlformats.org/officeDocument/2006/relationships/theme" Target="/ppt/slideMasters/theme/theme2.xml" Id="Rceada194c4524cd5" /><Relationship Type="http://schemas.openxmlformats.org/officeDocument/2006/relationships/slideLayout" Target="/ppt/slideLayouts/slideLayout1.xml" Id="R6d4c6c42493b4360" /><Relationship Type="http://schemas.openxmlformats.org/officeDocument/2006/relationships/slideLayout" Target="/ppt/slideLayouts/slideLayout2.xml" Id="R946c003c99684039" /><Relationship Type="http://schemas.openxmlformats.org/officeDocument/2006/relationships/slideLayout" Target="/ppt/slideLayouts/slideLayout3.xml" Id="Rb7dd78542f994037" /><Relationship Type="http://schemas.openxmlformats.org/officeDocument/2006/relationships/slideLayout" Target="/ppt/slideLayouts/slideLayout4.xml" Id="Ra1e0975e0ee246ce" /><Relationship Type="http://schemas.openxmlformats.org/officeDocument/2006/relationships/slideLayout" Target="/ppt/slideLayouts/slideLayout5.xml" Id="R446f203a82a34b94" /><Relationship Type="http://schemas.openxmlformats.org/officeDocument/2006/relationships/slideLayout" Target="/ppt/slideLayouts/slideLayout6.xml" Id="R800b69d9ae314e04" /><Relationship Type="http://schemas.openxmlformats.org/officeDocument/2006/relationships/slideLayout" Target="/ppt/slideLayouts/slideLayout7.xml" Id="R274efb838f1a491f" /><Relationship Type="http://schemas.openxmlformats.org/officeDocument/2006/relationships/slideLayout" Target="/ppt/slideLayouts/slideLayout8.xml" Id="R8d262de47b014ae7" /><Relationship Type="http://schemas.openxmlformats.org/officeDocument/2006/relationships/slideLayout" Target="/ppt/slideLayouts/slideLayout9.xml" Id="R68e49db426b44ed4" /><Relationship Type="http://schemas.openxmlformats.org/officeDocument/2006/relationships/slideLayout" Target="/ppt/slideLayouts/slideLayout10.xml" Id="Ra05d85ef185d46ff" /><Relationship Type="http://schemas.openxmlformats.org/officeDocument/2006/relationships/slideLayout" Target="/ppt/slideLayouts/slideLayout11.xml" Id="Rabad31fa19654a91" /><Relationship Type="http://schemas.openxmlformats.org/officeDocument/2006/relationships/slideLayout" Target="/ppt/slideLayouts/slideLayout12.xml" Id="R5107f4679a4e4e96" /></Relationships>
</file>

<file path=ppt/slideMasters/slideMaster1.xml><?xml version="1.0" encoding="utf-8"?>
<p:sldMaster xmlns:p="http://schemas.openxmlformats.org/presentationml/2006/main">
  <p:cSld>
    <p:bg>
      <p:bgPr>
        <a:blipFill xmlns:a="http://schemas.openxmlformats.org/drawingml/2006/main">
          <a:blip xmlns:r="http://schemas.openxmlformats.org/officeDocument/2006/relationships" r:embed="Rdbe6dcc707b44958">
            <a:alphaModFix/>
          </a:blip>
          <a:stretch>
            <a:fillRect l="0" t="0" r="0" b="0"/>
          </a:stretch>
        </a:blipFill>
      </p:bgPr>
    </p:bg>
    <p:spTree>
      <p:nvGrpSpPr>
        <p:cNvPr id="1" name=""/>
        <p:cNvGrpSpPr/>
        <p:nvPr/>
      </p:nvGrpSpPr>
      <p:grpSpPr>
        <a:xfrm xmlns:a="http://schemas.openxmlformats.org/drawingml/2006/main"/>
      </p:grpSpPr>
      <p:sp>
        <p:nvSpPr>
          <p:cNvPr id="10" name="Google Shape;10;p4">
            <a:extLst xmlns:a="http://schemas.openxmlformats.org/drawingml/2006/main">
              <a:ext uri="{FF2B5EF4-FFF2-40B4-BE49-F238E27FC236}">
                <a16:creationId xmlns:a16="http://schemas.microsoft.com/office/drawing/2014/main" id="{EA55C3EE-8EE7-44BB-9FA7-7BE99AF87134}"/>
              </a:ext>
            </a:extLst>
          </p:cNvPr>
          <p:cNvSpPr>
            <a:spLocks xmlns:a="http://schemas.openxmlformats.org/drawingml/2006/main" noGrp="1"/>
          </p:cNvSpPr>
          <p:nvPr>
            <p:ph type="title" idx="0"/>
          </p:nvPr>
        </p:nvSpPr>
        <p:spPr>
          <a:xfrm xmlns:a="http://schemas.openxmlformats.org/drawingml/2006/main">
            <a:off x="457200" y="914400"/>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3200" b="0" i="0" u="none" cap="none">
                <a:solidFill>
                  <a:schemeClr val="lt1"/>
                </a:solidFill>
                <a:latin typeface="Calibri"/>
                <a:ea typeface="Calibri"/>
                <a:cs typeface="Calibri"/>
              </a:defRPr>
            </a:lvl1pPr>
            <a:lvl2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2pPr>
            <a:lvl3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3pPr>
            <a:lvl4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4pPr>
            <a:lvl5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5pPr>
            <a:lvl6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6pPr>
            <a:lvl7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7pPr>
            <a:lvl8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8pPr>
            <a:lvl9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9pPr>
          </a:lstStyle>
          <a:p xmlns:a="http://schemas.openxmlformats.org/drawingml/2006/main"/>
        </p:txBody>
      </p:sp>
      <p:sp>
        <p:nvSpPr>
          <p:cNvPr id="11" name="Google Shape;11;p4">
            <a:extLst xmlns:a="http://schemas.openxmlformats.org/drawingml/2006/main">
              <a:ext uri="{FF2B5EF4-FFF2-40B4-BE49-F238E27FC236}">
                <a16:creationId xmlns:a16="http://schemas.microsoft.com/office/drawing/2014/main" id="{A5D6AE06-8596-4986-BC67-327F2A29CD36}"/>
              </a:ext>
            </a:extLst>
          </p:cNvPr>
          <p:cNvSpPr>
            <a:spLocks xmlns:a="http://schemas.openxmlformats.org/drawingml/2006/main" noGrp="1"/>
          </p:cNvSpPr>
          <p:nvPr>
            <p:ph type="body" idx="1"/>
          </p:nvPr>
        </p:nvSpPr>
        <p:spPr>
          <a:xfrm xmlns:a="http://schemas.openxmlformats.org/drawingml/2006/main">
            <a:off x="457200" y="1943100"/>
            <a:ext cx="8229600" cy="2651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342900" algn="l">
              <a:lnSpc>
                <a:spcPct val="100000"/>
              </a:lnSpc>
              <a:spcBef>
                <a:spcPts val="360"/>
              </a:spcBef>
              <a:spcAft>
                <a:spcPts val="0"/>
              </a:spcAft>
              <a:buClr>
                <a:schemeClr val="dk2"/>
              </a:buClr>
              <a:buSzPts val="1800"/>
              <a:buFont typeface="Arial"/>
              <a:buChar char="•"/>
              <a:defRPr sz="1800" b="0" i="0" u="none" cap="none">
                <a:solidFill>
                  <a:schemeClr val="dk2"/>
                </a:solidFill>
                <a:latin typeface="Calibri"/>
                <a:ea typeface="Calibri"/>
                <a:cs typeface="Calibri"/>
              </a:defRPr>
            </a:lvl1pPr>
            <a:lvl2pPr marL="914400" marR="0" indent="-342900" algn="l">
              <a:lnSpc>
                <a:spcPct val="100000"/>
              </a:lnSpc>
              <a:spcBef>
                <a:spcPts val="360"/>
              </a:spcBef>
              <a:spcAft>
                <a:spcPts val="0"/>
              </a:spcAft>
              <a:buClr>
                <a:schemeClr val="dk2"/>
              </a:buClr>
              <a:buSzPts val="1800"/>
              <a:buFont typeface="Arial"/>
              <a:buChar char="–"/>
              <a:defRPr sz="1800" b="0" i="0" u="none" cap="none">
                <a:solidFill>
                  <a:schemeClr val="dk2"/>
                </a:solidFill>
                <a:latin typeface="Calibri"/>
                <a:ea typeface="Calibri"/>
                <a:cs typeface="Calibri"/>
              </a:defRPr>
            </a:lvl2pPr>
            <a:lvl3pPr marL="1371600" marR="0" indent="-342900" algn="l">
              <a:lnSpc>
                <a:spcPct val="100000"/>
              </a:lnSpc>
              <a:spcBef>
                <a:spcPts val="360"/>
              </a:spcBef>
              <a:spcAft>
                <a:spcPts val="0"/>
              </a:spcAft>
              <a:buClr>
                <a:schemeClr val="dk2"/>
              </a:buClr>
              <a:buSzPts val="1800"/>
              <a:buFont typeface="Arial"/>
              <a:buChar char="•"/>
              <a:defRPr sz="1800" b="0" i="0" u="none" cap="none">
                <a:solidFill>
                  <a:schemeClr val="dk2"/>
                </a:solidFill>
                <a:latin typeface="Calibri"/>
                <a:ea typeface="Calibri"/>
                <a:cs typeface="Calibri"/>
              </a:defRPr>
            </a:lvl3pPr>
            <a:lvl4pPr marL="1828800" marR="0" indent="-342900" algn="l">
              <a:lnSpc>
                <a:spcPct val="100000"/>
              </a:lnSpc>
              <a:spcBef>
                <a:spcPts val="360"/>
              </a:spcBef>
              <a:spcAft>
                <a:spcPts val="0"/>
              </a:spcAft>
              <a:buClr>
                <a:schemeClr val="dk2"/>
              </a:buClr>
              <a:buSzPts val="1800"/>
              <a:buFont typeface="Arial"/>
              <a:buChar char="–"/>
              <a:defRPr sz="1800" b="0" i="0" u="none" cap="none">
                <a:solidFill>
                  <a:schemeClr val="dk2"/>
                </a:solidFill>
                <a:latin typeface="Calibri"/>
                <a:ea typeface="Calibri"/>
                <a:cs typeface="Calibri"/>
              </a:defRPr>
            </a:lvl4pPr>
            <a:lvl5pPr marL="2286000" marR="0" indent="-342900" algn="l">
              <a:lnSpc>
                <a:spcPct val="100000"/>
              </a:lnSpc>
              <a:spcBef>
                <a:spcPts val="360"/>
              </a:spcBef>
              <a:spcAft>
                <a:spcPts val="0"/>
              </a:spcAft>
              <a:buClr>
                <a:schemeClr val="dk2"/>
              </a:buClr>
              <a:buSzPts val="1800"/>
              <a:buFont typeface="Arial"/>
              <a:buChar char="»"/>
              <a:defRPr sz="1800" b="0" i="0" u="none" cap="none">
                <a:solidFill>
                  <a:schemeClr val="dk2"/>
                </a:solidFill>
                <a:latin typeface="Calibri"/>
                <a:ea typeface="Calibri"/>
                <a:cs typeface="Calibri"/>
              </a:defRPr>
            </a:lvl5pPr>
            <a:lvl6pPr marL="2743200" marR="0" indent="-355600" algn="l">
              <a:lnSpc>
                <a:spcPct val="100000"/>
              </a:lnSpc>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6pPr>
            <a:lvl7pPr marL="3200400" marR="0" indent="-355600" algn="l">
              <a:lnSpc>
                <a:spcPct val="100000"/>
              </a:lnSpc>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7pPr>
            <a:lvl8pPr marL="3657600" marR="0" indent="-355600" algn="l">
              <a:lnSpc>
                <a:spcPct val="100000"/>
              </a:lnSpc>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8pPr>
            <a:lvl9pPr marL="4114800" marR="0" indent="-355600" algn="l">
              <a:lnSpc>
                <a:spcPct val="100000"/>
              </a:lnSpc>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9pPr>
          </a:lstStyle>
          <a:p xmlns:a="http://schemas.openxmlformats.org/drawingml/2006/main"/>
        </p:txBody>
      </p:sp>
      <p:sp>
        <p:nvSpPr>
          <p:cNvPr id="12" name="Google Shape;12;p4">
            <a:extLst xmlns:a="http://schemas.openxmlformats.org/drawingml/2006/main">
              <a:ext uri="{FF2B5EF4-FFF2-40B4-BE49-F238E27FC236}">
                <a16:creationId xmlns:a16="http://schemas.microsoft.com/office/drawing/2014/main" id="{827FF4F2-1D4F-48FC-A4F1-A35FFC2B07AF}"/>
              </a:ext>
            </a:extLst>
          </p:cNvPr>
          <p:cNvSpPr>
            <a:spLocks xmlns:a="http://schemas.openxmlformats.org/drawingml/2006/main" noGrp="1"/>
          </p:cNvSpPr>
          <p:nvPr>
            <p:ph type="sldNum" idx="12"/>
          </p:nvPr>
        </p:nvSpPr>
        <p:spPr>
          <a:xfrm xmlns:a="http://schemas.openxmlformats.org/drawingml/2006/main">
            <a:off x="6553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9pPr>
          </a:lstStyle>
          <a:p xmlns:a="http://schemas.openxmlformats.org/drawingml/2006/main">
            <a:pPr marL="0" lvl="0" indent="0" algn="r">
              <a:spcBef>
                <a:spcPts val="0"/>
              </a:spcBef>
              <a:spcAft>
                <a:spcPts val="0"/>
              </a:spcAft>
              <a:buNone/>
            </a:pPr>
            <a:r>
              <a:t>1</a:t>
            </a:r>
            <a:endParaRPr sz="1400">
              <a:solidFill>
                <a:srgbClr val="000000"/>
              </a:solidFill>
              <a:latin typeface="Arial"/>
              <a:ea typeface="Arial"/>
              <a:cs typeface="Arial"/>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6d4c6c42493b4360"/>
    <p:sldLayoutId xmlns:r="http://schemas.openxmlformats.org/officeDocument/2006/relationships" id="2147483650" r:id="R946c003c99684039"/>
    <p:sldLayoutId xmlns:r="http://schemas.openxmlformats.org/officeDocument/2006/relationships" id="2147483651" r:id="Rb7dd78542f994037"/>
    <p:sldLayoutId xmlns:r="http://schemas.openxmlformats.org/officeDocument/2006/relationships" id="2147483652" r:id="Ra1e0975e0ee246ce"/>
    <p:sldLayoutId xmlns:r="http://schemas.openxmlformats.org/officeDocument/2006/relationships" id="2147483653" r:id="R446f203a82a34b94"/>
    <p:sldLayoutId xmlns:r="http://schemas.openxmlformats.org/officeDocument/2006/relationships" id="2147483654" r:id="R800b69d9ae314e04"/>
    <p:sldLayoutId xmlns:r="http://schemas.openxmlformats.org/officeDocument/2006/relationships" id="2147483655" r:id="R274efb838f1a491f"/>
    <p:sldLayoutId xmlns:r="http://schemas.openxmlformats.org/officeDocument/2006/relationships" id="2147483656" r:id="R8d262de47b014ae7"/>
    <p:sldLayoutId xmlns:r="http://schemas.openxmlformats.org/officeDocument/2006/relationships" id="2147483657" r:id="R68e49db426b44ed4"/>
    <p:sldLayoutId xmlns:r="http://schemas.openxmlformats.org/officeDocument/2006/relationships" id="2147483658" r:id="Ra05d85ef185d46ff"/>
    <p:sldLayoutId xmlns:r="http://schemas.openxmlformats.org/officeDocument/2006/relationships" id="2147483659" r:id="Rabad31fa19654a91"/>
    <p:sldLayoutId xmlns:r="http://schemas.openxmlformats.org/officeDocument/2006/relationships" id="2147483660" r:id="R5107f4679a4e4e96"/>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UD Primary and Secondary">
      <a:dk1>
        <a:srgbClr val="000000"/>
      </a:dk1>
      <a:lt1>
        <a:srgbClr val="FFFFFF"/>
      </a:lt1>
      <a:dk2>
        <a:srgbClr val="00539F"/>
      </a:dk2>
      <a:lt2>
        <a:srgbClr val="EEECE1"/>
      </a:lt2>
      <a:accent1>
        <a:srgbClr val="4F81BD"/>
      </a:accent1>
      <a:accent2>
        <a:srgbClr val="AF1E2D"/>
      </a:accent2>
      <a:accent3>
        <a:srgbClr val="BED600"/>
      </a:accent3>
      <a:accent4>
        <a:srgbClr val="5A8E22"/>
      </a:accent4>
      <a:accent5>
        <a:srgbClr val="00A0DF"/>
      </a:accent5>
      <a:accent6>
        <a:srgbClr val="EF8200"/>
      </a:accent6>
      <a:hlink>
        <a:srgbClr val="00539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D Primary and Secondar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22847e58f2ba4450"/><Relationship Type="http://schemas.openxmlformats.org/officeDocument/2006/relationships/image" Target="/ppt/media/image.png" Id="Rffa94690cb234bff"/><Relationship Type="http://schemas.openxmlformats.org/officeDocument/2006/relationships/notesSlide" Target="/ppt/notesSlides/notesSlide1.xml" Id="R649b94b947d945c4"/><Relationship Id="rIdNeuralVision1" Type="http://schemas.openxmlformats.org/officeDocument/2006/relationships/hyperlink" Target="https://croquembouche.github.io/Intro2AV-CourseContent/" TargetMode="External"/></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41ea2fe9dcd04bc6" /><Relationship Type="http://schemas.openxmlformats.org/officeDocument/2006/relationships/image" Target="/ppt/media/image3.png" Id="Rc13721975e424651" /><Relationship Type="http://schemas.openxmlformats.org/officeDocument/2006/relationships/image" Target="/ppt/media/image4.png" Id="Ra62d038e1d7042a5" /><Relationship Type="http://schemas.openxmlformats.org/officeDocument/2006/relationships/notesSlide" Target="/ppt/notesSlides/notesSlide2.xml" Id="R6ec526e8e1f149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4973c2c1f494713" /><Relationship Type="http://schemas.openxmlformats.org/officeDocument/2006/relationships/image" Target="/ppt/media/image5.png" Id="R02b7318f54c845cc" /><Relationship Type="http://schemas.openxmlformats.org/officeDocument/2006/relationships/image" Target="/ppt/media/image6.png" Id="Rb77674faea6c478e" /><Relationship Type="http://schemas.openxmlformats.org/officeDocument/2006/relationships/notesSlide" Target="/ppt/notesSlides/notesSlide3.xml" Id="R0ba84ab8ad434916" /></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2.xml" Id="R366fe118e3384eb5"/><Relationship Type="http://schemas.openxmlformats.org/officeDocument/2006/relationships/image" Target="/ppt/media/image7.png" Id="Rad11304b85a14a72"/><Relationship Type="http://schemas.openxmlformats.org/officeDocument/2006/relationships/notesSlide" Target="/ppt/notesSlides/notesSlide4.xml" Id="R014140b3ac6b4205"/><Relationship Id="rIdNeuralVision1" Type="http://schemas.openxmlformats.org/officeDocument/2006/relationships/hyperlink" Target="https://croquembouche.github.io/Intro2AV-CourseContent/?model=mlp" TargetMode="External"/></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15901bc2449b469f" /><Relationship Type="http://schemas.openxmlformats.org/officeDocument/2006/relationships/image" Target="/ppt/media/image.gif" Id="R38029d6739ef4206" /><Relationship Type="http://schemas.openxmlformats.org/officeDocument/2006/relationships/notesSlide" Target="/ppt/notesSlides/notesSlide5.xml" Id="Rf5d587693b634b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9516c33a43d24400" /><Relationship Type="http://schemas.openxmlformats.org/officeDocument/2006/relationships/image" Target="/ppt/media/image2.gif" Id="R9df3af2e654a4229" /><Relationship Type="http://schemas.openxmlformats.org/officeDocument/2006/relationships/notesSlide" Target="/ppt/notesSlides/notesSlide6.xml" Id="R26a398fdbb0b4c8f"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aade73b494384b39" /><Relationship Type="http://schemas.openxmlformats.org/officeDocument/2006/relationships/image" Target="/ppt/media/image3.gif" Id="R95ad7b084fe34762" /><Relationship Type="http://schemas.openxmlformats.org/officeDocument/2006/relationships/notesSlide" Target="/ppt/notesSlides/notesSlide7.xml" Id="R6de23a14e823424c"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3313b07d4eeb49e3" /><Relationship Type="http://schemas.openxmlformats.org/officeDocument/2006/relationships/image" Target="/ppt/media/image8.png" Id="R9c0d13f1fee042e2" /><Relationship Type="http://schemas.openxmlformats.org/officeDocument/2006/relationships/image" Target="/ppt/media/image9.png" Id="R8ea31791e30e4752" /><Relationship Type="http://schemas.openxmlformats.org/officeDocument/2006/relationships/notesSlide" Target="/ppt/notesSlides/notesSlide8.xml" Id="R42fb8328dafc40fd"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a48c16f3f9734fe0" /><Relationship Type="http://schemas.openxmlformats.org/officeDocument/2006/relationships/image" Target="/ppt/media/image4.gif" Id="R663079e936af4be2" /><Relationship Type="http://schemas.openxmlformats.org/officeDocument/2006/relationships/notesSlide" Target="/ppt/notesSlides/notesSlide9.xml" Id="Red27a4fca2f0493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47fe8aab2ede4fb8" /><Relationship Type="http://schemas.openxmlformats.org/officeDocument/2006/relationships/image" Target="/ppt/media/image5.gif" Id="Rd51c77a8bd9b4264" /><Relationship Type="http://schemas.openxmlformats.org/officeDocument/2006/relationships/notesSlide" Target="/ppt/notesSlides/notesSlide10.xml" Id="R39760b6393e24b6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fec8e68cc666478b" /><Relationship Type="http://schemas.openxmlformats.org/officeDocument/2006/relationships/image" Target="/ppt/media/image6.gif" Id="Ra285bf6ab1af42bc" /><Relationship Type="http://schemas.openxmlformats.org/officeDocument/2006/relationships/notesSlide" Target="/ppt/notesSlides/notesSlide11.xml" Id="R3ce0b8d54226439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b2beaebe9df74094" /><Relationship Type="http://schemas.openxmlformats.org/officeDocument/2006/relationships/image" Target="/ppt/media/image10.png" Id="R5eb78b0514954f4e" /><Relationship Type="http://schemas.openxmlformats.org/officeDocument/2006/relationships/image" Target="/ppt/media/image11.png" Id="Reb1e793126ba4b27" /><Relationship Type="http://schemas.openxmlformats.org/officeDocument/2006/relationships/notesSlide" Target="/ppt/notesSlides/notesSlide12.xml" Id="R9c234443969b489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b7c633ad34cd4b44" /><Relationship Type="http://schemas.openxmlformats.org/officeDocument/2006/relationships/image" Target="/ppt/media/image7.gif" Id="R945d19a698cf4d50" /><Relationship Type="http://schemas.openxmlformats.org/officeDocument/2006/relationships/notesSlide" Target="/ppt/notesSlides/notesSlide13.xml" Id="Ra78854e4303a4442" /></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2.xml" Id="R6b15e926919d4120"/><Relationship Type="http://schemas.openxmlformats.org/officeDocument/2006/relationships/image" Target="/ppt/media/image8.gif" Id="Ra0e52a13dc714af5"/><Relationship Type="http://schemas.openxmlformats.org/officeDocument/2006/relationships/notesSlide" Target="/ppt/notesSlides/notesSlide14.xml" Id="Rd4cf7657fd1e4227"/><Relationship Id="rIdNeuralVision1" Type="http://schemas.openxmlformats.org/officeDocument/2006/relationships/hyperlink" Target="https://croquembouche.github.io/Intro2AV-CourseContent/?model=cnn" TargetMode="External"/></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bb1c9fd397c946a8" /><Relationship Type="http://schemas.openxmlformats.org/officeDocument/2006/relationships/image" Target="/ppt/media/image9.gif" Id="Rab3723e5cfc44a94" /><Relationship Type="http://schemas.openxmlformats.org/officeDocument/2006/relationships/notesSlide" Target="/ppt/notesSlides/notesSlide15.xml" Id="Rac8115def6064b9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ef12cb99d336403c" /><Relationship Type="http://schemas.openxmlformats.org/officeDocument/2006/relationships/image" Target="/ppt/media/image10.gif" Id="R887d9c27b2924a79" /><Relationship Type="http://schemas.openxmlformats.org/officeDocument/2006/relationships/notesSlide" Target="/ppt/notesSlides/notesSlide16.xml" Id="R38a235e9231945e9" /></Relationships>
</file>

<file path=ppt/slides/_rels/slide17.xml.rels><?xml version='1.0' encoding='utf-8'?>
<Relationships xmlns="http://schemas.openxmlformats.org/package/2006/relationships"><Relationship Type="http://schemas.openxmlformats.org/officeDocument/2006/relationships/slideLayout" Target="/ppt/slideLayouts/slideLayout2.xml" Id="R86bc89b60e0c4687"/><Relationship Type="http://schemas.openxmlformats.org/officeDocument/2006/relationships/image" Target="/ppt/media/image3.png" Id="Rcbcd1afddafe49bf"/><Relationship Type="http://schemas.openxmlformats.org/officeDocument/2006/relationships/image" Target="/ppt/media/image4.png" Id="R40905974acbf468d"/><Relationship Type="http://schemas.openxmlformats.org/officeDocument/2006/relationships/image" Target="/ppt/media/image14.png" Id="R44cb8b6135564283"/><Relationship Type="http://schemas.openxmlformats.org/officeDocument/2006/relationships/image" Target="/ppt/media/image15.png" Id="R6cfbd2ccbb6d4ecf"/><Relationship Type="http://schemas.openxmlformats.org/officeDocument/2006/relationships/notesSlide" Target="/ppt/notesSlides/notesSlide17.xml" Id="R9fa117e5984647f4"/></Relationships>
</file>

<file path=ppt/slides/_rels/slide18.xml.rels><?xml version='1.0' encoding='utf-8'?>
<Relationships xmlns="http://schemas.openxmlformats.org/package/2006/relationships"><Relationship Type="http://schemas.openxmlformats.org/officeDocument/2006/relationships/slideLayout" Target="/ppt/slideLayouts/slideLayout2.xml" Id="Raa5773bc9a6043db"/><Relationship Type="http://schemas.openxmlformats.org/officeDocument/2006/relationships/image" Target="/ppt/media/image3.png" Id="Rb900e0f440474c04"/><Relationship Type="http://schemas.openxmlformats.org/officeDocument/2006/relationships/image" Target="/ppt/media/image15.png" Id="R2060f764988440b6"/><Relationship Type="http://schemas.openxmlformats.org/officeDocument/2006/relationships/notesSlide" Target="/ppt/notesSlides/notesSlide18.xml" Id="R3f55aacbff8c4ea6"/></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fca5fdcac12e4914" /><Relationship Type="http://schemas.openxmlformats.org/officeDocument/2006/relationships/image" Target="/ppt/media/image11.gif" Id="Rfc4292b95e3f4b26" /><Relationship Type="http://schemas.openxmlformats.org/officeDocument/2006/relationships/notesSlide" Target="/ppt/notesSlides/notesSlide19.xml" Id="R0b6293357026499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90ea73d3d11d424f" /><Relationship Type="http://schemas.openxmlformats.org/officeDocument/2006/relationships/image" Target="/ppt/media/image12.gif" Id="R45ceaa48a87343e3" /><Relationship Type="http://schemas.openxmlformats.org/officeDocument/2006/relationships/notesSlide" Target="/ppt/notesSlides/notesSlide20.xml" Id="R6ed7fdb11af7449a" /></Relationships>
</file>

<file path=ppt/slides/_rels/slide21.xml.rels><?xml version='1.0' encoding='utf-8'?>
<Relationships xmlns="http://schemas.openxmlformats.org/package/2006/relationships"><Relationship Type="http://schemas.openxmlformats.org/officeDocument/2006/relationships/slideLayout" Target="/ppt/slideLayouts/slideLayout2.xml" Id="R8783f9acf96b48e7"/><Relationship Type="http://schemas.openxmlformats.org/officeDocument/2006/relationships/image" Target="/ppt/media/image10.png" Id="Rcfd542a4fdf34533"/><Relationship Type="http://schemas.openxmlformats.org/officeDocument/2006/relationships/notesSlide" Target="/ppt/notesSlides/notesSlide21.xml" Id="R5ca03a9ca2154387"/></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000cd04a91ba4901" /><Relationship Type="http://schemas.openxmlformats.org/officeDocument/2006/relationships/notesSlide" Target="/ppt/notesSlides/notesSlide22.xml" Id="Rbe3d0adf91da43c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f24e8f8189354dec" /><Relationship Type="http://schemas.openxmlformats.org/officeDocument/2006/relationships/image" Target="/ppt/media/image19.png" Id="R683d8bcf50454089" /><Relationship Type="http://schemas.openxmlformats.org/officeDocument/2006/relationships/notesSlide" Target="/ppt/notesSlides/notesSlide23.xml" Id="Ra037b2bb7cbf47f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50f3f865b2cb4590" /><Relationship Type="http://schemas.openxmlformats.org/officeDocument/2006/relationships/image" Target="/ppt/media/image13.gif" Id="Re63c81dfb8814a4a" /><Relationship Type="http://schemas.openxmlformats.org/officeDocument/2006/relationships/notesSlide" Target="/ppt/notesSlides/notesSlide24.xml" Id="R54fd9310acc44e2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72b5b9afd7284711" /><Relationship Type="http://schemas.openxmlformats.org/officeDocument/2006/relationships/notesSlide" Target="/ppt/notesSlides/notesSlide25.xml" Id="R14032494a6ae4546" /></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2.xml" Id="R7cfcfca62b1b40ab"/><Relationship Type="http://schemas.openxmlformats.org/officeDocument/2006/relationships/image" Target="/ppt/media/image14.gif" Id="R34d891b819fd4d93"/><Relationship Type="http://schemas.openxmlformats.org/officeDocument/2006/relationships/notesSlide" Target="/ppt/notesSlides/notesSlide26.xml" Id="Rf090e27bfb8f4f93"/><Relationship Id="rIdNeuralVision1" Type="http://schemas.openxmlformats.org/officeDocument/2006/relationships/hyperlink" Target="https://croquembouche.github.io/Intro2AV-CourseContent/?model=transformer" TargetMode="External"/></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495df1af048b4b3f" /><Relationship Type="http://schemas.openxmlformats.org/officeDocument/2006/relationships/image" Target="/ppt/media/image15.gif" Id="Rca054059a55f4417" /><Relationship Type="http://schemas.openxmlformats.org/officeDocument/2006/relationships/notesSlide" Target="/ppt/notesSlides/notesSlide27.xml" Id="Rda457369d3364b4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033eef2bdaf74ba1" /><Relationship Type="http://schemas.openxmlformats.org/officeDocument/2006/relationships/image" Target="/ppt/media/image20.png" Id="R4c07fef1f9254b96" /><Relationship Type="http://schemas.openxmlformats.org/officeDocument/2006/relationships/notesSlide" Target="/ppt/notesSlides/notesSlide28.xml" Id="Ref01438b31c0404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e669fc1beff14e62" /><Relationship Type="http://schemas.openxmlformats.org/officeDocument/2006/relationships/image" Target="/ppt/media/image21.png" Id="R31a44b74b17b4be9" /><Relationship Type="http://schemas.openxmlformats.org/officeDocument/2006/relationships/notesSlide" Target="/ppt/notesSlides/notesSlide29.xml" Id="Rf869310564f64b59" /></Relationships>
</file>

<file path=ppt/slides/_rels/slide30.xml.rels><?xml version='1.0' encoding='utf-8'?>
<Relationships xmlns="http://schemas.openxmlformats.org/package/2006/relationships"><Relationship Type="http://schemas.openxmlformats.org/officeDocument/2006/relationships/slideLayout" Target="/ppt/slideLayouts/slideLayout2.xml" Id="R0ac14d9f9b6044f4"/><Relationship Type="http://schemas.openxmlformats.org/officeDocument/2006/relationships/image" Target="/ppt/media/image5.png" Id="R9d2af58a736847ab"/><Relationship Type="http://schemas.openxmlformats.org/officeDocument/2006/relationships/image" Target="/ppt/media/image6.png" Id="R10d478a5f82243e4"/><Relationship Type="http://schemas.openxmlformats.org/officeDocument/2006/relationships/notesSlide" Target="/ppt/notesSlides/notesSlide30.xml" Id="Ra0da2a8cffe94703"/></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b1af7e16ff2f4ce6" /><Relationship Type="http://schemas.openxmlformats.org/officeDocument/2006/relationships/image" Target="/ppt/media/image24.png" Id="R671ba6898ce74f58" /><Relationship Type="http://schemas.openxmlformats.org/officeDocument/2006/relationships/notesSlide" Target="/ppt/notesSlides/notesSlide31.xml" Id="R1e6cc22fe672414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64e33ad62a5242df" /><Relationship Type="http://schemas.openxmlformats.org/officeDocument/2006/relationships/image" Target="/ppt/media/image16.gif" Id="R1b6865dc4bf84900" /><Relationship Type="http://schemas.openxmlformats.org/officeDocument/2006/relationships/notesSlide" Target="/ppt/notesSlides/notesSlide32.xml" Id="R982484c415404858" /></Relationships>
</file>

<file path=ppt/slides/_rels/slide33.xml.rels><?xml version='1.0' encoding='utf-8'?>
<Relationships xmlns="http://schemas.openxmlformats.org/package/2006/relationships"><Relationship Type="http://schemas.openxmlformats.org/officeDocument/2006/relationships/slideLayout" Target="/ppt/slideLayouts/slideLayout2.xml" Id="Re7fdfa34103e47ed"/><Relationship Type="http://schemas.openxmlformats.org/officeDocument/2006/relationships/image" Target="/ppt/media/image14.png" Id="R5282ae4cf2e4439d"/><Relationship Type="http://schemas.openxmlformats.org/officeDocument/2006/relationships/image" Target="/ppt/media/image15.png" Id="Rf0ab44c158ed43cb"/><Relationship Type="http://schemas.openxmlformats.org/officeDocument/2006/relationships/notesSlide" Target="/ppt/notesSlides/notesSlide33.xml" Id="R29f8eb80ca944b38"/></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9" name="LECTURE 3">
            <a:extLst xmlns:a="http://schemas.openxmlformats.org/drawingml/2006/main">
              <a:ext uri="{FF2B5EF4-FFF2-40B4-BE49-F238E27FC236}">
                <a16:creationId xmlns:a16="http://schemas.microsoft.com/office/drawing/2014/main" id="{0B01362A-6593-4F5B-A5B4-79AD6AD6B2BE}"/>
              </a:ext>
            </a:extLst>
          </p:cNvPr>
          <p:cNvSpPr>
            <a:spLocks xmlns:a="http://schemas.openxmlformats.org/drawingml/2006/main" noGrp="1"/>
          </p:cNvSpPr>
          <p:nvPr/>
        </p:nvSpPr>
        <p:spPr>
          <a:xfrm xmlns:a="http://schemas.openxmlformats.org/drawingml/2006/main">
            <a:off x="619125" y="952500"/>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LECTURE 3</a:t>
            </a:r>
          </a:p>
        </p:txBody>
      </p:sp>
      <p:sp>
        <p:nvSpPr>
          <p:cNvPr id="2" name="Computer vision">
            <a:extLst xmlns:a="http://schemas.openxmlformats.org/drawingml/2006/main">
              <a:ext uri="{FF2B5EF4-FFF2-40B4-BE49-F238E27FC236}">
                <a16:creationId xmlns:a16="http://schemas.microsoft.com/office/drawing/2014/main" id="{05AEBAA2-3747-4297-B972-69D900E2A63B}"/>
              </a:ext>
            </a:extLst>
          </p:cNvPr>
          <p:cNvSpPr>
            <a:spLocks xmlns:a="http://schemas.openxmlformats.org/drawingml/2006/main" noGrp="1"/>
          </p:cNvSpPr>
          <p:nvPr/>
        </p:nvSpPr>
        <p:spPr>
          <a:xfrm xmlns:a="http://schemas.openxmlformats.org/drawingml/2006/main">
            <a:off x="619125" y="1476375"/>
            <a:ext cx="771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675" b="1">
                <a:solidFill>
                  <a:srgbClr val="FFFFFF"/>
                </a:solidFill>
                <a:latin typeface="Arial"/>
                <a:ea typeface="Arial"/>
                <a:cs typeface="Arial"/>
              </a:defRPr>
            </a:pPr>
            <a:r>
              <a:rPr sz="3675" b="1">
                <a:solidFill>
                  <a:srgbClr val="FFFFFF"/>
                </a:solidFill>
                <a:latin typeface="Arial"/>
                <a:ea typeface="Arial"/>
                <a:cs typeface="Arial"/>
              </a:rPr>
              <a:t>Computer vision</a:t>
            </a:r>
          </a:p>
        </p:txBody>
      </p:sp>
      <p:sp>
        <p:nvSpPr>
          <p:cNvPr id="3" name="CNNs and transformers">
            <a:extLst xmlns:a="http://schemas.openxmlformats.org/drawingml/2006/main">
              <a:ext uri="{FF2B5EF4-FFF2-40B4-BE49-F238E27FC236}">
                <a16:creationId xmlns:a16="http://schemas.microsoft.com/office/drawing/2014/main" id="{BCC88CDF-10DC-4A0A-9BAA-B58B9382D234}"/>
              </a:ext>
            </a:extLst>
          </p:cNvPr>
          <p:cNvSpPr>
            <a:spLocks xmlns:a="http://schemas.openxmlformats.org/drawingml/2006/main" noGrp="1"/>
          </p:cNvSpPr>
          <p:nvPr/>
        </p:nvSpPr>
        <p:spPr>
          <a:xfrm xmlns:a="http://schemas.openxmlformats.org/drawingml/2006/main">
            <a:off x="619125" y="2228850"/>
            <a:ext cx="7715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CNNs and transformers</a:t>
            </a:r>
          </a:p>
        </p:txBody>
      </p:sp>
      <p:sp>
        <p:nvSpPr>
          <p:cNvPr id="4" name="Learning visual patterns and using context">
            <a:extLst xmlns:a="http://schemas.openxmlformats.org/drawingml/2006/main">
              <a:ext uri="{FF2B5EF4-FFF2-40B4-BE49-F238E27FC236}">
                <a16:creationId xmlns:a16="http://schemas.microsoft.com/office/drawing/2014/main" id="{69B0CEDE-8DC2-4E3F-9452-2C1B5F37638C}"/>
              </a:ext>
            </a:extLst>
          </p:cNvPr>
          <p:cNvSpPr>
            <a:spLocks xmlns:a="http://schemas.openxmlformats.org/drawingml/2006/main" noGrp="1"/>
          </p:cNvSpPr>
          <p:nvPr/>
        </p:nvSpPr>
        <p:spPr>
          <a:xfrm xmlns:a="http://schemas.openxmlformats.org/drawingml/2006/main">
            <a:off x="619125" y="3048000"/>
            <a:ext cx="771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Learning visual patterns and using context</a:t>
            </a:r>
          </a:p>
        </p:txBody>
      </p:sp>
      <p:sp>
        <p:nvSpPr>
          <p:cNvPr id="5" name="Digit recognition and object recognition">
            <a:extLst xmlns:a="http://schemas.openxmlformats.org/drawingml/2006/main">
              <a:ext uri="{FF2B5EF4-FFF2-40B4-BE49-F238E27FC236}">
                <a16:creationId xmlns:a16="http://schemas.microsoft.com/office/drawing/2014/main" id="{128F36F9-4872-42DA-A7EF-081AC6A5AF8F}"/>
              </a:ext>
            </a:extLst>
          </p:cNvPr>
          <p:cNvSpPr>
            <a:spLocks xmlns:a="http://schemas.openxmlformats.org/drawingml/2006/main" noGrp="1"/>
          </p:cNvSpPr>
          <p:nvPr/>
        </p:nvSpPr>
        <p:spPr>
          <a:xfrm xmlns:a="http://schemas.openxmlformats.org/drawingml/2006/main">
            <a:off x="619125" y="3619500"/>
            <a:ext cx="771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Digit recognition and object recognition</a:t>
            </a:r>
          </a:p>
        </p:txBody>
      </p:sp>
      <p:sp>
        <p:nvSpPr>
          <p:cNvPr id="6" name="">
            <a:extLst xmlns:a="http://schemas.openxmlformats.org/drawingml/2006/main">
              <a:ext uri="{FF2B5EF4-FFF2-40B4-BE49-F238E27FC236}">
                <a16:creationId xmlns:a16="http://schemas.microsoft.com/office/drawing/2014/main" id="{50265B87-279B-4A97-A757-AF32EA17ACC0}"/>
              </a:ext>
            </a:extLst>
          </p:cNvPr>
          <p:cNvSpPr>
            <a:spLocks xmlns:a="http://schemas.openxmlformats.org/drawingml/2006/main" noGrp="1"/>
          </p:cNvSpPr>
          <p:nvPr/>
        </p:nvSpPr>
        <p:spPr>
          <a:xfrm xmlns:a="http://schemas.openxmlformats.org/drawingml/2006/main">
            <a:off x="8763000" y="0"/>
            <a:ext cx="381000" cy="3810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r>
              <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fa94690cb234bff"/>
          <a:stretch xmlns:a="http://schemas.openxmlformats.org/drawingml/2006/main"/>
        </p:blipFill>
        <p:spPr>
          <a:xfrm xmlns:a="http://schemas.openxmlformats.org/drawingml/2006/main">
            <a:off x="8763000" y="0"/>
            <a:ext cx="381000" cy="381000"/>
          </a:xfrm>
          <a:prstGeom xmlns:a="http://schemas.openxmlformats.org/drawingml/2006/main" prst="rect">
            <a:avLst/>
          </a:prstGeom>
        </p:spPr>
      </p:pic>
      <p:sp>
        <p:nvSpPr>
          <p:cNvPr id="8" name="1">
            <a:extLst xmlns:a="http://schemas.openxmlformats.org/drawingml/2006/main">
              <a:ext uri="{FF2B5EF4-FFF2-40B4-BE49-F238E27FC236}">
                <a16:creationId xmlns:a16="http://schemas.microsoft.com/office/drawing/2014/main" id="{F9F5FD96-4491-4A6D-BE21-9D0B532E2A7E}"/>
              </a:ext>
            </a:extLst>
          </p:cNvPr>
          <p:cNvSpPr>
            <a:spLocks xmlns:a="http://schemas.openxmlformats.org/drawingml/2006/main" noGrp="1"/>
          </p:cNvSpPr>
          <p:nvPr/>
        </p:nvSpPr>
        <p:spPr>
          <a:xfrm xmlns:a="http://schemas.openxmlformats.org/drawingml/2006/main">
            <a:off x="8401050" y="4810125"/>
            <a:ext cx="28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1</a:t>
            </a:r>
          </a:p>
        </p:txBody>
      </p:sp>
      <p:sp>
        <p:nvSpPr>
          <p:cNvPr id="16" name="Neural Vision demo link">
            <a:extLst xmlns:a="http://schemas.openxmlformats.org/drawingml/2006/main">
              <a:ext uri="{FF2B5EF4-FFF2-40B4-BE49-F238E27FC236}">
                <a16:creationId xmlns:a16="http://schemas.microsoft.com/office/drawing/2014/main" id="{D1D08D03-D8B9-4921-BD52-C81BF06D1EFE}"/>
              </a:ext>
            </a:extLst>
          </p:cNvPr>
          <p:cNvSpPr>
            <a:spLocks xmlns:a="http://schemas.openxmlformats.org/drawingml/2006/main" noGrp="1"/>
          </p:cNvSpPr>
          <p:nvPr/>
        </p:nvSpPr>
        <p:spPr>
          <a:xfrm xmlns:a="http://schemas.openxmlformats.org/drawingml/2006/main">
            <a:off x="619125" y="4143375"/>
            <a:ext cx="771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425">
                <a:solidFill>
                  <a:srgbClr val="FFFFFF"/>
                </a:solidFill>
                <a:latin typeface="Arial"/>
                <a:ea typeface="Arial"/>
                <a:cs typeface="Arial"/>
              </a:defRPr>
            </a:pPr>
            <a:r>
              <a:rPr u="sng">
                <a:solidFill>
                  <a:srgbClr val="FFFFFF"/>
                </a:solidFill>
                <a:hlinkClick xmlns:r="http://schemas.openxmlformats.org/officeDocument/2006/relationships" r:id="rIdNeuralVision1"/>
              </a:rPr>
              <a:t>Interactive demos: croquembouche.github.io/Intro2AV-CourseContent</a:t>
            </a:r>
          </a:p>
        </p:txBody>
      </p:sp>
    </p:spTree>
    <p:extLst>
      <p:ext uri="{BB962C8B-B14F-4D97-AF65-F5344CB8AC3E}">
        <p14:creationId xmlns:p14="http://schemas.microsoft.com/office/powerpoint/2010/main" val="105958388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2" name="The recognition problem">
            <a:extLst xmlns:a="http://schemas.openxmlformats.org/drawingml/2006/main">
              <a:ext uri="{FF2B5EF4-FFF2-40B4-BE49-F238E27FC236}">
                <a16:creationId xmlns:a16="http://schemas.microsoft.com/office/drawing/2014/main" id="{DF7C0E36-8F9F-46F3-BDF6-6FE7031B6AD5}"/>
              </a:ext>
            </a:extLst>
          </p:cNvPr>
          <p:cNvSpPr>
            <a:spLocks xmlns:a="http://schemas.openxmlformats.org/drawingml/2006/main" noGrp="1"/>
          </p:cNvSpPr>
          <p:nvPr/>
        </p:nvSpPr>
        <p:spPr>
          <a:xfrm xmlns:a="http://schemas.openxmlformats.org/drawingml/2006/main">
            <a:off x="495300" y="381000"/>
            <a:ext cx="804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125" b="1">
                <a:solidFill>
                  <a:srgbClr val="C65B00"/>
                </a:solidFill>
                <a:latin typeface="Arial"/>
                <a:ea typeface="Arial"/>
                <a:cs typeface="Arial"/>
              </a:defRPr>
            </a:pPr>
            <a:r>
              <a:rPr sz="1125" b="1">
                <a:solidFill>
                  <a:srgbClr val="C65B00"/>
                </a:solidFill>
                <a:latin typeface="Arial"/>
                <a:ea typeface="Arial"/>
                <a:cs typeface="Arial"/>
              </a:rPr>
              <a:t>The recognition problem</a:t>
            </a:r>
          </a:p>
        </p:txBody>
      </p:sp>
      <p:sp>
        <p:nvSpPr>
          <p:cNvPr id="2" name="Recognition must survive changes in appearance">
            <a:extLst xmlns:a="http://schemas.openxmlformats.org/drawingml/2006/main">
              <a:ext uri="{FF2B5EF4-FFF2-40B4-BE49-F238E27FC236}">
                <a16:creationId xmlns:a16="http://schemas.microsoft.com/office/drawing/2014/main" id="{7ABEA91B-87DA-4076-BE98-7DE14F12BED3}"/>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Recognition must survive changes in appearance</a:t>
            </a:r>
          </a:p>
        </p:txBody>
      </p:sp>
      <p:sp>
        <p:nvSpPr>
          <p:cNvPr id="3" name="2">
            <a:extLst xmlns:a="http://schemas.openxmlformats.org/drawingml/2006/main">
              <a:ext uri="{FF2B5EF4-FFF2-40B4-BE49-F238E27FC236}">
                <a16:creationId xmlns:a16="http://schemas.microsoft.com/office/drawing/2014/main" id="{50A97950-E3FE-4958-BCF1-0A207B053330}"/>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13721975e424651"/>
          <a:stretch xmlns:a="http://schemas.openxmlformats.org/drawingml/2006/main"/>
        </p:blipFill>
        <p:spPr>
          <a:xfrm xmlns:a="http://schemas.openxmlformats.org/drawingml/2006/main">
            <a:off x="843485" y="1381125"/>
            <a:ext cx="3218405" cy="2095500"/>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62d038e1d7042a5"/>
          <a:stretch xmlns:a="http://schemas.openxmlformats.org/drawingml/2006/main"/>
        </p:blipFill>
        <p:spPr>
          <a:xfrm xmlns:a="http://schemas.openxmlformats.org/drawingml/2006/main">
            <a:off x="5082110" y="1381125"/>
            <a:ext cx="3218405" cy="2095500"/>
          </a:xfrm>
          <a:prstGeom xmlns:a="http://schemas.openxmlformats.org/drawingml/2006/main" prst="rect">
            <a:avLst/>
          </a:prstGeom>
        </p:spPr>
      </p:pic>
      <p:sp>
        <p:nvSpPr>
          <p:cNvPr id="6" name="Daylight">
            <a:extLst xmlns:a="http://schemas.openxmlformats.org/drawingml/2006/main">
              <a:ext uri="{FF2B5EF4-FFF2-40B4-BE49-F238E27FC236}">
                <a16:creationId xmlns:a16="http://schemas.microsoft.com/office/drawing/2014/main" id="{7D887188-01C7-4538-9036-869CF6857F29}"/>
              </a:ext>
            </a:extLst>
          </p:cNvPr>
          <p:cNvSpPr>
            <a:spLocks xmlns:a="http://schemas.openxmlformats.org/drawingml/2006/main" noGrp="1"/>
          </p:cNvSpPr>
          <p:nvPr/>
        </p:nvSpPr>
        <p:spPr>
          <a:xfrm xmlns:a="http://schemas.openxmlformats.org/drawingml/2006/main">
            <a:off x="523875" y="3486150"/>
            <a:ext cx="3857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1">
                <a:solidFill>
                  <a:srgbClr val="00539F"/>
                </a:solidFill>
                <a:latin typeface="Arial"/>
                <a:ea typeface="Arial"/>
                <a:cs typeface="Arial"/>
              </a:defRPr>
            </a:pPr>
            <a:r>
              <a:rPr sz="1425" b="1">
                <a:solidFill>
                  <a:srgbClr val="00539F"/>
                </a:solidFill>
                <a:latin typeface="Arial"/>
                <a:ea typeface="Arial"/>
                <a:cs typeface="Arial"/>
              </a:rPr>
              <a:t>Daylight</a:t>
            </a:r>
          </a:p>
        </p:txBody>
      </p:sp>
      <p:sp>
        <p:nvSpPr>
          <p:cNvPr id="7" name="Night">
            <a:extLst xmlns:a="http://schemas.openxmlformats.org/drawingml/2006/main">
              <a:ext uri="{FF2B5EF4-FFF2-40B4-BE49-F238E27FC236}">
                <a16:creationId xmlns:a16="http://schemas.microsoft.com/office/drawing/2014/main" id="{E5D626E0-6A1D-42B2-9910-D8BFA2BA4DAE}"/>
              </a:ext>
            </a:extLst>
          </p:cNvPr>
          <p:cNvSpPr>
            <a:spLocks xmlns:a="http://schemas.openxmlformats.org/drawingml/2006/main" noGrp="1"/>
          </p:cNvSpPr>
          <p:nvPr/>
        </p:nvSpPr>
        <p:spPr>
          <a:xfrm xmlns:a="http://schemas.openxmlformats.org/drawingml/2006/main">
            <a:off x="4762500" y="3486150"/>
            <a:ext cx="3857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1">
                <a:solidFill>
                  <a:srgbClr val="00539F"/>
                </a:solidFill>
                <a:latin typeface="Arial"/>
                <a:ea typeface="Arial"/>
                <a:cs typeface="Arial"/>
              </a:defRPr>
            </a:pPr>
            <a:r>
              <a:rPr sz="1425" b="1">
                <a:solidFill>
                  <a:srgbClr val="00539F"/>
                </a:solidFill>
                <a:latin typeface="Arial"/>
                <a:ea typeface="Arial"/>
                <a:cs typeface="Arial"/>
              </a:rPr>
              <a:t>Night</a:t>
            </a:r>
          </a:p>
        </p:txBody>
      </p:sp>
      <p:sp>
        <p:nvSpPr>
          <p:cNvPr id="8" name="The pixels change with lighting.">
            <a:extLst xmlns:a="http://schemas.openxmlformats.org/drawingml/2006/main">
              <a:ext uri="{FF2B5EF4-FFF2-40B4-BE49-F238E27FC236}">
                <a16:creationId xmlns:a16="http://schemas.microsoft.com/office/drawing/2014/main" id="{00E93374-D202-4C98-83A4-68108D47EA2B}"/>
              </a:ext>
            </a:extLst>
          </p:cNvPr>
          <p:cNvSpPr>
            <a:spLocks xmlns:a="http://schemas.openxmlformats.org/drawingml/2006/main" noGrp="1"/>
          </p:cNvSpPr>
          <p:nvPr/>
        </p:nvSpPr>
        <p:spPr>
          <a:xfrm xmlns:a="http://schemas.openxmlformats.org/drawingml/2006/main">
            <a:off x="523875" y="3781425"/>
            <a:ext cx="3857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The pixels change with lighting.</a:t>
            </a:r>
          </a:p>
        </p:txBody>
      </p:sp>
      <p:sp>
        <p:nvSpPr>
          <p:cNvPr id="9" name="The object category can stay the same.">
            <a:extLst xmlns:a="http://schemas.openxmlformats.org/drawingml/2006/main">
              <a:ext uri="{FF2B5EF4-FFF2-40B4-BE49-F238E27FC236}">
                <a16:creationId xmlns:a16="http://schemas.microsoft.com/office/drawing/2014/main" id="{1B360F3F-0448-4292-94BD-1047AD6BA28D}"/>
              </a:ext>
            </a:extLst>
          </p:cNvPr>
          <p:cNvSpPr>
            <a:spLocks xmlns:a="http://schemas.openxmlformats.org/drawingml/2006/main" noGrp="1"/>
          </p:cNvSpPr>
          <p:nvPr/>
        </p:nvSpPr>
        <p:spPr>
          <a:xfrm xmlns:a="http://schemas.openxmlformats.org/drawingml/2006/main">
            <a:off x="4762500" y="3781425"/>
            <a:ext cx="3857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The object category can stay the same.</a:t>
            </a:r>
          </a:p>
        </p:txBody>
      </p:sp>
      <p:sp>
        <p:nvSpPr>
          <p:cNvPr id="10" name="The goal is to learn what remains useful across examples.">
            <a:extLst xmlns:a="http://schemas.openxmlformats.org/drawingml/2006/main">
              <a:ext uri="{FF2B5EF4-FFF2-40B4-BE49-F238E27FC236}">
                <a16:creationId xmlns:a16="http://schemas.microsoft.com/office/drawing/2014/main" id="{F2D5F774-1367-4073-A054-2BE54EDF5626}"/>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The goal is to learn what remains useful across examples.</a:t>
            </a:r>
          </a:p>
        </p:txBody>
      </p:sp>
      <p:sp>
        <p:nvSpPr>
          <p:cNvPr id="11" name="AI-generated teaching illustration">
            <a:extLst xmlns:a="http://schemas.openxmlformats.org/drawingml/2006/main">
              <a:ext uri="{FF2B5EF4-FFF2-40B4-BE49-F238E27FC236}">
                <a16:creationId xmlns:a16="http://schemas.microsoft.com/office/drawing/2014/main" id="{29ADFDB4-09D8-448B-8DC8-BA28D4C68781}"/>
              </a:ext>
            </a:extLst>
          </p:cNvPr>
          <p:cNvSpPr>
            <a:spLocks xmlns:a="http://schemas.openxmlformats.org/drawingml/2006/main" noGrp="1"/>
          </p:cNvSpPr>
          <p:nvPr/>
        </p:nvSpPr>
        <p:spPr>
          <a:xfrm xmlns:a="http://schemas.openxmlformats.org/drawingml/2006/main">
            <a:off x="6191250" y="400050"/>
            <a:ext cx="2333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975" b="0">
                <a:solidFill>
                  <a:srgbClr val="17324D"/>
                </a:solidFill>
                <a:latin typeface="Arial"/>
                <a:ea typeface="Arial"/>
                <a:cs typeface="Arial"/>
              </a:defRPr>
            </a:pPr>
            <a:r>
              <a:rPr sz="975" b="0">
                <a:solidFill>
                  <a:srgbClr val="17324D"/>
                </a:solidFill>
                <a:latin typeface="Arial"/>
                <a:ea typeface="Arial"/>
                <a:cs typeface="Arial"/>
              </a:rPr>
              <a:t>AI-generated teaching illustration</a:t>
            </a:r>
          </a:p>
        </p:txBody>
      </p:sp>
    </p:spTree>
    <p:extLst>
      <p:ext uri="{BB962C8B-B14F-4D97-AF65-F5344CB8AC3E}">
        <p14:creationId xmlns:p14="http://schemas.microsoft.com/office/powerpoint/2010/main" val="180883889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A prediction has to match the task">
            <a:extLst xmlns:a="http://schemas.openxmlformats.org/drawingml/2006/main">
              <a:ext uri="{FF2B5EF4-FFF2-40B4-BE49-F238E27FC236}">
                <a16:creationId xmlns:a16="http://schemas.microsoft.com/office/drawing/2014/main" id="{A5A83754-9EA5-440B-BD08-63621A7D5663}"/>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A prediction has to match the task</a:t>
            </a:r>
          </a:p>
        </p:txBody>
      </p:sp>
      <p:sp>
        <p:nvSpPr>
          <p:cNvPr id="2" name="3">
            <a:extLst xmlns:a="http://schemas.openxmlformats.org/drawingml/2006/main">
              <a:ext uri="{FF2B5EF4-FFF2-40B4-BE49-F238E27FC236}">
                <a16:creationId xmlns:a16="http://schemas.microsoft.com/office/drawing/2014/main" id="{1DF30FA5-9C51-4DA2-A820-9611163F2B96}"/>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2b7318f54c845cc"/>
          <a:stretch xmlns:a="http://schemas.openxmlformats.org/drawingml/2006/main"/>
        </p:blipFill>
        <p:spPr>
          <a:xfrm xmlns:a="http://schemas.openxmlformats.org/drawingml/2006/main">
            <a:off x="523875" y="1740013"/>
            <a:ext cx="3857625" cy="1377723"/>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77674faea6c478e"/>
          <a:stretch xmlns:a="http://schemas.openxmlformats.org/drawingml/2006/main"/>
        </p:blipFill>
        <p:spPr>
          <a:xfrm xmlns:a="http://schemas.openxmlformats.org/drawingml/2006/main">
            <a:off x="4918197" y="1381125"/>
            <a:ext cx="3546231" cy="2095500"/>
          </a:xfrm>
          <a:prstGeom xmlns:a="http://schemas.openxmlformats.org/drawingml/2006/main" prst="rect">
            <a:avLst/>
          </a:prstGeom>
        </p:spPr>
      </p:pic>
      <p:sp>
        <p:nvSpPr>
          <p:cNvPr id="5" name="Which digit?">
            <a:extLst xmlns:a="http://schemas.openxmlformats.org/drawingml/2006/main">
              <a:ext uri="{FF2B5EF4-FFF2-40B4-BE49-F238E27FC236}">
                <a16:creationId xmlns:a16="http://schemas.microsoft.com/office/drawing/2014/main" id="{5B16DDF4-A449-4083-A877-938AB3D9AE58}"/>
              </a:ext>
            </a:extLst>
          </p:cNvPr>
          <p:cNvSpPr>
            <a:spLocks xmlns:a="http://schemas.openxmlformats.org/drawingml/2006/main" noGrp="1"/>
          </p:cNvSpPr>
          <p:nvPr/>
        </p:nvSpPr>
        <p:spPr>
          <a:xfrm xmlns:a="http://schemas.openxmlformats.org/drawingml/2006/main">
            <a:off x="523875" y="3486150"/>
            <a:ext cx="3857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1">
                <a:solidFill>
                  <a:srgbClr val="00539F"/>
                </a:solidFill>
                <a:latin typeface="Arial"/>
                <a:ea typeface="Arial"/>
                <a:cs typeface="Arial"/>
              </a:defRPr>
            </a:pPr>
            <a:r>
              <a:rPr sz="1425" b="1">
                <a:solidFill>
                  <a:srgbClr val="00539F"/>
                </a:solidFill>
                <a:latin typeface="Arial"/>
                <a:ea typeface="Arial"/>
                <a:cs typeface="Arial"/>
              </a:rPr>
              <a:t>Which digit?</a:t>
            </a:r>
          </a:p>
        </p:txBody>
      </p:sp>
      <p:sp>
        <p:nvSpPr>
          <p:cNvPr id="6" name="Which objects, and where?">
            <a:extLst xmlns:a="http://schemas.openxmlformats.org/drawingml/2006/main">
              <a:ext uri="{FF2B5EF4-FFF2-40B4-BE49-F238E27FC236}">
                <a16:creationId xmlns:a16="http://schemas.microsoft.com/office/drawing/2014/main" id="{8D6F6802-926B-4A6C-AE93-C1B9AB14E0FC}"/>
              </a:ext>
            </a:extLst>
          </p:cNvPr>
          <p:cNvSpPr>
            <a:spLocks xmlns:a="http://schemas.openxmlformats.org/drawingml/2006/main" noGrp="1"/>
          </p:cNvSpPr>
          <p:nvPr/>
        </p:nvSpPr>
        <p:spPr>
          <a:xfrm xmlns:a="http://schemas.openxmlformats.org/drawingml/2006/main">
            <a:off x="4762500" y="3486150"/>
            <a:ext cx="3857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1">
                <a:solidFill>
                  <a:srgbClr val="00539F"/>
                </a:solidFill>
                <a:latin typeface="Arial"/>
                <a:ea typeface="Arial"/>
                <a:cs typeface="Arial"/>
              </a:defRPr>
            </a:pPr>
            <a:r>
              <a:rPr sz="1425" b="1">
                <a:solidFill>
                  <a:srgbClr val="00539F"/>
                </a:solidFill>
                <a:latin typeface="Arial"/>
                <a:ea typeface="Arial"/>
                <a:cs typeface="Arial"/>
              </a:rPr>
              <a:t>Which objects, and where?</a:t>
            </a:r>
          </a:p>
        </p:txBody>
      </p:sp>
      <p:sp>
        <p:nvSpPr>
          <p:cNvPr id="7" name="Classification assigns an image a category.">
            <a:extLst xmlns:a="http://schemas.openxmlformats.org/drawingml/2006/main">
              <a:ext uri="{FF2B5EF4-FFF2-40B4-BE49-F238E27FC236}">
                <a16:creationId xmlns:a16="http://schemas.microsoft.com/office/drawing/2014/main" id="{97E775B9-E6BA-4826-8E97-EFC39CF41A52}"/>
              </a:ext>
            </a:extLst>
          </p:cNvPr>
          <p:cNvSpPr>
            <a:spLocks xmlns:a="http://schemas.openxmlformats.org/drawingml/2006/main" noGrp="1"/>
          </p:cNvSpPr>
          <p:nvPr/>
        </p:nvSpPr>
        <p:spPr>
          <a:xfrm xmlns:a="http://schemas.openxmlformats.org/drawingml/2006/main">
            <a:off x="523875" y="3781425"/>
            <a:ext cx="3857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Classification assigns an image a category.</a:t>
            </a:r>
          </a:p>
        </p:txBody>
      </p:sp>
      <p:sp>
        <p:nvSpPr>
          <p:cNvPr id="8" name="Detection also estimates where each object is.">
            <a:extLst xmlns:a="http://schemas.openxmlformats.org/drawingml/2006/main">
              <a:ext uri="{FF2B5EF4-FFF2-40B4-BE49-F238E27FC236}">
                <a16:creationId xmlns:a16="http://schemas.microsoft.com/office/drawing/2014/main" id="{82BB3EB5-0FAE-4DF8-B349-30E476F01B67}"/>
              </a:ext>
            </a:extLst>
          </p:cNvPr>
          <p:cNvSpPr>
            <a:spLocks xmlns:a="http://schemas.openxmlformats.org/drawingml/2006/main" noGrp="1"/>
          </p:cNvSpPr>
          <p:nvPr/>
        </p:nvSpPr>
        <p:spPr>
          <a:xfrm xmlns:a="http://schemas.openxmlformats.org/drawingml/2006/main">
            <a:off x="4762500" y="3781425"/>
            <a:ext cx="3857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Detection also estimates where each object is.</a:t>
            </a:r>
          </a:p>
        </p:txBody>
      </p:sp>
      <p:sp>
        <p:nvSpPr>
          <p:cNvPr id="9" name="The output and training labels must match the question.">
            <a:extLst xmlns:a="http://schemas.openxmlformats.org/drawingml/2006/main">
              <a:ext uri="{FF2B5EF4-FFF2-40B4-BE49-F238E27FC236}">
                <a16:creationId xmlns:a16="http://schemas.microsoft.com/office/drawing/2014/main" id="{AAEA8DA1-C42F-4F3A-8A6C-FDD292A2B20D}"/>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The output and training labels must match the question.</a:t>
            </a:r>
          </a:p>
        </p:txBody>
      </p:sp>
    </p:spTree>
    <p:extLst>
      <p:ext uri="{BB962C8B-B14F-4D97-AF65-F5344CB8AC3E}">
        <p14:creationId xmlns:p14="http://schemas.microsoft.com/office/powerpoint/2010/main" val="180883889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A fully connected network learns combinations">
            <a:extLst xmlns:a="http://schemas.openxmlformats.org/drawingml/2006/main">
              <a:ext uri="{FF2B5EF4-FFF2-40B4-BE49-F238E27FC236}">
                <a16:creationId xmlns:a16="http://schemas.microsoft.com/office/drawing/2014/main" id="{4E343737-6B81-4899-97C4-5FE40CDD61D6}"/>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A fully connected network learns combinations</a:t>
            </a:r>
          </a:p>
        </p:txBody>
      </p:sp>
      <p:sp>
        <p:nvSpPr>
          <p:cNvPr id="2" name="4">
            <a:extLst xmlns:a="http://schemas.openxmlformats.org/drawingml/2006/main">
              <a:ext uri="{FF2B5EF4-FFF2-40B4-BE49-F238E27FC236}">
                <a16:creationId xmlns:a16="http://schemas.microsoft.com/office/drawing/2014/main" id="{EAED53D0-D8B2-45C8-A188-319369AA0472}"/>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4</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d11304b85a14a72"/>
          <a:stretch xmlns:a="http://schemas.openxmlformats.org/drawingml/2006/main"/>
        </p:blipFill>
        <p:spPr>
          <a:xfrm xmlns:a="http://schemas.openxmlformats.org/drawingml/2006/main">
            <a:off x="523875" y="1514394"/>
            <a:ext cx="5095875" cy="2514761"/>
          </a:xfrm>
          <a:prstGeom xmlns:a="http://schemas.openxmlformats.org/drawingml/2006/main" prst="rect">
            <a:avLst/>
          </a:prstGeom>
        </p:spPr>
      </p:pic>
      <p:sp>
        <p:nvSpPr>
          <p:cNvPr id="4" name="Each hidden node combines pixel values using learned weights.&#10;&#10;The out">
            <a:extLst xmlns:a="http://schemas.openxmlformats.org/drawingml/2006/main">
              <a:ext uri="{FF2B5EF4-FFF2-40B4-BE49-F238E27FC236}">
                <a16:creationId xmlns:a16="http://schemas.microsoft.com/office/drawing/2014/main" id="{BE511153-53A8-4D57-A557-FB40FC6446ED}"/>
              </a:ext>
            </a:extLst>
          </p:cNvPr>
          <p:cNvSpPr>
            <a:spLocks xmlns:a="http://schemas.openxmlformats.org/drawingml/2006/main" noGrp="1"/>
          </p:cNvSpPr>
          <p:nvPr/>
        </p:nvSpPr>
        <p:spPr>
          <a:xfrm xmlns:a="http://schemas.openxmlformats.org/drawingml/2006/main">
            <a:off x="5953125" y="1485900"/>
            <a:ext cx="266700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0">
                <a:solidFill>
                  <a:srgbClr val="17324D"/>
                </a:solidFill>
                <a:latin typeface="Arial"/>
                <a:ea typeface="Arial"/>
                <a:cs typeface="Arial"/>
              </a:defRPr>
            </a:pPr>
            <a:r>
              <a:rPr sz="1875" b="0">
                <a:solidFill>
                  <a:srgbClr val="17324D"/>
                </a:solidFill>
                <a:latin typeface="Arial"/>
                <a:ea typeface="Arial"/>
                <a:cs typeface="Arial"/>
              </a:rPr>
              <a:t>Each hidden node combines pixel values using learned weights.</a:t>
            </a:r>
          </a:p>
          <a:p xmlns:a="http://schemas.openxmlformats.org/drawingml/2006/main">
            <a:r>
              <a:t/>
            </a:r>
          </a:p>
          <a:p xmlns:a="http://schemas.openxmlformats.org/drawingml/2006/main">
            <a:pPr>
              <a:defRPr sz="1875" b="0">
                <a:solidFill>
                  <a:srgbClr val="17324D"/>
                </a:solidFill>
                <a:latin typeface="Arial"/>
                <a:ea typeface="Arial"/>
                <a:cs typeface="Arial"/>
              </a:defRPr>
            </a:pPr>
            <a:r>
              <a:rPr sz="1875" b="0">
                <a:solidFill>
                  <a:srgbClr val="17324D"/>
                </a:solidFill>
                <a:latin typeface="Arial"/>
                <a:ea typeface="Arial"/>
                <a:cs typeface="Arial"/>
              </a:rPr>
              <a:t>The output nodes turn those responses into class scores.</a:t>
            </a:r>
          </a:p>
        </p:txBody>
      </p:sp>
      <p:sp>
        <p:nvSpPr>
          <p:cNvPr id="5" name="N controls capacity. More nodes also mean more work.">
            <a:extLst xmlns:a="http://schemas.openxmlformats.org/drawingml/2006/main">
              <a:ext uri="{FF2B5EF4-FFF2-40B4-BE49-F238E27FC236}">
                <a16:creationId xmlns:a16="http://schemas.microsoft.com/office/drawing/2014/main" id="{3C4ECE6A-5140-43E0-9012-E8746F208FF3}"/>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N controls capacity. More nodes also mean more work.</a:t>
            </a:r>
          </a:p>
        </p:txBody>
      </p:sp>
      <p:sp>
        <p:nvSpPr>
          <p:cNvPr id="9" name="Neural Vision demo link">
            <a:extLst xmlns:a="http://schemas.openxmlformats.org/drawingml/2006/main">
              <a:ext uri="{FF2B5EF4-FFF2-40B4-BE49-F238E27FC236}">
                <a16:creationId xmlns:a16="http://schemas.microsoft.com/office/drawing/2014/main" id="{FABBE2CF-6991-4375-ACCA-7057BC2B43D3}"/>
              </a:ext>
            </a:extLst>
          </p:cNvPr>
          <p:cNvSpPr>
            <a:spLocks xmlns:a="http://schemas.openxmlformats.org/drawingml/2006/main" noGrp="1"/>
          </p:cNvSpPr>
          <p:nvPr/>
        </p:nvSpPr>
        <p:spPr>
          <a:xfrm xmlns:a="http://schemas.openxmlformats.org/drawingml/2006/main">
            <a:off x="5953125" y="485775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050">
                <a:solidFill>
                  <a:srgbClr val="00539F"/>
                </a:solidFill>
                <a:latin typeface="Arial"/>
                <a:ea typeface="Arial"/>
                <a:cs typeface="Arial"/>
              </a:defRPr>
            </a:pPr>
            <a:r>
              <a:rPr u="sng">
                <a:solidFill>
                  <a:srgbClr val="00539F"/>
                </a:solidFill>
                <a:hlinkClick xmlns:r="http://schemas.openxmlformats.org/officeDocument/2006/relationships" r:id="rIdNeuralVision1"/>
              </a:rPr>
              <a:t>Explore the MLP in 3D</a:t>
            </a:r>
          </a:p>
        </p:txBody>
      </p:sp>
    </p:spTree>
    <p:extLst>
      <p:ext uri="{BB962C8B-B14F-4D97-AF65-F5344CB8AC3E}">
        <p14:creationId xmlns:p14="http://schemas.microsoft.com/office/powerpoint/2010/main" val="180883889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7" name="Training adjusts the whole network">
            <a:extLst xmlns:a="http://schemas.openxmlformats.org/drawingml/2006/main">
              <a:ext uri="{FF2B5EF4-FFF2-40B4-BE49-F238E27FC236}">
                <a16:creationId xmlns:a16="http://schemas.microsoft.com/office/drawing/2014/main" id="{B9463779-130D-42C6-BFBD-0B9C3EBC9512}"/>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Training adjusts the whole network</a:t>
            </a:r>
          </a:p>
        </p:txBody>
      </p:sp>
      <p:sp>
        <p:nvSpPr>
          <p:cNvPr id="2" name="5">
            <a:extLst xmlns:a="http://schemas.openxmlformats.org/drawingml/2006/main">
              <a:ext uri="{FF2B5EF4-FFF2-40B4-BE49-F238E27FC236}">
                <a16:creationId xmlns:a16="http://schemas.microsoft.com/office/drawing/2014/main" id="{A43ECD8C-9C55-4342-9571-524A8FE39A98}"/>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5</a:t>
            </a:r>
          </a:p>
        </p:txBody>
      </p:sp>
      <p:sp>
        <p:nvSpPr>
          <p:cNvPr id="3" name="GIF">
            <a:extLst xmlns:a="http://schemas.openxmlformats.org/drawingml/2006/main">
              <a:ext uri="{FF2B5EF4-FFF2-40B4-BE49-F238E27FC236}">
                <a16:creationId xmlns:a16="http://schemas.microsoft.com/office/drawing/2014/main" id="{BE648BF4-997A-4D2A-9169-4A9D36FD226D}"/>
              </a:ext>
            </a:extLst>
          </p:cNvPr>
          <p:cNvSpPr>
            <a:spLocks xmlns:a="http://schemas.openxmlformats.org/drawingml/2006/main" noGrp="1"/>
          </p:cNvSpPr>
          <p:nvPr/>
        </p:nvSpPr>
        <p:spPr>
          <a:xfrm xmlns:a="http://schemas.openxmlformats.org/drawingml/2006/main">
            <a:off x="523875" y="4857750"/>
            <a:ext cx="342900" cy="190500"/>
          </a:xfrm>
          <a:prstGeom xmlns:a="http://schemas.openxmlformats.org/drawingml/2006/main" prst="rect">
            <a:avLst/>
          </a:prstGeom>
          <a:solidFill xmlns:a="http://schemas.openxmlformats.org/drawingml/2006/main">
            <a:srgbClr val="00539F"/>
          </a:solidFill>
          <a:ln xmlns:a="http://schemas.openxmlformats.org/drawingml/2006/main" w="0">
            <a:noFill/>
          </a:ln>
        </p:spPr>
        <p:txBody>
          <a:bodyPr xmlns:a="http://schemas.openxmlformats.org/drawingml/2006/main" wrap="square" lIns="57150" tIns="0" rIns="57150" bIns="0" anchor="ctr">
            <a:noAutofit/>
          </a:bodyPr>
          <a:lstStyle xmlns:a="http://schemas.openxmlformats.org/drawingml/2006/main"/>
          <a:p xmlns:a="http://schemas.openxmlformats.org/drawingml/2006/main">
            <a:pPr>
              <a:defRPr sz="900" b="1">
                <a:solidFill>
                  <a:srgbClr val="FFFFFF"/>
                </a:solidFill>
                <a:latin typeface="Arial"/>
                <a:ea typeface="Arial"/>
                <a:cs typeface="Arial"/>
              </a:defRPr>
            </a:pPr>
            <a:r>
              <a:rPr sz="900" b="1">
                <a:solidFill>
                  <a:srgbClr val="FFFFFF"/>
                </a:solidFill>
                <a:latin typeface="Arial"/>
                <a:ea typeface="Arial"/>
                <a:cs typeface="Arial"/>
              </a:rPr>
              <a:t>GIF</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8029d6739ef4206"/>
          <a:stretch xmlns:a="http://schemas.openxmlformats.org/drawingml/2006/main"/>
        </p:blipFill>
        <p:spPr>
          <a:xfrm xmlns:a="http://schemas.openxmlformats.org/drawingml/2006/main">
            <a:off x="619125" y="1439094"/>
            <a:ext cx="7905750" cy="2655838"/>
          </a:xfrm>
          <a:prstGeom xmlns:a="http://schemas.openxmlformats.org/drawingml/2006/main" prst="rect">
            <a:avLst/>
          </a:prstGeom>
        </p:spPr>
      </p:pic>
      <p:sp>
        <p:nvSpPr>
          <p:cNvPr id="5" name="Prediction error changes weights, which changes the next prediction">
            <a:extLst xmlns:a="http://schemas.openxmlformats.org/drawingml/2006/main">
              <a:ext uri="{FF2B5EF4-FFF2-40B4-BE49-F238E27FC236}">
                <a16:creationId xmlns:a16="http://schemas.microsoft.com/office/drawing/2014/main" id="{AAECB693-8776-48FA-B86D-C57508161E52}"/>
              </a:ext>
            </a:extLst>
          </p:cNvPr>
          <p:cNvSpPr>
            <a:spLocks xmlns:a="http://schemas.openxmlformats.org/drawingml/2006/main" noGrp="1"/>
          </p:cNvSpPr>
          <p:nvPr/>
        </p:nvSpPr>
        <p:spPr>
          <a:xfrm xmlns:a="http://schemas.openxmlformats.org/drawingml/2006/main">
            <a:off x="619125" y="4191000"/>
            <a:ext cx="790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Prediction error changes weights, which changes the next prediction</a:t>
            </a:r>
          </a:p>
        </p:txBody>
      </p:sp>
      <p:sp>
        <p:nvSpPr>
          <p:cNvPr id="6" name="Learning is guided by the task, not by hand-labeling every feature.">
            <a:extLst xmlns:a="http://schemas.openxmlformats.org/drawingml/2006/main">
              <a:ext uri="{FF2B5EF4-FFF2-40B4-BE49-F238E27FC236}">
                <a16:creationId xmlns:a16="http://schemas.microsoft.com/office/drawing/2014/main" id="{A911AF3D-82FD-48CB-9436-699907BA1F01}"/>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Learning is guided by the task, not by hand-labeling every feature.</a:t>
            </a:r>
          </a:p>
        </p:txBody>
      </p:sp>
    </p:spTree>
    <p:extLst>
      <p:ext uri="{BB962C8B-B14F-4D97-AF65-F5344CB8AC3E}">
        <p14:creationId xmlns:p14="http://schemas.microsoft.com/office/powerpoint/2010/main" val="180883889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7" name="Images make full connectivity expensive">
            <a:extLst xmlns:a="http://schemas.openxmlformats.org/drawingml/2006/main">
              <a:ext uri="{FF2B5EF4-FFF2-40B4-BE49-F238E27FC236}">
                <a16:creationId xmlns:a16="http://schemas.microsoft.com/office/drawing/2014/main" id="{ADB3AB88-5573-4E34-B1C2-83D5C5D3A258}"/>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Images make full connectivity expensive</a:t>
            </a:r>
          </a:p>
        </p:txBody>
      </p:sp>
      <p:sp>
        <p:nvSpPr>
          <p:cNvPr id="2" name="6">
            <a:extLst xmlns:a="http://schemas.openxmlformats.org/drawingml/2006/main">
              <a:ext uri="{FF2B5EF4-FFF2-40B4-BE49-F238E27FC236}">
                <a16:creationId xmlns:a16="http://schemas.microsoft.com/office/drawing/2014/main" id="{B0B4317C-3E81-4387-A9D1-C9B0AB7D75B3}"/>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6</a:t>
            </a:r>
          </a:p>
        </p:txBody>
      </p:sp>
      <p:sp>
        <p:nvSpPr>
          <p:cNvPr id="3" name="GIF">
            <a:extLst xmlns:a="http://schemas.openxmlformats.org/drawingml/2006/main">
              <a:ext uri="{FF2B5EF4-FFF2-40B4-BE49-F238E27FC236}">
                <a16:creationId xmlns:a16="http://schemas.microsoft.com/office/drawing/2014/main" id="{816B05EA-435C-4765-AA97-7335B8C71417}"/>
              </a:ext>
            </a:extLst>
          </p:cNvPr>
          <p:cNvSpPr>
            <a:spLocks xmlns:a="http://schemas.openxmlformats.org/drawingml/2006/main" noGrp="1"/>
          </p:cNvSpPr>
          <p:nvPr/>
        </p:nvSpPr>
        <p:spPr>
          <a:xfrm xmlns:a="http://schemas.openxmlformats.org/drawingml/2006/main">
            <a:off x="523875" y="4857750"/>
            <a:ext cx="342900" cy="190500"/>
          </a:xfrm>
          <a:prstGeom xmlns:a="http://schemas.openxmlformats.org/drawingml/2006/main" prst="rect">
            <a:avLst/>
          </a:prstGeom>
          <a:solidFill xmlns:a="http://schemas.openxmlformats.org/drawingml/2006/main">
            <a:srgbClr val="00539F"/>
          </a:solidFill>
          <a:ln xmlns:a="http://schemas.openxmlformats.org/drawingml/2006/main" w="0">
            <a:noFill/>
          </a:ln>
        </p:spPr>
        <p:txBody>
          <a:bodyPr xmlns:a="http://schemas.openxmlformats.org/drawingml/2006/main" wrap="square" lIns="57150" tIns="0" rIns="57150" bIns="0" anchor="ctr">
            <a:noAutofit/>
          </a:bodyPr>
          <a:lstStyle xmlns:a="http://schemas.openxmlformats.org/drawingml/2006/main"/>
          <a:p xmlns:a="http://schemas.openxmlformats.org/drawingml/2006/main">
            <a:pPr>
              <a:defRPr sz="900" b="1">
                <a:solidFill>
                  <a:srgbClr val="FFFFFF"/>
                </a:solidFill>
                <a:latin typeface="Arial"/>
                <a:ea typeface="Arial"/>
                <a:cs typeface="Arial"/>
              </a:defRPr>
            </a:pPr>
            <a:r>
              <a:rPr sz="900" b="1">
                <a:solidFill>
                  <a:srgbClr val="FFFFFF"/>
                </a:solidFill>
                <a:latin typeface="Arial"/>
                <a:ea typeface="Arial"/>
                <a:cs typeface="Arial"/>
              </a:rPr>
              <a:t>GIF</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df3af2e654a4229"/>
          <a:stretch xmlns:a="http://schemas.openxmlformats.org/drawingml/2006/main"/>
        </p:blipFill>
        <p:spPr>
          <a:xfrm xmlns:a="http://schemas.openxmlformats.org/drawingml/2006/main">
            <a:off x="2525151" y="1381125"/>
            <a:ext cx="4093698" cy="2771775"/>
          </a:xfrm>
          <a:prstGeom xmlns:a="http://schemas.openxmlformats.org/drawingml/2006/main" prst="rect">
            <a:avLst/>
          </a:prstGeom>
        </p:spPr>
      </p:pic>
      <p:sp>
        <p:nvSpPr>
          <p:cNvPr id="5" name="New pixels create inputs, and each input needs connections">
            <a:extLst xmlns:a="http://schemas.openxmlformats.org/drawingml/2006/main">
              <a:ext uri="{FF2B5EF4-FFF2-40B4-BE49-F238E27FC236}">
                <a16:creationId xmlns:a16="http://schemas.microsoft.com/office/drawing/2014/main" id="{9D4D7683-6D18-4C3F-89AF-A5D27C97FBD3}"/>
              </a:ext>
            </a:extLst>
          </p:cNvPr>
          <p:cNvSpPr>
            <a:spLocks xmlns:a="http://schemas.openxmlformats.org/drawingml/2006/main" noGrp="1"/>
          </p:cNvSpPr>
          <p:nvPr/>
        </p:nvSpPr>
        <p:spPr>
          <a:xfrm xmlns:a="http://schemas.openxmlformats.org/drawingml/2006/main">
            <a:off x="619125" y="4191000"/>
            <a:ext cx="790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New pixels create inputs, and each input needs connections</a:t>
            </a:r>
          </a:p>
        </p:txBody>
      </p:sp>
      <p:sp>
        <p:nvSpPr>
          <p:cNvPr id="6" name="Could a useful visual feature depend on only a small neighborhood?">
            <a:extLst xmlns:a="http://schemas.openxmlformats.org/drawingml/2006/main">
              <a:ext uri="{FF2B5EF4-FFF2-40B4-BE49-F238E27FC236}">
                <a16:creationId xmlns:a16="http://schemas.microsoft.com/office/drawing/2014/main" id="{5C1499E5-C3A3-4824-BAF2-EA27BDEF6264}"/>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Could a useful visual feature depend on only a small neighborhood?</a:t>
            </a:r>
          </a:p>
        </p:txBody>
      </p:sp>
    </p:spTree>
    <p:extLst>
      <p:ext uri="{BB962C8B-B14F-4D97-AF65-F5344CB8AC3E}">
        <p14:creationId xmlns:p14="http://schemas.microsoft.com/office/powerpoint/2010/main" val="180883889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7" name="Local connections match local visual structure">
            <a:extLst xmlns:a="http://schemas.openxmlformats.org/drawingml/2006/main">
              <a:ext uri="{FF2B5EF4-FFF2-40B4-BE49-F238E27FC236}">
                <a16:creationId xmlns:a16="http://schemas.microsoft.com/office/drawing/2014/main" id="{99DF0940-1EF6-419A-B75F-CDC631AFADDD}"/>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Local connections match local visual structure</a:t>
            </a:r>
          </a:p>
        </p:txBody>
      </p:sp>
      <p:sp>
        <p:nvSpPr>
          <p:cNvPr id="2" name="7">
            <a:extLst xmlns:a="http://schemas.openxmlformats.org/drawingml/2006/main">
              <a:ext uri="{FF2B5EF4-FFF2-40B4-BE49-F238E27FC236}">
                <a16:creationId xmlns:a16="http://schemas.microsoft.com/office/drawing/2014/main" id="{F07D0A6C-798D-4DCA-AB08-D6F0FBD4FB66}"/>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7</a:t>
            </a:r>
          </a:p>
        </p:txBody>
      </p:sp>
      <p:sp>
        <p:nvSpPr>
          <p:cNvPr id="3" name="GIF">
            <a:extLst xmlns:a="http://schemas.openxmlformats.org/drawingml/2006/main">
              <a:ext uri="{FF2B5EF4-FFF2-40B4-BE49-F238E27FC236}">
                <a16:creationId xmlns:a16="http://schemas.microsoft.com/office/drawing/2014/main" id="{BBA7F6EA-700F-4CA4-8A02-C60DC1FDE450}"/>
              </a:ext>
            </a:extLst>
          </p:cNvPr>
          <p:cNvSpPr>
            <a:spLocks xmlns:a="http://schemas.openxmlformats.org/drawingml/2006/main" noGrp="1"/>
          </p:cNvSpPr>
          <p:nvPr/>
        </p:nvSpPr>
        <p:spPr>
          <a:xfrm xmlns:a="http://schemas.openxmlformats.org/drawingml/2006/main">
            <a:off x="523875" y="4857750"/>
            <a:ext cx="342900" cy="190500"/>
          </a:xfrm>
          <a:prstGeom xmlns:a="http://schemas.openxmlformats.org/drawingml/2006/main" prst="rect">
            <a:avLst/>
          </a:prstGeom>
          <a:solidFill xmlns:a="http://schemas.openxmlformats.org/drawingml/2006/main">
            <a:srgbClr val="00539F"/>
          </a:solidFill>
          <a:ln xmlns:a="http://schemas.openxmlformats.org/drawingml/2006/main" w="0">
            <a:noFill/>
          </a:ln>
        </p:spPr>
        <p:txBody>
          <a:bodyPr xmlns:a="http://schemas.openxmlformats.org/drawingml/2006/main" wrap="square" lIns="57150" tIns="0" rIns="57150" bIns="0" anchor="ctr">
            <a:noAutofit/>
          </a:bodyPr>
          <a:lstStyle xmlns:a="http://schemas.openxmlformats.org/drawingml/2006/main"/>
          <a:p xmlns:a="http://schemas.openxmlformats.org/drawingml/2006/main">
            <a:pPr>
              <a:defRPr sz="900" b="1">
                <a:solidFill>
                  <a:srgbClr val="FFFFFF"/>
                </a:solidFill>
                <a:latin typeface="Arial"/>
                <a:ea typeface="Arial"/>
                <a:cs typeface="Arial"/>
              </a:defRPr>
            </a:pPr>
            <a:r>
              <a:rPr sz="900" b="1">
                <a:solidFill>
                  <a:srgbClr val="FFFFFF"/>
                </a:solidFill>
                <a:latin typeface="Arial"/>
                <a:ea typeface="Arial"/>
                <a:cs typeface="Arial"/>
              </a:rPr>
              <a:t>GIF</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5ad7b084fe34762"/>
          <a:stretch xmlns:a="http://schemas.openxmlformats.org/drawingml/2006/main"/>
        </p:blipFill>
        <p:spPr>
          <a:xfrm xmlns:a="http://schemas.openxmlformats.org/drawingml/2006/main">
            <a:off x="619125" y="1500857"/>
            <a:ext cx="7905750" cy="2532311"/>
          </a:xfrm>
          <a:prstGeom xmlns:a="http://schemas.openxmlformats.org/drawingml/2006/main" prst="rect">
            <a:avLst/>
          </a:prstGeom>
        </p:spPr>
      </p:pic>
      <p:sp>
        <p:nvSpPr>
          <p:cNvPr id="5" name="Each pixel is weighted, then the nine contributions are added">
            <a:extLst xmlns:a="http://schemas.openxmlformats.org/drawingml/2006/main">
              <a:ext uri="{FF2B5EF4-FFF2-40B4-BE49-F238E27FC236}">
                <a16:creationId xmlns:a16="http://schemas.microsoft.com/office/drawing/2014/main" id="{155C41D7-0EAE-4C49-9B58-D5E74D95A3FD}"/>
              </a:ext>
            </a:extLst>
          </p:cNvPr>
          <p:cNvSpPr>
            <a:spLocks xmlns:a="http://schemas.openxmlformats.org/drawingml/2006/main" noGrp="1"/>
          </p:cNvSpPr>
          <p:nvPr/>
        </p:nvSpPr>
        <p:spPr>
          <a:xfrm xmlns:a="http://schemas.openxmlformats.org/drawingml/2006/main">
            <a:off x="619125" y="4191000"/>
            <a:ext cx="790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Each pixel is weighted, then the nine contributions are added</a:t>
            </a:r>
          </a:p>
        </p:txBody>
      </p:sp>
      <p:sp>
        <p:nvSpPr>
          <p:cNvPr id="6" name="A feature response describes evidence, not a new object label.">
            <a:extLst xmlns:a="http://schemas.openxmlformats.org/drawingml/2006/main">
              <a:ext uri="{FF2B5EF4-FFF2-40B4-BE49-F238E27FC236}">
                <a16:creationId xmlns:a16="http://schemas.microsoft.com/office/drawing/2014/main" id="{4ABDAB65-F3E2-4BCA-B175-882A58FAC70B}"/>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A feature response describes evidence, not a new object label.</a:t>
            </a:r>
          </a:p>
        </p:txBody>
      </p:sp>
    </p:spTree>
    <p:extLst>
      <p:ext uri="{BB962C8B-B14F-4D97-AF65-F5344CB8AC3E}">
        <p14:creationId xmlns:p14="http://schemas.microsoft.com/office/powerpoint/2010/main" val="180883889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1" name="Useful patterns can appear in many positions">
            <a:extLst xmlns:a="http://schemas.openxmlformats.org/drawingml/2006/main">
              <a:ext uri="{FF2B5EF4-FFF2-40B4-BE49-F238E27FC236}">
                <a16:creationId xmlns:a16="http://schemas.microsoft.com/office/drawing/2014/main" id="{9DC1F6E9-BCF9-47A1-B0B2-789AFEA7C0B2}"/>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Useful patterns can appear in many positions</a:t>
            </a:r>
          </a:p>
        </p:txBody>
      </p:sp>
      <p:sp>
        <p:nvSpPr>
          <p:cNvPr id="2" name="8">
            <a:extLst xmlns:a="http://schemas.openxmlformats.org/drawingml/2006/main">
              <a:ext uri="{FF2B5EF4-FFF2-40B4-BE49-F238E27FC236}">
                <a16:creationId xmlns:a16="http://schemas.microsoft.com/office/drawing/2014/main" id="{5ABE663D-2E0F-4631-ACD7-E60E31A6DF87}"/>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8</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c0d13f1fee042e2"/>
          <a:stretch xmlns:a="http://schemas.openxmlformats.org/drawingml/2006/main"/>
        </p:blipFill>
        <p:spPr>
          <a:xfrm xmlns:a="http://schemas.openxmlformats.org/drawingml/2006/main">
            <a:off x="523875" y="1657350"/>
            <a:ext cx="3857625" cy="1543050"/>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ea31791e30e4752"/>
          <a:stretch xmlns:a="http://schemas.openxmlformats.org/drawingml/2006/main"/>
        </p:blipFill>
        <p:spPr>
          <a:xfrm xmlns:a="http://schemas.openxmlformats.org/drawingml/2006/main">
            <a:off x="4762500" y="1657350"/>
            <a:ext cx="3857625" cy="1543050"/>
          </a:xfrm>
          <a:prstGeom xmlns:a="http://schemas.openxmlformats.org/drawingml/2006/main" prst="rect">
            <a:avLst/>
          </a:prstGeom>
        </p:spPr>
      </p:pic>
      <p:sp>
        <p:nvSpPr>
          <p:cNvPr id="5" name="Image boundary">
            <a:extLst xmlns:a="http://schemas.openxmlformats.org/drawingml/2006/main">
              <a:ext uri="{FF2B5EF4-FFF2-40B4-BE49-F238E27FC236}">
                <a16:creationId xmlns:a16="http://schemas.microsoft.com/office/drawing/2014/main" id="{F593B539-27E5-417B-9469-9EE2DBC88E51}"/>
              </a:ext>
            </a:extLst>
          </p:cNvPr>
          <p:cNvSpPr>
            <a:spLocks xmlns:a="http://schemas.openxmlformats.org/drawingml/2006/main" noGrp="1"/>
          </p:cNvSpPr>
          <p:nvPr/>
        </p:nvSpPr>
        <p:spPr>
          <a:xfrm xmlns:a="http://schemas.openxmlformats.org/drawingml/2006/main">
            <a:off x="523875" y="1657350"/>
            <a:ext cx="3857625" cy="1543050"/>
          </a:xfrm>
          <a:prstGeom xmlns:a="http://schemas.openxmlformats.org/drawingml/2006/main" prst="rect">
            <a:avLst/>
          </a:prstGeom>
          <a:noFill xmlns:a="http://schemas.openxmlformats.org/drawingml/2006/main"/>
          <a:ln xmlns:a="http://schemas.openxmlformats.org/drawingml/2006/main" w="9525">
            <a:solidFill>
              <a:srgbClr val="B7C9D8"/>
            </a:solidFill>
          </a:ln>
        </p:spPr>
      </p:sp>
      <p:sp>
        <p:nvSpPr>
          <p:cNvPr id="6" name="Image boundary">
            <a:extLst xmlns:a="http://schemas.openxmlformats.org/drawingml/2006/main">
              <a:ext uri="{FF2B5EF4-FFF2-40B4-BE49-F238E27FC236}">
                <a16:creationId xmlns:a16="http://schemas.microsoft.com/office/drawing/2014/main" id="{61AD3E90-3DA7-4994-B440-F5CB8508B7C6}"/>
              </a:ext>
            </a:extLst>
          </p:cNvPr>
          <p:cNvSpPr>
            <a:spLocks xmlns:a="http://schemas.openxmlformats.org/drawingml/2006/main" noGrp="1"/>
          </p:cNvSpPr>
          <p:nvPr/>
        </p:nvSpPr>
        <p:spPr>
          <a:xfrm xmlns:a="http://schemas.openxmlformats.org/drawingml/2006/main">
            <a:off x="4762500" y="1657350"/>
            <a:ext cx="3857625" cy="1543050"/>
          </a:xfrm>
          <a:prstGeom xmlns:a="http://schemas.openxmlformats.org/drawingml/2006/main" prst="rect">
            <a:avLst/>
          </a:prstGeom>
          <a:noFill xmlns:a="http://schemas.openxmlformats.org/drawingml/2006/main"/>
          <a:ln xmlns:a="http://schemas.openxmlformats.org/drawingml/2006/main" w="9525">
            <a:solidFill>
              <a:srgbClr val="B7C9D8"/>
            </a:solidFill>
          </a:ln>
        </p:spPr>
      </p:sp>
      <p:sp>
        <p:nvSpPr>
          <p:cNvPr id="7" name="Near the left side">
            <a:extLst xmlns:a="http://schemas.openxmlformats.org/drawingml/2006/main">
              <a:ext uri="{FF2B5EF4-FFF2-40B4-BE49-F238E27FC236}">
                <a16:creationId xmlns:a16="http://schemas.microsoft.com/office/drawing/2014/main" id="{CC251724-C343-4476-B9B2-A81CB67589FC}"/>
              </a:ext>
            </a:extLst>
          </p:cNvPr>
          <p:cNvSpPr>
            <a:spLocks xmlns:a="http://schemas.openxmlformats.org/drawingml/2006/main" noGrp="1"/>
          </p:cNvSpPr>
          <p:nvPr/>
        </p:nvSpPr>
        <p:spPr>
          <a:xfrm xmlns:a="http://schemas.openxmlformats.org/drawingml/2006/main">
            <a:off x="523875" y="3486150"/>
            <a:ext cx="3857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1">
                <a:solidFill>
                  <a:srgbClr val="00539F"/>
                </a:solidFill>
                <a:latin typeface="Arial"/>
                <a:ea typeface="Arial"/>
                <a:cs typeface="Arial"/>
              </a:defRPr>
            </a:pPr>
            <a:r>
              <a:rPr sz="1425" b="1">
                <a:solidFill>
                  <a:srgbClr val="00539F"/>
                </a:solidFill>
                <a:latin typeface="Arial"/>
                <a:ea typeface="Arial"/>
                <a:cs typeface="Arial"/>
              </a:rPr>
              <a:t>Near the left side</a:t>
            </a:r>
          </a:p>
        </p:txBody>
      </p:sp>
      <p:sp>
        <p:nvSpPr>
          <p:cNvPr id="8" name="Near the right side">
            <a:extLst xmlns:a="http://schemas.openxmlformats.org/drawingml/2006/main">
              <a:ext uri="{FF2B5EF4-FFF2-40B4-BE49-F238E27FC236}">
                <a16:creationId xmlns:a16="http://schemas.microsoft.com/office/drawing/2014/main" id="{D3C9A88F-24DB-4415-B4A4-9EA7D7DE706B}"/>
              </a:ext>
            </a:extLst>
          </p:cNvPr>
          <p:cNvSpPr>
            <a:spLocks xmlns:a="http://schemas.openxmlformats.org/drawingml/2006/main" noGrp="1"/>
          </p:cNvSpPr>
          <p:nvPr/>
        </p:nvSpPr>
        <p:spPr>
          <a:xfrm xmlns:a="http://schemas.openxmlformats.org/drawingml/2006/main">
            <a:off x="4762500" y="3486150"/>
            <a:ext cx="3857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1">
                <a:solidFill>
                  <a:srgbClr val="00539F"/>
                </a:solidFill>
                <a:latin typeface="Arial"/>
                <a:ea typeface="Arial"/>
                <a:cs typeface="Arial"/>
              </a:defRPr>
            </a:pPr>
            <a:r>
              <a:rPr sz="1425" b="1">
                <a:solidFill>
                  <a:srgbClr val="00539F"/>
                </a:solidFill>
                <a:latin typeface="Arial"/>
                <a:ea typeface="Arial"/>
                <a:cs typeface="Arial"/>
              </a:rPr>
              <a:t>Near the right side</a:t>
            </a:r>
          </a:p>
        </p:txBody>
      </p:sp>
      <p:sp>
        <p:nvSpPr>
          <p:cNvPr id="9" name="The same strokes occur in both image positions.">
            <a:extLst xmlns:a="http://schemas.openxmlformats.org/drawingml/2006/main">
              <a:ext uri="{FF2B5EF4-FFF2-40B4-BE49-F238E27FC236}">
                <a16:creationId xmlns:a16="http://schemas.microsoft.com/office/drawing/2014/main" id="{44DC2443-504B-4624-A692-AB9A60A11509}"/>
              </a:ext>
            </a:extLst>
          </p:cNvPr>
          <p:cNvSpPr>
            <a:spLocks xmlns:a="http://schemas.openxmlformats.org/drawingml/2006/main" noGrp="1"/>
          </p:cNvSpPr>
          <p:nvPr/>
        </p:nvSpPr>
        <p:spPr>
          <a:xfrm xmlns:a="http://schemas.openxmlformats.org/drawingml/2006/main">
            <a:off x="523875" y="3619500"/>
            <a:ext cx="8096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The same strokes occur in both image positions.</a:t>
            </a:r>
          </a:p>
        </p:txBody>
      </p:sp>
      <p:sp>
        <p:nvSpPr>
          <p:cNvPr id="10" name="A detector learned on the left should also be useful on the right.">
            <a:extLst xmlns:a="http://schemas.openxmlformats.org/drawingml/2006/main">
              <a:ext uri="{FF2B5EF4-FFF2-40B4-BE49-F238E27FC236}">
                <a16:creationId xmlns:a16="http://schemas.microsoft.com/office/drawing/2014/main" id="{C0406B7D-6698-4C72-9154-F20AEDD627B0}"/>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A detector learned on the left should also be useful on the right.</a:t>
            </a:r>
          </a:p>
        </p:txBody>
      </p:sp>
    </p:spTree>
    <p:extLst>
      <p:ext uri="{BB962C8B-B14F-4D97-AF65-F5344CB8AC3E}">
        <p14:creationId xmlns:p14="http://schemas.microsoft.com/office/powerpoint/2010/main" val="180883889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7" name="Convolution applies one filter at many locations">
            <a:extLst xmlns:a="http://schemas.openxmlformats.org/drawingml/2006/main">
              <a:ext uri="{FF2B5EF4-FFF2-40B4-BE49-F238E27FC236}">
                <a16:creationId xmlns:a16="http://schemas.microsoft.com/office/drawing/2014/main" id="{3CC47D4D-778C-4D35-BAE7-D822B247C643}"/>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Convolution applies one filter at many locations</a:t>
            </a:r>
          </a:p>
        </p:txBody>
      </p:sp>
      <p:sp>
        <p:nvSpPr>
          <p:cNvPr id="2" name="9">
            <a:extLst xmlns:a="http://schemas.openxmlformats.org/drawingml/2006/main">
              <a:ext uri="{FF2B5EF4-FFF2-40B4-BE49-F238E27FC236}">
                <a16:creationId xmlns:a16="http://schemas.microsoft.com/office/drawing/2014/main" id="{7BC7C01F-D346-4F3A-B84F-68E94E063856}"/>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9</a:t>
            </a:r>
          </a:p>
        </p:txBody>
      </p:sp>
      <p:sp>
        <p:nvSpPr>
          <p:cNvPr id="3" name="GIF">
            <a:extLst xmlns:a="http://schemas.openxmlformats.org/drawingml/2006/main">
              <a:ext uri="{FF2B5EF4-FFF2-40B4-BE49-F238E27FC236}">
                <a16:creationId xmlns:a16="http://schemas.microsoft.com/office/drawing/2014/main" id="{343788D8-8848-4EF5-B219-1C9E774F1A79}"/>
              </a:ext>
            </a:extLst>
          </p:cNvPr>
          <p:cNvSpPr>
            <a:spLocks xmlns:a="http://schemas.openxmlformats.org/drawingml/2006/main" noGrp="1"/>
          </p:cNvSpPr>
          <p:nvPr/>
        </p:nvSpPr>
        <p:spPr>
          <a:xfrm xmlns:a="http://schemas.openxmlformats.org/drawingml/2006/main">
            <a:off x="523875" y="4857750"/>
            <a:ext cx="342900" cy="190500"/>
          </a:xfrm>
          <a:prstGeom xmlns:a="http://schemas.openxmlformats.org/drawingml/2006/main" prst="rect">
            <a:avLst/>
          </a:prstGeom>
          <a:solidFill xmlns:a="http://schemas.openxmlformats.org/drawingml/2006/main">
            <a:srgbClr val="00539F"/>
          </a:solidFill>
          <a:ln xmlns:a="http://schemas.openxmlformats.org/drawingml/2006/main" w="0">
            <a:noFill/>
          </a:ln>
        </p:spPr>
        <p:txBody>
          <a:bodyPr xmlns:a="http://schemas.openxmlformats.org/drawingml/2006/main" wrap="square" lIns="57150" tIns="0" rIns="57150" bIns="0" anchor="ctr">
            <a:noAutofit/>
          </a:bodyPr>
          <a:lstStyle xmlns:a="http://schemas.openxmlformats.org/drawingml/2006/main"/>
          <a:p xmlns:a="http://schemas.openxmlformats.org/drawingml/2006/main">
            <a:pPr>
              <a:defRPr sz="900" b="1">
                <a:solidFill>
                  <a:srgbClr val="FFFFFF"/>
                </a:solidFill>
                <a:latin typeface="Arial"/>
                <a:ea typeface="Arial"/>
                <a:cs typeface="Arial"/>
              </a:defRPr>
            </a:pPr>
            <a:r>
              <a:rPr sz="900" b="1">
                <a:solidFill>
                  <a:srgbClr val="FFFFFF"/>
                </a:solidFill>
                <a:latin typeface="Arial"/>
                <a:ea typeface="Arial"/>
                <a:cs typeface="Arial"/>
              </a:rPr>
              <a:t>GIF</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63079e936af4be2"/>
          <a:stretch xmlns:a="http://schemas.openxmlformats.org/drawingml/2006/main"/>
        </p:blipFill>
        <p:spPr>
          <a:xfrm xmlns:a="http://schemas.openxmlformats.org/drawingml/2006/main">
            <a:off x="1806569" y="1428750"/>
            <a:ext cx="2530487" cy="2686050"/>
          </a:xfrm>
          <a:prstGeom xmlns:a="http://schemas.openxmlformats.org/drawingml/2006/main" prst="rect">
            <a:avLst/>
          </a:prstGeom>
        </p:spPr>
      </p:pic>
      <p:sp>
        <p:nvSpPr>
          <p:cNvPr id="5" name="Move the same learned weights across the image.&#10;&#10;Collect the responses">
            <a:extLst xmlns:a="http://schemas.openxmlformats.org/drawingml/2006/main">
              <a:ext uri="{FF2B5EF4-FFF2-40B4-BE49-F238E27FC236}">
                <a16:creationId xmlns:a16="http://schemas.microsoft.com/office/drawing/2014/main" id="{8C90E947-63A1-42B1-B004-0246EE275C85}"/>
              </a:ext>
            </a:extLst>
          </p:cNvPr>
          <p:cNvSpPr>
            <a:spLocks xmlns:a="http://schemas.openxmlformats.org/drawingml/2006/main" noGrp="1"/>
          </p:cNvSpPr>
          <p:nvPr/>
        </p:nvSpPr>
        <p:spPr>
          <a:xfrm xmlns:a="http://schemas.openxmlformats.org/drawingml/2006/main">
            <a:off x="5953125" y="1485900"/>
            <a:ext cx="266700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0">
                <a:solidFill>
                  <a:srgbClr val="17324D"/>
                </a:solidFill>
                <a:latin typeface="Arial"/>
                <a:ea typeface="Arial"/>
                <a:cs typeface="Arial"/>
              </a:defRPr>
            </a:pPr>
            <a:r>
              <a:rPr sz="1875" b="0">
                <a:solidFill>
                  <a:srgbClr val="17324D"/>
                </a:solidFill>
                <a:latin typeface="Arial"/>
                <a:ea typeface="Arial"/>
                <a:cs typeface="Arial"/>
              </a:rPr>
              <a:t>Move the same learned weights across the image.</a:t>
            </a:r>
          </a:p>
          <a:p xmlns:a="http://schemas.openxmlformats.org/drawingml/2006/main">
            <a:r>
              <a:t/>
            </a:r>
          </a:p>
          <a:p xmlns:a="http://schemas.openxmlformats.org/drawingml/2006/main">
            <a:pPr>
              <a:defRPr sz="1875" b="0">
                <a:solidFill>
                  <a:srgbClr val="17324D"/>
                </a:solidFill>
                <a:latin typeface="Arial"/>
                <a:ea typeface="Arial"/>
                <a:cs typeface="Arial"/>
              </a:defRPr>
            </a:pPr>
            <a:r>
              <a:rPr sz="1875" b="0">
                <a:solidFill>
                  <a:srgbClr val="17324D"/>
                </a:solidFill>
                <a:latin typeface="Arial"/>
                <a:ea typeface="Arial"/>
                <a:cs typeface="Arial"/>
              </a:rPr>
              <a:t>Collect the responses into a feature map.</a:t>
            </a:r>
          </a:p>
        </p:txBody>
      </p:sp>
      <p:sp>
        <p:nvSpPr>
          <p:cNvPr id="6" name="Many filter applications can share one set of weights.">
            <a:extLst xmlns:a="http://schemas.openxmlformats.org/drawingml/2006/main">
              <a:ext uri="{FF2B5EF4-FFF2-40B4-BE49-F238E27FC236}">
                <a16:creationId xmlns:a16="http://schemas.microsoft.com/office/drawing/2014/main" id="{FE5F884B-7D2B-4278-AB4A-CEAD2D1B67DB}"/>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Many filter applications can share one set of weights.</a:t>
            </a:r>
          </a:p>
        </p:txBody>
      </p:sp>
    </p:spTree>
    <p:extLst>
      <p:ext uri="{BB962C8B-B14F-4D97-AF65-F5344CB8AC3E}">
        <p14:creationId xmlns:p14="http://schemas.microsoft.com/office/powerpoint/2010/main" val="180883889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7" name="Several filters describe different aspects of an image">
            <a:extLst xmlns:a="http://schemas.openxmlformats.org/drawingml/2006/main">
              <a:ext uri="{FF2B5EF4-FFF2-40B4-BE49-F238E27FC236}">
                <a16:creationId xmlns:a16="http://schemas.microsoft.com/office/drawing/2014/main" id="{724729DB-A6EF-4F6D-82B9-0DB867E7AE1F}"/>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325" b="0">
                <a:solidFill>
                  <a:srgbClr val="00A0DF"/>
                </a:solidFill>
                <a:latin typeface="Arial"/>
                <a:ea typeface="Arial"/>
                <a:cs typeface="Arial"/>
              </a:defRPr>
            </a:pPr>
            <a:r>
              <a:rPr sz="2325" b="0">
                <a:solidFill>
                  <a:srgbClr val="00A0DF"/>
                </a:solidFill>
                <a:latin typeface="Arial"/>
                <a:ea typeface="Arial"/>
                <a:cs typeface="Arial"/>
              </a:rPr>
              <a:t>Several filters describe different aspects of an image</a:t>
            </a:r>
          </a:p>
        </p:txBody>
      </p:sp>
      <p:sp>
        <p:nvSpPr>
          <p:cNvPr id="2" name="10">
            <a:extLst xmlns:a="http://schemas.openxmlformats.org/drawingml/2006/main">
              <a:ext uri="{FF2B5EF4-FFF2-40B4-BE49-F238E27FC236}">
                <a16:creationId xmlns:a16="http://schemas.microsoft.com/office/drawing/2014/main" id="{A404B8EF-42A7-4D52-93AC-289F8F8DB6A7}"/>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10</a:t>
            </a:r>
          </a:p>
        </p:txBody>
      </p:sp>
      <p:sp>
        <p:nvSpPr>
          <p:cNvPr id="3" name="GIF">
            <a:extLst xmlns:a="http://schemas.openxmlformats.org/drawingml/2006/main">
              <a:ext uri="{FF2B5EF4-FFF2-40B4-BE49-F238E27FC236}">
                <a16:creationId xmlns:a16="http://schemas.microsoft.com/office/drawing/2014/main" id="{2F1A7A65-65B6-4F47-ABA3-4AFCD24934D6}"/>
              </a:ext>
            </a:extLst>
          </p:cNvPr>
          <p:cNvSpPr>
            <a:spLocks xmlns:a="http://schemas.openxmlformats.org/drawingml/2006/main" noGrp="1"/>
          </p:cNvSpPr>
          <p:nvPr/>
        </p:nvSpPr>
        <p:spPr>
          <a:xfrm xmlns:a="http://schemas.openxmlformats.org/drawingml/2006/main">
            <a:off x="523875" y="4857750"/>
            <a:ext cx="342900" cy="190500"/>
          </a:xfrm>
          <a:prstGeom xmlns:a="http://schemas.openxmlformats.org/drawingml/2006/main" prst="rect">
            <a:avLst/>
          </a:prstGeom>
          <a:solidFill xmlns:a="http://schemas.openxmlformats.org/drawingml/2006/main">
            <a:srgbClr val="00539F"/>
          </a:solidFill>
          <a:ln xmlns:a="http://schemas.openxmlformats.org/drawingml/2006/main" w="0">
            <a:noFill/>
          </a:ln>
        </p:spPr>
        <p:txBody>
          <a:bodyPr xmlns:a="http://schemas.openxmlformats.org/drawingml/2006/main" wrap="square" lIns="57150" tIns="0" rIns="57150" bIns="0" anchor="ctr">
            <a:noAutofit/>
          </a:bodyPr>
          <a:lstStyle xmlns:a="http://schemas.openxmlformats.org/drawingml/2006/main"/>
          <a:p xmlns:a="http://schemas.openxmlformats.org/drawingml/2006/main">
            <a:pPr>
              <a:defRPr sz="900" b="1">
                <a:solidFill>
                  <a:srgbClr val="FFFFFF"/>
                </a:solidFill>
                <a:latin typeface="Arial"/>
                <a:ea typeface="Arial"/>
                <a:cs typeface="Arial"/>
              </a:defRPr>
            </a:pPr>
            <a:r>
              <a:rPr sz="900" b="1">
                <a:solidFill>
                  <a:srgbClr val="FFFFFF"/>
                </a:solidFill>
                <a:latin typeface="Arial"/>
                <a:ea typeface="Arial"/>
                <a:cs typeface="Arial"/>
              </a:rPr>
              <a:t>GIF</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51c77a8bd9b4264"/>
          <a:stretch xmlns:a="http://schemas.openxmlformats.org/drawingml/2006/main"/>
        </p:blipFill>
        <p:spPr>
          <a:xfrm xmlns:a="http://schemas.openxmlformats.org/drawingml/2006/main">
            <a:off x="2206752" y="1381125"/>
            <a:ext cx="4730496" cy="2771775"/>
          </a:xfrm>
          <a:prstGeom xmlns:a="http://schemas.openxmlformats.org/drawingml/2006/main" prst="rect">
            <a:avLst/>
          </a:prstGeom>
        </p:spPr>
      </p:pic>
      <p:sp>
        <p:nvSpPr>
          <p:cNvPr id="5" name="Two filters build different response maps from the same image">
            <a:extLst xmlns:a="http://schemas.openxmlformats.org/drawingml/2006/main">
              <a:ext uri="{FF2B5EF4-FFF2-40B4-BE49-F238E27FC236}">
                <a16:creationId xmlns:a16="http://schemas.microsoft.com/office/drawing/2014/main" id="{8EDE752D-DE91-450F-9695-ED027CD76346}"/>
              </a:ext>
            </a:extLst>
          </p:cNvPr>
          <p:cNvSpPr>
            <a:spLocks xmlns:a="http://schemas.openxmlformats.org/drawingml/2006/main" noGrp="1"/>
          </p:cNvSpPr>
          <p:nvPr/>
        </p:nvSpPr>
        <p:spPr>
          <a:xfrm xmlns:a="http://schemas.openxmlformats.org/drawingml/2006/main">
            <a:off x="619125" y="4191000"/>
            <a:ext cx="790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Two filters build different response maps from the same image</a:t>
            </a:r>
          </a:p>
        </p:txBody>
      </p:sp>
      <p:sp>
        <p:nvSpPr>
          <p:cNvPr id="6" name="More filters add capacity, computation and memory.">
            <a:extLst xmlns:a="http://schemas.openxmlformats.org/drawingml/2006/main">
              <a:ext uri="{FF2B5EF4-FFF2-40B4-BE49-F238E27FC236}">
                <a16:creationId xmlns:a16="http://schemas.microsoft.com/office/drawing/2014/main" id="{33D64E55-0FE4-4A83-B0CD-3A5D6FC83920}"/>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More filters add capacity, computation and memory.</a:t>
            </a:r>
          </a:p>
        </p:txBody>
      </p:sp>
    </p:spTree>
    <p:extLst>
      <p:ext uri="{BB962C8B-B14F-4D97-AF65-F5344CB8AC3E}">
        <p14:creationId xmlns:p14="http://schemas.microsoft.com/office/powerpoint/2010/main" val="180883889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7" name="Pooling summarizes nearby responses">
            <a:extLst xmlns:a="http://schemas.openxmlformats.org/drawingml/2006/main">
              <a:ext uri="{FF2B5EF4-FFF2-40B4-BE49-F238E27FC236}">
                <a16:creationId xmlns:a16="http://schemas.microsoft.com/office/drawing/2014/main" id="{F8702B9D-A97E-4327-8463-38B191F7B914}"/>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Pooling summarizes nearby responses</a:t>
            </a:r>
          </a:p>
        </p:txBody>
      </p:sp>
      <p:sp>
        <p:nvSpPr>
          <p:cNvPr id="2" name="11">
            <a:extLst xmlns:a="http://schemas.openxmlformats.org/drawingml/2006/main">
              <a:ext uri="{FF2B5EF4-FFF2-40B4-BE49-F238E27FC236}">
                <a16:creationId xmlns:a16="http://schemas.microsoft.com/office/drawing/2014/main" id="{CCF168D0-7E58-44E6-AFD1-61E69FF52039}"/>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11</a:t>
            </a:r>
          </a:p>
        </p:txBody>
      </p:sp>
      <p:sp>
        <p:nvSpPr>
          <p:cNvPr id="3" name="GIF">
            <a:extLst xmlns:a="http://schemas.openxmlformats.org/drawingml/2006/main">
              <a:ext uri="{FF2B5EF4-FFF2-40B4-BE49-F238E27FC236}">
                <a16:creationId xmlns:a16="http://schemas.microsoft.com/office/drawing/2014/main" id="{E0FB49DE-D856-46D5-A70E-01A207AFEFD1}"/>
              </a:ext>
            </a:extLst>
          </p:cNvPr>
          <p:cNvSpPr>
            <a:spLocks xmlns:a="http://schemas.openxmlformats.org/drawingml/2006/main" noGrp="1"/>
          </p:cNvSpPr>
          <p:nvPr/>
        </p:nvSpPr>
        <p:spPr>
          <a:xfrm xmlns:a="http://schemas.openxmlformats.org/drawingml/2006/main">
            <a:off x="523875" y="4857750"/>
            <a:ext cx="342900" cy="190500"/>
          </a:xfrm>
          <a:prstGeom xmlns:a="http://schemas.openxmlformats.org/drawingml/2006/main" prst="rect">
            <a:avLst/>
          </a:prstGeom>
          <a:solidFill xmlns:a="http://schemas.openxmlformats.org/drawingml/2006/main">
            <a:srgbClr val="00539F"/>
          </a:solidFill>
          <a:ln xmlns:a="http://schemas.openxmlformats.org/drawingml/2006/main" w="0">
            <a:noFill/>
          </a:ln>
        </p:spPr>
        <p:txBody>
          <a:bodyPr xmlns:a="http://schemas.openxmlformats.org/drawingml/2006/main" wrap="square" lIns="57150" tIns="0" rIns="57150" bIns="0" anchor="ctr">
            <a:noAutofit/>
          </a:bodyPr>
          <a:lstStyle xmlns:a="http://schemas.openxmlformats.org/drawingml/2006/main"/>
          <a:p xmlns:a="http://schemas.openxmlformats.org/drawingml/2006/main">
            <a:pPr>
              <a:defRPr sz="900" b="1">
                <a:solidFill>
                  <a:srgbClr val="FFFFFF"/>
                </a:solidFill>
                <a:latin typeface="Arial"/>
                <a:ea typeface="Arial"/>
                <a:cs typeface="Arial"/>
              </a:defRPr>
            </a:pPr>
            <a:r>
              <a:rPr sz="900" b="1">
                <a:solidFill>
                  <a:srgbClr val="FFFFFF"/>
                </a:solidFill>
                <a:latin typeface="Arial"/>
                <a:ea typeface="Arial"/>
                <a:cs typeface="Arial"/>
              </a:rPr>
              <a:t>GIF</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285bf6ab1af42bc"/>
          <a:stretch xmlns:a="http://schemas.openxmlformats.org/drawingml/2006/main"/>
        </p:blipFill>
        <p:spPr>
          <a:xfrm xmlns:a="http://schemas.openxmlformats.org/drawingml/2006/main">
            <a:off x="1497850" y="1381125"/>
            <a:ext cx="6148301" cy="2771775"/>
          </a:xfrm>
          <a:prstGeom xmlns:a="http://schemas.openxmlformats.org/drawingml/2006/main" prst="rect">
            <a:avLst/>
          </a:prstGeom>
        </p:spPr>
      </p:pic>
      <p:sp>
        <p:nvSpPr>
          <p:cNvPr id="5" name="2 × 2 max pooling: keep the largest response in each group">
            <a:extLst xmlns:a="http://schemas.openxmlformats.org/drawingml/2006/main">
              <a:ext uri="{FF2B5EF4-FFF2-40B4-BE49-F238E27FC236}">
                <a16:creationId xmlns:a16="http://schemas.microsoft.com/office/drawing/2014/main" id="{9BC4E9AA-DFB0-402C-B3CC-6D9A5F74142F}"/>
              </a:ext>
            </a:extLst>
          </p:cNvPr>
          <p:cNvSpPr>
            <a:spLocks xmlns:a="http://schemas.openxmlformats.org/drawingml/2006/main" noGrp="1"/>
          </p:cNvSpPr>
          <p:nvPr/>
        </p:nvSpPr>
        <p:spPr>
          <a:xfrm xmlns:a="http://schemas.openxmlformats.org/drawingml/2006/main">
            <a:off x="619125" y="4191000"/>
            <a:ext cx="790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 × 2 max pooling: keep the largest response in each group</a:t>
            </a:r>
          </a:p>
        </p:txBody>
      </p:sp>
      <p:sp>
        <p:nvSpPr>
          <p:cNvPr id="6" name="Fewer responses reduce later work, while some detail disappears.">
            <a:extLst xmlns:a="http://schemas.openxmlformats.org/drawingml/2006/main">
              <a:ext uri="{FF2B5EF4-FFF2-40B4-BE49-F238E27FC236}">
                <a16:creationId xmlns:a16="http://schemas.microsoft.com/office/drawing/2014/main" id="{C3E2077E-6459-49F5-8876-EDE5747D8AC1}"/>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Fewer responses reduce later work, while some detail disappears.</a:t>
            </a:r>
          </a:p>
        </p:txBody>
      </p:sp>
    </p:spTree>
    <p:extLst>
      <p:ext uri="{BB962C8B-B14F-4D97-AF65-F5344CB8AC3E}">
        <p14:creationId xmlns:p14="http://schemas.microsoft.com/office/powerpoint/2010/main" val="180883889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1" name="Detail matters when the object is small">
            <a:extLst xmlns:a="http://schemas.openxmlformats.org/drawingml/2006/main">
              <a:ext uri="{FF2B5EF4-FFF2-40B4-BE49-F238E27FC236}">
                <a16:creationId xmlns:a16="http://schemas.microsoft.com/office/drawing/2014/main" id="{ABB5326A-2D15-471A-A209-002CB97D3501}"/>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Detail matters when the object is small</a:t>
            </a:r>
          </a:p>
        </p:txBody>
      </p:sp>
      <p:sp>
        <p:nvSpPr>
          <p:cNvPr id="2" name="12">
            <a:extLst xmlns:a="http://schemas.openxmlformats.org/drawingml/2006/main">
              <a:ext uri="{FF2B5EF4-FFF2-40B4-BE49-F238E27FC236}">
                <a16:creationId xmlns:a16="http://schemas.microsoft.com/office/drawing/2014/main" id="{1BC2F10D-097A-4C06-8CC3-AB4D6128AB55}"/>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12</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eb78b0514954f4e"/>
          <a:stretch xmlns:a="http://schemas.openxmlformats.org/drawingml/2006/main"/>
        </p:blipFill>
        <p:spPr>
          <a:xfrm xmlns:a="http://schemas.openxmlformats.org/drawingml/2006/main">
            <a:off x="547688" y="1381125"/>
            <a:ext cx="3810000" cy="2095500"/>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b1e793126ba4b27"/>
          <a:stretch xmlns:a="http://schemas.openxmlformats.org/drawingml/2006/main"/>
        </p:blipFill>
        <p:spPr>
          <a:xfrm xmlns:a="http://schemas.openxmlformats.org/drawingml/2006/main">
            <a:off x="5918382" y="1381125"/>
            <a:ext cx="1545861" cy="2095500"/>
          </a:xfrm>
          <a:prstGeom xmlns:a="http://schemas.openxmlformats.org/drawingml/2006/main" prst="rect">
            <a:avLst/>
          </a:prstGeom>
        </p:spPr>
      </p:pic>
      <p:sp>
        <p:nvSpPr>
          <p:cNvPr id="5" name="The full scene">
            <a:extLst xmlns:a="http://schemas.openxmlformats.org/drawingml/2006/main">
              <a:ext uri="{FF2B5EF4-FFF2-40B4-BE49-F238E27FC236}">
                <a16:creationId xmlns:a16="http://schemas.microsoft.com/office/drawing/2014/main" id="{AD4366D5-C5CF-426D-AE38-637BA51F46F1}"/>
              </a:ext>
            </a:extLst>
          </p:cNvPr>
          <p:cNvSpPr>
            <a:spLocks xmlns:a="http://schemas.openxmlformats.org/drawingml/2006/main" noGrp="1"/>
          </p:cNvSpPr>
          <p:nvPr/>
        </p:nvSpPr>
        <p:spPr>
          <a:xfrm xmlns:a="http://schemas.openxmlformats.org/drawingml/2006/main">
            <a:off x="523875" y="3486150"/>
            <a:ext cx="3857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1">
                <a:solidFill>
                  <a:srgbClr val="00539F"/>
                </a:solidFill>
                <a:latin typeface="Arial"/>
                <a:ea typeface="Arial"/>
                <a:cs typeface="Arial"/>
              </a:defRPr>
            </a:pPr>
            <a:r>
              <a:rPr sz="1425" b="1">
                <a:solidFill>
                  <a:srgbClr val="00539F"/>
                </a:solidFill>
                <a:latin typeface="Arial"/>
                <a:ea typeface="Arial"/>
                <a:cs typeface="Arial"/>
              </a:rPr>
              <a:t>The full scene</a:t>
            </a:r>
          </a:p>
        </p:txBody>
      </p:sp>
      <p:sp>
        <p:nvSpPr>
          <p:cNvPr id="6" name="A small region can matter">
            <a:extLst xmlns:a="http://schemas.openxmlformats.org/drawingml/2006/main">
              <a:ext uri="{FF2B5EF4-FFF2-40B4-BE49-F238E27FC236}">
                <a16:creationId xmlns:a16="http://schemas.microsoft.com/office/drawing/2014/main" id="{402C9BEE-EC44-44DF-B17B-11674AA67419}"/>
              </a:ext>
            </a:extLst>
          </p:cNvPr>
          <p:cNvSpPr>
            <a:spLocks xmlns:a="http://schemas.openxmlformats.org/drawingml/2006/main" noGrp="1"/>
          </p:cNvSpPr>
          <p:nvPr/>
        </p:nvSpPr>
        <p:spPr>
          <a:xfrm xmlns:a="http://schemas.openxmlformats.org/drawingml/2006/main">
            <a:off x="4762500" y="3486150"/>
            <a:ext cx="3857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1">
                <a:solidFill>
                  <a:srgbClr val="00539F"/>
                </a:solidFill>
                <a:latin typeface="Arial"/>
                <a:ea typeface="Arial"/>
                <a:cs typeface="Arial"/>
              </a:defRPr>
            </a:pPr>
            <a:r>
              <a:rPr sz="1425" b="1">
                <a:solidFill>
                  <a:srgbClr val="00539F"/>
                </a:solidFill>
                <a:latin typeface="Arial"/>
                <a:ea typeface="Arial"/>
                <a:cs typeface="Arial"/>
              </a:rPr>
              <a:t>A small region can matter</a:t>
            </a:r>
          </a:p>
        </p:txBody>
      </p:sp>
      <p:sp>
        <p:nvSpPr>
          <p:cNvPr id="7" name="A nearby car covers many pixels.">
            <a:extLst xmlns:a="http://schemas.openxmlformats.org/drawingml/2006/main">
              <a:ext uri="{FF2B5EF4-FFF2-40B4-BE49-F238E27FC236}">
                <a16:creationId xmlns:a16="http://schemas.microsoft.com/office/drawing/2014/main" id="{FD556A04-6892-457A-8B01-088E25B01384}"/>
              </a:ext>
            </a:extLst>
          </p:cNvPr>
          <p:cNvSpPr>
            <a:spLocks xmlns:a="http://schemas.openxmlformats.org/drawingml/2006/main" noGrp="1"/>
          </p:cNvSpPr>
          <p:nvPr/>
        </p:nvSpPr>
        <p:spPr>
          <a:xfrm xmlns:a="http://schemas.openxmlformats.org/drawingml/2006/main">
            <a:off x="523875" y="3781425"/>
            <a:ext cx="3857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A nearby car covers many pixels.</a:t>
            </a:r>
          </a:p>
        </p:txBody>
      </p:sp>
      <p:sp>
        <p:nvSpPr>
          <p:cNvPr id="8" name="A distant pedestrian may occupy only a small region.">
            <a:extLst xmlns:a="http://schemas.openxmlformats.org/drawingml/2006/main">
              <a:ext uri="{FF2B5EF4-FFF2-40B4-BE49-F238E27FC236}">
                <a16:creationId xmlns:a16="http://schemas.microsoft.com/office/drawing/2014/main" id="{5440B17B-09B1-4810-A592-FA22125D40E2}"/>
              </a:ext>
            </a:extLst>
          </p:cNvPr>
          <p:cNvSpPr>
            <a:spLocks xmlns:a="http://schemas.openxmlformats.org/drawingml/2006/main" noGrp="1"/>
          </p:cNvSpPr>
          <p:nvPr/>
        </p:nvSpPr>
        <p:spPr>
          <a:xfrm xmlns:a="http://schemas.openxmlformats.org/drawingml/2006/main">
            <a:off x="4762500" y="3781425"/>
            <a:ext cx="3857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A distant pedestrian may occupy only a small region.</a:t>
            </a:r>
          </a:p>
        </p:txBody>
      </p:sp>
      <p:sp>
        <p:nvSpPr>
          <p:cNvPr id="9" name="Reducing resolution can remove evidence the task needs.">
            <a:extLst xmlns:a="http://schemas.openxmlformats.org/drawingml/2006/main">
              <a:ext uri="{FF2B5EF4-FFF2-40B4-BE49-F238E27FC236}">
                <a16:creationId xmlns:a16="http://schemas.microsoft.com/office/drawing/2014/main" id="{FE104B3A-653B-407C-B1A9-8D22DEA714A2}"/>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Reducing resolution can remove evidence the task needs.</a:t>
            </a:r>
          </a:p>
        </p:txBody>
      </p:sp>
      <p:sp>
        <p:nvSpPr>
          <p:cNvPr id="10" name="AI-generated teaching illustration">
            <a:extLst xmlns:a="http://schemas.openxmlformats.org/drawingml/2006/main">
              <a:ext uri="{FF2B5EF4-FFF2-40B4-BE49-F238E27FC236}">
                <a16:creationId xmlns:a16="http://schemas.microsoft.com/office/drawing/2014/main" id="{DC2F27A4-640E-4514-9B2F-55D6DA35875E}"/>
              </a:ext>
            </a:extLst>
          </p:cNvPr>
          <p:cNvSpPr>
            <a:spLocks xmlns:a="http://schemas.openxmlformats.org/drawingml/2006/main" noGrp="1"/>
          </p:cNvSpPr>
          <p:nvPr/>
        </p:nvSpPr>
        <p:spPr>
          <a:xfrm xmlns:a="http://schemas.openxmlformats.org/drawingml/2006/main">
            <a:off x="6191250" y="400050"/>
            <a:ext cx="2333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975" b="0">
                <a:solidFill>
                  <a:srgbClr val="17324D"/>
                </a:solidFill>
                <a:latin typeface="Arial"/>
                <a:ea typeface="Arial"/>
                <a:cs typeface="Arial"/>
              </a:defRPr>
            </a:pPr>
            <a:r>
              <a:rPr sz="975" b="0">
                <a:solidFill>
                  <a:srgbClr val="17324D"/>
                </a:solidFill>
                <a:latin typeface="Arial"/>
                <a:ea typeface="Arial"/>
                <a:cs typeface="Arial"/>
              </a:rPr>
              <a:t>AI-generated teaching illustration</a:t>
            </a:r>
          </a:p>
        </p:txBody>
      </p:sp>
    </p:spTree>
    <p:extLst>
      <p:ext uri="{BB962C8B-B14F-4D97-AF65-F5344CB8AC3E}">
        <p14:creationId xmlns:p14="http://schemas.microsoft.com/office/powerpoint/2010/main" val="180883889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7" name="Later layers combine simple evidence into richer patterns">
            <a:extLst xmlns:a="http://schemas.openxmlformats.org/drawingml/2006/main">
              <a:ext uri="{FF2B5EF4-FFF2-40B4-BE49-F238E27FC236}">
                <a16:creationId xmlns:a16="http://schemas.microsoft.com/office/drawing/2014/main" id="{A764051C-1929-40D0-B460-353F6DBC3552}"/>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325" b="0">
                <a:solidFill>
                  <a:srgbClr val="00A0DF"/>
                </a:solidFill>
                <a:latin typeface="Arial"/>
                <a:ea typeface="Arial"/>
                <a:cs typeface="Arial"/>
              </a:defRPr>
            </a:pPr>
            <a:r>
              <a:rPr sz="2325" b="0">
                <a:solidFill>
                  <a:srgbClr val="00A0DF"/>
                </a:solidFill>
                <a:latin typeface="Arial"/>
                <a:ea typeface="Arial"/>
                <a:cs typeface="Arial"/>
              </a:rPr>
              <a:t>Later layers combine simple evidence into richer patterns</a:t>
            </a:r>
          </a:p>
        </p:txBody>
      </p:sp>
      <p:sp>
        <p:nvSpPr>
          <p:cNvPr id="2" name="13">
            <a:extLst xmlns:a="http://schemas.openxmlformats.org/drawingml/2006/main">
              <a:ext uri="{FF2B5EF4-FFF2-40B4-BE49-F238E27FC236}">
                <a16:creationId xmlns:a16="http://schemas.microsoft.com/office/drawing/2014/main" id="{001ECCC3-7608-4BB8-BBF9-1E5F4E13565A}"/>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13</a:t>
            </a:r>
          </a:p>
        </p:txBody>
      </p:sp>
      <p:sp>
        <p:nvSpPr>
          <p:cNvPr id="3" name="GIF">
            <a:extLst xmlns:a="http://schemas.openxmlformats.org/drawingml/2006/main">
              <a:ext uri="{FF2B5EF4-FFF2-40B4-BE49-F238E27FC236}">
                <a16:creationId xmlns:a16="http://schemas.microsoft.com/office/drawing/2014/main" id="{3ADAEB7D-7457-463E-A210-3EB597DA4BE5}"/>
              </a:ext>
            </a:extLst>
          </p:cNvPr>
          <p:cNvSpPr>
            <a:spLocks xmlns:a="http://schemas.openxmlformats.org/drawingml/2006/main" noGrp="1"/>
          </p:cNvSpPr>
          <p:nvPr/>
        </p:nvSpPr>
        <p:spPr>
          <a:xfrm xmlns:a="http://schemas.openxmlformats.org/drawingml/2006/main">
            <a:off x="523875" y="4857750"/>
            <a:ext cx="342900" cy="190500"/>
          </a:xfrm>
          <a:prstGeom xmlns:a="http://schemas.openxmlformats.org/drawingml/2006/main" prst="rect">
            <a:avLst/>
          </a:prstGeom>
          <a:solidFill xmlns:a="http://schemas.openxmlformats.org/drawingml/2006/main">
            <a:srgbClr val="00539F"/>
          </a:solidFill>
          <a:ln xmlns:a="http://schemas.openxmlformats.org/drawingml/2006/main" w="0">
            <a:noFill/>
          </a:ln>
        </p:spPr>
        <p:txBody>
          <a:bodyPr xmlns:a="http://schemas.openxmlformats.org/drawingml/2006/main" wrap="square" lIns="57150" tIns="0" rIns="57150" bIns="0" anchor="ctr">
            <a:noAutofit/>
          </a:bodyPr>
          <a:lstStyle xmlns:a="http://schemas.openxmlformats.org/drawingml/2006/main"/>
          <a:p xmlns:a="http://schemas.openxmlformats.org/drawingml/2006/main">
            <a:pPr>
              <a:defRPr sz="900" b="1">
                <a:solidFill>
                  <a:srgbClr val="FFFFFF"/>
                </a:solidFill>
                <a:latin typeface="Arial"/>
                <a:ea typeface="Arial"/>
                <a:cs typeface="Arial"/>
              </a:defRPr>
            </a:pPr>
            <a:r>
              <a:rPr sz="900" b="1">
                <a:solidFill>
                  <a:srgbClr val="FFFFFF"/>
                </a:solidFill>
                <a:latin typeface="Arial"/>
                <a:ea typeface="Arial"/>
                <a:cs typeface="Arial"/>
              </a:rPr>
              <a:t>GIF</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45d19a698cf4d50"/>
          <a:stretch xmlns:a="http://schemas.openxmlformats.org/drawingml/2006/main"/>
        </p:blipFill>
        <p:spPr>
          <a:xfrm xmlns:a="http://schemas.openxmlformats.org/drawingml/2006/main">
            <a:off x="1384883" y="1381125"/>
            <a:ext cx="6374235" cy="2771775"/>
          </a:xfrm>
          <a:prstGeom xmlns:a="http://schemas.openxmlformats.org/drawingml/2006/main" prst="rect">
            <a:avLst/>
          </a:prstGeom>
        </p:spPr>
      </p:pic>
      <p:sp>
        <p:nvSpPr>
          <p:cNvPr id="5" name="Illustration of a feature hierarchy">
            <a:extLst xmlns:a="http://schemas.openxmlformats.org/drawingml/2006/main">
              <a:ext uri="{FF2B5EF4-FFF2-40B4-BE49-F238E27FC236}">
                <a16:creationId xmlns:a16="http://schemas.microsoft.com/office/drawing/2014/main" id="{10734BD6-12E4-4231-B372-4D1DA75B6233}"/>
              </a:ext>
            </a:extLst>
          </p:cNvPr>
          <p:cNvSpPr>
            <a:spLocks xmlns:a="http://schemas.openxmlformats.org/drawingml/2006/main" noGrp="1"/>
          </p:cNvSpPr>
          <p:nvPr/>
        </p:nvSpPr>
        <p:spPr>
          <a:xfrm xmlns:a="http://schemas.openxmlformats.org/drawingml/2006/main">
            <a:off x="619125" y="4191000"/>
            <a:ext cx="790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Illustration of a feature hierarchy</a:t>
            </a:r>
          </a:p>
        </p:txBody>
      </p:sp>
      <p:sp>
        <p:nvSpPr>
          <p:cNvPr id="6" name="A useful representation makes the final category easier to distinguish">
            <a:extLst xmlns:a="http://schemas.openxmlformats.org/drawingml/2006/main">
              <a:ext uri="{FF2B5EF4-FFF2-40B4-BE49-F238E27FC236}">
                <a16:creationId xmlns:a16="http://schemas.microsoft.com/office/drawing/2014/main" id="{F4C966CE-92F1-4FF6-AD9F-83A909176B8C}"/>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A useful representation makes the final category easier to distinguish.</a:t>
            </a:r>
          </a:p>
        </p:txBody>
      </p:sp>
    </p:spTree>
    <p:extLst>
      <p:ext uri="{BB962C8B-B14F-4D97-AF65-F5344CB8AC3E}">
        <p14:creationId xmlns:p14="http://schemas.microsoft.com/office/powerpoint/2010/main" val="180883889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7" name="The CNN learns a representation for its prediction">
            <a:extLst xmlns:a="http://schemas.openxmlformats.org/drawingml/2006/main">
              <a:ext uri="{FF2B5EF4-FFF2-40B4-BE49-F238E27FC236}">
                <a16:creationId xmlns:a16="http://schemas.microsoft.com/office/drawing/2014/main" id="{6574711D-3578-4276-8BD3-28B2645DC920}"/>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325" b="0">
                <a:solidFill>
                  <a:srgbClr val="00A0DF"/>
                </a:solidFill>
                <a:latin typeface="Arial"/>
                <a:ea typeface="Arial"/>
                <a:cs typeface="Arial"/>
              </a:defRPr>
            </a:pPr>
            <a:r>
              <a:rPr sz="2325" b="0">
                <a:solidFill>
                  <a:srgbClr val="00A0DF"/>
                </a:solidFill>
                <a:latin typeface="Arial"/>
                <a:ea typeface="Arial"/>
                <a:cs typeface="Arial"/>
              </a:rPr>
              <a:t>The CNN learns a representation for its prediction</a:t>
            </a:r>
          </a:p>
        </p:txBody>
      </p:sp>
      <p:sp>
        <p:nvSpPr>
          <p:cNvPr id="2" name="14">
            <a:extLst xmlns:a="http://schemas.openxmlformats.org/drawingml/2006/main">
              <a:ext uri="{FF2B5EF4-FFF2-40B4-BE49-F238E27FC236}">
                <a16:creationId xmlns:a16="http://schemas.microsoft.com/office/drawing/2014/main" id="{EF5E00A9-8CA6-43A5-B07F-1093353B390B}"/>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14</a:t>
            </a:r>
          </a:p>
        </p:txBody>
      </p:sp>
      <p:sp>
        <p:nvSpPr>
          <p:cNvPr id="3" name="GIF">
            <a:extLst xmlns:a="http://schemas.openxmlformats.org/drawingml/2006/main">
              <a:ext uri="{FF2B5EF4-FFF2-40B4-BE49-F238E27FC236}">
                <a16:creationId xmlns:a16="http://schemas.microsoft.com/office/drawing/2014/main" id="{2D544C16-37AD-453A-B2A6-33C32DEF1D81}"/>
              </a:ext>
            </a:extLst>
          </p:cNvPr>
          <p:cNvSpPr>
            <a:spLocks xmlns:a="http://schemas.openxmlformats.org/drawingml/2006/main" noGrp="1"/>
          </p:cNvSpPr>
          <p:nvPr/>
        </p:nvSpPr>
        <p:spPr>
          <a:xfrm xmlns:a="http://schemas.openxmlformats.org/drawingml/2006/main">
            <a:off x="523875" y="4857750"/>
            <a:ext cx="342900" cy="190500"/>
          </a:xfrm>
          <a:prstGeom xmlns:a="http://schemas.openxmlformats.org/drawingml/2006/main" prst="rect">
            <a:avLst/>
          </a:prstGeom>
          <a:solidFill xmlns:a="http://schemas.openxmlformats.org/drawingml/2006/main">
            <a:srgbClr val="00539F"/>
          </a:solidFill>
          <a:ln xmlns:a="http://schemas.openxmlformats.org/drawingml/2006/main" w="0">
            <a:noFill/>
          </a:ln>
        </p:spPr>
        <p:txBody>
          <a:bodyPr xmlns:a="http://schemas.openxmlformats.org/drawingml/2006/main" wrap="square" lIns="57150" tIns="0" rIns="57150" bIns="0" anchor="ctr">
            <a:noAutofit/>
          </a:bodyPr>
          <a:lstStyle xmlns:a="http://schemas.openxmlformats.org/drawingml/2006/main"/>
          <a:p xmlns:a="http://schemas.openxmlformats.org/drawingml/2006/main">
            <a:pPr>
              <a:defRPr sz="900" b="1">
                <a:solidFill>
                  <a:srgbClr val="FFFFFF"/>
                </a:solidFill>
                <a:latin typeface="Arial"/>
                <a:ea typeface="Arial"/>
                <a:cs typeface="Arial"/>
              </a:defRPr>
            </a:pPr>
            <a:r>
              <a:rPr sz="900" b="1">
                <a:solidFill>
                  <a:srgbClr val="FFFFFF"/>
                </a:solidFill>
                <a:latin typeface="Arial"/>
                <a:ea typeface="Arial"/>
                <a:cs typeface="Arial"/>
              </a:rPr>
              <a:t>GIF</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0e52a13dc714af5"/>
          <a:stretch xmlns:a="http://schemas.openxmlformats.org/drawingml/2006/main"/>
        </p:blipFill>
        <p:spPr>
          <a:xfrm xmlns:a="http://schemas.openxmlformats.org/drawingml/2006/main">
            <a:off x="1193074" y="1381125"/>
            <a:ext cx="6757851" cy="2771775"/>
          </a:xfrm>
          <a:prstGeom xmlns:a="http://schemas.openxmlformats.org/drawingml/2006/main" prst="rect">
            <a:avLst/>
          </a:prstGeom>
        </p:spPr>
      </p:pic>
      <p:sp>
        <p:nvSpPr>
          <p:cNvPr id="5" name="Responses accumulate, pooling reduces them, and the head produces scor">
            <a:extLst xmlns:a="http://schemas.openxmlformats.org/drawingml/2006/main">
              <a:ext uri="{FF2B5EF4-FFF2-40B4-BE49-F238E27FC236}">
                <a16:creationId xmlns:a16="http://schemas.microsoft.com/office/drawing/2014/main" id="{8C0FB8A0-87CA-45F6-BD00-1BC96DB7398A}"/>
              </a:ext>
            </a:extLst>
          </p:cNvPr>
          <p:cNvSpPr>
            <a:spLocks xmlns:a="http://schemas.openxmlformats.org/drawingml/2006/main" noGrp="1"/>
          </p:cNvSpPr>
          <p:nvPr/>
        </p:nvSpPr>
        <p:spPr>
          <a:xfrm xmlns:a="http://schemas.openxmlformats.org/drawingml/2006/main">
            <a:off x="619125" y="4191000"/>
            <a:ext cx="790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Responses accumulate, pooling reduces them, and the head produces scores</a:t>
            </a:r>
          </a:p>
        </p:txBody>
      </p:sp>
      <p:sp>
        <p:nvSpPr>
          <p:cNvPr id="6" name="Locality, shared weights and composition form the core idea.">
            <a:extLst xmlns:a="http://schemas.openxmlformats.org/drawingml/2006/main">
              <a:ext uri="{FF2B5EF4-FFF2-40B4-BE49-F238E27FC236}">
                <a16:creationId xmlns:a16="http://schemas.microsoft.com/office/drawing/2014/main" id="{4992642F-60B9-4014-AD6E-B6872294B2A5}"/>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Locality, shared weights and composition form the core idea.</a:t>
            </a:r>
          </a:p>
        </p:txBody>
      </p:sp>
      <p:sp>
        <p:nvSpPr>
          <p:cNvPr id="11" name="Neural Vision demo link">
            <a:extLst xmlns:a="http://schemas.openxmlformats.org/drawingml/2006/main">
              <a:ext uri="{FF2B5EF4-FFF2-40B4-BE49-F238E27FC236}">
                <a16:creationId xmlns:a16="http://schemas.microsoft.com/office/drawing/2014/main" id="{8E283A2D-005D-4753-9B36-8C54C2C0EE0F}"/>
              </a:ext>
            </a:extLst>
          </p:cNvPr>
          <p:cNvSpPr>
            <a:spLocks xmlns:a="http://schemas.openxmlformats.org/drawingml/2006/main" noGrp="1"/>
          </p:cNvSpPr>
          <p:nvPr/>
        </p:nvSpPr>
        <p:spPr>
          <a:xfrm xmlns:a="http://schemas.openxmlformats.org/drawingml/2006/main">
            <a:off x="5953125" y="485775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050">
                <a:solidFill>
                  <a:srgbClr val="00539F"/>
                </a:solidFill>
                <a:latin typeface="Arial"/>
                <a:ea typeface="Arial"/>
                <a:cs typeface="Arial"/>
              </a:defRPr>
            </a:pPr>
            <a:r>
              <a:rPr u="sng">
                <a:solidFill>
                  <a:srgbClr val="00539F"/>
                </a:solidFill>
                <a:hlinkClick xmlns:r="http://schemas.openxmlformats.org/officeDocument/2006/relationships" r:id="rIdNeuralVision1"/>
              </a:rPr>
              <a:t>Explore the CNN in 3D</a:t>
            </a:r>
          </a:p>
        </p:txBody>
      </p:sp>
    </p:spTree>
    <p:extLst>
      <p:ext uri="{BB962C8B-B14F-4D97-AF65-F5344CB8AC3E}">
        <p14:creationId xmlns:p14="http://schemas.microsoft.com/office/powerpoint/2010/main" val="180883889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7" name="ReLU acts on the filter responses">
            <a:extLst xmlns:a="http://schemas.openxmlformats.org/drawingml/2006/main">
              <a:ext uri="{FF2B5EF4-FFF2-40B4-BE49-F238E27FC236}">
                <a16:creationId xmlns:a16="http://schemas.microsoft.com/office/drawing/2014/main" id="{B0F2B902-94A4-4F2A-9511-A0C7FB343BCD}"/>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ReLU acts on the filter responses</a:t>
            </a:r>
          </a:p>
        </p:txBody>
      </p:sp>
      <p:sp>
        <p:nvSpPr>
          <p:cNvPr id="2" name="15">
            <a:extLst xmlns:a="http://schemas.openxmlformats.org/drawingml/2006/main">
              <a:ext uri="{FF2B5EF4-FFF2-40B4-BE49-F238E27FC236}">
                <a16:creationId xmlns:a16="http://schemas.microsoft.com/office/drawing/2014/main" id="{75676618-E8D9-4A5F-A9A1-530943172601}"/>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15</a:t>
            </a:r>
          </a:p>
        </p:txBody>
      </p:sp>
      <p:sp>
        <p:nvSpPr>
          <p:cNvPr id="3" name="GIF">
            <a:extLst xmlns:a="http://schemas.openxmlformats.org/drawingml/2006/main">
              <a:ext uri="{FF2B5EF4-FFF2-40B4-BE49-F238E27FC236}">
                <a16:creationId xmlns:a16="http://schemas.microsoft.com/office/drawing/2014/main" id="{470A15C7-346B-4F81-A962-94832C2897D5}"/>
              </a:ext>
            </a:extLst>
          </p:cNvPr>
          <p:cNvSpPr>
            <a:spLocks xmlns:a="http://schemas.openxmlformats.org/drawingml/2006/main" noGrp="1"/>
          </p:cNvSpPr>
          <p:nvPr/>
        </p:nvSpPr>
        <p:spPr>
          <a:xfrm xmlns:a="http://schemas.openxmlformats.org/drawingml/2006/main">
            <a:off x="523875" y="4857750"/>
            <a:ext cx="342900" cy="190500"/>
          </a:xfrm>
          <a:prstGeom xmlns:a="http://schemas.openxmlformats.org/drawingml/2006/main" prst="rect">
            <a:avLst/>
          </a:prstGeom>
          <a:solidFill xmlns:a="http://schemas.openxmlformats.org/drawingml/2006/main">
            <a:srgbClr val="00539F"/>
          </a:solidFill>
          <a:ln xmlns:a="http://schemas.openxmlformats.org/drawingml/2006/main" w="0">
            <a:noFill/>
          </a:ln>
        </p:spPr>
        <p:txBody>
          <a:bodyPr xmlns:a="http://schemas.openxmlformats.org/drawingml/2006/main" wrap="square" lIns="57150" tIns="0" rIns="57150" bIns="0" anchor="ctr">
            <a:noAutofit/>
          </a:bodyPr>
          <a:lstStyle xmlns:a="http://schemas.openxmlformats.org/drawingml/2006/main"/>
          <a:p xmlns:a="http://schemas.openxmlformats.org/drawingml/2006/main">
            <a:pPr>
              <a:defRPr sz="900" b="1">
                <a:solidFill>
                  <a:srgbClr val="FFFFFF"/>
                </a:solidFill>
                <a:latin typeface="Arial"/>
                <a:ea typeface="Arial"/>
                <a:cs typeface="Arial"/>
              </a:defRPr>
            </a:pPr>
            <a:r>
              <a:rPr sz="900" b="1">
                <a:solidFill>
                  <a:srgbClr val="FFFFFF"/>
                </a:solidFill>
                <a:latin typeface="Arial"/>
                <a:ea typeface="Arial"/>
                <a:cs typeface="Arial"/>
              </a:rPr>
              <a:t>GIF</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b3723e5cfc44a94"/>
          <a:stretch xmlns:a="http://schemas.openxmlformats.org/drawingml/2006/main"/>
        </p:blipFill>
        <p:spPr>
          <a:xfrm xmlns:a="http://schemas.openxmlformats.org/drawingml/2006/main">
            <a:off x="619125" y="1557474"/>
            <a:ext cx="7905750" cy="2419077"/>
          </a:xfrm>
          <a:prstGeom xmlns:a="http://schemas.openxmlformats.org/drawingml/2006/main" prst="rect">
            <a:avLst/>
          </a:prstGeom>
        </p:spPr>
      </p:pic>
      <p:sp>
        <p:nvSpPr>
          <p:cNvPr id="5" name="Values pass through ReLU and fill the output map">
            <a:extLst xmlns:a="http://schemas.openxmlformats.org/drawingml/2006/main">
              <a:ext uri="{FF2B5EF4-FFF2-40B4-BE49-F238E27FC236}">
                <a16:creationId xmlns:a16="http://schemas.microsoft.com/office/drawing/2014/main" id="{83CA5439-D84D-4B6C-9151-B96F3A9D2C77}"/>
              </a:ext>
            </a:extLst>
          </p:cNvPr>
          <p:cNvSpPr>
            <a:spLocks xmlns:a="http://schemas.openxmlformats.org/drawingml/2006/main" noGrp="1"/>
          </p:cNvSpPr>
          <p:nvPr/>
        </p:nvSpPr>
        <p:spPr>
          <a:xfrm xmlns:a="http://schemas.openxmlformats.org/drawingml/2006/main">
            <a:off x="619125" y="4191000"/>
            <a:ext cx="790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Values pass through ReLU and fill the output map</a:t>
            </a:r>
          </a:p>
        </p:txBody>
      </p:sp>
      <p:sp>
        <p:nvSpPr>
          <p:cNvPr id="6" name="Positive values stay. Negative values become zero.">
            <a:extLst xmlns:a="http://schemas.openxmlformats.org/drawingml/2006/main">
              <a:ext uri="{FF2B5EF4-FFF2-40B4-BE49-F238E27FC236}">
                <a16:creationId xmlns:a16="http://schemas.microsoft.com/office/drawing/2014/main" id="{58685D63-DFD1-4811-8A81-A56410829CA6}"/>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Positive values stay. Negative values become zero.</a:t>
            </a:r>
          </a:p>
        </p:txBody>
      </p:sp>
    </p:spTree>
    <p:extLst>
      <p:ext uri="{BB962C8B-B14F-4D97-AF65-F5344CB8AC3E}">
        <p14:creationId xmlns:p14="http://schemas.microsoft.com/office/powerpoint/2010/main" val="180883889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7" name="Leaky ReLU keeps negative inputs responsive">
            <a:extLst xmlns:a="http://schemas.openxmlformats.org/drawingml/2006/main">
              <a:ext uri="{FF2B5EF4-FFF2-40B4-BE49-F238E27FC236}">
                <a16:creationId xmlns:a16="http://schemas.microsoft.com/office/drawing/2014/main" id="{E4AAFA76-E435-4276-95ED-408C21841D30}"/>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Leaky ReLU keeps negative inputs responsive</a:t>
            </a:r>
          </a:p>
        </p:txBody>
      </p:sp>
      <p:sp>
        <p:nvSpPr>
          <p:cNvPr id="2" name="16">
            <a:extLst xmlns:a="http://schemas.openxmlformats.org/drawingml/2006/main">
              <a:ext uri="{FF2B5EF4-FFF2-40B4-BE49-F238E27FC236}">
                <a16:creationId xmlns:a16="http://schemas.microsoft.com/office/drawing/2014/main" id="{4719B63C-376A-4C59-9334-92F84239F5CF}"/>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16</a:t>
            </a:r>
          </a:p>
        </p:txBody>
      </p:sp>
      <p:sp>
        <p:nvSpPr>
          <p:cNvPr id="3" name="GIF">
            <a:extLst xmlns:a="http://schemas.openxmlformats.org/drawingml/2006/main">
              <a:ext uri="{FF2B5EF4-FFF2-40B4-BE49-F238E27FC236}">
                <a16:creationId xmlns:a16="http://schemas.microsoft.com/office/drawing/2014/main" id="{AC2EC76C-833B-4DAB-AEDC-DDBFE1DDB4FF}"/>
              </a:ext>
            </a:extLst>
          </p:cNvPr>
          <p:cNvSpPr>
            <a:spLocks xmlns:a="http://schemas.openxmlformats.org/drawingml/2006/main" noGrp="1"/>
          </p:cNvSpPr>
          <p:nvPr/>
        </p:nvSpPr>
        <p:spPr>
          <a:xfrm xmlns:a="http://schemas.openxmlformats.org/drawingml/2006/main">
            <a:off x="523875" y="4857750"/>
            <a:ext cx="342900" cy="190500"/>
          </a:xfrm>
          <a:prstGeom xmlns:a="http://schemas.openxmlformats.org/drawingml/2006/main" prst="rect">
            <a:avLst/>
          </a:prstGeom>
          <a:solidFill xmlns:a="http://schemas.openxmlformats.org/drawingml/2006/main">
            <a:srgbClr val="00539F"/>
          </a:solidFill>
          <a:ln xmlns:a="http://schemas.openxmlformats.org/drawingml/2006/main" w="0">
            <a:noFill/>
          </a:ln>
        </p:spPr>
        <p:txBody>
          <a:bodyPr xmlns:a="http://schemas.openxmlformats.org/drawingml/2006/main" wrap="square" lIns="57150" tIns="0" rIns="57150" bIns="0" anchor="ctr">
            <a:noAutofit/>
          </a:bodyPr>
          <a:lstStyle xmlns:a="http://schemas.openxmlformats.org/drawingml/2006/main"/>
          <a:p xmlns:a="http://schemas.openxmlformats.org/drawingml/2006/main">
            <a:pPr>
              <a:defRPr sz="900" b="1">
                <a:solidFill>
                  <a:srgbClr val="FFFFFF"/>
                </a:solidFill>
                <a:latin typeface="Arial"/>
                <a:ea typeface="Arial"/>
                <a:cs typeface="Arial"/>
              </a:defRPr>
            </a:pPr>
            <a:r>
              <a:rPr sz="900" b="1">
                <a:solidFill>
                  <a:srgbClr val="FFFFFF"/>
                </a:solidFill>
                <a:latin typeface="Arial"/>
                <a:ea typeface="Arial"/>
                <a:cs typeface="Arial"/>
              </a:rPr>
              <a:t>GIF</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87d9c27b2924a79"/>
          <a:stretch xmlns:a="http://schemas.openxmlformats.org/drawingml/2006/main"/>
        </p:blipFill>
        <p:spPr>
          <a:xfrm xmlns:a="http://schemas.openxmlformats.org/drawingml/2006/main">
            <a:off x="619125" y="1464828"/>
            <a:ext cx="7905750" cy="2604368"/>
          </a:xfrm>
          <a:prstGeom xmlns:a="http://schemas.openxmlformats.org/drawingml/2006/main" prst="rect">
            <a:avLst/>
          </a:prstGeom>
        </p:spPr>
      </p:pic>
      <p:sp>
        <p:nvSpPr>
          <p:cNvPr id="5" name="The input changes while both activation outputs update">
            <a:extLst xmlns:a="http://schemas.openxmlformats.org/drawingml/2006/main">
              <a:ext uri="{FF2B5EF4-FFF2-40B4-BE49-F238E27FC236}">
                <a16:creationId xmlns:a16="http://schemas.microsoft.com/office/drawing/2014/main" id="{D53E36E6-5278-41F2-A126-4F3E93884FFB}"/>
              </a:ext>
            </a:extLst>
          </p:cNvPr>
          <p:cNvSpPr>
            <a:spLocks xmlns:a="http://schemas.openxmlformats.org/drawingml/2006/main" noGrp="1"/>
          </p:cNvSpPr>
          <p:nvPr/>
        </p:nvSpPr>
        <p:spPr>
          <a:xfrm xmlns:a="http://schemas.openxmlformats.org/drawingml/2006/main">
            <a:off x="619125" y="4191000"/>
            <a:ext cx="790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The input changes while both activation outputs update</a:t>
            </a:r>
          </a:p>
        </p:txBody>
      </p:sp>
      <p:sp>
        <p:nvSpPr>
          <p:cNvPr id="6" name="A small negative slope keeps this learning path responsive.">
            <a:extLst xmlns:a="http://schemas.openxmlformats.org/drawingml/2006/main">
              <a:ext uri="{FF2B5EF4-FFF2-40B4-BE49-F238E27FC236}">
                <a16:creationId xmlns:a16="http://schemas.microsoft.com/office/drawing/2014/main" id="{216F7923-7A15-4782-81C0-3C718F049010}"/>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A small negative slope keeps this learning path responsive.</a:t>
            </a:r>
          </a:p>
        </p:txBody>
      </p:sp>
    </p:spTree>
    <p:extLst>
      <p:ext uri="{BB962C8B-B14F-4D97-AF65-F5344CB8AC3E}">
        <p14:creationId xmlns:p14="http://schemas.microsoft.com/office/powerpoint/2010/main" val="1808838893"/>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3" name="The training examples shape what the model learns">
            <a:extLst xmlns:a="http://schemas.openxmlformats.org/drawingml/2006/main">
              <a:ext uri="{FF2B5EF4-FFF2-40B4-BE49-F238E27FC236}">
                <a16:creationId xmlns:a16="http://schemas.microsoft.com/office/drawing/2014/main" id="{0C270147-C8C4-491E-9986-292B70815AF0}"/>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The training examples shape what the model learns</a:t>
            </a:r>
          </a:p>
        </p:txBody>
      </p:sp>
      <p:sp>
        <p:nvSpPr>
          <p:cNvPr id="2" name="17">
            <a:extLst xmlns:a="http://schemas.openxmlformats.org/drawingml/2006/main">
              <a:ext uri="{FF2B5EF4-FFF2-40B4-BE49-F238E27FC236}">
                <a16:creationId xmlns:a16="http://schemas.microsoft.com/office/drawing/2014/main" id="{436C4B80-26E9-4620-8167-EF3071CC5C84}"/>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17</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bcd1afddafe49bf"/>
          <a:stretch xmlns:a="http://schemas.openxmlformats.org/drawingml/2006/main"/>
        </p:blipFill>
        <p:spPr>
          <a:xfrm xmlns:a="http://schemas.openxmlformats.org/drawingml/2006/main">
            <a:off x="1472537" y="1352550"/>
            <a:ext cx="1960301" cy="1276350"/>
          </a:xfrm>
          <a:prstGeom xmlns:a="http://schemas.openxmlformats.org/drawingml/2006/main" prst="rect">
            <a:avLst/>
          </a:prstGeom>
        </p:spPr>
      </p:pic>
      <p:sp>
        <p:nvSpPr>
          <p:cNvPr id="4" name="Daylight">
            <a:extLst xmlns:a="http://schemas.openxmlformats.org/drawingml/2006/main">
              <a:ext uri="{FF2B5EF4-FFF2-40B4-BE49-F238E27FC236}">
                <a16:creationId xmlns:a16="http://schemas.microsoft.com/office/drawing/2014/main" id="{B07D86B7-AD19-4C47-8A58-2C201775601F}"/>
              </a:ext>
            </a:extLst>
          </p:cNvPr>
          <p:cNvSpPr>
            <a:spLocks xmlns:a="http://schemas.openxmlformats.org/drawingml/2006/main" noGrp="1"/>
          </p:cNvSpPr>
          <p:nvPr/>
        </p:nvSpPr>
        <p:spPr>
          <a:xfrm xmlns:a="http://schemas.openxmlformats.org/drawingml/2006/main">
            <a:off x="1466850" y="261937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Daylight</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0905974acbf468d"/>
          <a:stretch xmlns:a="http://schemas.openxmlformats.org/drawingml/2006/main"/>
        </p:blipFill>
        <p:spPr>
          <a:xfrm xmlns:a="http://schemas.openxmlformats.org/drawingml/2006/main">
            <a:off x="5711162" y="1352550"/>
            <a:ext cx="1960301" cy="1276350"/>
          </a:xfrm>
          <a:prstGeom xmlns:a="http://schemas.openxmlformats.org/drawingml/2006/main" prst="rect">
            <a:avLst/>
          </a:prstGeom>
        </p:spPr>
      </p:pic>
      <p:sp>
        <p:nvSpPr>
          <p:cNvPr id="6" name="Night">
            <a:extLst xmlns:a="http://schemas.openxmlformats.org/drawingml/2006/main">
              <a:ext uri="{FF2B5EF4-FFF2-40B4-BE49-F238E27FC236}">
                <a16:creationId xmlns:a16="http://schemas.microsoft.com/office/drawing/2014/main" id="{C903BA4A-7A8A-4C47-88AD-D373E80DB690}"/>
              </a:ext>
            </a:extLst>
          </p:cNvPr>
          <p:cNvSpPr>
            <a:spLocks xmlns:a="http://schemas.openxmlformats.org/drawingml/2006/main" noGrp="1"/>
          </p:cNvSpPr>
          <p:nvPr/>
        </p:nvSpPr>
        <p:spPr>
          <a:xfrm xmlns:a="http://schemas.openxmlformats.org/drawingml/2006/main">
            <a:off x="5705475" y="261937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Night</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4cb8b6135564283"/>
          <a:stretch xmlns:a="http://schemas.openxmlformats.org/drawingml/2006/main"/>
        </p:blipFill>
        <p:spPr>
          <a:xfrm xmlns:a="http://schemas.openxmlformats.org/drawingml/2006/main">
            <a:off x="1470465" y="2952750"/>
            <a:ext cx="1964446" cy="1276350"/>
          </a:xfrm>
          <a:prstGeom xmlns:a="http://schemas.openxmlformats.org/drawingml/2006/main" prst="rect">
            <a:avLst/>
          </a:prstGeom>
        </p:spPr>
      </p:pic>
      <p:sp>
        <p:nvSpPr>
          <p:cNvPr id="8" name="Rain">
            <a:extLst xmlns:a="http://schemas.openxmlformats.org/drawingml/2006/main">
              <a:ext uri="{FF2B5EF4-FFF2-40B4-BE49-F238E27FC236}">
                <a16:creationId xmlns:a16="http://schemas.microsoft.com/office/drawing/2014/main" id="{87FD7462-E302-417E-99A1-CB6B2D185668}"/>
              </a:ext>
            </a:extLst>
          </p:cNvPr>
          <p:cNvSpPr>
            <a:spLocks xmlns:a="http://schemas.openxmlformats.org/drawingml/2006/main" noGrp="1"/>
          </p:cNvSpPr>
          <p:nvPr/>
        </p:nvSpPr>
        <p:spPr>
          <a:xfrm xmlns:a="http://schemas.openxmlformats.org/drawingml/2006/main">
            <a:off x="1466850" y="421957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Rain</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6cfbd2ccbb6d4ecf"/>
          <a:stretch xmlns:a="http://schemas.openxmlformats.org/drawingml/2006/main"/>
        </p:blipFill>
        <p:spPr>
          <a:xfrm xmlns:a="http://schemas.openxmlformats.org/drawingml/2006/main">
            <a:off x="5709090" y="2952750"/>
            <a:ext cx="1964446" cy="1276350"/>
          </a:xfrm>
          <a:prstGeom xmlns:a="http://schemas.openxmlformats.org/drawingml/2006/main" prst="rect">
            <a:avLst/>
          </a:prstGeom>
        </p:spPr>
      </p:pic>
      <p:sp>
        <p:nvSpPr>
          <p:cNvPr id="10" name="Occlusion">
            <a:extLst xmlns:a="http://schemas.openxmlformats.org/drawingml/2006/main">
              <a:ext uri="{FF2B5EF4-FFF2-40B4-BE49-F238E27FC236}">
                <a16:creationId xmlns:a16="http://schemas.microsoft.com/office/drawing/2014/main" id="{72D7E276-8158-4BEB-A8CA-806759ABB70B}"/>
              </a:ext>
            </a:extLst>
          </p:cNvPr>
          <p:cNvSpPr>
            <a:spLocks xmlns:a="http://schemas.openxmlformats.org/drawingml/2006/main" noGrp="1"/>
          </p:cNvSpPr>
          <p:nvPr/>
        </p:nvSpPr>
        <p:spPr>
          <a:xfrm xmlns:a="http://schemas.openxmlformats.org/drawingml/2006/main">
            <a:off x="5705475" y="421957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Occlusion</a:t>
            </a:r>
          </a:p>
        </p:txBody>
      </p:sp>
      <p:sp>
        <p:nvSpPr>
          <p:cNvPr id="11" name="A model needs useful evidence across the conditions where it will oper">
            <a:extLst xmlns:a="http://schemas.openxmlformats.org/drawingml/2006/main">
              <a:ext uri="{FF2B5EF4-FFF2-40B4-BE49-F238E27FC236}">
                <a16:creationId xmlns:a16="http://schemas.microsoft.com/office/drawing/2014/main" id="{D2ED371D-8A82-4C3D-A8EB-0B4D430D2119}"/>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A model needs useful evidence across the conditions where it will operate.</a:t>
            </a:r>
          </a:p>
        </p:txBody>
      </p:sp>
      <p:sp>
        <p:nvSpPr>
          <p:cNvPr id="12" name="AI-generated teaching illustration">
            <a:extLst xmlns:a="http://schemas.openxmlformats.org/drawingml/2006/main">
              <a:ext uri="{FF2B5EF4-FFF2-40B4-BE49-F238E27FC236}">
                <a16:creationId xmlns:a16="http://schemas.microsoft.com/office/drawing/2014/main" id="{EF8EDDF7-477C-4AC2-A847-D7F0AB0BE14F}"/>
              </a:ext>
            </a:extLst>
          </p:cNvPr>
          <p:cNvSpPr>
            <a:spLocks xmlns:a="http://schemas.openxmlformats.org/drawingml/2006/main" noGrp="1"/>
          </p:cNvSpPr>
          <p:nvPr/>
        </p:nvSpPr>
        <p:spPr>
          <a:xfrm xmlns:a="http://schemas.openxmlformats.org/drawingml/2006/main">
            <a:off x="6191250" y="400050"/>
            <a:ext cx="2333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975" b="0">
                <a:solidFill>
                  <a:srgbClr val="17324D"/>
                </a:solidFill>
                <a:latin typeface="Arial"/>
                <a:ea typeface="Arial"/>
                <a:cs typeface="Arial"/>
              </a:defRPr>
            </a:pPr>
            <a:r>
              <a:rPr sz="975" b="0">
                <a:solidFill>
                  <a:srgbClr val="17324D"/>
                </a:solidFill>
                <a:latin typeface="Arial"/>
                <a:ea typeface="Arial"/>
                <a:cs typeface="Arial"/>
              </a:rPr>
              <a:t>AI-generated teaching illustration</a:t>
            </a:r>
          </a:p>
        </p:txBody>
      </p:sp>
    </p:spTree>
    <p:extLst>
      <p:ext uri="{BB962C8B-B14F-4D97-AF65-F5344CB8AC3E}">
        <p14:creationId xmlns:p14="http://schemas.microsoft.com/office/powerpoint/2010/main" val="1808838893"/>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1" name="Good performance on familiar images is not enough">
            <a:extLst xmlns:a="http://schemas.openxmlformats.org/drawingml/2006/main">
              <a:ext uri="{FF2B5EF4-FFF2-40B4-BE49-F238E27FC236}">
                <a16:creationId xmlns:a16="http://schemas.microsoft.com/office/drawing/2014/main" id="{3F803185-9897-43DD-A8BB-AF0A919BE745}"/>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Good performance on familiar images is not enough</a:t>
            </a:r>
          </a:p>
        </p:txBody>
      </p:sp>
      <p:sp>
        <p:nvSpPr>
          <p:cNvPr id="2" name="18">
            <a:extLst xmlns:a="http://schemas.openxmlformats.org/drawingml/2006/main">
              <a:ext uri="{FF2B5EF4-FFF2-40B4-BE49-F238E27FC236}">
                <a16:creationId xmlns:a16="http://schemas.microsoft.com/office/drawing/2014/main" id="{9DDF2521-8B6E-4057-9B6A-0FC20343FC92}"/>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18</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900e0f440474c04"/>
          <a:stretch xmlns:a="http://schemas.openxmlformats.org/drawingml/2006/main"/>
        </p:blipFill>
        <p:spPr>
          <a:xfrm xmlns:a="http://schemas.openxmlformats.org/drawingml/2006/main">
            <a:off x="843485" y="1381125"/>
            <a:ext cx="3218405" cy="2095500"/>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060f764988440b6"/>
          <a:stretch xmlns:a="http://schemas.openxmlformats.org/drawingml/2006/main"/>
        </p:blipFill>
        <p:spPr>
          <a:xfrm xmlns:a="http://schemas.openxmlformats.org/drawingml/2006/main">
            <a:off x="5078708" y="1381125"/>
            <a:ext cx="3225209" cy="2095500"/>
          </a:xfrm>
          <a:prstGeom xmlns:a="http://schemas.openxmlformats.org/drawingml/2006/main" prst="rect">
            <a:avLst/>
          </a:prstGeom>
        </p:spPr>
      </p:pic>
      <p:sp>
        <p:nvSpPr>
          <p:cNvPr id="5" name="Learn from examples">
            <a:extLst xmlns:a="http://schemas.openxmlformats.org/drawingml/2006/main">
              <a:ext uri="{FF2B5EF4-FFF2-40B4-BE49-F238E27FC236}">
                <a16:creationId xmlns:a16="http://schemas.microsoft.com/office/drawing/2014/main" id="{5AD10501-B2B1-4ADB-874F-2D85674895E1}"/>
              </a:ext>
            </a:extLst>
          </p:cNvPr>
          <p:cNvSpPr>
            <a:spLocks xmlns:a="http://schemas.openxmlformats.org/drawingml/2006/main" noGrp="1"/>
          </p:cNvSpPr>
          <p:nvPr/>
        </p:nvSpPr>
        <p:spPr>
          <a:xfrm xmlns:a="http://schemas.openxmlformats.org/drawingml/2006/main">
            <a:off x="523875" y="3486150"/>
            <a:ext cx="3857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1">
                <a:solidFill>
                  <a:srgbClr val="00539F"/>
                </a:solidFill>
                <a:latin typeface="Arial"/>
                <a:ea typeface="Arial"/>
                <a:cs typeface="Arial"/>
              </a:defRPr>
            </a:pPr>
            <a:r>
              <a:rPr sz="1425" b="1">
                <a:solidFill>
                  <a:srgbClr val="00539F"/>
                </a:solidFill>
                <a:latin typeface="Arial"/>
                <a:ea typeface="Arial"/>
                <a:cs typeface="Arial"/>
              </a:rPr>
              <a:t>Learn from examples</a:t>
            </a:r>
          </a:p>
        </p:txBody>
      </p:sp>
      <p:sp>
        <p:nvSpPr>
          <p:cNvPr id="6" name="Check on new examples">
            <a:extLst xmlns:a="http://schemas.openxmlformats.org/drawingml/2006/main">
              <a:ext uri="{FF2B5EF4-FFF2-40B4-BE49-F238E27FC236}">
                <a16:creationId xmlns:a16="http://schemas.microsoft.com/office/drawing/2014/main" id="{191A9A84-DB14-4304-B012-6B8652946D1A}"/>
              </a:ext>
            </a:extLst>
          </p:cNvPr>
          <p:cNvSpPr>
            <a:spLocks xmlns:a="http://schemas.openxmlformats.org/drawingml/2006/main" noGrp="1"/>
          </p:cNvSpPr>
          <p:nvPr/>
        </p:nvSpPr>
        <p:spPr>
          <a:xfrm xmlns:a="http://schemas.openxmlformats.org/drawingml/2006/main">
            <a:off x="4762500" y="3486150"/>
            <a:ext cx="3857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1">
                <a:solidFill>
                  <a:srgbClr val="00539F"/>
                </a:solidFill>
                <a:latin typeface="Arial"/>
                <a:ea typeface="Arial"/>
                <a:cs typeface="Arial"/>
              </a:defRPr>
            </a:pPr>
            <a:r>
              <a:rPr sz="1425" b="1">
                <a:solidFill>
                  <a:srgbClr val="00539F"/>
                </a:solidFill>
                <a:latin typeface="Arial"/>
                <a:ea typeface="Arial"/>
                <a:cs typeface="Arial"/>
              </a:rPr>
              <a:t>Check on new examples</a:t>
            </a:r>
          </a:p>
        </p:txBody>
      </p:sp>
      <p:sp>
        <p:nvSpPr>
          <p:cNvPr id="7" name="Training examples change the weights.">
            <a:extLst xmlns:a="http://schemas.openxmlformats.org/drawingml/2006/main">
              <a:ext uri="{FF2B5EF4-FFF2-40B4-BE49-F238E27FC236}">
                <a16:creationId xmlns:a16="http://schemas.microsoft.com/office/drawing/2014/main" id="{24267FE2-F9B2-481E-B7E8-9A25AB27D346}"/>
              </a:ext>
            </a:extLst>
          </p:cNvPr>
          <p:cNvSpPr>
            <a:spLocks xmlns:a="http://schemas.openxmlformats.org/drawingml/2006/main" noGrp="1"/>
          </p:cNvSpPr>
          <p:nvPr/>
        </p:nvSpPr>
        <p:spPr>
          <a:xfrm xmlns:a="http://schemas.openxmlformats.org/drawingml/2006/main">
            <a:off x="523875" y="3781425"/>
            <a:ext cx="3857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Training examples change the weights.</a:t>
            </a:r>
          </a:p>
        </p:txBody>
      </p:sp>
      <p:sp>
        <p:nvSpPr>
          <p:cNvPr id="8" name="Unseen examples test whether the learned patterns carry over.">
            <a:extLst xmlns:a="http://schemas.openxmlformats.org/drawingml/2006/main">
              <a:ext uri="{FF2B5EF4-FFF2-40B4-BE49-F238E27FC236}">
                <a16:creationId xmlns:a16="http://schemas.microsoft.com/office/drawing/2014/main" id="{3BF490E3-7883-4977-8CD6-5A40B2987B65}"/>
              </a:ext>
            </a:extLst>
          </p:cNvPr>
          <p:cNvSpPr>
            <a:spLocks xmlns:a="http://schemas.openxmlformats.org/drawingml/2006/main" noGrp="1"/>
          </p:cNvSpPr>
          <p:nvPr/>
        </p:nvSpPr>
        <p:spPr>
          <a:xfrm xmlns:a="http://schemas.openxmlformats.org/drawingml/2006/main">
            <a:off x="4762500" y="3781425"/>
            <a:ext cx="3857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Unseen examples test whether the learned patterns carry over.</a:t>
            </a:r>
          </a:p>
        </p:txBody>
      </p:sp>
      <p:sp>
        <p:nvSpPr>
          <p:cNvPr id="9" name="Evaluate the conditions that matter, not only an average score.">
            <a:extLst xmlns:a="http://schemas.openxmlformats.org/drawingml/2006/main">
              <a:ext uri="{FF2B5EF4-FFF2-40B4-BE49-F238E27FC236}">
                <a16:creationId xmlns:a16="http://schemas.microsoft.com/office/drawing/2014/main" id="{149013F7-8D5E-4493-B645-A7DC5F3A596D}"/>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Evaluate the conditions that matter, not only an average score.</a:t>
            </a:r>
          </a:p>
        </p:txBody>
      </p:sp>
      <p:sp>
        <p:nvSpPr>
          <p:cNvPr id="10" name="AI-generated teaching illustration">
            <a:extLst xmlns:a="http://schemas.openxmlformats.org/drawingml/2006/main">
              <a:ext uri="{FF2B5EF4-FFF2-40B4-BE49-F238E27FC236}">
                <a16:creationId xmlns:a16="http://schemas.microsoft.com/office/drawing/2014/main" id="{73632369-C0FC-4280-BEE2-2D05A4431A8B}"/>
              </a:ext>
            </a:extLst>
          </p:cNvPr>
          <p:cNvSpPr>
            <a:spLocks xmlns:a="http://schemas.openxmlformats.org/drawingml/2006/main" noGrp="1"/>
          </p:cNvSpPr>
          <p:nvPr/>
        </p:nvSpPr>
        <p:spPr>
          <a:xfrm xmlns:a="http://schemas.openxmlformats.org/drawingml/2006/main">
            <a:off x="6191250" y="400050"/>
            <a:ext cx="2333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975" b="0">
                <a:solidFill>
                  <a:srgbClr val="17324D"/>
                </a:solidFill>
                <a:latin typeface="Arial"/>
                <a:ea typeface="Arial"/>
                <a:cs typeface="Arial"/>
              </a:defRPr>
            </a:pPr>
            <a:r>
              <a:rPr sz="975" b="0">
                <a:solidFill>
                  <a:srgbClr val="17324D"/>
                </a:solidFill>
                <a:latin typeface="Arial"/>
                <a:ea typeface="Arial"/>
                <a:cs typeface="Arial"/>
              </a:rPr>
              <a:t>AI-generated teaching illustration</a:t>
            </a:r>
          </a:p>
        </p:txBody>
      </p:sp>
    </p:spTree>
    <p:extLst>
      <p:ext uri="{BB962C8B-B14F-4D97-AF65-F5344CB8AC3E}">
        <p14:creationId xmlns:p14="http://schemas.microsoft.com/office/powerpoint/2010/main" val="1808838893"/>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7" name="Deeper networks need a reliable path for learning">
            <a:extLst xmlns:a="http://schemas.openxmlformats.org/drawingml/2006/main">
              <a:ext uri="{FF2B5EF4-FFF2-40B4-BE49-F238E27FC236}">
                <a16:creationId xmlns:a16="http://schemas.microsoft.com/office/drawing/2014/main" id="{5019D7F2-E9F1-4764-8F13-E5B75D32CDE5}"/>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Deeper networks need a reliable path for learning</a:t>
            </a:r>
          </a:p>
        </p:txBody>
      </p:sp>
      <p:sp>
        <p:nvSpPr>
          <p:cNvPr id="2" name="19">
            <a:extLst xmlns:a="http://schemas.openxmlformats.org/drawingml/2006/main">
              <a:ext uri="{FF2B5EF4-FFF2-40B4-BE49-F238E27FC236}">
                <a16:creationId xmlns:a16="http://schemas.microsoft.com/office/drawing/2014/main" id="{4F2CE5EF-4827-4287-B84B-DA9B3023DBB1}"/>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19</a:t>
            </a:r>
          </a:p>
        </p:txBody>
      </p:sp>
      <p:sp>
        <p:nvSpPr>
          <p:cNvPr id="3" name="GIF">
            <a:extLst xmlns:a="http://schemas.openxmlformats.org/drawingml/2006/main">
              <a:ext uri="{FF2B5EF4-FFF2-40B4-BE49-F238E27FC236}">
                <a16:creationId xmlns:a16="http://schemas.microsoft.com/office/drawing/2014/main" id="{D685F9D9-3FEB-4E2B-A0D6-F4C3FC531D78}"/>
              </a:ext>
            </a:extLst>
          </p:cNvPr>
          <p:cNvSpPr>
            <a:spLocks xmlns:a="http://schemas.openxmlformats.org/drawingml/2006/main" noGrp="1"/>
          </p:cNvSpPr>
          <p:nvPr/>
        </p:nvSpPr>
        <p:spPr>
          <a:xfrm xmlns:a="http://schemas.openxmlformats.org/drawingml/2006/main">
            <a:off x="523875" y="4857750"/>
            <a:ext cx="342900" cy="190500"/>
          </a:xfrm>
          <a:prstGeom xmlns:a="http://schemas.openxmlformats.org/drawingml/2006/main" prst="rect">
            <a:avLst/>
          </a:prstGeom>
          <a:solidFill xmlns:a="http://schemas.openxmlformats.org/drawingml/2006/main">
            <a:srgbClr val="00539F"/>
          </a:solidFill>
          <a:ln xmlns:a="http://schemas.openxmlformats.org/drawingml/2006/main" w="0">
            <a:noFill/>
          </a:ln>
        </p:spPr>
        <p:txBody>
          <a:bodyPr xmlns:a="http://schemas.openxmlformats.org/drawingml/2006/main" wrap="square" lIns="57150" tIns="0" rIns="57150" bIns="0" anchor="ctr">
            <a:noAutofit/>
          </a:bodyPr>
          <a:lstStyle xmlns:a="http://schemas.openxmlformats.org/drawingml/2006/main"/>
          <a:p xmlns:a="http://schemas.openxmlformats.org/drawingml/2006/main">
            <a:pPr>
              <a:defRPr sz="900" b="1">
                <a:solidFill>
                  <a:srgbClr val="FFFFFF"/>
                </a:solidFill>
                <a:latin typeface="Arial"/>
                <a:ea typeface="Arial"/>
                <a:cs typeface="Arial"/>
              </a:defRPr>
            </a:pPr>
            <a:r>
              <a:rPr sz="900" b="1">
                <a:solidFill>
                  <a:srgbClr val="FFFFFF"/>
                </a:solidFill>
                <a:latin typeface="Arial"/>
                <a:ea typeface="Arial"/>
                <a:cs typeface="Arial"/>
              </a:rPr>
              <a:t>GIF</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c4292b95e3f4b26"/>
          <a:stretch xmlns:a="http://schemas.openxmlformats.org/drawingml/2006/main"/>
        </p:blipFill>
        <p:spPr>
          <a:xfrm xmlns:a="http://schemas.openxmlformats.org/drawingml/2006/main">
            <a:off x="619125" y="1521445"/>
            <a:ext cx="7905750" cy="2491135"/>
          </a:xfrm>
          <a:prstGeom xmlns:a="http://schemas.openxmlformats.org/drawingml/2006/main" prst="rect">
            <a:avLst/>
          </a:prstGeom>
        </p:spPr>
      </p:pic>
      <p:sp>
        <p:nvSpPr>
          <p:cNvPr id="5" name="The input travels along a shortcut and adds to a learned correction">
            <a:extLst xmlns:a="http://schemas.openxmlformats.org/drawingml/2006/main">
              <a:ext uri="{FF2B5EF4-FFF2-40B4-BE49-F238E27FC236}">
                <a16:creationId xmlns:a16="http://schemas.microsoft.com/office/drawing/2014/main" id="{C1B82DA7-FAC2-46CD-843B-4C679E51D3B5}"/>
              </a:ext>
            </a:extLst>
          </p:cNvPr>
          <p:cNvSpPr>
            <a:spLocks xmlns:a="http://schemas.openxmlformats.org/drawingml/2006/main" noGrp="1"/>
          </p:cNvSpPr>
          <p:nvPr/>
        </p:nvSpPr>
        <p:spPr>
          <a:xfrm xmlns:a="http://schemas.openxmlformats.org/drawingml/2006/main">
            <a:off x="619125" y="4191000"/>
            <a:ext cx="790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The input travels along a shortcut and adds to a learned correction</a:t>
            </a:r>
          </a:p>
        </p:txBody>
      </p:sp>
      <p:sp>
        <p:nvSpPr>
          <p:cNvPr id="6" name="ResNet made very deep networks easier to train.">
            <a:extLst xmlns:a="http://schemas.openxmlformats.org/drawingml/2006/main">
              <a:ext uri="{FF2B5EF4-FFF2-40B4-BE49-F238E27FC236}">
                <a16:creationId xmlns:a16="http://schemas.microsoft.com/office/drawing/2014/main" id="{6B70DA27-BBEA-4CD0-BEAC-5898E7A9BC82}"/>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ResNet made very deep networks easier to train.</a:t>
            </a:r>
          </a:p>
        </p:txBody>
      </p:sp>
    </p:spTree>
    <p:extLst>
      <p:ext uri="{BB962C8B-B14F-4D97-AF65-F5344CB8AC3E}">
        <p14:creationId xmlns:p14="http://schemas.microsoft.com/office/powerpoint/2010/main" val="1808838893"/>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7" name="Different object sizes need evidence at different scales">
            <a:extLst xmlns:a="http://schemas.openxmlformats.org/drawingml/2006/main">
              <a:ext uri="{FF2B5EF4-FFF2-40B4-BE49-F238E27FC236}">
                <a16:creationId xmlns:a16="http://schemas.microsoft.com/office/drawing/2014/main" id="{0C708AAD-4AE4-4E86-B6FA-8B0F28854A49}"/>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325" b="0">
                <a:solidFill>
                  <a:srgbClr val="00A0DF"/>
                </a:solidFill>
                <a:latin typeface="Arial"/>
                <a:ea typeface="Arial"/>
                <a:cs typeface="Arial"/>
              </a:defRPr>
            </a:pPr>
            <a:r>
              <a:rPr sz="2325" b="0">
                <a:solidFill>
                  <a:srgbClr val="00A0DF"/>
                </a:solidFill>
                <a:latin typeface="Arial"/>
                <a:ea typeface="Arial"/>
                <a:cs typeface="Arial"/>
              </a:rPr>
              <a:t>Different object sizes need evidence at different scales</a:t>
            </a:r>
          </a:p>
        </p:txBody>
      </p:sp>
      <p:sp>
        <p:nvSpPr>
          <p:cNvPr id="2" name="20">
            <a:extLst xmlns:a="http://schemas.openxmlformats.org/drawingml/2006/main">
              <a:ext uri="{FF2B5EF4-FFF2-40B4-BE49-F238E27FC236}">
                <a16:creationId xmlns:a16="http://schemas.microsoft.com/office/drawing/2014/main" id="{FC75846E-E50C-48DD-98C1-BA99A9BC3EAA}"/>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20</a:t>
            </a:r>
          </a:p>
        </p:txBody>
      </p:sp>
      <p:sp>
        <p:nvSpPr>
          <p:cNvPr id="3" name="GIF">
            <a:extLst xmlns:a="http://schemas.openxmlformats.org/drawingml/2006/main">
              <a:ext uri="{FF2B5EF4-FFF2-40B4-BE49-F238E27FC236}">
                <a16:creationId xmlns:a16="http://schemas.microsoft.com/office/drawing/2014/main" id="{15BA01B5-23B4-4D66-AA9C-9C64ADEFF40D}"/>
              </a:ext>
            </a:extLst>
          </p:cNvPr>
          <p:cNvSpPr>
            <a:spLocks xmlns:a="http://schemas.openxmlformats.org/drawingml/2006/main" noGrp="1"/>
          </p:cNvSpPr>
          <p:nvPr/>
        </p:nvSpPr>
        <p:spPr>
          <a:xfrm xmlns:a="http://schemas.openxmlformats.org/drawingml/2006/main">
            <a:off x="523875" y="4857750"/>
            <a:ext cx="342900" cy="190500"/>
          </a:xfrm>
          <a:prstGeom xmlns:a="http://schemas.openxmlformats.org/drawingml/2006/main" prst="rect">
            <a:avLst/>
          </a:prstGeom>
          <a:solidFill xmlns:a="http://schemas.openxmlformats.org/drawingml/2006/main">
            <a:srgbClr val="00539F"/>
          </a:solidFill>
          <a:ln xmlns:a="http://schemas.openxmlformats.org/drawingml/2006/main" w="0">
            <a:noFill/>
          </a:ln>
        </p:spPr>
        <p:txBody>
          <a:bodyPr xmlns:a="http://schemas.openxmlformats.org/drawingml/2006/main" wrap="square" lIns="57150" tIns="0" rIns="57150" bIns="0" anchor="ctr">
            <a:noAutofit/>
          </a:bodyPr>
          <a:lstStyle xmlns:a="http://schemas.openxmlformats.org/drawingml/2006/main"/>
          <a:p xmlns:a="http://schemas.openxmlformats.org/drawingml/2006/main">
            <a:pPr>
              <a:defRPr sz="900" b="1">
                <a:solidFill>
                  <a:srgbClr val="FFFFFF"/>
                </a:solidFill>
                <a:latin typeface="Arial"/>
                <a:ea typeface="Arial"/>
                <a:cs typeface="Arial"/>
              </a:defRPr>
            </a:pPr>
            <a:r>
              <a:rPr sz="900" b="1">
                <a:solidFill>
                  <a:srgbClr val="FFFFFF"/>
                </a:solidFill>
                <a:latin typeface="Arial"/>
                <a:ea typeface="Arial"/>
                <a:cs typeface="Arial"/>
              </a:rPr>
              <a:t>GIF</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5ceaa48a87343e3"/>
          <a:stretch xmlns:a="http://schemas.openxmlformats.org/drawingml/2006/main"/>
        </p:blipFill>
        <p:spPr>
          <a:xfrm xmlns:a="http://schemas.openxmlformats.org/drawingml/2006/main">
            <a:off x="2505278" y="1381125"/>
            <a:ext cx="4133443" cy="2771775"/>
          </a:xfrm>
          <a:prstGeom xmlns:a="http://schemas.openxmlformats.org/drawingml/2006/main" prst="rect">
            <a:avLst/>
          </a:prstGeom>
        </p:spPr>
      </p:pic>
      <p:sp>
        <p:nvSpPr>
          <p:cNvPr id="5" name="Coarse context expands to the finer grid, then combines with local det">
            <a:extLst xmlns:a="http://schemas.openxmlformats.org/drawingml/2006/main">
              <a:ext uri="{FF2B5EF4-FFF2-40B4-BE49-F238E27FC236}">
                <a16:creationId xmlns:a16="http://schemas.microsoft.com/office/drawing/2014/main" id="{A7331099-70A5-4084-8D59-BDC775E992A8}"/>
              </a:ext>
            </a:extLst>
          </p:cNvPr>
          <p:cNvSpPr>
            <a:spLocks xmlns:a="http://schemas.openxmlformats.org/drawingml/2006/main" noGrp="1"/>
          </p:cNvSpPr>
          <p:nvPr/>
        </p:nvSpPr>
        <p:spPr>
          <a:xfrm xmlns:a="http://schemas.openxmlformats.org/drawingml/2006/main">
            <a:off x="619125" y="4191000"/>
            <a:ext cx="790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Coarse context expands to the finer grid, then combines with local detail</a:t>
            </a:r>
          </a:p>
        </p:txBody>
      </p:sp>
      <p:sp>
        <p:nvSpPr>
          <p:cNvPr id="6" name="Feature pyramids connect these levels so both can help detection.">
            <a:extLst xmlns:a="http://schemas.openxmlformats.org/drawingml/2006/main">
              <a:ext uri="{FF2B5EF4-FFF2-40B4-BE49-F238E27FC236}">
                <a16:creationId xmlns:a16="http://schemas.microsoft.com/office/drawing/2014/main" id="{8C70C82F-44E4-4273-82B3-2FB8621EBAF9}"/>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Feature pyramids connect these levels so both can help detection.</a:t>
            </a:r>
          </a:p>
        </p:txBody>
      </p:sp>
    </p:spTree>
    <p:extLst>
      <p:ext uri="{BB962C8B-B14F-4D97-AF65-F5344CB8AC3E}">
        <p14:creationId xmlns:p14="http://schemas.microsoft.com/office/powerpoint/2010/main" val="1808838893"/>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7" name="Recognition also has a computation budget">
            <a:extLst xmlns:a="http://schemas.openxmlformats.org/drawingml/2006/main">
              <a:ext uri="{FF2B5EF4-FFF2-40B4-BE49-F238E27FC236}">
                <a16:creationId xmlns:a16="http://schemas.microsoft.com/office/drawing/2014/main" id="{655CEBF1-F347-44A2-A4C6-045344A9F7CE}"/>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Recognition also has a computation budget</a:t>
            </a:r>
          </a:p>
        </p:txBody>
      </p:sp>
      <p:sp>
        <p:nvSpPr>
          <p:cNvPr id="2" name="21">
            <a:extLst xmlns:a="http://schemas.openxmlformats.org/drawingml/2006/main">
              <a:ext uri="{FF2B5EF4-FFF2-40B4-BE49-F238E27FC236}">
                <a16:creationId xmlns:a16="http://schemas.microsoft.com/office/drawing/2014/main" id="{CB1D9F62-42DC-4A95-8483-017D78D2FE4C}"/>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fd542a4fdf34533"/>
          <a:stretch xmlns:a="http://schemas.openxmlformats.org/drawingml/2006/main"/>
        </p:blipFill>
        <p:spPr>
          <a:xfrm xmlns:a="http://schemas.openxmlformats.org/drawingml/2006/main">
            <a:off x="629949" y="1428750"/>
            <a:ext cx="4883727" cy="2686050"/>
          </a:xfrm>
          <a:prstGeom xmlns:a="http://schemas.openxmlformats.org/drawingml/2006/main" prst="rect">
            <a:avLst/>
          </a:prstGeom>
        </p:spPr>
      </p:pic>
      <p:sp>
        <p:nvSpPr>
          <p:cNvPr id="4" name="More layers, filters and pixels can increase the work per image.&#10;&#10;A ve">
            <a:extLst xmlns:a="http://schemas.openxmlformats.org/drawingml/2006/main">
              <a:ext uri="{FF2B5EF4-FFF2-40B4-BE49-F238E27FC236}">
                <a16:creationId xmlns:a16="http://schemas.microsoft.com/office/drawing/2014/main" id="{66D2F07E-CDFC-4EF6-8FD6-B5473FF46AE0}"/>
              </a:ext>
            </a:extLst>
          </p:cNvPr>
          <p:cNvSpPr>
            <a:spLocks xmlns:a="http://schemas.openxmlformats.org/drawingml/2006/main" noGrp="1"/>
          </p:cNvSpPr>
          <p:nvPr/>
        </p:nvSpPr>
        <p:spPr>
          <a:xfrm xmlns:a="http://schemas.openxmlformats.org/drawingml/2006/main">
            <a:off x="5953125" y="1485900"/>
            <a:ext cx="266700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0">
                <a:solidFill>
                  <a:srgbClr val="17324D"/>
                </a:solidFill>
                <a:latin typeface="Arial"/>
                <a:ea typeface="Arial"/>
                <a:cs typeface="Arial"/>
              </a:defRPr>
            </a:pPr>
            <a:r>
              <a:rPr sz="1875" b="0">
                <a:solidFill>
                  <a:srgbClr val="17324D"/>
                </a:solidFill>
                <a:latin typeface="Arial"/>
                <a:ea typeface="Arial"/>
                <a:cs typeface="Arial"/>
              </a:rPr>
              <a:t>More layers, filters and pixels can increase the work per image.</a:t>
            </a:r>
          </a:p>
          <a:p xmlns:a="http://schemas.openxmlformats.org/drawingml/2006/main">
            <a:r>
              <a:t/>
            </a:r>
          </a:p>
          <a:p xmlns:a="http://schemas.openxmlformats.org/drawingml/2006/main">
            <a:pPr>
              <a:defRPr sz="1875" b="0">
                <a:solidFill>
                  <a:srgbClr val="17324D"/>
                </a:solidFill>
                <a:latin typeface="Arial"/>
                <a:ea typeface="Arial"/>
                <a:cs typeface="Arial"/>
              </a:defRPr>
            </a:pPr>
            <a:r>
              <a:rPr sz="1875" b="0">
                <a:solidFill>
                  <a:srgbClr val="17324D"/>
                </a:solidFill>
                <a:latin typeface="Arial"/>
                <a:ea typeface="Arial"/>
                <a:cs typeface="Arial"/>
              </a:rPr>
              <a:t>A vehicle needs useful predictions within its time and energy budget.</a:t>
            </a:r>
          </a:p>
        </p:txBody>
      </p:sp>
      <p:sp>
        <p:nvSpPr>
          <p:cNvPr id="5" name="The best design depends on the errors and delays the task can tolerate">
            <a:extLst xmlns:a="http://schemas.openxmlformats.org/drawingml/2006/main">
              <a:ext uri="{FF2B5EF4-FFF2-40B4-BE49-F238E27FC236}">
                <a16:creationId xmlns:a16="http://schemas.microsoft.com/office/drawing/2014/main" id="{4C211FF5-52A6-4EDE-811D-85FE3F1F7573}"/>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The best design depends on the errors and delays the task can tolerate.</a:t>
            </a:r>
          </a:p>
        </p:txBody>
      </p:sp>
      <p:sp>
        <p:nvSpPr>
          <p:cNvPr id="6" name="AI-generated teaching illustration">
            <a:extLst xmlns:a="http://schemas.openxmlformats.org/drawingml/2006/main">
              <a:ext uri="{FF2B5EF4-FFF2-40B4-BE49-F238E27FC236}">
                <a16:creationId xmlns:a16="http://schemas.microsoft.com/office/drawing/2014/main" id="{2FC81B0F-942B-43E9-A082-AE3F0FDBCEBC}"/>
              </a:ext>
            </a:extLst>
          </p:cNvPr>
          <p:cNvSpPr>
            <a:spLocks xmlns:a="http://schemas.openxmlformats.org/drawingml/2006/main" noGrp="1"/>
          </p:cNvSpPr>
          <p:nvPr/>
        </p:nvSpPr>
        <p:spPr>
          <a:xfrm xmlns:a="http://schemas.openxmlformats.org/drawingml/2006/main">
            <a:off x="6191250" y="400050"/>
            <a:ext cx="2333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975" b="0">
                <a:solidFill>
                  <a:srgbClr val="17324D"/>
                </a:solidFill>
                <a:latin typeface="Arial"/>
                <a:ea typeface="Arial"/>
                <a:cs typeface="Arial"/>
              </a:defRPr>
            </a:pPr>
            <a:r>
              <a:rPr sz="975" b="0">
                <a:solidFill>
                  <a:srgbClr val="17324D"/>
                </a:solidFill>
                <a:latin typeface="Arial"/>
                <a:ea typeface="Arial"/>
                <a:cs typeface="Arial"/>
              </a:rPr>
              <a:t>AI-generated teaching illustration</a:t>
            </a:r>
          </a:p>
        </p:txBody>
      </p:sp>
    </p:spTree>
    <p:extLst>
      <p:ext uri="{BB962C8B-B14F-4D97-AF65-F5344CB8AC3E}">
        <p14:creationId xmlns:p14="http://schemas.microsoft.com/office/powerpoint/2010/main" val="1808838893"/>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5" name="CNN evolution addressed different bottlenecks">
            <a:extLst xmlns:a="http://schemas.openxmlformats.org/drawingml/2006/main">
              <a:ext uri="{FF2B5EF4-FFF2-40B4-BE49-F238E27FC236}">
                <a16:creationId xmlns:a16="http://schemas.microsoft.com/office/drawing/2014/main" id="{5C11C7FA-E2BA-4E20-A0CA-DBA76A3B96A1}"/>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CNN evolution addressed different bottlenecks</a:t>
            </a:r>
          </a:p>
        </p:txBody>
      </p:sp>
      <p:sp>
        <p:nvSpPr>
          <p:cNvPr id="2" name="22">
            <a:extLst xmlns:a="http://schemas.openxmlformats.org/drawingml/2006/main">
              <a:ext uri="{FF2B5EF4-FFF2-40B4-BE49-F238E27FC236}">
                <a16:creationId xmlns:a16="http://schemas.microsoft.com/office/drawing/2014/main" id="{970F8199-B393-448D-B1C5-99A0CF311E4B}"/>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22</a:t>
            </a:r>
          </a:p>
        </p:txBody>
      </p:sp>
      <p:graphicFrame>
        <p:nvGraphicFramePr>
          <p:cNvPr id="7" name=""/>
          <p:cNvGraphicFramePr/>
          <p:nvPr/>
        </p:nvGraphicFramePr>
        <p:xfrm>
          <a:off xmlns:a="http://schemas.openxmlformats.org/drawingml/2006/main" x="523875" y="1447800"/>
          <a:ext xmlns:a="http://schemas.openxmlformats.org/drawingml/2006/main" cx="8096250" cy="2895600"/>
        </p:xfrm>
        <a:graphic xmlns:a="http://schemas.openxmlformats.org/drawingml/2006/main">
          <a:graphicData uri="http://schemas.openxmlformats.org/drawingml/2006/table">
            <a:tbl>
              <a:tblPr/>
              <a:tblGrid>
                <a:gridCol w="1952625"/>
                <a:gridCol w="3952875"/>
                <a:gridCol w="2190750"/>
              </a:tblGrid>
              <a:tr h="579120">
                <a:tc>
                  <a:txBody>
                    <a:bodyPr lIns="95250" tIns="76200" rIns="95250" bIns="76200">
                      <a:noAutofit/>
                    </a:bodyPr>
                    <a:lstStyle/>
                    <a:p>
                      <a:r>
                        <a:rPr sz="1500" b="1">
                          <a:solidFill>
                            <a:srgbClr val="FFFFFF"/>
                          </a:solidFill>
                          <a:latin typeface="Arial"/>
                          <a:ea typeface="Arial"/>
                          <a:cs typeface="Arial"/>
                        </a:rPr>
                        <a:t>Bottleneck</a:t>
                      </a:r>
                    </a:p>
                  </a:txBody>
                  <a:tcPr marL="91440" marR="91440" marT="45720" marB="45720" anchor="ctr">
                    <a:solidFill>
                      <a:srgbClr val="00539F"/>
                    </a:solidFill>
                  </a:tcPr>
                </a:tc>
                <a:tc>
                  <a:txBody>
                    <a:bodyPr lIns="95250" tIns="76200" rIns="95250" bIns="76200">
                      <a:noAutofit/>
                    </a:bodyPr>
                    <a:lstStyle/>
                    <a:p>
                      <a:r>
                        <a:rPr sz="1500" b="1">
                          <a:solidFill>
                            <a:srgbClr val="FFFFFF"/>
                          </a:solidFill>
                          <a:latin typeface="Arial"/>
                          <a:ea typeface="Arial"/>
                          <a:cs typeface="Arial"/>
                        </a:rPr>
                        <a:t>Design response</a:t>
                      </a:r>
                    </a:p>
                  </a:txBody>
                  <a:tcPr marL="91440" marR="91440" marT="45720" marB="45720" anchor="ctr">
                    <a:solidFill>
                      <a:srgbClr val="00539F"/>
                    </a:solidFill>
                  </a:tcPr>
                </a:tc>
                <a:tc>
                  <a:txBody>
                    <a:bodyPr lIns="95250" tIns="76200" rIns="95250" bIns="76200">
                      <a:noAutofit/>
                    </a:bodyPr>
                    <a:lstStyle/>
                    <a:p>
                      <a:r>
                        <a:rPr sz="1500" b="1">
                          <a:solidFill>
                            <a:srgbClr val="FFFFFF"/>
                          </a:solidFill>
                          <a:latin typeface="Arial"/>
                          <a:ea typeface="Arial"/>
                          <a:cs typeface="Arial"/>
                        </a:rPr>
                        <a:t>Example</a:t>
                      </a:r>
                    </a:p>
                  </a:txBody>
                  <a:tcPr marL="91440" marR="91440" marT="45720" marB="45720" anchor="ctr">
                    <a:solidFill>
                      <a:srgbClr val="00539F"/>
                    </a:solidFill>
                  </a:tcPr>
                </a:tc>
              </a:tr>
              <a:tr h="579120">
                <a:tc>
                  <a:txBody>
                    <a:bodyPr lIns="95250" tIns="76200" rIns="95250" bIns="76200">
                      <a:noAutofit/>
                    </a:bodyPr>
                    <a:lstStyle/>
                    <a:p>
                      <a:r>
                        <a:rPr sz="1500" b="0">
                          <a:solidFill>
                            <a:srgbClr val="17324D"/>
                          </a:solidFill>
                          <a:latin typeface="Arial"/>
                          <a:ea typeface="Arial"/>
                          <a:cs typeface="Arial"/>
                        </a:rPr>
                        <a:t>Repeated local patterns</a:t>
                      </a:r>
                    </a:p>
                  </a:txBody>
                  <a:tcPr marL="91440" marR="91440" marT="45720" marB="45720" anchor="ctr">
                    <a:solidFill>
                      <a:srgbClr val="FFFFFF"/>
                    </a:solidFill>
                  </a:tcPr>
                </a:tc>
                <a:tc>
                  <a:txBody>
                    <a:bodyPr lIns="95250" tIns="76200" rIns="95250" bIns="76200">
                      <a:noAutofit/>
                    </a:bodyPr>
                    <a:lstStyle/>
                    <a:p>
                      <a:r>
                        <a:rPr sz="1500" b="0">
                          <a:solidFill>
                            <a:srgbClr val="17324D"/>
                          </a:solidFill>
                          <a:latin typeface="Arial"/>
                          <a:ea typeface="Arial"/>
                          <a:cs typeface="Arial"/>
                        </a:rPr>
                        <a:t>Local connections and shared weights</a:t>
                      </a:r>
                    </a:p>
                  </a:txBody>
                  <a:tcPr marL="91440" marR="91440" marT="45720" marB="45720" anchor="ctr">
                    <a:solidFill>
                      <a:srgbClr val="FFFFFF"/>
                    </a:solidFill>
                  </a:tcPr>
                </a:tc>
                <a:tc>
                  <a:txBody>
                    <a:bodyPr lIns="95250" tIns="76200" rIns="95250" bIns="76200">
                      <a:noAutofit/>
                    </a:bodyPr>
                    <a:lstStyle/>
                    <a:p>
                      <a:r>
                        <a:rPr sz="1500" b="0">
                          <a:solidFill>
                            <a:srgbClr val="17324D"/>
                          </a:solidFill>
                          <a:latin typeface="Arial"/>
                          <a:ea typeface="Arial"/>
                          <a:cs typeface="Arial"/>
                        </a:rPr>
                        <a:t>LeNet, 1998</a:t>
                      </a:r>
                    </a:p>
                  </a:txBody>
                  <a:tcPr marL="91440" marR="91440" marT="45720" marB="45720" anchor="ctr">
                    <a:solidFill>
                      <a:srgbClr val="FFFFFF"/>
                    </a:solidFill>
                  </a:tcPr>
                </a:tc>
              </a:tr>
              <a:tr h="579120">
                <a:tc>
                  <a:txBody>
                    <a:bodyPr lIns="95250" tIns="76200" rIns="95250" bIns="76200">
                      <a:noAutofit/>
                    </a:bodyPr>
                    <a:lstStyle/>
                    <a:p>
                      <a:r>
                        <a:rPr sz="1500" b="0">
                          <a:solidFill>
                            <a:srgbClr val="17324D"/>
                          </a:solidFill>
                          <a:latin typeface="Arial"/>
                          <a:ea typeface="Arial"/>
                          <a:cs typeface="Arial"/>
                        </a:rPr>
                        <a:t>Large-scale recognition</a:t>
                      </a:r>
                    </a:p>
                  </a:txBody>
                  <a:tcPr marL="91440" marR="91440" marT="45720" marB="45720" anchor="ctr">
                    <a:solidFill>
                      <a:srgbClr val="F1F6FA"/>
                    </a:solidFill>
                  </a:tcPr>
                </a:tc>
                <a:tc>
                  <a:txBody>
                    <a:bodyPr lIns="95250" tIns="76200" rIns="95250" bIns="76200">
                      <a:noAutofit/>
                    </a:bodyPr>
                    <a:lstStyle/>
                    <a:p>
                      <a:r>
                        <a:rPr sz="1500" b="0">
                          <a:solidFill>
                            <a:srgbClr val="17324D"/>
                          </a:solidFill>
                          <a:latin typeface="Arial"/>
                          <a:ea typeface="Arial"/>
                          <a:cs typeface="Arial"/>
                        </a:rPr>
                        <a:t>More data and practical deep training</a:t>
                      </a:r>
                    </a:p>
                  </a:txBody>
                  <a:tcPr marL="91440" marR="91440" marT="45720" marB="45720" anchor="ctr">
                    <a:solidFill>
                      <a:srgbClr val="F1F6FA"/>
                    </a:solidFill>
                  </a:tcPr>
                </a:tc>
                <a:tc>
                  <a:txBody>
                    <a:bodyPr lIns="95250" tIns="76200" rIns="95250" bIns="76200">
                      <a:noAutofit/>
                    </a:bodyPr>
                    <a:lstStyle/>
                    <a:p>
                      <a:r>
                        <a:rPr sz="1500" b="0">
                          <a:solidFill>
                            <a:srgbClr val="17324D"/>
                          </a:solidFill>
                          <a:latin typeface="Arial"/>
                          <a:ea typeface="Arial"/>
                          <a:cs typeface="Arial"/>
                        </a:rPr>
                        <a:t>AlexNet, 2012</a:t>
                      </a:r>
                    </a:p>
                  </a:txBody>
                  <a:tcPr marL="91440" marR="91440" marT="45720" marB="45720" anchor="ctr">
                    <a:solidFill>
                      <a:srgbClr val="F1F6FA"/>
                    </a:solidFill>
                  </a:tcPr>
                </a:tc>
              </a:tr>
              <a:tr h="579120">
                <a:tc>
                  <a:txBody>
                    <a:bodyPr lIns="95250" tIns="76200" rIns="95250" bIns="76200">
                      <a:noAutofit/>
                    </a:bodyPr>
                    <a:lstStyle/>
                    <a:p>
                      <a:r>
                        <a:rPr sz="1500" b="0">
                          <a:solidFill>
                            <a:srgbClr val="17324D"/>
                          </a:solidFill>
                          <a:latin typeface="Arial"/>
                          <a:ea typeface="Arial"/>
                          <a:cs typeface="Arial"/>
                        </a:rPr>
                        <a:t>Difficult deep optimization</a:t>
                      </a:r>
                    </a:p>
                  </a:txBody>
                  <a:tcPr marL="91440" marR="91440" marT="45720" marB="45720" anchor="ctr">
                    <a:solidFill>
                      <a:srgbClr val="FFFFFF"/>
                    </a:solidFill>
                  </a:tcPr>
                </a:tc>
                <a:tc>
                  <a:txBody>
                    <a:bodyPr lIns="95250" tIns="76200" rIns="95250" bIns="76200">
                      <a:noAutofit/>
                    </a:bodyPr>
                    <a:lstStyle/>
                    <a:p>
                      <a:r>
                        <a:rPr sz="1500" b="0">
                          <a:solidFill>
                            <a:srgbClr val="17324D"/>
                          </a:solidFill>
                          <a:latin typeface="Arial"/>
                          <a:ea typeface="Arial"/>
                          <a:cs typeface="Arial"/>
                        </a:rPr>
                        <a:t>Preserve information through shortcuts</a:t>
                      </a:r>
                    </a:p>
                  </a:txBody>
                  <a:tcPr marL="91440" marR="91440" marT="45720" marB="45720" anchor="ctr">
                    <a:solidFill>
                      <a:srgbClr val="FFFFFF"/>
                    </a:solidFill>
                  </a:tcPr>
                </a:tc>
                <a:tc>
                  <a:txBody>
                    <a:bodyPr lIns="95250" tIns="76200" rIns="95250" bIns="76200">
                      <a:noAutofit/>
                    </a:bodyPr>
                    <a:lstStyle/>
                    <a:p>
                      <a:r>
                        <a:rPr sz="1500" b="0">
                          <a:solidFill>
                            <a:srgbClr val="17324D"/>
                          </a:solidFill>
                          <a:latin typeface="Arial"/>
                          <a:ea typeface="Arial"/>
                          <a:cs typeface="Arial"/>
                        </a:rPr>
                        <a:t>ResNet, 2016</a:t>
                      </a:r>
                    </a:p>
                  </a:txBody>
                  <a:tcPr marL="91440" marR="91440" marT="45720" marB="45720" anchor="ctr">
                    <a:solidFill>
                      <a:srgbClr val="FFFFFF"/>
                    </a:solidFill>
                  </a:tcPr>
                </a:tc>
              </a:tr>
              <a:tr h="579120">
                <a:tc>
                  <a:txBody>
                    <a:bodyPr lIns="95250" tIns="76200" rIns="95250" bIns="76200">
                      <a:noAutofit/>
                    </a:bodyPr>
                    <a:lstStyle/>
                    <a:p>
                      <a:r>
                        <a:rPr sz="1500" b="0">
                          <a:solidFill>
                            <a:srgbClr val="17324D"/>
                          </a:solidFill>
                          <a:latin typeface="Arial"/>
                          <a:ea typeface="Arial"/>
                          <a:cs typeface="Arial"/>
                        </a:rPr>
                        <a:t>Objects at different sizes</a:t>
                      </a:r>
                    </a:p>
                  </a:txBody>
                  <a:tcPr marL="91440" marR="91440" marT="45720" marB="45720" anchor="ctr">
                    <a:solidFill>
                      <a:srgbClr val="F1F6FA"/>
                    </a:solidFill>
                  </a:tcPr>
                </a:tc>
                <a:tc>
                  <a:txBody>
                    <a:bodyPr lIns="95250" tIns="76200" rIns="95250" bIns="76200">
                      <a:noAutofit/>
                    </a:bodyPr>
                    <a:lstStyle/>
                    <a:p>
                      <a:r>
                        <a:rPr sz="1500" b="0">
                          <a:solidFill>
                            <a:srgbClr val="17324D"/>
                          </a:solidFill>
                          <a:latin typeface="Arial"/>
                          <a:ea typeface="Arial"/>
                          <a:cs typeface="Arial"/>
                        </a:rPr>
                        <a:t>Combine features across resolutions</a:t>
                      </a:r>
                    </a:p>
                  </a:txBody>
                  <a:tcPr marL="91440" marR="91440" marT="45720" marB="45720" anchor="ctr">
                    <a:solidFill>
                      <a:srgbClr val="F1F6FA"/>
                    </a:solidFill>
                  </a:tcPr>
                </a:tc>
                <a:tc>
                  <a:txBody>
                    <a:bodyPr lIns="95250" tIns="76200" rIns="95250" bIns="76200">
                      <a:noAutofit/>
                    </a:bodyPr>
                    <a:lstStyle/>
                    <a:p>
                      <a:r>
                        <a:rPr sz="1500" b="0">
                          <a:solidFill>
                            <a:srgbClr val="17324D"/>
                          </a:solidFill>
                          <a:latin typeface="Arial"/>
                          <a:ea typeface="Arial"/>
                          <a:cs typeface="Arial"/>
                        </a:rPr>
                        <a:t>FPN, 2017</a:t>
                      </a:r>
                    </a:p>
                  </a:txBody>
                  <a:tcPr marL="91440" marR="91440" marT="45720" marB="45720" anchor="ctr">
                    <a:solidFill>
                      <a:srgbClr val="F1F6FA"/>
                    </a:solidFill>
                  </a:tcPr>
                </a:tc>
              </a:tr>
            </a:tbl>
          </a:graphicData>
        </a:graphic>
      </p:graphicFrame>
      <p:sp>
        <p:nvSpPr>
          <p:cNvPr id="4" name="These are complementary ideas, not a mandatory replacement sequence.">
            <a:extLst xmlns:a="http://schemas.openxmlformats.org/drawingml/2006/main">
              <a:ext uri="{FF2B5EF4-FFF2-40B4-BE49-F238E27FC236}">
                <a16:creationId xmlns:a16="http://schemas.microsoft.com/office/drawing/2014/main" id="{EC9438BB-BD60-4E9A-8DA0-AA8A206241CA}"/>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These are complementary ideas, not a mandatory replacement sequence.</a:t>
            </a:r>
          </a:p>
        </p:txBody>
      </p:sp>
    </p:spTree>
    <p:extLst>
      <p:ext uri="{BB962C8B-B14F-4D97-AF65-F5344CB8AC3E}">
        <p14:creationId xmlns:p14="http://schemas.microsoft.com/office/powerpoint/2010/main" val="1808838893"/>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7" name="Recognizing objects does not explain their relationships">
            <a:extLst xmlns:a="http://schemas.openxmlformats.org/drawingml/2006/main">
              <a:ext uri="{FF2B5EF4-FFF2-40B4-BE49-F238E27FC236}">
                <a16:creationId xmlns:a16="http://schemas.microsoft.com/office/drawing/2014/main" id="{5876A936-983F-4C02-A3EF-694AEF347C8D}"/>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325" b="0">
                <a:solidFill>
                  <a:srgbClr val="00A0DF"/>
                </a:solidFill>
                <a:latin typeface="Arial"/>
                <a:ea typeface="Arial"/>
                <a:cs typeface="Arial"/>
              </a:defRPr>
            </a:pPr>
            <a:r>
              <a:rPr sz="2325" b="0">
                <a:solidFill>
                  <a:srgbClr val="00A0DF"/>
                </a:solidFill>
                <a:latin typeface="Arial"/>
                <a:ea typeface="Arial"/>
                <a:cs typeface="Arial"/>
              </a:rPr>
              <a:t>Recognizing objects does not explain their relationships</a:t>
            </a:r>
          </a:p>
        </p:txBody>
      </p:sp>
      <p:sp>
        <p:nvSpPr>
          <p:cNvPr id="2" name="23">
            <a:extLst xmlns:a="http://schemas.openxmlformats.org/drawingml/2006/main">
              <a:ext uri="{FF2B5EF4-FFF2-40B4-BE49-F238E27FC236}">
                <a16:creationId xmlns:a16="http://schemas.microsoft.com/office/drawing/2014/main" id="{B930DCF7-2D2D-4A1D-A345-7F04F7BC8D29}"/>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23</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83d8bcf50454089"/>
          <a:stretch xmlns:a="http://schemas.openxmlformats.org/drawingml/2006/main"/>
        </p:blipFill>
        <p:spPr>
          <a:xfrm xmlns:a="http://schemas.openxmlformats.org/drawingml/2006/main">
            <a:off x="2537114" y="1400175"/>
            <a:ext cx="4069773" cy="2238375"/>
          </a:xfrm>
          <a:prstGeom xmlns:a="http://schemas.openxmlformats.org/drawingml/2006/main" prst="rect">
            <a:avLst/>
          </a:prstGeom>
        </p:spPr>
      </p:pic>
      <p:sp>
        <p:nvSpPr>
          <p:cNvPr id="4" name="The same categories appear in both scenes.&#10;The pedestrian’s position r">
            <a:extLst xmlns:a="http://schemas.openxmlformats.org/drawingml/2006/main">
              <a:ext uri="{FF2B5EF4-FFF2-40B4-BE49-F238E27FC236}">
                <a16:creationId xmlns:a16="http://schemas.microsoft.com/office/drawing/2014/main" id="{0F5ED5EB-9EFF-44FC-AA78-6847AE3F2AB9}"/>
              </a:ext>
            </a:extLst>
          </p:cNvPr>
          <p:cNvSpPr>
            <a:spLocks xmlns:a="http://schemas.openxmlformats.org/drawingml/2006/main" noGrp="1"/>
          </p:cNvSpPr>
          <p:nvPr/>
        </p:nvSpPr>
        <p:spPr>
          <a:xfrm xmlns:a="http://schemas.openxmlformats.org/drawingml/2006/main">
            <a:off x="523875" y="3714750"/>
            <a:ext cx="809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The same categories appear in both scenes.</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The pedestrian’s position relative to the road changes.</a:t>
            </a:r>
          </a:p>
        </p:txBody>
      </p:sp>
      <p:sp>
        <p:nvSpPr>
          <p:cNvPr id="5" name="What information should the pedestrian region use from elsewhere?">
            <a:extLst xmlns:a="http://schemas.openxmlformats.org/drawingml/2006/main">
              <a:ext uri="{FF2B5EF4-FFF2-40B4-BE49-F238E27FC236}">
                <a16:creationId xmlns:a16="http://schemas.microsoft.com/office/drawing/2014/main" id="{BC8355D9-10C6-402E-BDB0-6D14B1699FE9}"/>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What information should the pedestrian region use from elsewhere?</a:t>
            </a:r>
          </a:p>
        </p:txBody>
      </p:sp>
      <p:sp>
        <p:nvSpPr>
          <p:cNvPr id="6" name="AI-generated teaching illustration">
            <a:extLst xmlns:a="http://schemas.openxmlformats.org/drawingml/2006/main">
              <a:ext uri="{FF2B5EF4-FFF2-40B4-BE49-F238E27FC236}">
                <a16:creationId xmlns:a16="http://schemas.microsoft.com/office/drawing/2014/main" id="{DE5A6DED-7318-4716-BCEA-FBA8CDB52D63}"/>
              </a:ext>
            </a:extLst>
          </p:cNvPr>
          <p:cNvSpPr>
            <a:spLocks xmlns:a="http://schemas.openxmlformats.org/drawingml/2006/main" noGrp="1"/>
          </p:cNvSpPr>
          <p:nvPr/>
        </p:nvSpPr>
        <p:spPr>
          <a:xfrm xmlns:a="http://schemas.openxmlformats.org/drawingml/2006/main">
            <a:off x="6191250" y="400050"/>
            <a:ext cx="2333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975" b="0">
                <a:solidFill>
                  <a:srgbClr val="17324D"/>
                </a:solidFill>
                <a:latin typeface="Arial"/>
                <a:ea typeface="Arial"/>
                <a:cs typeface="Arial"/>
              </a:defRPr>
            </a:pPr>
            <a:r>
              <a:rPr sz="975" b="0">
                <a:solidFill>
                  <a:srgbClr val="17324D"/>
                </a:solidFill>
                <a:latin typeface="Arial"/>
                <a:ea typeface="Arial"/>
                <a:cs typeface="Arial"/>
              </a:rPr>
              <a:t>AI-generated teaching illustration</a:t>
            </a:r>
          </a:p>
        </p:txBody>
      </p:sp>
    </p:spTree>
    <p:extLst>
      <p:ext uri="{BB962C8B-B14F-4D97-AF65-F5344CB8AC3E}">
        <p14:creationId xmlns:p14="http://schemas.microsoft.com/office/powerpoint/2010/main" val="1808838893"/>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7" name="Convolution gathers context using shared filter weights">
            <a:extLst xmlns:a="http://schemas.openxmlformats.org/drawingml/2006/main">
              <a:ext uri="{FF2B5EF4-FFF2-40B4-BE49-F238E27FC236}">
                <a16:creationId xmlns:a16="http://schemas.microsoft.com/office/drawing/2014/main" id="{C1D330A8-C573-40D5-972E-46ECADFEFCBD}"/>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325" b="0">
                <a:solidFill>
                  <a:srgbClr val="00A0DF"/>
                </a:solidFill>
                <a:latin typeface="Arial"/>
                <a:ea typeface="Arial"/>
                <a:cs typeface="Arial"/>
              </a:defRPr>
            </a:pPr>
            <a:r>
              <a:rPr sz="2325" b="0">
                <a:solidFill>
                  <a:srgbClr val="00A0DF"/>
                </a:solidFill>
                <a:latin typeface="Arial"/>
                <a:ea typeface="Arial"/>
                <a:cs typeface="Arial"/>
              </a:rPr>
              <a:t>Convolution gathers context using shared filter weights</a:t>
            </a:r>
          </a:p>
        </p:txBody>
      </p:sp>
      <p:sp>
        <p:nvSpPr>
          <p:cNvPr id="2" name="24">
            <a:extLst xmlns:a="http://schemas.openxmlformats.org/drawingml/2006/main">
              <a:ext uri="{FF2B5EF4-FFF2-40B4-BE49-F238E27FC236}">
                <a16:creationId xmlns:a16="http://schemas.microsoft.com/office/drawing/2014/main" id="{1F5AD1E8-8F47-4221-B082-95A5DA3CB2CB}"/>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24</a:t>
            </a:r>
          </a:p>
        </p:txBody>
      </p:sp>
      <p:sp>
        <p:nvSpPr>
          <p:cNvPr id="3" name="GIF">
            <a:extLst xmlns:a="http://schemas.openxmlformats.org/drawingml/2006/main">
              <a:ext uri="{FF2B5EF4-FFF2-40B4-BE49-F238E27FC236}">
                <a16:creationId xmlns:a16="http://schemas.microsoft.com/office/drawing/2014/main" id="{1AA0272D-E351-4F9B-98D0-A5B36E5D0AA9}"/>
              </a:ext>
            </a:extLst>
          </p:cNvPr>
          <p:cNvSpPr>
            <a:spLocks xmlns:a="http://schemas.openxmlformats.org/drawingml/2006/main" noGrp="1"/>
          </p:cNvSpPr>
          <p:nvPr/>
        </p:nvSpPr>
        <p:spPr>
          <a:xfrm xmlns:a="http://schemas.openxmlformats.org/drawingml/2006/main">
            <a:off x="523875" y="4857750"/>
            <a:ext cx="342900" cy="190500"/>
          </a:xfrm>
          <a:prstGeom xmlns:a="http://schemas.openxmlformats.org/drawingml/2006/main" prst="rect">
            <a:avLst/>
          </a:prstGeom>
          <a:solidFill xmlns:a="http://schemas.openxmlformats.org/drawingml/2006/main">
            <a:srgbClr val="00539F"/>
          </a:solidFill>
          <a:ln xmlns:a="http://schemas.openxmlformats.org/drawingml/2006/main" w="0">
            <a:noFill/>
          </a:ln>
        </p:spPr>
        <p:txBody>
          <a:bodyPr xmlns:a="http://schemas.openxmlformats.org/drawingml/2006/main" wrap="square" lIns="57150" tIns="0" rIns="57150" bIns="0" anchor="ctr">
            <a:noAutofit/>
          </a:bodyPr>
          <a:lstStyle xmlns:a="http://schemas.openxmlformats.org/drawingml/2006/main"/>
          <a:p xmlns:a="http://schemas.openxmlformats.org/drawingml/2006/main">
            <a:pPr>
              <a:defRPr sz="900" b="1">
                <a:solidFill>
                  <a:srgbClr val="FFFFFF"/>
                </a:solidFill>
                <a:latin typeface="Arial"/>
                <a:ea typeface="Arial"/>
                <a:cs typeface="Arial"/>
              </a:defRPr>
            </a:pPr>
            <a:r>
              <a:rPr sz="900" b="1">
                <a:solidFill>
                  <a:srgbClr val="FFFFFF"/>
                </a:solidFill>
                <a:latin typeface="Arial"/>
                <a:ea typeface="Arial"/>
                <a:cs typeface="Arial"/>
              </a:rPr>
              <a:t>GIF</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63c81dfb8814a4a"/>
          <a:stretch xmlns:a="http://schemas.openxmlformats.org/drawingml/2006/main"/>
        </p:blipFill>
        <p:spPr>
          <a:xfrm xmlns:a="http://schemas.openxmlformats.org/drawingml/2006/main">
            <a:off x="1679437" y="1428750"/>
            <a:ext cx="2784750" cy="2686050"/>
          </a:xfrm>
          <a:prstGeom xmlns:a="http://schemas.openxmlformats.org/drawingml/2006/main" prst="rect">
            <a:avLst/>
          </a:prstGeom>
        </p:spPr>
      </p:pic>
      <p:sp>
        <p:nvSpPr>
          <p:cNvPr id="5" name="Depth, larger kernels and dilation broaden the area that can contribut">
            <a:extLst xmlns:a="http://schemas.openxmlformats.org/drawingml/2006/main">
              <a:ext uri="{FF2B5EF4-FFF2-40B4-BE49-F238E27FC236}">
                <a16:creationId xmlns:a16="http://schemas.microsoft.com/office/drawing/2014/main" id="{E4E71D8A-1EFF-4CAE-B187-8F02331C22E1}"/>
              </a:ext>
            </a:extLst>
          </p:cNvPr>
          <p:cNvSpPr>
            <a:spLocks xmlns:a="http://schemas.openxmlformats.org/drawingml/2006/main" noGrp="1"/>
          </p:cNvSpPr>
          <p:nvPr/>
        </p:nvSpPr>
        <p:spPr>
          <a:xfrm xmlns:a="http://schemas.openxmlformats.org/drawingml/2006/main">
            <a:off x="5953125" y="1485900"/>
            <a:ext cx="266700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0">
                <a:solidFill>
                  <a:srgbClr val="17324D"/>
                </a:solidFill>
                <a:latin typeface="Arial"/>
                <a:ea typeface="Arial"/>
                <a:cs typeface="Arial"/>
              </a:defRPr>
            </a:pPr>
            <a:r>
              <a:rPr sz="1875" b="0">
                <a:solidFill>
                  <a:srgbClr val="17324D"/>
                </a:solidFill>
                <a:latin typeface="Arial"/>
                <a:ea typeface="Arial"/>
                <a:cs typeface="Arial"/>
              </a:rPr>
              <a:t>Depth, larger kernels and dilation broaden the area that can contribute.</a:t>
            </a:r>
          </a:p>
          <a:p xmlns:a="http://schemas.openxmlformats.org/drawingml/2006/main">
            <a:r>
              <a:t/>
            </a:r>
          </a:p>
          <a:p xmlns:a="http://schemas.openxmlformats.org/drawingml/2006/main">
            <a:pPr>
              <a:defRPr sz="1875" b="0">
                <a:solidFill>
                  <a:srgbClr val="17324D"/>
                </a:solidFill>
                <a:latin typeface="Arial"/>
                <a:ea typeface="Arial"/>
                <a:cs typeface="Arial"/>
              </a:defRPr>
            </a:pPr>
            <a:r>
              <a:rPr sz="1875" b="0">
                <a:solidFill>
                  <a:srgbClr val="17324D"/>
                </a:solidFill>
                <a:latin typeface="Arial"/>
                <a:ea typeface="Arial"/>
                <a:cs typeface="Arial"/>
              </a:rPr>
              <a:t>Standard convolution reuses learned mixing weights at inference.</a:t>
            </a:r>
          </a:p>
        </p:txBody>
      </p:sp>
      <p:sp>
        <p:nvSpPr>
          <p:cNvPr id="6" name="Attention lets the contributions depend on the current image.">
            <a:extLst xmlns:a="http://schemas.openxmlformats.org/drawingml/2006/main">
              <a:ext uri="{FF2B5EF4-FFF2-40B4-BE49-F238E27FC236}">
                <a16:creationId xmlns:a16="http://schemas.microsoft.com/office/drawing/2014/main" id="{5364BBF9-EFF7-487D-8A2D-F83D7D36E471}"/>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Attention lets the contributions depend on the current image.</a:t>
            </a:r>
          </a:p>
        </p:txBody>
      </p:sp>
    </p:spTree>
    <p:extLst>
      <p:ext uri="{BB962C8B-B14F-4D97-AF65-F5344CB8AC3E}">
        <p14:creationId xmlns:p14="http://schemas.microsoft.com/office/powerpoint/2010/main" val="1808838893"/>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6" name="Language offers a useful analogy">
            <a:extLst xmlns:a="http://schemas.openxmlformats.org/drawingml/2006/main">
              <a:ext uri="{FF2B5EF4-FFF2-40B4-BE49-F238E27FC236}">
                <a16:creationId xmlns:a16="http://schemas.microsoft.com/office/drawing/2014/main" id="{09355CC6-7D0D-467D-B4A8-4FB685CA0483}"/>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Language offers a useful analogy</a:t>
            </a:r>
          </a:p>
        </p:txBody>
      </p:sp>
      <p:sp>
        <p:nvSpPr>
          <p:cNvPr id="2" name="25">
            <a:extLst xmlns:a="http://schemas.openxmlformats.org/drawingml/2006/main">
              <a:ext uri="{FF2B5EF4-FFF2-40B4-BE49-F238E27FC236}">
                <a16:creationId xmlns:a16="http://schemas.microsoft.com/office/drawing/2014/main" id="{5BE82AEB-6BDD-43E6-A693-7CE13EB18AD5}"/>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25</a:t>
            </a:r>
          </a:p>
        </p:txBody>
      </p:sp>
      <p:sp>
        <p:nvSpPr>
          <p:cNvPr id="3" name="The animal did not cross the street&#10;because it was tired.">
            <a:extLst xmlns:a="http://schemas.openxmlformats.org/drawingml/2006/main">
              <a:ext uri="{FF2B5EF4-FFF2-40B4-BE49-F238E27FC236}">
                <a16:creationId xmlns:a16="http://schemas.microsoft.com/office/drawing/2014/main" id="{4EA16C99-4D20-4D5D-AAC3-B516B454AEB2}"/>
              </a:ext>
            </a:extLst>
          </p:cNvPr>
          <p:cNvSpPr>
            <a:spLocks xmlns:a="http://schemas.openxmlformats.org/drawingml/2006/main" noGrp="1"/>
          </p:cNvSpPr>
          <p:nvPr/>
        </p:nvSpPr>
        <p:spPr>
          <a:xfrm xmlns:a="http://schemas.openxmlformats.org/drawingml/2006/main">
            <a:off x="762000" y="1762125"/>
            <a:ext cx="7620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925" b="0">
                <a:solidFill>
                  <a:srgbClr val="17324D"/>
                </a:solidFill>
                <a:latin typeface="Arial"/>
                <a:ea typeface="Arial"/>
                <a:cs typeface="Arial"/>
              </a:defRPr>
            </a:pPr>
            <a:r>
              <a:rPr sz="2925" b="0">
                <a:solidFill>
                  <a:srgbClr val="17324D"/>
                </a:solidFill>
                <a:latin typeface="Arial"/>
                <a:ea typeface="Arial"/>
                <a:cs typeface="Arial"/>
              </a:rPr>
              <a:t>The animal did not cross the street</a:t>
            </a:r>
          </a:p>
          <a:p xmlns:a="http://schemas.openxmlformats.org/drawingml/2006/main">
            <a:pPr>
              <a:defRPr sz="2925" b="0">
                <a:solidFill>
                  <a:srgbClr val="17324D"/>
                </a:solidFill>
                <a:latin typeface="Arial"/>
                <a:ea typeface="Arial"/>
                <a:cs typeface="Arial"/>
              </a:defRPr>
            </a:pPr>
            <a:r>
              <a:rPr sz="2925" b="0">
                <a:solidFill>
                  <a:srgbClr val="17324D"/>
                </a:solidFill>
                <a:latin typeface="Arial"/>
                <a:ea typeface="Arial"/>
                <a:cs typeface="Arial"/>
              </a:rPr>
              <a:t>because it was tired.</a:t>
            </a:r>
          </a:p>
        </p:txBody>
      </p:sp>
      <p:sp>
        <p:nvSpPr>
          <p:cNvPr id="4" name="A word draws useful context from other words.">
            <a:extLst xmlns:a="http://schemas.openxmlformats.org/drawingml/2006/main">
              <a:ext uri="{FF2B5EF4-FFF2-40B4-BE49-F238E27FC236}">
                <a16:creationId xmlns:a16="http://schemas.microsoft.com/office/drawing/2014/main" id="{D1A8177E-32F3-43B4-83F6-FC33A5535BF9}"/>
              </a:ext>
            </a:extLst>
          </p:cNvPr>
          <p:cNvSpPr>
            <a:spLocks xmlns:a="http://schemas.openxmlformats.org/drawingml/2006/main" noGrp="1"/>
          </p:cNvSpPr>
          <p:nvPr/>
        </p:nvSpPr>
        <p:spPr>
          <a:xfrm xmlns:a="http://schemas.openxmlformats.org/drawingml/2006/main">
            <a:off x="762000" y="3314700"/>
            <a:ext cx="762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00539F"/>
                </a:solidFill>
                <a:latin typeface="Arial"/>
                <a:ea typeface="Arial"/>
                <a:cs typeface="Arial"/>
              </a:defRPr>
            </a:pPr>
            <a:r>
              <a:rPr sz="2025" b="1">
                <a:solidFill>
                  <a:srgbClr val="00539F"/>
                </a:solidFill>
                <a:latin typeface="Arial"/>
                <a:ea typeface="Arial"/>
                <a:cs typeface="Arial"/>
              </a:rPr>
              <a:t>A word draws useful context from other words.</a:t>
            </a:r>
          </a:p>
        </p:txBody>
      </p:sp>
      <p:sp>
        <p:nvSpPr>
          <p:cNvPr id="5" name="A useful relationship can connect distant positions.">
            <a:extLst xmlns:a="http://schemas.openxmlformats.org/drawingml/2006/main">
              <a:ext uri="{FF2B5EF4-FFF2-40B4-BE49-F238E27FC236}">
                <a16:creationId xmlns:a16="http://schemas.microsoft.com/office/drawing/2014/main" id="{5360BDE8-3D65-4BEE-9A21-B1FEC23C65D6}"/>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A useful relationship can connect distant positions.</a:t>
            </a:r>
          </a:p>
        </p:txBody>
      </p:sp>
    </p:spTree>
    <p:extLst>
      <p:ext uri="{BB962C8B-B14F-4D97-AF65-F5344CB8AC3E}">
        <p14:creationId xmlns:p14="http://schemas.microsoft.com/office/powerpoint/2010/main" val="1808838893"/>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7" name="A vision transformer begins with patch features">
            <a:extLst xmlns:a="http://schemas.openxmlformats.org/drawingml/2006/main">
              <a:ext uri="{FF2B5EF4-FFF2-40B4-BE49-F238E27FC236}">
                <a16:creationId xmlns:a16="http://schemas.microsoft.com/office/drawing/2014/main" id="{E5538C6F-0643-49D6-AE79-0CB6351290B1}"/>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A vision transformer begins with patch features</a:t>
            </a:r>
          </a:p>
        </p:txBody>
      </p:sp>
      <p:sp>
        <p:nvSpPr>
          <p:cNvPr id="2" name="26">
            <a:extLst xmlns:a="http://schemas.openxmlformats.org/drawingml/2006/main">
              <a:ext uri="{FF2B5EF4-FFF2-40B4-BE49-F238E27FC236}">
                <a16:creationId xmlns:a16="http://schemas.microsoft.com/office/drawing/2014/main" id="{4D547C8B-BA8B-43E8-A328-B21E2133E7EB}"/>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26</a:t>
            </a:r>
          </a:p>
        </p:txBody>
      </p:sp>
      <p:sp>
        <p:nvSpPr>
          <p:cNvPr id="3" name="GIF">
            <a:extLst xmlns:a="http://schemas.openxmlformats.org/drawingml/2006/main">
              <a:ext uri="{FF2B5EF4-FFF2-40B4-BE49-F238E27FC236}">
                <a16:creationId xmlns:a16="http://schemas.microsoft.com/office/drawing/2014/main" id="{FFDCA283-C606-4840-8478-8CD731E3964A}"/>
              </a:ext>
            </a:extLst>
          </p:cNvPr>
          <p:cNvSpPr>
            <a:spLocks xmlns:a="http://schemas.openxmlformats.org/drawingml/2006/main" noGrp="1"/>
          </p:cNvSpPr>
          <p:nvPr/>
        </p:nvSpPr>
        <p:spPr>
          <a:xfrm xmlns:a="http://schemas.openxmlformats.org/drawingml/2006/main">
            <a:off x="523875" y="4857750"/>
            <a:ext cx="342900" cy="190500"/>
          </a:xfrm>
          <a:prstGeom xmlns:a="http://schemas.openxmlformats.org/drawingml/2006/main" prst="rect">
            <a:avLst/>
          </a:prstGeom>
          <a:solidFill xmlns:a="http://schemas.openxmlformats.org/drawingml/2006/main">
            <a:srgbClr val="00539F"/>
          </a:solidFill>
          <a:ln xmlns:a="http://schemas.openxmlformats.org/drawingml/2006/main" w="0">
            <a:noFill/>
          </a:ln>
        </p:spPr>
        <p:txBody>
          <a:bodyPr xmlns:a="http://schemas.openxmlformats.org/drawingml/2006/main" wrap="square" lIns="57150" tIns="0" rIns="57150" bIns="0" anchor="ctr">
            <a:noAutofit/>
          </a:bodyPr>
          <a:lstStyle xmlns:a="http://schemas.openxmlformats.org/drawingml/2006/main"/>
          <a:p xmlns:a="http://schemas.openxmlformats.org/drawingml/2006/main">
            <a:pPr>
              <a:defRPr sz="900" b="1">
                <a:solidFill>
                  <a:srgbClr val="FFFFFF"/>
                </a:solidFill>
                <a:latin typeface="Arial"/>
                <a:ea typeface="Arial"/>
                <a:cs typeface="Arial"/>
              </a:defRPr>
            </a:pPr>
            <a:r>
              <a:rPr sz="900" b="1">
                <a:solidFill>
                  <a:srgbClr val="FFFFFF"/>
                </a:solidFill>
                <a:latin typeface="Arial"/>
                <a:ea typeface="Arial"/>
                <a:cs typeface="Arial"/>
              </a:rPr>
              <a:t>GIF</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4d891b819fd4d93"/>
          <a:stretch xmlns:a="http://schemas.openxmlformats.org/drawingml/2006/main"/>
        </p:blipFill>
        <p:spPr>
          <a:xfrm xmlns:a="http://schemas.openxmlformats.org/drawingml/2006/main">
            <a:off x="2113890" y="1381125"/>
            <a:ext cx="4916220" cy="2771775"/>
          </a:xfrm>
          <a:prstGeom xmlns:a="http://schemas.openxmlformats.org/drawingml/2006/main" prst="rect">
            <a:avLst/>
          </a:prstGeom>
        </p:spPr>
      </p:pic>
      <p:sp>
        <p:nvSpPr>
          <p:cNvPr id="5" name="Image patches become feature vectors with position information">
            <a:extLst xmlns:a="http://schemas.openxmlformats.org/drawingml/2006/main">
              <a:ext uri="{FF2B5EF4-FFF2-40B4-BE49-F238E27FC236}">
                <a16:creationId xmlns:a16="http://schemas.microsoft.com/office/drawing/2014/main" id="{5B4552EF-51F0-4AEF-BBC0-7275A6DA0312}"/>
              </a:ext>
            </a:extLst>
          </p:cNvPr>
          <p:cNvSpPr>
            <a:spLocks xmlns:a="http://schemas.openxmlformats.org/drawingml/2006/main" noGrp="1"/>
          </p:cNvSpPr>
          <p:nvPr/>
        </p:nvSpPr>
        <p:spPr>
          <a:xfrm xmlns:a="http://schemas.openxmlformats.org/drawingml/2006/main">
            <a:off x="619125" y="4191000"/>
            <a:ext cx="790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Image patches become feature vectors with position information</a:t>
            </a:r>
          </a:p>
        </p:txBody>
      </p:sp>
      <p:sp>
        <p:nvSpPr>
          <p:cNvPr id="6" name="A patch is an image region, not necessarily an entire object.">
            <a:extLst xmlns:a="http://schemas.openxmlformats.org/drawingml/2006/main">
              <a:ext uri="{FF2B5EF4-FFF2-40B4-BE49-F238E27FC236}">
                <a16:creationId xmlns:a16="http://schemas.microsoft.com/office/drawing/2014/main" id="{DCD4FD2C-0C98-48EF-BDEC-284C94032A4A}"/>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A patch is an image region, not necessarily an entire object.</a:t>
            </a:r>
          </a:p>
        </p:txBody>
      </p:sp>
      <p:sp>
        <p:nvSpPr>
          <p:cNvPr id="11" name="Neural Vision demo link">
            <a:extLst xmlns:a="http://schemas.openxmlformats.org/drawingml/2006/main">
              <a:ext uri="{FF2B5EF4-FFF2-40B4-BE49-F238E27FC236}">
                <a16:creationId xmlns:a16="http://schemas.microsoft.com/office/drawing/2014/main" id="{E254DD24-1571-4273-B105-43AF3F6FEE05}"/>
              </a:ext>
            </a:extLst>
          </p:cNvPr>
          <p:cNvSpPr>
            <a:spLocks xmlns:a="http://schemas.openxmlformats.org/drawingml/2006/main" noGrp="1"/>
          </p:cNvSpPr>
          <p:nvPr/>
        </p:nvSpPr>
        <p:spPr>
          <a:xfrm xmlns:a="http://schemas.openxmlformats.org/drawingml/2006/main">
            <a:off x="5953125" y="485775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050">
                <a:solidFill>
                  <a:srgbClr val="00539F"/>
                </a:solidFill>
                <a:latin typeface="Arial"/>
                <a:ea typeface="Arial"/>
                <a:cs typeface="Arial"/>
              </a:defRPr>
            </a:pPr>
            <a:r>
              <a:rPr u="sng">
                <a:solidFill>
                  <a:srgbClr val="00539F"/>
                </a:solidFill>
                <a:hlinkClick xmlns:r="http://schemas.openxmlformats.org/officeDocument/2006/relationships" r:id="rIdNeuralVision1"/>
              </a:rPr>
              <a:t>Explore the transformer in 3D</a:t>
            </a:r>
          </a:p>
        </p:txBody>
      </p:sp>
    </p:spTree>
    <p:extLst>
      <p:ext uri="{BB962C8B-B14F-4D97-AF65-F5344CB8AC3E}">
        <p14:creationId xmlns:p14="http://schemas.microsoft.com/office/powerpoint/2010/main" val="1808838893"/>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7" name="Attention updates a patch using context">
            <a:extLst xmlns:a="http://schemas.openxmlformats.org/drawingml/2006/main">
              <a:ext uri="{FF2B5EF4-FFF2-40B4-BE49-F238E27FC236}">
                <a16:creationId xmlns:a16="http://schemas.microsoft.com/office/drawing/2014/main" id="{4D88D37A-106C-48A0-851D-293F7FE19E2B}"/>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Attention updates a patch using context</a:t>
            </a:r>
          </a:p>
        </p:txBody>
      </p:sp>
      <p:sp>
        <p:nvSpPr>
          <p:cNvPr id="2" name="27">
            <a:extLst xmlns:a="http://schemas.openxmlformats.org/drawingml/2006/main">
              <a:ext uri="{FF2B5EF4-FFF2-40B4-BE49-F238E27FC236}">
                <a16:creationId xmlns:a16="http://schemas.microsoft.com/office/drawing/2014/main" id="{0AEE1442-BED8-4B73-A394-46F4FCF6AC89}"/>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27</a:t>
            </a:r>
          </a:p>
        </p:txBody>
      </p:sp>
      <p:sp>
        <p:nvSpPr>
          <p:cNvPr id="3" name="GIF">
            <a:extLst xmlns:a="http://schemas.openxmlformats.org/drawingml/2006/main">
              <a:ext uri="{FF2B5EF4-FFF2-40B4-BE49-F238E27FC236}">
                <a16:creationId xmlns:a16="http://schemas.microsoft.com/office/drawing/2014/main" id="{5846380B-A9B3-4327-A8A6-E68C7B0EE9CE}"/>
              </a:ext>
            </a:extLst>
          </p:cNvPr>
          <p:cNvSpPr>
            <a:spLocks xmlns:a="http://schemas.openxmlformats.org/drawingml/2006/main" noGrp="1"/>
          </p:cNvSpPr>
          <p:nvPr/>
        </p:nvSpPr>
        <p:spPr>
          <a:xfrm xmlns:a="http://schemas.openxmlformats.org/drawingml/2006/main">
            <a:off x="523875" y="4857750"/>
            <a:ext cx="342900" cy="190500"/>
          </a:xfrm>
          <a:prstGeom xmlns:a="http://schemas.openxmlformats.org/drawingml/2006/main" prst="rect">
            <a:avLst/>
          </a:prstGeom>
          <a:solidFill xmlns:a="http://schemas.openxmlformats.org/drawingml/2006/main">
            <a:srgbClr val="00539F"/>
          </a:solidFill>
          <a:ln xmlns:a="http://schemas.openxmlformats.org/drawingml/2006/main" w="0">
            <a:noFill/>
          </a:ln>
        </p:spPr>
        <p:txBody>
          <a:bodyPr xmlns:a="http://schemas.openxmlformats.org/drawingml/2006/main" wrap="square" lIns="57150" tIns="0" rIns="57150" bIns="0" anchor="ctr">
            <a:noAutofit/>
          </a:bodyPr>
          <a:lstStyle xmlns:a="http://schemas.openxmlformats.org/drawingml/2006/main"/>
          <a:p xmlns:a="http://schemas.openxmlformats.org/drawingml/2006/main">
            <a:pPr>
              <a:defRPr sz="900" b="1">
                <a:solidFill>
                  <a:srgbClr val="FFFFFF"/>
                </a:solidFill>
                <a:latin typeface="Arial"/>
                <a:ea typeface="Arial"/>
                <a:cs typeface="Arial"/>
              </a:defRPr>
            </a:pPr>
            <a:r>
              <a:rPr sz="900" b="1">
                <a:solidFill>
                  <a:srgbClr val="FFFFFF"/>
                </a:solidFill>
                <a:latin typeface="Arial"/>
                <a:ea typeface="Arial"/>
                <a:cs typeface="Arial"/>
              </a:rPr>
              <a:t>GIF</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a054059a55f4417"/>
          <a:stretch xmlns:a="http://schemas.openxmlformats.org/drawingml/2006/main"/>
        </p:blipFill>
        <p:spPr>
          <a:xfrm xmlns:a="http://schemas.openxmlformats.org/drawingml/2006/main">
            <a:off x="1956861" y="1381125"/>
            <a:ext cx="5230278" cy="2771775"/>
          </a:xfrm>
          <a:prstGeom xmlns:a="http://schemas.openxmlformats.org/drawingml/2006/main" prst="rect">
            <a:avLst/>
          </a:prstGeom>
        </p:spPr>
      </p:pic>
      <p:sp>
        <p:nvSpPr>
          <p:cNvPr id="5" name="An illustrative attention update for one feature of one query patch">
            <a:extLst xmlns:a="http://schemas.openxmlformats.org/drawingml/2006/main">
              <a:ext uri="{FF2B5EF4-FFF2-40B4-BE49-F238E27FC236}">
                <a16:creationId xmlns:a16="http://schemas.microsoft.com/office/drawing/2014/main" id="{2F61269A-DD82-4C1A-8FBA-A0A58CAC8DDF}"/>
              </a:ext>
            </a:extLst>
          </p:cNvPr>
          <p:cNvSpPr>
            <a:spLocks xmlns:a="http://schemas.openxmlformats.org/drawingml/2006/main" noGrp="1"/>
          </p:cNvSpPr>
          <p:nvPr/>
        </p:nvSpPr>
        <p:spPr>
          <a:xfrm xmlns:a="http://schemas.openxmlformats.org/drawingml/2006/main">
            <a:off x="619125" y="4191000"/>
            <a:ext cx="790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An illustrative attention update for one feature of one query patch</a:t>
            </a:r>
          </a:p>
        </p:txBody>
      </p:sp>
      <p:sp>
        <p:nvSpPr>
          <p:cNvPr id="6" name="Compare patch features, weight their contributions, then combine them.">
            <a:extLst xmlns:a="http://schemas.openxmlformats.org/drawingml/2006/main">
              <a:ext uri="{FF2B5EF4-FFF2-40B4-BE49-F238E27FC236}">
                <a16:creationId xmlns:a16="http://schemas.microsoft.com/office/drawing/2014/main" id="{F1C17EAF-9D5C-4AF8-8B2F-EB737F49DDB1}"/>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Compare patch features, weight their contributions, then combine them.</a:t>
            </a:r>
          </a:p>
        </p:txBody>
      </p:sp>
    </p:spTree>
    <p:extLst>
      <p:ext uri="{BB962C8B-B14F-4D97-AF65-F5344CB8AC3E}">
        <p14:creationId xmlns:p14="http://schemas.microsoft.com/office/powerpoint/2010/main" val="1808838893"/>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7" name="Training determines which context becomes useful">
            <a:extLst xmlns:a="http://schemas.openxmlformats.org/drawingml/2006/main">
              <a:ext uri="{FF2B5EF4-FFF2-40B4-BE49-F238E27FC236}">
                <a16:creationId xmlns:a16="http://schemas.microsoft.com/office/drawing/2014/main" id="{CFF51E6F-C241-44BC-B478-A001216BF399}"/>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Training determines which context becomes useful</a:t>
            </a:r>
          </a:p>
        </p:txBody>
      </p:sp>
      <p:sp>
        <p:nvSpPr>
          <p:cNvPr id="2" name="28">
            <a:extLst xmlns:a="http://schemas.openxmlformats.org/drawingml/2006/main">
              <a:ext uri="{FF2B5EF4-FFF2-40B4-BE49-F238E27FC236}">
                <a16:creationId xmlns:a16="http://schemas.microsoft.com/office/drawing/2014/main" id="{26F82E82-5826-41CB-A348-BE9E796E6BF3}"/>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28</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c07fef1f9254b96"/>
          <a:stretch xmlns:a="http://schemas.openxmlformats.org/drawingml/2006/main"/>
        </p:blipFill>
        <p:spPr>
          <a:xfrm xmlns:a="http://schemas.openxmlformats.org/drawingml/2006/main">
            <a:off x="1044547" y="1381125"/>
            <a:ext cx="2244781" cy="2952750"/>
          </a:xfrm>
          <a:prstGeom xmlns:a="http://schemas.openxmlformats.org/drawingml/2006/main" prst="rect">
            <a:avLst/>
          </a:prstGeom>
        </p:spPr>
      </p:pic>
      <p:sp>
        <p:nvSpPr>
          <p:cNvPr id="4" name="The model learns how to compare and combine patch features.&#10;&#10;The task ">
            <a:extLst xmlns:a="http://schemas.openxmlformats.org/drawingml/2006/main">
              <a:ext uri="{FF2B5EF4-FFF2-40B4-BE49-F238E27FC236}">
                <a16:creationId xmlns:a16="http://schemas.microsoft.com/office/drawing/2014/main" id="{93170FBB-B636-4D06-BA3E-40F1E1EBFE5B}"/>
              </a:ext>
            </a:extLst>
          </p:cNvPr>
          <p:cNvSpPr>
            <a:spLocks xmlns:a="http://schemas.openxmlformats.org/drawingml/2006/main" noGrp="1"/>
          </p:cNvSpPr>
          <p:nvPr/>
        </p:nvSpPr>
        <p:spPr>
          <a:xfrm xmlns:a="http://schemas.openxmlformats.org/drawingml/2006/main">
            <a:off x="4238625" y="1485900"/>
            <a:ext cx="4381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The model learns how to compare and combine patch features.</a:t>
            </a:r>
          </a:p>
          <a:p xmlns:a="http://schemas.openxmlformats.org/drawingml/2006/main">
            <a:r>
              <a:t/>
            </a:r>
          </a:p>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The task loss rewards useful final predictions.</a:t>
            </a:r>
          </a:p>
        </p:txBody>
      </p:sp>
      <p:sp>
        <p:nvSpPr>
          <p:cNvPr id="5" name="Illustrative connections, not measured attention">
            <a:extLst xmlns:a="http://schemas.openxmlformats.org/drawingml/2006/main">
              <a:ext uri="{FF2B5EF4-FFF2-40B4-BE49-F238E27FC236}">
                <a16:creationId xmlns:a16="http://schemas.microsoft.com/office/drawing/2014/main" id="{5CB7C7B3-5033-4FED-82BF-266F5E9CC6ED}"/>
              </a:ext>
            </a:extLst>
          </p:cNvPr>
          <p:cNvSpPr>
            <a:spLocks xmlns:a="http://schemas.openxmlformats.org/drawingml/2006/main" noGrp="1"/>
          </p:cNvSpPr>
          <p:nvPr/>
        </p:nvSpPr>
        <p:spPr>
          <a:xfrm xmlns:a="http://schemas.openxmlformats.org/drawingml/2006/main">
            <a:off x="4238625" y="4152900"/>
            <a:ext cx="438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050" b="0">
                <a:solidFill>
                  <a:srgbClr val="00539F"/>
                </a:solidFill>
                <a:latin typeface="Arial"/>
                <a:ea typeface="Arial"/>
                <a:cs typeface="Arial"/>
              </a:defRPr>
            </a:pPr>
            <a:r>
              <a:rPr sz="1050" b="0">
                <a:solidFill>
                  <a:srgbClr val="00539F"/>
                </a:solidFill>
                <a:latin typeface="Arial"/>
                <a:ea typeface="Arial"/>
                <a:cs typeface="Arial"/>
              </a:rPr>
              <a:t>Illustrative connections, not measured attention</a:t>
            </a:r>
          </a:p>
        </p:txBody>
      </p:sp>
      <p:sp>
        <p:nvSpPr>
          <p:cNvPr id="6" name="Attention can also learn misleading associations from the data.">
            <a:extLst xmlns:a="http://schemas.openxmlformats.org/drawingml/2006/main">
              <a:ext uri="{FF2B5EF4-FFF2-40B4-BE49-F238E27FC236}">
                <a16:creationId xmlns:a16="http://schemas.microsoft.com/office/drawing/2014/main" id="{3886055C-FE99-43B6-B3B1-C5505F5EE2CE}"/>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Attention can also learn misleading associations from the data.</a:t>
            </a:r>
          </a:p>
        </p:txBody>
      </p:sp>
    </p:spTree>
    <p:extLst>
      <p:ext uri="{BB962C8B-B14F-4D97-AF65-F5344CB8AC3E}">
        <p14:creationId xmlns:p14="http://schemas.microsoft.com/office/powerpoint/2010/main" val="1808838893"/>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6" name="Repeated blocks refine the representation">
            <a:extLst xmlns:a="http://schemas.openxmlformats.org/drawingml/2006/main">
              <a:ext uri="{FF2B5EF4-FFF2-40B4-BE49-F238E27FC236}">
                <a16:creationId xmlns:a16="http://schemas.microsoft.com/office/drawing/2014/main" id="{20B3B942-5DDC-463B-B1A3-2F09EB8EB1E0}"/>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Repeated blocks refine the representation</a:t>
            </a:r>
          </a:p>
        </p:txBody>
      </p:sp>
      <p:sp>
        <p:nvSpPr>
          <p:cNvPr id="2" name="29">
            <a:extLst xmlns:a="http://schemas.openxmlformats.org/drawingml/2006/main">
              <a:ext uri="{FF2B5EF4-FFF2-40B4-BE49-F238E27FC236}">
                <a16:creationId xmlns:a16="http://schemas.microsoft.com/office/drawing/2014/main" id="{F036461F-BEFA-452E-8D1E-4C7317694C00}"/>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29</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1a44b74b17b4be9"/>
          <a:stretch xmlns:a="http://schemas.openxmlformats.org/drawingml/2006/main"/>
        </p:blipFill>
        <p:spPr>
          <a:xfrm xmlns:a="http://schemas.openxmlformats.org/drawingml/2006/main">
            <a:off x="523875" y="1494154"/>
            <a:ext cx="8096250" cy="2050417"/>
          </a:xfrm>
          <a:prstGeom xmlns:a="http://schemas.openxmlformats.org/drawingml/2006/main" prst="rect">
            <a:avLst/>
          </a:prstGeom>
        </p:spPr>
      </p:pic>
      <p:sp>
        <p:nvSpPr>
          <p:cNvPr id="4" name="Attention shares information between patches.&#10;Small neural networks tr">
            <a:extLst xmlns:a="http://schemas.openxmlformats.org/drawingml/2006/main">
              <a:ext uri="{FF2B5EF4-FFF2-40B4-BE49-F238E27FC236}">
                <a16:creationId xmlns:a16="http://schemas.microsoft.com/office/drawing/2014/main" id="{D5AE7E65-9755-4674-8DCA-D6089DF53D4C}"/>
              </a:ext>
            </a:extLst>
          </p:cNvPr>
          <p:cNvSpPr>
            <a:spLocks xmlns:a="http://schemas.openxmlformats.org/drawingml/2006/main" noGrp="1"/>
          </p:cNvSpPr>
          <p:nvPr/>
        </p:nvSpPr>
        <p:spPr>
          <a:xfrm xmlns:a="http://schemas.openxmlformats.org/drawingml/2006/main">
            <a:off x="523875" y="3714750"/>
            <a:ext cx="809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Attention shares information between patches.</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Small neural networks transform the resulting features.</a:t>
            </a:r>
          </a:p>
        </p:txBody>
      </p:sp>
      <p:sp>
        <p:nvSpPr>
          <p:cNvPr id="5" name="The representation develops over several rounds of processing.">
            <a:extLst xmlns:a="http://schemas.openxmlformats.org/drawingml/2006/main">
              <a:ext uri="{FF2B5EF4-FFF2-40B4-BE49-F238E27FC236}">
                <a16:creationId xmlns:a16="http://schemas.microsoft.com/office/drawing/2014/main" id="{67D17E56-00C5-46EE-87BD-49CE697E81CE}"/>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The representation develops over several rounds of processing.</a:t>
            </a:r>
          </a:p>
        </p:txBody>
      </p:sp>
    </p:spTree>
    <p:extLst>
      <p:ext uri="{BB962C8B-B14F-4D97-AF65-F5344CB8AC3E}">
        <p14:creationId xmlns:p14="http://schemas.microsoft.com/office/powerpoint/2010/main" val="1808838893"/>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10" name="The prediction head still has a job to do">
            <a:extLst xmlns:a="http://schemas.openxmlformats.org/drawingml/2006/main">
              <a:ext uri="{FF2B5EF4-FFF2-40B4-BE49-F238E27FC236}">
                <a16:creationId xmlns:a16="http://schemas.microsoft.com/office/drawing/2014/main" id="{7068326F-C1B3-4EA1-9700-5AACB72EAADD}"/>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The prediction head still has a job to do</a:t>
            </a:r>
          </a:p>
        </p:txBody>
      </p:sp>
      <p:sp>
        <p:nvSpPr>
          <p:cNvPr id="2" name="30">
            <a:extLst xmlns:a="http://schemas.openxmlformats.org/drawingml/2006/main">
              <a:ext uri="{FF2B5EF4-FFF2-40B4-BE49-F238E27FC236}">
                <a16:creationId xmlns:a16="http://schemas.microsoft.com/office/drawing/2014/main" id="{238A1C66-D727-4981-9ED4-155358944FEF}"/>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30</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d2af58a736847ab"/>
          <a:stretch xmlns:a="http://schemas.openxmlformats.org/drawingml/2006/main"/>
        </p:blipFill>
        <p:spPr>
          <a:xfrm xmlns:a="http://schemas.openxmlformats.org/drawingml/2006/main">
            <a:off x="523875" y="1740013"/>
            <a:ext cx="3857625" cy="1377723"/>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0d478a5f82243e4"/>
          <a:stretch xmlns:a="http://schemas.openxmlformats.org/drawingml/2006/main"/>
        </p:blipFill>
        <p:spPr>
          <a:xfrm xmlns:a="http://schemas.openxmlformats.org/drawingml/2006/main">
            <a:off x="4918197" y="1381125"/>
            <a:ext cx="3546231" cy="2095500"/>
          </a:xfrm>
          <a:prstGeom xmlns:a="http://schemas.openxmlformats.org/drawingml/2006/main" prst="rect">
            <a:avLst/>
          </a:prstGeom>
        </p:spPr>
      </p:pic>
      <p:sp>
        <p:nvSpPr>
          <p:cNvPr id="5" name="One image-level answer">
            <a:extLst xmlns:a="http://schemas.openxmlformats.org/drawingml/2006/main">
              <a:ext uri="{FF2B5EF4-FFF2-40B4-BE49-F238E27FC236}">
                <a16:creationId xmlns:a16="http://schemas.microsoft.com/office/drawing/2014/main" id="{48D7B1DC-DDCB-4C61-9BDC-21075C57E671}"/>
              </a:ext>
            </a:extLst>
          </p:cNvPr>
          <p:cNvSpPr>
            <a:spLocks xmlns:a="http://schemas.openxmlformats.org/drawingml/2006/main" noGrp="1"/>
          </p:cNvSpPr>
          <p:nvPr/>
        </p:nvSpPr>
        <p:spPr>
          <a:xfrm xmlns:a="http://schemas.openxmlformats.org/drawingml/2006/main">
            <a:off x="523875" y="3486150"/>
            <a:ext cx="3857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1">
                <a:solidFill>
                  <a:srgbClr val="00539F"/>
                </a:solidFill>
                <a:latin typeface="Arial"/>
                <a:ea typeface="Arial"/>
                <a:cs typeface="Arial"/>
              </a:defRPr>
            </a:pPr>
            <a:r>
              <a:rPr sz="1425" b="1">
                <a:solidFill>
                  <a:srgbClr val="00539F"/>
                </a:solidFill>
                <a:latin typeface="Arial"/>
                <a:ea typeface="Arial"/>
                <a:cs typeface="Arial"/>
              </a:rPr>
              <a:t>One image-level answer</a:t>
            </a:r>
          </a:p>
        </p:txBody>
      </p:sp>
      <p:sp>
        <p:nvSpPr>
          <p:cNvPr id="6" name="Several localized answers">
            <a:extLst xmlns:a="http://schemas.openxmlformats.org/drawingml/2006/main">
              <a:ext uri="{FF2B5EF4-FFF2-40B4-BE49-F238E27FC236}">
                <a16:creationId xmlns:a16="http://schemas.microsoft.com/office/drawing/2014/main" id="{FDE33FC6-FAFE-4C68-ADA9-63E52936A308}"/>
              </a:ext>
            </a:extLst>
          </p:cNvPr>
          <p:cNvSpPr>
            <a:spLocks xmlns:a="http://schemas.openxmlformats.org/drawingml/2006/main" noGrp="1"/>
          </p:cNvSpPr>
          <p:nvPr/>
        </p:nvSpPr>
        <p:spPr>
          <a:xfrm xmlns:a="http://schemas.openxmlformats.org/drawingml/2006/main">
            <a:off x="4762500" y="3486150"/>
            <a:ext cx="3857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1">
                <a:solidFill>
                  <a:srgbClr val="00539F"/>
                </a:solidFill>
                <a:latin typeface="Arial"/>
                <a:ea typeface="Arial"/>
                <a:cs typeface="Arial"/>
              </a:defRPr>
            </a:pPr>
            <a:r>
              <a:rPr sz="1425" b="1">
                <a:solidFill>
                  <a:srgbClr val="00539F"/>
                </a:solidFill>
                <a:latin typeface="Arial"/>
                <a:ea typeface="Arial"/>
                <a:cs typeface="Arial"/>
              </a:rPr>
              <a:t>Several localized answers</a:t>
            </a:r>
          </a:p>
        </p:txBody>
      </p:sp>
      <p:sp>
        <p:nvSpPr>
          <p:cNvPr id="7" name="Image classification produces category scores.">
            <a:extLst xmlns:a="http://schemas.openxmlformats.org/drawingml/2006/main">
              <a:ext uri="{FF2B5EF4-FFF2-40B4-BE49-F238E27FC236}">
                <a16:creationId xmlns:a16="http://schemas.microsoft.com/office/drawing/2014/main" id="{6978ABC2-02B4-4AFE-9505-15B506D73E64}"/>
              </a:ext>
            </a:extLst>
          </p:cNvPr>
          <p:cNvSpPr>
            <a:spLocks xmlns:a="http://schemas.openxmlformats.org/drawingml/2006/main" noGrp="1"/>
          </p:cNvSpPr>
          <p:nvPr/>
        </p:nvSpPr>
        <p:spPr>
          <a:xfrm xmlns:a="http://schemas.openxmlformats.org/drawingml/2006/main">
            <a:off x="523875" y="3781425"/>
            <a:ext cx="3857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Image classification produces category scores.</a:t>
            </a:r>
          </a:p>
        </p:txBody>
      </p:sp>
      <p:sp>
        <p:nvSpPr>
          <p:cNvPr id="8" name="Object detection produces classes and locations.">
            <a:extLst xmlns:a="http://schemas.openxmlformats.org/drawingml/2006/main">
              <a:ext uri="{FF2B5EF4-FFF2-40B4-BE49-F238E27FC236}">
                <a16:creationId xmlns:a16="http://schemas.microsoft.com/office/drawing/2014/main" id="{C75863C8-B769-4056-8EDE-A552F8F68F4E}"/>
              </a:ext>
            </a:extLst>
          </p:cNvPr>
          <p:cNvSpPr>
            <a:spLocks xmlns:a="http://schemas.openxmlformats.org/drawingml/2006/main" noGrp="1"/>
          </p:cNvSpPr>
          <p:nvPr/>
        </p:nvSpPr>
        <p:spPr>
          <a:xfrm xmlns:a="http://schemas.openxmlformats.org/drawingml/2006/main">
            <a:off x="4762500" y="3781425"/>
            <a:ext cx="3857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Object detection produces classes and locations.</a:t>
            </a:r>
          </a:p>
        </p:txBody>
      </p:sp>
      <p:sp>
        <p:nvSpPr>
          <p:cNvPr id="9" name="CNN and transformer features can both support these tasks.">
            <a:extLst xmlns:a="http://schemas.openxmlformats.org/drawingml/2006/main">
              <a:ext uri="{FF2B5EF4-FFF2-40B4-BE49-F238E27FC236}">
                <a16:creationId xmlns:a16="http://schemas.microsoft.com/office/drawing/2014/main" id="{7BF7F7C8-6E56-475F-9A5B-86CFAF7A1AD4}"/>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CNN and transformer features can both support these tasks.</a:t>
            </a:r>
          </a:p>
        </p:txBody>
      </p:sp>
    </p:spTree>
    <p:extLst>
      <p:ext uri="{BB962C8B-B14F-4D97-AF65-F5344CB8AC3E}">
        <p14:creationId xmlns:p14="http://schemas.microsoft.com/office/powerpoint/2010/main" val="180883889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6" name="Global attention has a cost">
            <a:extLst xmlns:a="http://schemas.openxmlformats.org/drawingml/2006/main">
              <a:ext uri="{FF2B5EF4-FFF2-40B4-BE49-F238E27FC236}">
                <a16:creationId xmlns:a16="http://schemas.microsoft.com/office/drawing/2014/main" id="{37915537-887F-479A-9A57-7D7D9DDBC6D6}"/>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Global attention has a cost</a:t>
            </a:r>
          </a:p>
        </p:txBody>
      </p:sp>
      <p:sp>
        <p:nvSpPr>
          <p:cNvPr id="2" name="31">
            <a:extLst xmlns:a="http://schemas.openxmlformats.org/drawingml/2006/main">
              <a:ext uri="{FF2B5EF4-FFF2-40B4-BE49-F238E27FC236}">
                <a16:creationId xmlns:a16="http://schemas.microsoft.com/office/drawing/2014/main" id="{7B257711-27A3-485D-80A2-29E21330873E}"/>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31</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71ba6898ce74f58"/>
          <a:stretch xmlns:a="http://schemas.openxmlformats.org/drawingml/2006/main"/>
        </p:blipFill>
        <p:spPr>
          <a:xfrm xmlns:a="http://schemas.openxmlformats.org/drawingml/2006/main">
            <a:off x="525298" y="1428750"/>
            <a:ext cx="5093030" cy="2686050"/>
          </a:xfrm>
          <a:prstGeom xmlns:a="http://schemas.openxmlformats.org/drawingml/2006/main" prst="rect">
            <a:avLst/>
          </a:prstGeom>
        </p:spPr>
      </p:pic>
      <p:sp>
        <p:nvSpPr>
          <p:cNvPr id="4" name="Finer patches create more tokens.&#10;&#10;Every token comparing with every ot">
            <a:extLst xmlns:a="http://schemas.openxmlformats.org/drawingml/2006/main">
              <a:ext uri="{FF2B5EF4-FFF2-40B4-BE49-F238E27FC236}">
                <a16:creationId xmlns:a16="http://schemas.microsoft.com/office/drawing/2014/main" id="{4209E0C7-CAB7-43AB-981C-E9705B67CAF0}"/>
              </a:ext>
            </a:extLst>
          </p:cNvPr>
          <p:cNvSpPr>
            <a:spLocks xmlns:a="http://schemas.openxmlformats.org/drawingml/2006/main" noGrp="1"/>
          </p:cNvSpPr>
          <p:nvPr/>
        </p:nvSpPr>
        <p:spPr>
          <a:xfrm xmlns:a="http://schemas.openxmlformats.org/drawingml/2006/main">
            <a:off x="5953125" y="1485900"/>
            <a:ext cx="266700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0">
                <a:solidFill>
                  <a:srgbClr val="17324D"/>
                </a:solidFill>
                <a:latin typeface="Arial"/>
                <a:ea typeface="Arial"/>
                <a:cs typeface="Arial"/>
              </a:defRPr>
            </a:pPr>
            <a:r>
              <a:rPr sz="1875" b="0">
                <a:solidFill>
                  <a:srgbClr val="17324D"/>
                </a:solidFill>
                <a:latin typeface="Arial"/>
                <a:ea typeface="Arial"/>
                <a:cs typeface="Arial"/>
              </a:rPr>
              <a:t>Finer patches create more tokens.</a:t>
            </a:r>
          </a:p>
          <a:p xmlns:a="http://schemas.openxmlformats.org/drawingml/2006/main">
            <a:r>
              <a:t/>
            </a:r>
          </a:p>
          <a:p xmlns:a="http://schemas.openxmlformats.org/drawingml/2006/main">
            <a:pPr>
              <a:defRPr sz="1875" b="0">
                <a:solidFill>
                  <a:srgbClr val="17324D"/>
                </a:solidFill>
                <a:latin typeface="Arial"/>
                <a:ea typeface="Arial"/>
                <a:cs typeface="Arial"/>
              </a:defRPr>
            </a:pPr>
            <a:r>
              <a:rPr sz="1875" b="0">
                <a:solidFill>
                  <a:srgbClr val="17324D"/>
                </a:solidFill>
                <a:latin typeface="Arial"/>
                <a:ea typeface="Arial"/>
                <a:cs typeface="Arial"/>
              </a:rPr>
              <a:t>Every token comparing with every other token creates many pairs.</a:t>
            </a:r>
          </a:p>
        </p:txBody>
      </p:sp>
      <p:sp>
        <p:nvSpPr>
          <p:cNvPr id="5" name="More detailed input can make attention much more expensive.">
            <a:extLst xmlns:a="http://schemas.openxmlformats.org/drawingml/2006/main">
              <a:ext uri="{FF2B5EF4-FFF2-40B4-BE49-F238E27FC236}">
                <a16:creationId xmlns:a16="http://schemas.microsoft.com/office/drawing/2014/main" id="{0CDA31F1-C072-4406-B2E6-FD589A9B850C}"/>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More detailed input can make attention much more expensive.</a:t>
            </a:r>
          </a:p>
        </p:txBody>
      </p:sp>
    </p:spTree>
    <p:extLst>
      <p:ext uri="{BB962C8B-B14F-4D97-AF65-F5344CB8AC3E}">
        <p14:creationId xmlns:p14="http://schemas.microsoft.com/office/powerpoint/2010/main" val="1808838893"/>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7" name="Windowed attention brings locality back">
            <a:extLst xmlns:a="http://schemas.openxmlformats.org/drawingml/2006/main">
              <a:ext uri="{FF2B5EF4-FFF2-40B4-BE49-F238E27FC236}">
                <a16:creationId xmlns:a16="http://schemas.microsoft.com/office/drawing/2014/main" id="{36B422EE-9A4E-4537-ABAD-4ACEC0FC8A84}"/>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Windowed attention brings locality back</a:t>
            </a:r>
          </a:p>
        </p:txBody>
      </p:sp>
      <p:sp>
        <p:nvSpPr>
          <p:cNvPr id="2" name="32">
            <a:extLst xmlns:a="http://schemas.openxmlformats.org/drawingml/2006/main">
              <a:ext uri="{FF2B5EF4-FFF2-40B4-BE49-F238E27FC236}">
                <a16:creationId xmlns:a16="http://schemas.microsoft.com/office/drawing/2014/main" id="{6D69CA79-C65A-4ECC-8B48-0A040FB919C4}"/>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32</a:t>
            </a:r>
          </a:p>
        </p:txBody>
      </p:sp>
      <p:sp>
        <p:nvSpPr>
          <p:cNvPr id="3" name="GIF">
            <a:extLst xmlns:a="http://schemas.openxmlformats.org/drawingml/2006/main">
              <a:ext uri="{FF2B5EF4-FFF2-40B4-BE49-F238E27FC236}">
                <a16:creationId xmlns:a16="http://schemas.microsoft.com/office/drawing/2014/main" id="{2CBF7F3B-1B9E-46E9-998C-9090DE790450}"/>
              </a:ext>
            </a:extLst>
          </p:cNvPr>
          <p:cNvSpPr>
            <a:spLocks xmlns:a="http://schemas.openxmlformats.org/drawingml/2006/main" noGrp="1"/>
          </p:cNvSpPr>
          <p:nvPr/>
        </p:nvSpPr>
        <p:spPr>
          <a:xfrm xmlns:a="http://schemas.openxmlformats.org/drawingml/2006/main">
            <a:off x="523875" y="4857750"/>
            <a:ext cx="342900" cy="190500"/>
          </a:xfrm>
          <a:prstGeom xmlns:a="http://schemas.openxmlformats.org/drawingml/2006/main" prst="rect">
            <a:avLst/>
          </a:prstGeom>
          <a:solidFill xmlns:a="http://schemas.openxmlformats.org/drawingml/2006/main">
            <a:srgbClr val="00539F"/>
          </a:solidFill>
          <a:ln xmlns:a="http://schemas.openxmlformats.org/drawingml/2006/main" w="0">
            <a:noFill/>
          </a:ln>
        </p:spPr>
        <p:txBody>
          <a:bodyPr xmlns:a="http://schemas.openxmlformats.org/drawingml/2006/main" wrap="square" lIns="57150" tIns="0" rIns="57150" bIns="0" anchor="ctr">
            <a:noAutofit/>
          </a:bodyPr>
          <a:lstStyle xmlns:a="http://schemas.openxmlformats.org/drawingml/2006/main"/>
          <a:p xmlns:a="http://schemas.openxmlformats.org/drawingml/2006/main">
            <a:pPr>
              <a:defRPr sz="900" b="1">
                <a:solidFill>
                  <a:srgbClr val="FFFFFF"/>
                </a:solidFill>
                <a:latin typeface="Arial"/>
                <a:ea typeface="Arial"/>
                <a:cs typeface="Arial"/>
              </a:defRPr>
            </a:pPr>
            <a:r>
              <a:rPr sz="900" b="1">
                <a:solidFill>
                  <a:srgbClr val="FFFFFF"/>
                </a:solidFill>
                <a:latin typeface="Arial"/>
                <a:ea typeface="Arial"/>
                <a:cs typeface="Arial"/>
              </a:rPr>
              <a:t>GIF</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b6865dc4bf84900"/>
          <a:stretch xmlns:a="http://schemas.openxmlformats.org/drawingml/2006/main"/>
        </p:blipFill>
        <p:spPr>
          <a:xfrm xmlns:a="http://schemas.openxmlformats.org/drawingml/2006/main">
            <a:off x="1154743" y="1381125"/>
            <a:ext cx="6834514" cy="2771775"/>
          </a:xfrm>
          <a:prstGeom xmlns:a="http://schemas.openxmlformats.org/drawingml/2006/main" prst="rect">
            <a:avLst/>
          </a:prstGeom>
        </p:spPr>
      </p:pic>
      <p:sp>
        <p:nvSpPr>
          <p:cNvPr id="5" name="Shifted windows let information cross an earlier boundary">
            <a:extLst xmlns:a="http://schemas.openxmlformats.org/drawingml/2006/main">
              <a:ext uri="{FF2B5EF4-FFF2-40B4-BE49-F238E27FC236}">
                <a16:creationId xmlns:a16="http://schemas.microsoft.com/office/drawing/2014/main" id="{32CCE91D-D78E-4E00-A1A9-8A9D45638AA8}"/>
              </a:ext>
            </a:extLst>
          </p:cNvPr>
          <p:cNvSpPr>
            <a:spLocks xmlns:a="http://schemas.openxmlformats.org/drawingml/2006/main" noGrp="1"/>
          </p:cNvSpPr>
          <p:nvPr/>
        </p:nvSpPr>
        <p:spPr>
          <a:xfrm xmlns:a="http://schemas.openxmlformats.org/drawingml/2006/main">
            <a:off x="619125" y="4191000"/>
            <a:ext cx="790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Shifted windows let information cross an earlier boundary</a:t>
            </a:r>
          </a:p>
        </p:txBody>
      </p:sp>
      <p:sp>
        <p:nvSpPr>
          <p:cNvPr id="6" name="Swin combines local attention with a hierarchy of image features.">
            <a:extLst xmlns:a="http://schemas.openxmlformats.org/drawingml/2006/main">
              <a:ext uri="{FF2B5EF4-FFF2-40B4-BE49-F238E27FC236}">
                <a16:creationId xmlns:a16="http://schemas.microsoft.com/office/drawing/2014/main" id="{7B85BF10-82AE-41BA-A281-E817593678F6}"/>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Swin combines local attention with a hierarchy of image features.</a:t>
            </a:r>
          </a:p>
        </p:txBody>
      </p:sp>
    </p:spTree>
    <p:extLst>
      <p:ext uri="{BB962C8B-B14F-4D97-AF65-F5344CB8AC3E}">
        <p14:creationId xmlns:p14="http://schemas.microsoft.com/office/powerpoint/2010/main" val="1808838893"/>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11" name="A new architecture does not remove the data problem">
            <a:extLst xmlns:a="http://schemas.openxmlformats.org/drawingml/2006/main">
              <a:ext uri="{FF2B5EF4-FFF2-40B4-BE49-F238E27FC236}">
                <a16:creationId xmlns:a16="http://schemas.microsoft.com/office/drawing/2014/main" id="{FDE52C13-A79A-4140-A15A-4719918F484B}"/>
              </a:ext>
            </a:extLst>
          </p:cNvPr>
          <p:cNvSpPr>
            <a:spLocks xmlns:a="http://schemas.openxmlformats.org/drawingml/2006/main" noGrp="1"/>
          </p:cNvSpPr>
          <p:nvPr/>
        </p:nvSpPr>
        <p:spPr>
          <a:xfrm xmlns:a="http://schemas.openxmlformats.org/drawingml/2006/main">
            <a:off x="495300" y="685800"/>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325" b="0">
                <a:solidFill>
                  <a:srgbClr val="00A0DF"/>
                </a:solidFill>
                <a:latin typeface="Arial"/>
                <a:ea typeface="Arial"/>
                <a:cs typeface="Arial"/>
              </a:defRPr>
            </a:pPr>
            <a:r>
              <a:rPr sz="2325" b="0">
                <a:solidFill>
                  <a:srgbClr val="00A0DF"/>
                </a:solidFill>
                <a:latin typeface="Arial"/>
                <a:ea typeface="Arial"/>
                <a:cs typeface="Arial"/>
              </a:rPr>
              <a:t>A new architecture does not remove the data problem</a:t>
            </a:r>
          </a:p>
        </p:txBody>
      </p:sp>
      <p:sp>
        <p:nvSpPr>
          <p:cNvPr id="2" name="33">
            <a:extLst xmlns:a="http://schemas.openxmlformats.org/drawingml/2006/main">
              <a:ext uri="{FF2B5EF4-FFF2-40B4-BE49-F238E27FC236}">
                <a16:creationId xmlns:a16="http://schemas.microsoft.com/office/drawing/2014/main" id="{B89B6F64-D4CC-4F83-8918-CA4225C76E17}"/>
              </a:ext>
            </a:extLst>
          </p:cNvPr>
          <p:cNvSpPr>
            <a:spLocks xmlns:a="http://schemas.openxmlformats.org/drawingml/2006/main" noGrp="1"/>
          </p:cNvSpPr>
          <p:nvPr/>
        </p:nvSpPr>
        <p:spPr>
          <a:xfrm xmlns:a="http://schemas.openxmlformats.org/drawingml/2006/main">
            <a:off x="8429625" y="4838700"/>
            <a:ext cx="276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33</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282ae4cf2e4439d"/>
          <a:stretch xmlns:a="http://schemas.openxmlformats.org/drawingml/2006/main"/>
        </p:blipFill>
        <p:spPr>
          <a:xfrm xmlns:a="http://schemas.openxmlformats.org/drawingml/2006/main">
            <a:off x="840083" y="1381125"/>
            <a:ext cx="3225209" cy="2095500"/>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0ab44c158ed43cb"/>
          <a:stretch xmlns:a="http://schemas.openxmlformats.org/drawingml/2006/main"/>
        </p:blipFill>
        <p:spPr>
          <a:xfrm xmlns:a="http://schemas.openxmlformats.org/drawingml/2006/main">
            <a:off x="5078708" y="1381125"/>
            <a:ext cx="3225209" cy="2095500"/>
          </a:xfrm>
          <a:prstGeom xmlns:a="http://schemas.openxmlformats.org/drawingml/2006/main" prst="rect">
            <a:avLst/>
          </a:prstGeom>
        </p:spPr>
      </p:pic>
      <p:sp>
        <p:nvSpPr>
          <p:cNvPr id="5" name="Changed appearance">
            <a:extLst xmlns:a="http://schemas.openxmlformats.org/drawingml/2006/main">
              <a:ext uri="{FF2B5EF4-FFF2-40B4-BE49-F238E27FC236}">
                <a16:creationId xmlns:a16="http://schemas.microsoft.com/office/drawing/2014/main" id="{D28AC685-A342-4951-AEAB-54C0E0727C58}"/>
              </a:ext>
            </a:extLst>
          </p:cNvPr>
          <p:cNvSpPr>
            <a:spLocks xmlns:a="http://schemas.openxmlformats.org/drawingml/2006/main" noGrp="1"/>
          </p:cNvSpPr>
          <p:nvPr/>
        </p:nvSpPr>
        <p:spPr>
          <a:xfrm xmlns:a="http://schemas.openxmlformats.org/drawingml/2006/main">
            <a:off x="523875" y="3486150"/>
            <a:ext cx="3857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1">
                <a:solidFill>
                  <a:srgbClr val="00539F"/>
                </a:solidFill>
                <a:latin typeface="Arial"/>
                <a:ea typeface="Arial"/>
                <a:cs typeface="Arial"/>
              </a:defRPr>
            </a:pPr>
            <a:r>
              <a:rPr sz="1425" b="1">
                <a:solidFill>
                  <a:srgbClr val="00539F"/>
                </a:solidFill>
                <a:latin typeface="Arial"/>
                <a:ea typeface="Arial"/>
                <a:cs typeface="Arial"/>
              </a:rPr>
              <a:t>Changed appearance</a:t>
            </a:r>
          </a:p>
        </p:txBody>
      </p:sp>
      <p:sp>
        <p:nvSpPr>
          <p:cNvPr id="6" name="Missing evidence">
            <a:extLst xmlns:a="http://schemas.openxmlformats.org/drawingml/2006/main">
              <a:ext uri="{FF2B5EF4-FFF2-40B4-BE49-F238E27FC236}">
                <a16:creationId xmlns:a16="http://schemas.microsoft.com/office/drawing/2014/main" id="{14A02C6B-2F4E-45A7-BDF6-DC376AC5CF37}"/>
              </a:ext>
            </a:extLst>
          </p:cNvPr>
          <p:cNvSpPr>
            <a:spLocks xmlns:a="http://schemas.openxmlformats.org/drawingml/2006/main" noGrp="1"/>
          </p:cNvSpPr>
          <p:nvPr/>
        </p:nvSpPr>
        <p:spPr>
          <a:xfrm xmlns:a="http://schemas.openxmlformats.org/drawingml/2006/main">
            <a:off x="4762500" y="3486150"/>
            <a:ext cx="3857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1">
                <a:solidFill>
                  <a:srgbClr val="00539F"/>
                </a:solidFill>
                <a:latin typeface="Arial"/>
                <a:ea typeface="Arial"/>
                <a:cs typeface="Arial"/>
              </a:defRPr>
            </a:pPr>
            <a:r>
              <a:rPr sz="1425" b="1">
                <a:solidFill>
                  <a:srgbClr val="00539F"/>
                </a:solidFill>
                <a:latin typeface="Arial"/>
                <a:ea typeface="Arial"/>
                <a:cs typeface="Arial"/>
              </a:rPr>
              <a:t>Missing evidence</a:t>
            </a:r>
          </a:p>
        </p:txBody>
      </p:sp>
      <p:sp>
        <p:nvSpPr>
          <p:cNvPr id="7" name="Missing or ambiguous evidence can still cause mistakes.">
            <a:extLst xmlns:a="http://schemas.openxmlformats.org/drawingml/2006/main">
              <a:ext uri="{FF2B5EF4-FFF2-40B4-BE49-F238E27FC236}">
                <a16:creationId xmlns:a16="http://schemas.microsoft.com/office/drawing/2014/main" id="{15BE5993-C0F5-4432-9E1C-325C52D57D10}"/>
              </a:ext>
            </a:extLst>
          </p:cNvPr>
          <p:cNvSpPr>
            <a:spLocks xmlns:a="http://schemas.openxmlformats.org/drawingml/2006/main" noGrp="1"/>
          </p:cNvSpPr>
          <p:nvPr/>
        </p:nvSpPr>
        <p:spPr>
          <a:xfrm xmlns:a="http://schemas.openxmlformats.org/drawingml/2006/main">
            <a:off x="523875" y="3781425"/>
            <a:ext cx="3857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Missing or ambiguous evidence can still cause mistakes.</a:t>
            </a:r>
          </a:p>
        </p:txBody>
      </p:sp>
      <p:sp>
        <p:nvSpPr>
          <p:cNvPr id="8" name="Context can help, and it can also mislead.">
            <a:extLst xmlns:a="http://schemas.openxmlformats.org/drawingml/2006/main">
              <a:ext uri="{FF2B5EF4-FFF2-40B4-BE49-F238E27FC236}">
                <a16:creationId xmlns:a16="http://schemas.microsoft.com/office/drawing/2014/main" id="{EA741B48-D240-4B93-939E-60BA412E2F1A}"/>
              </a:ext>
            </a:extLst>
          </p:cNvPr>
          <p:cNvSpPr>
            <a:spLocks xmlns:a="http://schemas.openxmlformats.org/drawingml/2006/main" noGrp="1"/>
          </p:cNvSpPr>
          <p:nvPr/>
        </p:nvSpPr>
        <p:spPr>
          <a:xfrm xmlns:a="http://schemas.openxmlformats.org/drawingml/2006/main">
            <a:off x="4762500" y="3781425"/>
            <a:ext cx="3857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Context can help, and it can also mislead.</a:t>
            </a:r>
          </a:p>
        </p:txBody>
      </p:sp>
      <p:sp>
        <p:nvSpPr>
          <p:cNvPr id="9" name="Representative evaluation remains necessary for either architecture.">
            <a:extLst xmlns:a="http://schemas.openxmlformats.org/drawingml/2006/main">
              <a:ext uri="{FF2B5EF4-FFF2-40B4-BE49-F238E27FC236}">
                <a16:creationId xmlns:a16="http://schemas.microsoft.com/office/drawing/2014/main" id="{225BECD5-CA0B-48F6-87BE-A54FC55F3C0F}"/>
              </a:ext>
            </a:extLst>
          </p:cNvPr>
          <p:cNvSpPr>
            <a:spLocks xmlns:a="http://schemas.openxmlformats.org/drawingml/2006/main" noGrp="1"/>
          </p:cNvSpPr>
          <p:nvPr/>
        </p:nvSpPr>
        <p:spPr>
          <a:xfrm xmlns:a="http://schemas.openxmlformats.org/drawingml/2006/main">
            <a:off x="523875" y="44958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1">
                <a:solidFill>
                  <a:srgbClr val="00539F"/>
                </a:solidFill>
                <a:latin typeface="Arial"/>
                <a:ea typeface="Arial"/>
                <a:cs typeface="Arial"/>
              </a:defRPr>
            </a:pPr>
            <a:r>
              <a:rPr sz="1650" b="1">
                <a:solidFill>
                  <a:srgbClr val="00539F"/>
                </a:solidFill>
                <a:latin typeface="Arial"/>
                <a:ea typeface="Arial"/>
                <a:cs typeface="Arial"/>
              </a:rPr>
              <a:t>Representative evaluation remains necessary for either architecture.</a:t>
            </a:r>
          </a:p>
        </p:txBody>
      </p:sp>
      <p:sp>
        <p:nvSpPr>
          <p:cNvPr id="10" name="AI-generated teaching illustration">
            <a:extLst xmlns:a="http://schemas.openxmlformats.org/drawingml/2006/main">
              <a:ext uri="{FF2B5EF4-FFF2-40B4-BE49-F238E27FC236}">
                <a16:creationId xmlns:a16="http://schemas.microsoft.com/office/drawing/2014/main" id="{25B96DFF-B6DE-46F4-BAC6-724A24A1803C}"/>
              </a:ext>
            </a:extLst>
          </p:cNvPr>
          <p:cNvSpPr>
            <a:spLocks xmlns:a="http://schemas.openxmlformats.org/drawingml/2006/main" noGrp="1"/>
          </p:cNvSpPr>
          <p:nvPr/>
        </p:nvSpPr>
        <p:spPr>
          <a:xfrm xmlns:a="http://schemas.openxmlformats.org/drawingml/2006/main">
            <a:off x="6191250" y="400050"/>
            <a:ext cx="2333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975" b="0">
                <a:solidFill>
                  <a:srgbClr val="17324D"/>
                </a:solidFill>
                <a:latin typeface="Arial"/>
                <a:ea typeface="Arial"/>
                <a:cs typeface="Arial"/>
              </a:defRPr>
            </a:pPr>
            <a:r>
              <a:rPr sz="975" b="0">
                <a:solidFill>
                  <a:srgbClr val="17324D"/>
                </a:solidFill>
                <a:latin typeface="Arial"/>
                <a:ea typeface="Arial"/>
                <a:cs typeface="Arial"/>
              </a:rPr>
              <a:t>AI-generated teaching illustration</a:t>
            </a:r>
          </a:p>
        </p:txBody>
      </p:sp>
    </p:spTree>
    <p:extLst>
      <p:ext uri="{BB962C8B-B14F-4D97-AF65-F5344CB8AC3E}">
        <p14:creationId xmlns:p14="http://schemas.microsoft.com/office/powerpoint/2010/main" val="1808838893"/>
      </p:ext>
    </p:extLst>
  </p:cSld>
</p:sld>
</file>

<file path=ppt/theme/theme1.xml><?xml version="1.0" encoding="utf-8"?>
<a:theme xmlns:a="http://schemas.openxmlformats.org/drawingml/2006/main" name="Office Theme">
  <a:themeElements>
    <a:clrScheme name="UD Primary and Secondary">
      <a:dk1>
        <a:srgbClr val="000000"/>
      </a:dk1>
      <a:lt1>
        <a:srgbClr val="FFFFFF"/>
      </a:lt1>
      <a:dk2>
        <a:srgbClr val="00539F"/>
      </a:dk2>
      <a:lt2>
        <a:srgbClr val="EEECE1"/>
      </a:lt2>
      <a:accent1>
        <a:srgbClr val="4F81BD"/>
      </a:accent1>
      <a:accent2>
        <a:srgbClr val="AF1E2D"/>
      </a:accent2>
      <a:accent3>
        <a:srgbClr val="BED600"/>
      </a:accent3>
      <a:accent4>
        <a:srgbClr val="5A8E22"/>
      </a:accent4>
      <a:accent5>
        <a:srgbClr val="00A0DF"/>
      </a:accent5>
      <a:accent6>
        <a:srgbClr val="EF8200"/>
      </a:accent6>
      <a:hlink>
        <a:srgbClr val="00539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D Primary and Secondar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2026-09-05T02:06:26.4980000Z</dcterms:created>
  <dcterms:modified xsi:type="dcterms:W3CDTF">2026-09-05T02:06:26.4980000Z</dcterms:modified>
</coreProperties>
</file>