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bda3d71be247d9" /><Relationship Type="http://schemas.openxmlformats.org/officeDocument/2006/relationships/extended-properties" Target="/docProps/app.xml" Id="R540d222341ad4ea3" /><Relationship Type="http://schemas.openxmlformats.org/officeDocument/2006/relationships/officeDocument" Target="/ppt/presentation.xml" Id="Rbb359619179043a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d86549a17e64aac"/>
  </p:sldMasterIdLst>
  <p:notesMasterIdLst>
    <p:notesMasterId xmlns:r="http://schemas.openxmlformats.org/officeDocument/2006/relationships" r:id="R678119875d4e44ba"/>
  </p:notesMasterIdLst>
  <p:sldIdLst>
    <p:sldId xmlns:r="http://schemas.openxmlformats.org/officeDocument/2006/relationships" id="256" r:id="R8c49bd9ff86b42df"/>
    <p:sldId xmlns:r="http://schemas.openxmlformats.org/officeDocument/2006/relationships" id="257" r:id="R77421d61e7024813"/>
    <p:sldId xmlns:r="http://schemas.openxmlformats.org/officeDocument/2006/relationships" id="258" r:id="R8822feb5cd494ab8"/>
    <p:sldId xmlns:r="http://schemas.openxmlformats.org/officeDocument/2006/relationships" id="259" r:id="Re5f0b3779d2b416a"/>
    <p:sldId xmlns:r="http://schemas.openxmlformats.org/officeDocument/2006/relationships" id="260" r:id="R5663b393bb6241b0"/>
    <p:sldId xmlns:r="http://schemas.openxmlformats.org/officeDocument/2006/relationships" id="261" r:id="R434c0f2dafe94262"/>
    <p:sldId xmlns:r="http://schemas.openxmlformats.org/officeDocument/2006/relationships" id="262" r:id="R114870cb9e654e5c"/>
    <p:sldId xmlns:r="http://schemas.openxmlformats.org/officeDocument/2006/relationships" id="263" r:id="Rc28a709add1e4aea"/>
    <p:sldId xmlns:r="http://schemas.openxmlformats.org/officeDocument/2006/relationships" id="264" r:id="R0f8ea4ea154b4a44"/>
    <p:sldId xmlns:r="http://schemas.openxmlformats.org/officeDocument/2006/relationships" id="265" r:id="Rb9ed3a2340cf434d"/>
    <p:sldId xmlns:r="http://schemas.openxmlformats.org/officeDocument/2006/relationships" id="266" r:id="Rdae7188e1f734cb4"/>
    <p:sldId xmlns:r="http://schemas.openxmlformats.org/officeDocument/2006/relationships" id="267" r:id="Reb6b31ecaa74425b"/>
    <p:sldId xmlns:r="http://schemas.openxmlformats.org/officeDocument/2006/relationships" id="268" r:id="Ra2f3b3b215bc443a"/>
    <p:sldId xmlns:r="http://schemas.openxmlformats.org/officeDocument/2006/relationships" id="269" r:id="R9378ae8afd374c00"/>
    <p:sldId xmlns:r="http://schemas.openxmlformats.org/officeDocument/2006/relationships" id="270" r:id="R8a38883765e8467e"/>
    <p:sldId xmlns:r="http://schemas.openxmlformats.org/officeDocument/2006/relationships" id="271" r:id="Rd6b5bcdbe8ef4480"/>
    <p:sldId xmlns:r="http://schemas.openxmlformats.org/officeDocument/2006/relationships" id="272" r:id="Rea29683493fc48e5"/>
    <p:sldId xmlns:r="http://schemas.openxmlformats.org/officeDocument/2006/relationships" id="273" r:id="R1ad985ab6f9a4a1b"/>
    <p:sldId xmlns:r="http://schemas.openxmlformats.org/officeDocument/2006/relationships" id="274" r:id="R4459f0107ded452d"/>
    <p:sldId xmlns:r="http://schemas.openxmlformats.org/officeDocument/2006/relationships" id="275" r:id="R215f3520318e4588"/>
    <p:sldId xmlns:r="http://schemas.openxmlformats.org/officeDocument/2006/relationships" id="276" r:id="R8ea35c34f288400b"/>
    <p:sldId xmlns:r="http://schemas.openxmlformats.org/officeDocument/2006/relationships" id="277" r:id="R4a3f9e0615a54da6"/>
    <p:sldId xmlns:r="http://schemas.openxmlformats.org/officeDocument/2006/relationships" id="278" r:id="R713cfdb8418a4ac9"/>
    <p:sldId xmlns:r="http://schemas.openxmlformats.org/officeDocument/2006/relationships" id="279" r:id="Rbfebeda7b4714f8b"/>
    <p:sldId xmlns:r="http://schemas.openxmlformats.org/officeDocument/2006/relationships" id="280" r:id="R64b7f686bf0645c0"/>
    <p:sldId xmlns:r="http://schemas.openxmlformats.org/officeDocument/2006/relationships" id="281" r:id="R305624e573b747cc"/>
    <p:sldId xmlns:r="http://schemas.openxmlformats.org/officeDocument/2006/relationships" id="282" r:id="Ra20ab3d93af04baa"/>
    <p:sldId xmlns:r="http://schemas.openxmlformats.org/officeDocument/2006/relationships" id="283" r:id="Rb4b5a0d02f4a460d"/>
    <p:sldId xmlns:r="http://schemas.openxmlformats.org/officeDocument/2006/relationships" id="284" r:id="R2829b214f8604523"/>
    <p:sldId xmlns:r="http://schemas.openxmlformats.org/officeDocument/2006/relationships" id="285" r:id="R33f3ef7b23314491"/>
  </p:sldIdLst>
  <p:sldSz cx="9144000" cy="5143500"/>
  <p:notesSz cx="6858000" cy="9144000"/>
  <p:embeddedFontLst>
    <p:embeddedFont>
      <p:font typeface="Helvetica Neue"/>
      <p:regular xmlns:r="http://schemas.openxmlformats.org/officeDocument/2006/relationships" r:id="R71ab4f1d55c241cd"/>
      <p:bold xmlns:r="http://schemas.openxmlformats.org/officeDocument/2006/relationships" r:id="Ra33414bfdcd1417e"/>
      <p:italic xmlns:r="http://schemas.openxmlformats.org/officeDocument/2006/relationships" r:id="Rf09f1c4228e44a23"/>
      <p:boldItalic xmlns:r="http://schemas.openxmlformats.org/officeDocument/2006/relationships" r:id="Rc501f01981854bd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3f76e87dcc6e45b3" /><Relationship Type="http://schemas.openxmlformats.org/officeDocument/2006/relationships/slideMaster" Target="/ppt/slideMasters/slideMaster1.xml" Id="R1d86549a17e64aac" /><Relationship Type="http://schemas.openxmlformats.org/officeDocument/2006/relationships/notesMaster" Target="/ppt/notesMasters/notesMaster1.xml" Id="R678119875d4e44ba" /><Relationship Type="http://schemas.openxmlformats.org/officeDocument/2006/relationships/presProps" Target="/ppt/presProps.xml" Id="Ra9302a24cff54f7e" /><Relationship Type="http://schemas.openxmlformats.org/officeDocument/2006/relationships/viewProps" Target="/ppt/viewProps.xml" Id="R496a00bd85674c17" /><Relationship Type="http://schemas.openxmlformats.org/officeDocument/2006/relationships/tableStyles" Target="/ppt/tableStyles.xml" Id="R9e3ca760917b4deb" /><Relationship Type="http://schemas.openxmlformats.org/officeDocument/2006/relationships/font" Target="/ppt/fonts/font.dat" Id="R71ab4f1d55c241cd" /><Relationship Type="http://schemas.openxmlformats.org/officeDocument/2006/relationships/font" Target="/ppt/fonts/font2.dat" Id="Ra33414bfdcd1417e" /><Relationship Type="http://schemas.openxmlformats.org/officeDocument/2006/relationships/font" Target="/ppt/fonts/font3.dat" Id="Rf09f1c4228e44a23" /><Relationship Type="http://schemas.openxmlformats.org/officeDocument/2006/relationships/font" Target="/ppt/fonts/font4.dat" Id="Rc501f01981854bd0" /><Relationship Type="http://schemas.openxmlformats.org/officeDocument/2006/relationships/slide" Target="/ppt/slides/slide1.xml" Id="R8c49bd9ff86b42df" /><Relationship Type="http://schemas.openxmlformats.org/officeDocument/2006/relationships/slide" Target="/ppt/slides/slide2.xml" Id="R77421d61e7024813" /><Relationship Type="http://schemas.openxmlformats.org/officeDocument/2006/relationships/slide" Target="/ppt/slides/slide3.xml" Id="R8822feb5cd494ab8" /><Relationship Type="http://schemas.openxmlformats.org/officeDocument/2006/relationships/slide" Target="/ppt/slides/slide4.xml" Id="Re5f0b3779d2b416a" /><Relationship Type="http://schemas.openxmlformats.org/officeDocument/2006/relationships/slide" Target="/ppt/slides/slide5.xml" Id="R5663b393bb6241b0" /><Relationship Type="http://schemas.openxmlformats.org/officeDocument/2006/relationships/slide" Target="/ppt/slides/slide6.xml" Id="R434c0f2dafe94262" /><Relationship Type="http://schemas.openxmlformats.org/officeDocument/2006/relationships/slide" Target="/ppt/slides/slide7.xml" Id="R114870cb9e654e5c" /><Relationship Type="http://schemas.openxmlformats.org/officeDocument/2006/relationships/slide" Target="/ppt/slides/slide8.xml" Id="Rc28a709add1e4aea" /><Relationship Type="http://schemas.openxmlformats.org/officeDocument/2006/relationships/slide" Target="/ppt/slides/slide9.xml" Id="R0f8ea4ea154b4a44" /><Relationship Type="http://schemas.openxmlformats.org/officeDocument/2006/relationships/slide" Target="/ppt/slides/slide10.xml" Id="Rb9ed3a2340cf434d" /><Relationship Type="http://schemas.openxmlformats.org/officeDocument/2006/relationships/slide" Target="/ppt/slides/slide11.xml" Id="Rdae7188e1f734cb4" /><Relationship Type="http://schemas.openxmlformats.org/officeDocument/2006/relationships/slide" Target="/ppt/slides/slide12.xml" Id="Reb6b31ecaa74425b" /><Relationship Type="http://schemas.openxmlformats.org/officeDocument/2006/relationships/slide" Target="/ppt/slides/slide13.xml" Id="Ra2f3b3b215bc443a" /><Relationship Type="http://schemas.openxmlformats.org/officeDocument/2006/relationships/slide" Target="/ppt/slides/slide14.xml" Id="R9378ae8afd374c00" /><Relationship Type="http://schemas.openxmlformats.org/officeDocument/2006/relationships/slide" Target="/ppt/slides/slide15.xml" Id="R8a38883765e8467e" /><Relationship Type="http://schemas.openxmlformats.org/officeDocument/2006/relationships/slide" Target="/ppt/slides/slide16.xml" Id="Rd6b5bcdbe8ef4480" /><Relationship Type="http://schemas.openxmlformats.org/officeDocument/2006/relationships/slide" Target="/ppt/slides/slide17.xml" Id="Rea29683493fc48e5" /><Relationship Type="http://schemas.openxmlformats.org/officeDocument/2006/relationships/slide" Target="/ppt/slides/slide18.xml" Id="R1ad985ab6f9a4a1b" /><Relationship Type="http://schemas.openxmlformats.org/officeDocument/2006/relationships/slide" Target="/ppt/slides/slide19.xml" Id="R4459f0107ded452d" /><Relationship Type="http://schemas.openxmlformats.org/officeDocument/2006/relationships/slide" Target="/ppt/slides/slide20.xml" Id="R215f3520318e4588" /><Relationship Type="http://schemas.openxmlformats.org/officeDocument/2006/relationships/slide" Target="/ppt/slides/slide21.xml" Id="R8ea35c34f288400b" /><Relationship Type="http://schemas.openxmlformats.org/officeDocument/2006/relationships/slide" Target="/ppt/slides/slide22.xml" Id="R4a3f9e0615a54da6" /><Relationship Type="http://schemas.openxmlformats.org/officeDocument/2006/relationships/slide" Target="/ppt/slides/slide23.xml" Id="R713cfdb8418a4ac9" /><Relationship Type="http://schemas.openxmlformats.org/officeDocument/2006/relationships/slide" Target="/ppt/slides/slide24.xml" Id="Rbfebeda7b4714f8b" /><Relationship Type="http://schemas.openxmlformats.org/officeDocument/2006/relationships/slide" Target="/ppt/slides/slide25.xml" Id="R64b7f686bf0645c0" /><Relationship Type="http://schemas.openxmlformats.org/officeDocument/2006/relationships/slide" Target="/ppt/slides/slide26.xml" Id="R305624e573b747cc" /><Relationship Type="http://schemas.openxmlformats.org/officeDocument/2006/relationships/slide" Target="/ppt/slides/slide27.xml" Id="Ra20ab3d93af04baa" /><Relationship Type="http://schemas.openxmlformats.org/officeDocument/2006/relationships/slide" Target="/ppt/slides/slide28.xml" Id="Rb4b5a0d02f4a460d" /><Relationship Type="http://schemas.openxmlformats.org/officeDocument/2006/relationships/slide" Target="/ppt/slides/slide29.xml" Id="R2829b214f8604523" /><Relationship Type="http://schemas.openxmlformats.org/officeDocument/2006/relationships/slide" Target="/ppt/slides/slide30.xml" Id="R33f3ef7b233144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cd45a84e8140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91412bc1de4b14" /><Relationship Type="http://schemas.openxmlformats.org/officeDocument/2006/relationships/notesMaster" Target="/ppt/notesMasters/notesMaster1.xml" Id="Re728fd4e467b4d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baf4d67bd74882" /><Relationship Type="http://schemas.openxmlformats.org/officeDocument/2006/relationships/notesMaster" Target="/ppt/notesMasters/notesMaster1.xml" Id="R4a0eab6e7fae40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4f03e9c71347b4" /><Relationship Type="http://schemas.openxmlformats.org/officeDocument/2006/relationships/notesMaster" Target="/ppt/notesMasters/notesMaster1.xml" Id="Rd78d8ad1ae1148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3fe962071c4571" /><Relationship Type="http://schemas.openxmlformats.org/officeDocument/2006/relationships/notesMaster" Target="/ppt/notesMasters/notesMaster1.xml" Id="Ra94a9d7a47eb46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b3478c3cfa4c94" /><Relationship Type="http://schemas.openxmlformats.org/officeDocument/2006/relationships/notesMaster" Target="/ppt/notesMasters/notesMaster1.xml" Id="Rf5b5c4e45ad841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572f2c6a304aa2" /><Relationship Type="http://schemas.openxmlformats.org/officeDocument/2006/relationships/notesMaster" Target="/ppt/notesMasters/notesMaster1.xml" Id="R27438198bb2546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295e522b944f78" /><Relationship Type="http://schemas.openxmlformats.org/officeDocument/2006/relationships/notesMaster" Target="/ppt/notesMasters/notesMaster1.xml" Id="R0baff3adbb1746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ae2cf4490248ef" /><Relationship Type="http://schemas.openxmlformats.org/officeDocument/2006/relationships/notesMaster" Target="/ppt/notesMasters/notesMaster1.xml" Id="Rd5fe679c703141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0f73e8674443b6" /><Relationship Type="http://schemas.openxmlformats.org/officeDocument/2006/relationships/notesMaster" Target="/ppt/notesMasters/notesMaster1.xml" Id="R7d69c64b68f24b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54f56c883b49d0" /><Relationship Type="http://schemas.openxmlformats.org/officeDocument/2006/relationships/notesMaster" Target="/ppt/notesMasters/notesMaster1.xml" Id="R8a34cc18f13f43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dcdb42e06e4685" /><Relationship Type="http://schemas.openxmlformats.org/officeDocument/2006/relationships/notesMaster" Target="/ppt/notesMasters/notesMaster1.xml" Id="Rb296ea91ac8d44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4d4d6e140b40a7" /><Relationship Type="http://schemas.openxmlformats.org/officeDocument/2006/relationships/notesMaster" Target="/ppt/notesMasters/notesMaster1.xml" Id="Rc112aeea80f143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7e5b38dfc84bdb" /><Relationship Type="http://schemas.openxmlformats.org/officeDocument/2006/relationships/notesMaster" Target="/ppt/notesMasters/notesMaster1.xml" Id="R8c6df562963c4d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bc3dc782ac4afc" /><Relationship Type="http://schemas.openxmlformats.org/officeDocument/2006/relationships/notesMaster" Target="/ppt/notesMasters/notesMaster1.xml" Id="R292cbc00d6fd44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11707011974ee9" /><Relationship Type="http://schemas.openxmlformats.org/officeDocument/2006/relationships/notesMaster" Target="/ppt/notesMasters/notesMaster1.xml" Id="R6d379a6d38bc41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04d369e3f44881" /><Relationship Type="http://schemas.openxmlformats.org/officeDocument/2006/relationships/notesMaster" Target="/ppt/notesMasters/notesMaster1.xml" Id="Rd3b3a9604caa49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957f4ff837443a" /><Relationship Type="http://schemas.openxmlformats.org/officeDocument/2006/relationships/notesMaster" Target="/ppt/notesMasters/notesMaster1.xml" Id="R08f2cad050c448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2cb4acd7794fd5" /><Relationship Type="http://schemas.openxmlformats.org/officeDocument/2006/relationships/notesMaster" Target="/ppt/notesMasters/notesMaster1.xml" Id="R0781ec4823ac47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01a97a765d40d1" /><Relationship Type="http://schemas.openxmlformats.org/officeDocument/2006/relationships/notesMaster" Target="/ppt/notesMasters/notesMaster1.xml" Id="R9efbe5b7a3e14f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70b342b346b43b7" /><Relationship Type="http://schemas.openxmlformats.org/officeDocument/2006/relationships/notesMaster" Target="/ppt/notesMasters/notesMaster1.xml" Id="R9093d0f7cd0348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96405f120b94ee2" /><Relationship Type="http://schemas.openxmlformats.org/officeDocument/2006/relationships/notesMaster" Target="/ppt/notesMasters/notesMaster1.xml" Id="Rf4673d1b4e5141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f7790291c55472d" /><Relationship Type="http://schemas.openxmlformats.org/officeDocument/2006/relationships/notesMaster" Target="/ppt/notesMasters/notesMaster1.xml" Id="R8b76920004ad42c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57b2f5a49a42c3" /><Relationship Type="http://schemas.openxmlformats.org/officeDocument/2006/relationships/notesMaster" Target="/ppt/notesMasters/notesMaster1.xml" Id="Rbd1e8e4ee1324d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a1e1a1c33854b3f" /><Relationship Type="http://schemas.openxmlformats.org/officeDocument/2006/relationships/notesMaster" Target="/ppt/notesMasters/notesMaster1.xml" Id="Ra33e3f0aaa9a4e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c5790a5d0c84940" /><Relationship Type="http://schemas.openxmlformats.org/officeDocument/2006/relationships/notesMaster" Target="/ppt/notesMasters/notesMaster1.xml" Id="R5264a12d5a86438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1dacc9dc0be4e7d" /><Relationship Type="http://schemas.openxmlformats.org/officeDocument/2006/relationships/notesMaster" Target="/ppt/notesMasters/notesMaster1.xml" Id="Re70ab20a576f4ce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4d4fced0e5241f3" /><Relationship Type="http://schemas.openxmlformats.org/officeDocument/2006/relationships/notesMaster" Target="/ppt/notesMasters/notesMaster1.xml" Id="R5735870b406a4d3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f2462bebf654dfc" /><Relationship Type="http://schemas.openxmlformats.org/officeDocument/2006/relationships/notesMaster" Target="/ppt/notesMasters/notesMaster1.xml" Id="Rd16005c747814fe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ab619923f694f41" /><Relationship Type="http://schemas.openxmlformats.org/officeDocument/2006/relationships/notesMaster" Target="/ppt/notesMasters/notesMaster1.xml" Id="R6b1f3e2482b645e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258912fd8544c1c" /><Relationship Type="http://schemas.openxmlformats.org/officeDocument/2006/relationships/notesMaster" Target="/ppt/notesMasters/notesMaster1.xml" Id="Ra052fd57624845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Plan for roughly 80–90 minutes including live demonstrations. For a 75-minute class, shorten optional board fitting and fusion-level discussion. Open the offline SensorFusion/index.html before class. Five experiments share a single browser page. All demo scenes are synthetic.</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Connect to Lectures 2–3: a detector can label an object in image pixels. A planner needs a spatial estimate. Discuss a car visible in an image and several nearby LiDAR clusters. Neither stream alone tells us which measurements correspond. This qualitative comparison motivates the lesson, rather than claiming that fusion guarantees improvement.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Point at the base axes, then the axes on the final link. Ask whether the hand moved when we changed the coordinate frame used to describe it. It did not. In the demo each link frame is at the distal end. A point at that origin is (0,0) in its own frame. Axes are x red and y green. Planar example, metres.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https://raw.githubusercontent.com/ros-infrastructure/rep/master/rep-0103.rst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Live preview only, save the longer interaction for slide 7. The fixed-link button adds a rigid segment with a fixed mount angle. A rotary segment has a variable angle followed by its fixed link length. A prismatic segment extends along its mounted local x axis. These are kinematic models of actuated joints, not motor or dynamics simulations.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https://modernrobotics.northwestern.edu/nu-gm-book-resource/3-3-1-homogeneous-transformation-matrices/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column vectors throughout. Say the destination frame first and the source frame second. t is not the position of A expressed in B. Explain the final homogeneous coordinate 1: it lets translation enter matrix multiplication. Rotation and translation units differ. All demo angles display degrees, then convert to radians for trigonometry.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https://modernrobotics.northwestern.edu/nu-gm-book-resource/3-3-1-homogeneous-transformation-matrices/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For the endpoint-frame convention, T_previous,current = Rot(q) Trans_x(L). The first endpoint is (0,1). The second joint is −90 degrees relative to the first link, so its absolute angle is zero. The second endpoint is (1,1). q2 is not an absolute world angle. The hand orientation is q1+q2=0 degrees. Matrix multiplication order matters.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https://modernrobotics.northwestern.edu/nu-gm-book-resource/3-3-1-homogeneous-transformation-matrices/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Allow 6–8 minutes. Reset first. Ask students to predict before moving sliders. Select Frame 2 to see parent-to-link and base-to-link matrices together. Add a slider and show that it follows the rotated local x direction. Challenge solution: 90 and −90 degrees, or 0 and 90 degrees. Compare the different hand orientations. Use reset after changing links. Keep index.html, lab.js, scene3d.js, and the vendor folder together. Extract the whole ZIP before opening the demos.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https://modernrobotics.northwestern.edu/nu-gm-book-resource/3-3-1-homogeneous-transformation-matrices/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Local demo: ../Labs/SensorFusion/index.html#arm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ROS REP 103 defines body and optical conventions. A vendor LiDAR coordinate system can differ, so inspect its documentation and driver. Do not feed body-frame x into the optical depth denominator. For an aligned camera, Xc=−Ybody, Yc=−Zbody, Zc=Xbody before accounting for translation. A tf tree tracks named frames, while calibration supplies the rigid sensor transforms.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https://raw.githubusercontent.com/ros-infrastructure/rep/master/rep-0103.rst</a:t>
            </a:r>
            <a:endParaRPr/>
          </a:p>
          <a:p xmlns:a="http://schemas.openxmlformats.org/drawingml/2006/main">
            <a:pPr marL="0" lvl="0" indent="0" algn="l">
              <a:lnSpc>
                <a:spcPct val="100000"/>
              </a:lnSpc>
              <a:spcBef>
                <a:spcPts val="360"/>
              </a:spcBef>
              <a:spcAft>
                <a:spcPts val="0"/>
              </a:spcAft>
              <a:buSzPts val="1400"/>
              <a:buNone/>
            </a:pPr>
            <a:r>
              <a:t>https://docs.ouster.com/sensor-docs/coordinate-system</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The synthetic scene shows road lines converging toward the horizon. Compare the same-size object at different distances: normalized image size decreases with Z. Many different points along one optical ray map to the same ideal pixel. This is why a single pixel does not directly reveal metric depth. The scene uses wireframes to make projection easy to see.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Distinguish focal length in millimetres from focal length expressed in pixel units. Different horizontal and vertical pixel scaling can make fx and fy differ. The principal point is often near the image centre but should not be assumed to equal it. K alone omits lens distortion.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Worked horizontal FOV: W=800 and fx=600 gives about 67.4 degrees. fx=1200 gives about 36.9 degrees. Derive it from the right triangle formed by half the image width and focal length. This simple symmetric formula assumes centred principal point and no distortion. The demo uses the sum of left and right angles when cx is off-centre.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Allow 5 minutes. Baseline K is fx=fy=600, cx=400, cy=250. u=600*(1/10)+400=460 and v=250. Doubling both focal lengths changes u to 520 without moving the principal point. Increasing cx by 100 shifts all ideal projections 100 px to the right. Changing only fx changes horizontal scale. Editing real camera metadata alone does not change its captured pixels.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Local demo: ../Labs/SensorFusion/index.html#camera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The demo uses only k1 on normalized coordinates: xd=x(1+k1*r²), yd=y(1+k1*r²). Real models may include more radial terms and tangential distortion. Cropping does not change focal lengths in pixels if pixel size is unchanged. Nonuniform resizing uses separate sx and sy. State the pixel-coordinate convention when doing exact resampling. Rectified images require the new projection matrix rather than blindly reusing raw-image K.</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c is the speed of light. The first equation illustrates pulsed time of flight, not every possible LiDAR architecture. The spherical equations use an ideal beam origin. Real sensor conversion can include beam offsets and per-beam calibration. Ouster documentation supplies a concrete example where naive spherical conversion omits sensor-specific terms.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https://docs.ouster.com/sensor-docs/coordinate-system</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Elevation is measured from the sensor horizontal plane. These are illustrative simulator settings, not specifications for a particular model. On unobstructed flat ground the lowest beam hits at h/tan(abs(lower)) = 1.8/tan(25 degrees), approximately 3.86 m. Mount pitch and terrain change this distance. This spinning LiDAR has fixed full 360-degree horizontal coverage. Orbit the 3D view to inspect returns behind the vehicle as well as in front. The scan fan is slowed for teaching. The ego car is a mounting reference and is excluded from self-returns.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https://docs.ouster.com/sensor-docs/coordinate-system</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For this uniformly spaced toy sensor with endpoints included, elevation spacing = (upper−lower)/(N−1). Values are 2.67 degrees for 16 and 0.635 degrees for 64. Nearby rays separate further in metres at longer range: approximately r times angular spacing in radians. Real hardware may use nonuniform elevation patterns. More channels alone does not guarantee returns from every object.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https://docs.ouster.com/sensor-docs/coordinate-system</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Allow 5–6 minutes. At 1.8 m height, the −5-degree beam meets flat ground at roughly 20.57 m, versus 3.86 m for −25 degrees. A wider azimuth step reduces rays per scan and can skip small targets. Maximum range clips slant range, not horizontal distance. Controls describe a hypothetical configurable sensor, not promises of software-adjustable hardware beam count. Demonstration uses ideal single returns on matching cuboid scene surfaces. Show the pause and 15-degree step controls, then change point color from range to height. Click an object to see its return count. Horizontal coverage remains 360 degrees in every preset. Use the density panel below the 3D scene. Reset to the 40-degree vertical FOV and 1-degree horizontal step, with maximum range 80 m. At 8 channels, the isolated targets at 10/30/60 m return 6/1/0 points. At 32 channels they return 24/3/1, and at 128 channels 99/11/6. The image shows 128 channels. Targets are each 0.6 m wide and 1.8 m tall, independently sampled without scene occlusion. Counts are geometric evidence, not detection probabilities. Changing the channel count resamples uniformly spaced beam elevations, so individual target counts need not change monotonically. Distinguish channels hitting a target from total points returned.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https://docs.ouster.com/sensor-docs/coordinate-system</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Local demo: ../Labs/SensorFusion/index.html#lidar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Ask students to classify a camera lens zoom, a shifted camera bracket, an image crop, and a clock offset. Zoom and crop affect the relevant camera model; bracket shift affects extrinsics; time offset requires temporal treatment. Intrinsic parameters can vary with the operating configuration. Do not use an extrinsic adjustment to hide bad timestamps.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https://docs.ouster.com/sensor-docs/coordinate-system</a:t>
            </a:r>
            <a:endParaRPr/>
          </a:p>
          <a:p xmlns:a="http://schemas.openxmlformats.org/drawingml/2006/main">
            <a:pPr marL="0" lvl="0" indent="0" algn="l">
              <a:lnSpc>
                <a:spcPct val="100000"/>
              </a:lnSpc>
              <a:spcBef>
                <a:spcPts val="360"/>
              </a:spcBef>
              <a:spcAft>
                <a:spcPts val="0"/>
              </a:spcAft>
              <a:buSzPts val="1400"/>
              <a:buNone/>
            </a:pPr>
            <a:r>
              <a:t>https://www.mathworks.com/help/lidar/ug/lidar-camera-calibration.html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Define board coordinates Pij=(i*s,j*s,0) with known square size s. The physical target is planar even though each camera view has its own 3D pose. Explain inner corners rather than square count. The illustrative target has 0.20 m squares; choose an appropriate physical size and measure it for a real setup. Wrong square size mainly rescales recovered translations in the ideal monocular setup.</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https://docs.opencv.org/4.10.0/dc/dbb/tutorial_py_calibration.html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sharp images and hold the camera focus/zoom and output resolution fixed. Include coverage near image edges where distortion matters. Minimize observed-minus-projected corner residuals across all views. Report per-view errors as well as overall RMS. Low training error alone does not prove a useful calibration. A warped target can bias the fit. Distinguish board-to-camera pose for one view from the fixed camera-to-LiDAR transform.</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https://docs.opencv.org/4.10.0/dc/dbb/tutorial_py_calibration.html</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Allow 4 minutes. Orange dots are observations; blue rings are projections from the estimate; connecting segments are residuals. The noise-free known-pose fit recovers fx=fy=800, cx=410, cy=245. Tilting the board after fitting keeps agreement. This is a least-squares illustration, not a replacement for OpenCV calibrateCamera. Discuss what extra unknowns and measurement noise arise in an actual experiment.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https://docs.opencv.org/4.10.0/dc/dbb/tutorial_py_calibration.html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Local demo: ../Labs/SensorFusion/index.html#calibration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 checkerboard enables camera pose recovery. Many LiDAR-camera workflows extract a rectangular board plane and boundaries from the point cloud; the exact target and estimator determine required geometry. A single plane with only normal and distance leaves in-plane translation and rotation ambiguity. Use multiple diverse poses and sufficient returns. Do not match an arbitrary LiDAR point to each printed corner. MathWorks documents a practical checkerboard-target workflow.</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https://www.mathworks.com/help/lidar/ug/lidar-camera-calibration.html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T_CL maps from LiDAR L into camera C. If a calibration file supplies T_LC, invert it: R_CL=R_LC transpose, t_CL=−R_LC transpose times t_LC. Reject invalid range values before projection. For rectified output, use its rectified model and appropriate transform. Image bounds alone do not establish visibility or correspondence.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https://www.mathworks.com/help/lidar/ug/lidar-camera-calibration.html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Teaching mounting geometry only. Camera optical axes are right, down, forward. R_CL rows are [0,-1,0], [0,0,-1], [1,0,0] and t_CL=[0,1.5,0]. This is a proper rotation with determinant +1. Assume zero distortion and K=[600,0,400;0,600,250;0,0,1]. The point lies inside an 800 by 500 image.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https://raw.githubusercontent.com/ros-infrastructure/rep/master/rep-0103.rst</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Allow 5–6 minutes. The demo draws synthetic point planes at 10,20,35 m, independent of background objects, to isolate geometric effects. Angular error gives roughly depth-independent pixel shift near the optical axis. Translation gives a stronger shift for nearby points. Reset gives exact reference agreement. This demonstration does not perform detection, data association, or real calibration.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Local demo: ../Labs/SensorFusion/index.html#fusion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delta position = speed times delta time. For pure lateral motion and fixed depth, pixel displacement = fx times lateral displacement divided by depth. The demo treats target motion as constant, with exact timestamps and no ego-motion. Real systems need clock alignment, timestamp-aware matching, and motion compensation. A rotating LiDAR sweep contains measurements from different instants, so matching a single frame stamp alone does not deskew the sweep.</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Original deterministic outputs captured from the accompanying SensorFusion teaching simulator. These are synthetic teaching scenes, not real sensor recordings.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Thought experiment: a pedestrian stands in front of a wall. Both can project into the person’s 2D bounding box. A median over every enclosed range can select the background if it dominates. Separate clusters and check plausible foreground geometry. A z-buffer can help with depth ordering when enough geometry exists, but sparse LiDAR does not provide complete camera visibility. This is the transition from coordinate alignment to a meaningful fusion algorithm.</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Derive inverse-variance weighting by minimizing (x−x1)^2/sigma1^2+(x−x2)^2/sigma2^2. Weights are 25 and 1. Fused variance is 1/26. These are invented teaching values, not measured sensor accuracy. A monocular detector box is not directly a second metric range measurement. Shared calibration errors can correlate estimates and make naive uncertainty reduction overconfident. This introduces filtering without attempting a full Kalman filter lesson.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These categories vary across literature, so present them as a useful organizing scheme. Point colourization is a simple geometrically aligned measurement example, not full object detection. Feature fusion connects to Lecture 3 neural representations. Track fusion may handle asynchronous observations with a motion model. Do not imply a particular fusion architecture always wins.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Ask students for one geometry error and one timing or visibility error. Expected answers: compose in the correct order and state frame/units; increasing fx narrows ideal FOV; calibration, timestamps, occlusion, sampling, and association can each matter. Revisit the lowest-beam ground-distance prediction if time permits. Further reading links are clickable in the slide.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https://modernrobotics.northwestern.edu/nu-gm-book-resource/3-3-1-homogeneous-transformation-matrices/</a:t>
            </a:r>
            <a:endParaRPr/>
          </a:p>
          <a:p xmlns:a="http://schemas.openxmlformats.org/drawingml/2006/main">
            <a:pPr marL="0" lvl="0" indent="0" algn="l">
              <a:lnSpc>
                <a:spcPct val="100000"/>
              </a:lnSpc>
              <a:spcBef>
                <a:spcPts val="360"/>
              </a:spcBef>
              <a:spcAft>
                <a:spcPts val="0"/>
              </a:spcAft>
              <a:buSzPts val="1400"/>
              <a:buNone/>
            </a:pPr>
            <a:r>
              <a:t>https://docs.opencv.org/4.13.0/d9/d0c/group__calib3d.html</a:t>
            </a:r>
            <a:endParaRPr/>
          </a:p>
          <a:p xmlns:a="http://schemas.openxmlformats.org/drawingml/2006/main">
            <a:pPr marL="0" lvl="0" indent="0" algn="l">
              <a:lnSpc>
                <a:spcPct val="100000"/>
              </a:lnSpc>
              <a:spcBef>
                <a:spcPts val="360"/>
              </a:spcBef>
              <a:spcAft>
                <a:spcPts val="0"/>
              </a:spcAft>
              <a:buSzPts val="1400"/>
              <a:buNone/>
            </a:pPr>
            <a:r>
              <a:t>https://docs.opencv.org/4.10.0/dc/dbb/tutorial_py_calibration.html</a:t>
            </a:r>
            <a:endParaRPr/>
          </a:p>
          <a:p xmlns:a="http://schemas.openxmlformats.org/drawingml/2006/main">
            <a:pPr marL="0" lvl="0" indent="0" algn="l">
              <a:lnSpc>
                <a:spcPct val="100000"/>
              </a:lnSpc>
              <a:spcBef>
                <a:spcPts val="360"/>
              </a:spcBef>
              <a:spcAft>
                <a:spcPts val="0"/>
              </a:spcAft>
              <a:buSzPts val="1400"/>
              <a:buNone/>
            </a:pPr>
            <a:r>
              <a:t>https://docs.ouster.com/sensor-docs/coordinate-system</a:t>
            </a:r>
            <a:endParaRPr/>
          </a:p>
          <a:p xmlns:a="http://schemas.openxmlformats.org/drawingml/2006/main">
            <a:pPr marL="0" lvl="0" indent="0" algn="l">
              <a:lnSpc>
                <a:spcPct val="100000"/>
              </a:lnSpc>
              <a:spcBef>
                <a:spcPts val="360"/>
              </a:spcBef>
              <a:spcAft>
                <a:spcPts val="0"/>
              </a:spcAft>
              <a:buSzPts val="1400"/>
              <a:buNone/>
            </a:pPr>
            <a:r>
              <a:t>https://www.mathworks.com/help/lidar/ug/lidar-camera-calibration.html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[Visuals]</a:t>
            </a:r>
            <a:endParaRPr/>
          </a:p>
          <a:p xmlns:a="http://schemas.openxmlformats.org/drawingml/2006/main">
            <a:pPr marL="0" lvl="0" indent="0" algn="l">
              <a:lnSpc>
                <a:spcPct val="100000"/>
              </a:lnSpc>
              <a:spcBef>
                <a:spcPts val="360"/>
              </a:spcBef>
              <a:spcAft>
                <a:spcPts val="0"/>
              </a:spcAft>
              <a:buSzPts val="1400"/>
              <a:buNone/>
            </a:pPr>
            <a:r>
              <a:t>Editable instructional text, equations, or table.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6968ad27b845bf" /><Relationship Type="http://schemas.openxmlformats.org/officeDocument/2006/relationships/image" Target="/ppt/media/image.jpeg" Id="Rdfb74a2903194b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13693bf0914e5b" /><Relationship Type="http://schemas.openxmlformats.org/officeDocument/2006/relationships/image" Target="/ppt/media/image.png" Id="R31c41ebff9894c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331e0679c64afd" /><Relationship Type="http://schemas.openxmlformats.org/officeDocument/2006/relationships/image" Target="/ppt/media/image2.jpeg" Id="Rdcfec9fa5f96481c" /><Relationship Type="http://schemas.openxmlformats.org/officeDocument/2006/relationships/image" Target="/ppt/media/image.png" Id="R50114f11778e4c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ceb270b4774389" /><Relationship Type="http://schemas.openxmlformats.org/officeDocument/2006/relationships/image" Target="/ppt/media/image2.jpeg" Id="R4b793c99b24e47de" /><Relationship Type="http://schemas.openxmlformats.org/officeDocument/2006/relationships/image" Target="/ppt/media/image.png" Id="Rf71be6f0b26442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72318af788472e" /><Relationship Type="http://schemas.openxmlformats.org/officeDocument/2006/relationships/image" Target="/ppt/media/image2.jpeg" Id="R1a5b90a8546a49b6" /><Relationship Type="http://schemas.openxmlformats.org/officeDocument/2006/relationships/image" Target="/ppt/media/image.png" Id="R8ab7361af9204e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f17e07bfc54333" /><Relationship Type="http://schemas.openxmlformats.org/officeDocument/2006/relationships/image" Target="/ppt/media/image2.jpeg" Id="R80fb5e4901e84a29" /><Relationship Type="http://schemas.openxmlformats.org/officeDocument/2006/relationships/image" Target="/ppt/media/image.png" Id="Rfae4f1dd5d2b428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f91c1ba2c3f4566" /><Relationship Type="http://schemas.openxmlformats.org/officeDocument/2006/relationships/image" Target="/ppt/media/image2.jpeg" Id="R3199ffa4a9444ef0" /><Relationship Type="http://schemas.openxmlformats.org/officeDocument/2006/relationships/image" Target="/ppt/media/image.png" Id="Rc1c5b02ba45f433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acb4c1068194ad7" /><Relationship Type="http://schemas.openxmlformats.org/officeDocument/2006/relationships/image" Target="/ppt/media/image2.jpeg" Id="R18026d80dc2f49d3" /><Relationship Type="http://schemas.openxmlformats.org/officeDocument/2006/relationships/image" Target="/ppt/media/image.png" Id="R4c1165aaacf1447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6fbaff44f934635" /><Relationship Type="http://schemas.openxmlformats.org/officeDocument/2006/relationships/image" Target="/ppt/media/image2.jpeg" Id="R7962dccd1ca84e2f" /><Relationship Type="http://schemas.openxmlformats.org/officeDocument/2006/relationships/image" Target="/ppt/media/image.png" Id="R11aeb12fa83d489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34dbafb41924680" /><Relationship Type="http://schemas.openxmlformats.org/officeDocument/2006/relationships/image" Target="/ppt/media/image2.jpeg" Id="Ra8b9b45d1cce4791" /><Relationship Type="http://schemas.openxmlformats.org/officeDocument/2006/relationships/image" Target="/ppt/media/image.png" Id="R094e2a2db8d0412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f04dd12ea1e4bca" /><Relationship Type="http://schemas.openxmlformats.org/officeDocument/2006/relationships/image" Target="/ppt/media/image2.jpeg" Id="Rdcc6862f001f4e90" /><Relationship Type="http://schemas.openxmlformats.org/officeDocument/2006/relationships/image" Target="/ppt/media/image.png" Id="R6f68608edf154c6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edb89f77c0e43a4" /><Relationship Type="http://schemas.openxmlformats.org/officeDocument/2006/relationships/image" Target="/ppt/media/image2.jpeg" Id="R136a6e906e4848b2" /><Relationship Type="http://schemas.openxmlformats.org/officeDocument/2006/relationships/image" Target="/ppt/media/image.png" Id="R13d391f09a19413e" /></Relationships>
</file>

<file path=ppt/slideLayouts/slideLayout1.xml><?xml version="1.0" encoding="utf-8"?>
<p:sldLayout xmlns:p="http://schemas.openxmlformats.org/presentationml/2006/main" matchingName="Title Slide" type="title">
  <p:cSld name="TITLE">
    <p:bg>
      <p:bgPr>
        <a:blipFill xmlns:a="http://schemas.openxmlformats.org/drawingml/2006/main">
          <a:blip xmlns:r="http://schemas.openxmlformats.org/officeDocument/2006/relationships" r:embed="Rdfb74a2903194b0b">
            <a:alphaModFix/>
          </a:blip>
          <a:stretch>
            <a:fillRect l="0" t="0" r="0" b="0"/>
          </a:stretch>
        </a:blipFill>
      </p:bgPr>
    </p:bg>
    <p:spTree>
      <p:nvGrpSpPr>
        <p:cNvPr id="1" name=""/>
        <p:cNvGrpSpPr/>
        <p:nvPr/>
      </p:nvGrpSpPr>
      <p:grpSpPr>
        <a:xfrm xmlns:a="http://schemas.openxmlformats.org/drawingml/2006/main"/>
      </p:grpSpPr>
      <p:sp>
        <p:nvSpPr>
          <p:cNvPr id="14" name="Google Shape;14;p5">
            <a:extLst xmlns:a="http://schemas.openxmlformats.org/drawingml/2006/main">
              <a:ext uri="{FF2B5EF4-FFF2-40B4-BE49-F238E27FC236}">
                <a16:creationId xmlns:a16="http://schemas.microsoft.com/office/drawing/2014/main" id="{EE9ED71F-3551-4438-85B7-9B9AE6CDE244}"/>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lt1"/>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5" name="Google Shape;15;p5">
            <a:extLst xmlns:a="http://schemas.openxmlformats.org/drawingml/2006/main">
              <a:ext uri="{FF2B5EF4-FFF2-40B4-BE49-F238E27FC236}">
                <a16:creationId xmlns:a16="http://schemas.microsoft.com/office/drawing/2014/main" id="{5EC03B77-5463-43C0-8A98-279C1E061655}"/>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ctr">
              <a:lnSpc>
                <a:spcPct val="100000"/>
              </a:lnSpc>
              <a:spcBef>
                <a:spcPts val="360"/>
              </a:spcBef>
              <a:spcAft>
                <a:spcPts val="0"/>
              </a:spcAft>
              <a:buClr>
                <a:schemeClr val="accent5"/>
              </a:buClr>
              <a:buSzPts val="1800"/>
              <a:buNone/>
              <a:defRPr>
                <a:solidFill>
                  <a:schemeClr val="accent5"/>
                </a:solidFill>
              </a:defRPr>
            </a:lvl1pPr>
            <a:lvl2pPr algn="ctr">
              <a:lnSpc>
                <a:spcPct val="100000"/>
              </a:lnSpc>
              <a:spcBef>
                <a:spcPts val="360"/>
              </a:spcBef>
              <a:spcAft>
                <a:spcPts val="0"/>
              </a:spcAft>
              <a:buClr>
                <a:srgbClr val="888888"/>
              </a:buClr>
              <a:buSzPts val="1800"/>
              <a:buNone/>
              <a:defRPr>
                <a:solidFill>
                  <a:srgbClr val="888888"/>
                </a:solidFill>
              </a:defRPr>
            </a:lvl2pPr>
            <a:lvl3pPr algn="ctr">
              <a:lnSpc>
                <a:spcPct val="100000"/>
              </a:lnSpc>
              <a:spcBef>
                <a:spcPts val="360"/>
              </a:spcBef>
              <a:spcAft>
                <a:spcPts val="0"/>
              </a:spcAft>
              <a:buClr>
                <a:srgbClr val="888888"/>
              </a:buClr>
              <a:buSzPts val="1800"/>
              <a:buNone/>
              <a:defRPr>
                <a:solidFill>
                  <a:srgbClr val="888888"/>
                </a:solidFill>
              </a:defRPr>
            </a:lvl3pPr>
            <a:lvl4pPr algn="ctr">
              <a:lnSpc>
                <a:spcPct val="100000"/>
              </a:lnSpc>
              <a:spcBef>
                <a:spcPts val="360"/>
              </a:spcBef>
              <a:spcAft>
                <a:spcPts val="0"/>
              </a:spcAft>
              <a:buClr>
                <a:srgbClr val="888888"/>
              </a:buClr>
              <a:buSzPts val="1800"/>
              <a:buNone/>
              <a:defRPr>
                <a:solidFill>
                  <a:srgbClr val="888888"/>
                </a:solidFill>
              </a:defRPr>
            </a:lvl4pPr>
            <a:lvl5pPr algn="ctr">
              <a:lnSpc>
                <a:spcPct val="100000"/>
              </a:lnSpc>
              <a:spcBef>
                <a:spcPts val="360"/>
              </a:spcBef>
              <a:spcAft>
                <a:spcPts val="0"/>
              </a:spcAft>
              <a:buClr>
                <a:srgbClr val="888888"/>
              </a:buClr>
              <a:buSzPts val="18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xmlns:a="http://schemas.openxmlformats.org/drawingml/2006/main"/>
        </p:txBody>
      </p:sp>
    </p:spTree>
  </p:cSld>
</p:sldLayout>
</file>

<file path=ppt/slideLayouts/slideLayout2.xml><?xml version="1.0" encoding="utf-8"?>
<p:sldLayout xmlns:p="http://schemas.openxmlformats.org/presentationml/2006/main" matchingName="Title and Content" type="obj">
  <p:cSld name="OBJECT">
    <p:bg>
      <p:bgPr>
        <a:solidFill xmlns:a="http://schemas.openxmlformats.org/drawingml/2006/main">
          <a:schemeClr val="lt1"/>
        </a:solidFill>
      </p:bgPr>
    </p:bg>
    <p:spTree>
      <p:nvGrpSpPr>
        <p:cNvPr id="1" name=""/>
        <p:cNvGrpSpPr/>
        <p:nvPr/>
      </p:nvGrpSpPr>
      <p:grpSpPr>
        <a:xfrm xmlns:a="http://schemas.openxmlformats.org/drawingml/2006/main"/>
      </p:grpSpPr>
      <p:sp>
        <p:nvSpPr>
          <p:cNvPr id="17" name="Google Shape;17;p6">
            <a:extLst xmlns:a="http://schemas.openxmlformats.org/drawingml/2006/main">
              <a:ext uri="{FF2B5EF4-FFF2-40B4-BE49-F238E27FC236}">
                <a16:creationId xmlns:a16="http://schemas.microsoft.com/office/drawing/2014/main" id="{C79D7B47-0CBE-41BC-A27C-BF942DC17ACF}"/>
              </a:ext>
            </a:extLst>
          </p:cNvPr>
          <p:cNvSpPr>
            <a:spLocks xmlns:a="http://schemas.openxmlformats.org/drawingml/2006/main" noGrp="1"/>
          </p:cNvSpPr>
          <p:nvPr>
            <p:ph type="title" idx="0"/>
          </p:nvPr>
        </p:nvSpPr>
        <p:spPr>
          <a:xfrm xmlns:a="http://schemas.openxmlformats.org/drawingml/2006/main">
            <a:off x="457200" y="52849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8" name="Google Shape;18;p6">
            <a:extLst xmlns:a="http://schemas.openxmlformats.org/drawingml/2006/main">
              <a:ext uri="{FF2B5EF4-FFF2-40B4-BE49-F238E27FC236}">
                <a16:creationId xmlns:a16="http://schemas.microsoft.com/office/drawing/2014/main" id="{74BC8D3C-C384-4A5D-B3F3-C6EB1E7B3B5D}"/>
              </a:ext>
            </a:extLst>
          </p:cNvPr>
          <p:cNvSpPr>
            <a:spLocks xmlns:a="http://schemas.openxmlformats.org/drawingml/2006/main" noGrp="1"/>
          </p:cNvSpPr>
          <p:nvPr>
            <p:ph type="body" idx="1"/>
          </p:nvPr>
        </p:nvSpPr>
        <p:spPr>
          <a:xfrm xmlns:a="http://schemas.openxmlformats.org/drawingml/2006/main">
            <a:off x="457200" y="1543050"/>
            <a:ext cx="8229600" cy="265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rgbClr val="006096"/>
              </a:buClr>
              <a:buSzPts val="1800"/>
              <a:buChar char="•"/>
              <a:defRPr>
                <a:solidFill>
                  <a:srgbClr val="006096"/>
                </a:solidFill>
              </a:defRPr>
            </a:lvl1pPr>
            <a:lvl2pPr marL="914400" indent="-342900" algn="l">
              <a:lnSpc>
                <a:spcPct val="100000"/>
              </a:lnSpc>
              <a:spcBef>
                <a:spcPts val="360"/>
              </a:spcBef>
              <a:spcAft>
                <a:spcPts val="0"/>
              </a:spcAft>
              <a:buClr>
                <a:srgbClr val="006096"/>
              </a:buClr>
              <a:buSzPts val="1800"/>
              <a:buChar char="–"/>
              <a:defRPr>
                <a:solidFill>
                  <a:srgbClr val="006096"/>
                </a:solidFill>
              </a:defRPr>
            </a:lvl2pPr>
            <a:lvl3pPr marL="1371600" indent="-342900" algn="l">
              <a:lnSpc>
                <a:spcPct val="100000"/>
              </a:lnSpc>
              <a:spcBef>
                <a:spcPts val="360"/>
              </a:spcBef>
              <a:spcAft>
                <a:spcPts val="0"/>
              </a:spcAft>
              <a:buClr>
                <a:srgbClr val="006096"/>
              </a:buClr>
              <a:buSzPts val="1800"/>
              <a:buChar char="•"/>
              <a:defRPr>
                <a:solidFill>
                  <a:srgbClr val="006096"/>
                </a:solidFill>
              </a:defRPr>
            </a:lvl3pPr>
            <a:lvl4pPr marL="1828800" indent="-342900" algn="l">
              <a:lnSpc>
                <a:spcPct val="100000"/>
              </a:lnSpc>
              <a:spcBef>
                <a:spcPts val="360"/>
              </a:spcBef>
              <a:spcAft>
                <a:spcPts val="0"/>
              </a:spcAft>
              <a:buClr>
                <a:srgbClr val="006096"/>
              </a:buClr>
              <a:buSzPts val="1800"/>
              <a:buChar char="–"/>
              <a:defRPr>
                <a:solidFill>
                  <a:srgbClr val="006096"/>
                </a:solidFill>
              </a:defRPr>
            </a:lvl4pPr>
            <a:lvl5pPr marL="2286000" indent="-342900" algn="l">
              <a:lnSpc>
                <a:spcPct val="100000"/>
              </a:lnSpc>
              <a:spcBef>
                <a:spcPts val="360"/>
              </a:spcBef>
              <a:spcAft>
                <a:spcPts val="0"/>
              </a:spcAft>
              <a:buClr>
                <a:srgbClr val="006096"/>
              </a:buClr>
              <a:buSzPts val="1800"/>
              <a:buChar char="»"/>
              <a:defRPr>
                <a:solidFill>
                  <a:srgbClr val="006096"/>
                </a:solidFill>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19" name="Google Shape;19;p6">
            <a:extLst xmlns:a="http://schemas.openxmlformats.org/drawingml/2006/main">
              <a:ext uri="{FF2B5EF4-FFF2-40B4-BE49-F238E27FC236}">
                <a16:creationId xmlns:a16="http://schemas.microsoft.com/office/drawing/2014/main" id="{7A507B5B-61C7-47F8-9CA2-2E85FB24A3C7}"/>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24" name="Google Shape;20;p6"/>
          <p:cNvPicPr>
            <a:picLocks xmlns:a="http://schemas.openxmlformats.org/drawingml/2006/main" noChangeAspect="1"/>
          </p:cNvPicPr>
          <p:nvPr/>
        </p:nvPicPr>
        <p:blipFill rotWithShape="1">
          <a:blip xmlns:r="http://schemas.openxmlformats.org/officeDocument/2006/relationships" xmlns:a="http://schemas.openxmlformats.org/drawingml/2006/main" r:embed="R31c41ebff9894c75">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Custom Layout">
  <p:cSld name="Custom Layout">
    <p:bg>
      <p:bgPr>
        <a:blipFill xmlns:a="http://schemas.openxmlformats.org/drawingml/2006/main">
          <a:blip xmlns:r="http://schemas.openxmlformats.org/officeDocument/2006/relationships" r:embed="Rdcfec9fa5f96481c">
            <a:alphaModFix/>
          </a:blip>
          <a:stretch>
            <a:fillRect l="0" t="0" r="0" b="0"/>
          </a:stretch>
        </a:blipFill>
      </p:bgPr>
    </p:bg>
    <p:spTree>
      <p:nvGrpSpPr>
        <p:cNvPr id="1" name=""/>
        <p:cNvGrpSpPr/>
        <p:nvPr/>
      </p:nvGrpSpPr>
      <p:grpSpPr>
        <a:xfrm xmlns:a="http://schemas.openxmlformats.org/drawingml/2006/main"/>
      </p:grpSpPr>
      <p:sp>
        <p:nvSpPr>
          <p:cNvPr id="22" name="Google Shape;22;p7">
            <a:extLst xmlns:a="http://schemas.openxmlformats.org/drawingml/2006/main">
              <a:ext uri="{FF2B5EF4-FFF2-40B4-BE49-F238E27FC236}">
                <a16:creationId xmlns:a16="http://schemas.microsoft.com/office/drawing/2014/main" id="{642AC0A4-E9F6-4A67-87FC-91551F30940B}"/>
              </a:ext>
            </a:extLst>
          </p:cNvPr>
          <p:cNvSpPr>
            <a:spLocks xmlns:a="http://schemas.openxmlformats.org/drawingml/2006/main" noGrp="1"/>
          </p:cNvSpPr>
          <p:nvPr>
            <p:ph type="title" idx="0"/>
          </p:nvPr>
        </p:nvSpPr>
        <p:spPr>
          <a:xfrm xmlns:a="http://schemas.openxmlformats.org/drawingml/2006/main">
            <a:off x="457200" y="91440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23" name="Google Shape;23;p7">
            <a:extLst xmlns:a="http://schemas.openxmlformats.org/drawingml/2006/main">
              <a:ext uri="{FF2B5EF4-FFF2-40B4-BE49-F238E27FC236}">
                <a16:creationId xmlns:a16="http://schemas.microsoft.com/office/drawing/2014/main" id="{20B5EA5C-A8C7-4A8F-A0AF-244DAB62F05D}"/>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r>
              <a:t>1</a:t>
            </a:r>
            <a:endParaRPr>
              <a:solidFill>
                <a:schemeClr val="dk2"/>
              </a:solidFill>
            </a:endParaRPr>
          </a:p>
        </p:txBody>
      </p:sp>
      <p:pic>
        <p:nvPicPr>
          <p:cNvPr id="27" name="Google Shape;24;p7"/>
          <p:cNvPicPr>
            <a:picLocks xmlns:a="http://schemas.openxmlformats.org/drawingml/2006/main" noChangeAspect="1"/>
          </p:cNvPicPr>
          <p:nvPr/>
        </p:nvPicPr>
        <p:blipFill rotWithShape="1">
          <a:blip xmlns:r="http://schemas.openxmlformats.org/officeDocument/2006/relationships" xmlns:a="http://schemas.openxmlformats.org/drawingml/2006/main" r:embed="R50114f11778e4c92">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Section Header" type="secHead">
  <p:cSld name="SECTION_HEADER">
    <p:bg>
      <p:bgPr>
        <a:blipFill xmlns:a="http://schemas.openxmlformats.org/drawingml/2006/main">
          <a:blip xmlns:r="http://schemas.openxmlformats.org/officeDocument/2006/relationships" r:embed="R4b793c99b24e47de">
            <a:alphaModFix/>
          </a:blip>
          <a:stretch>
            <a:fillRect l="0" t="0" r="0" b="0"/>
          </a:stretch>
        </a:blipFill>
      </p:bgPr>
    </p:bg>
    <p:spTree>
      <p:nvGrpSpPr>
        <p:cNvPr id="1" name=""/>
        <p:cNvGrpSpPr/>
        <p:nvPr/>
      </p:nvGrpSpPr>
      <p:grpSpPr>
        <a:xfrm xmlns:a="http://schemas.openxmlformats.org/drawingml/2006/main"/>
      </p:grpSpPr>
      <p:sp>
        <p:nvSpPr>
          <p:cNvPr id="26" name="Google Shape;26;p8">
            <a:extLst xmlns:a="http://schemas.openxmlformats.org/drawingml/2006/main">
              <a:ext uri="{FF2B5EF4-FFF2-40B4-BE49-F238E27FC236}">
                <a16:creationId xmlns:a16="http://schemas.microsoft.com/office/drawing/2014/main" id="{E3E70F02-DD3D-47A5-8F35-820EE6519C51}"/>
              </a:ext>
            </a:extLst>
          </p:cNvPr>
          <p:cNvSpPr>
            <a:spLocks xmlns:a="http://schemas.openxmlformats.org/drawingml/2006/main" noGrp="1"/>
          </p:cNvSpPr>
          <p:nvPr>
            <p:ph type="title" idx="0"/>
          </p:nvPr>
        </p:nvSpPr>
        <p:spPr>
          <a:xfrm xmlns:a="http://schemas.openxmlformats.org/drawingml/2006/main">
            <a:off x="722313" y="2477691"/>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SzPts val="1400"/>
              <a:buNone/>
              <a:defRPr sz="3200" b="1" cap="none">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27" name="Google Shape;27;p8">
            <a:extLst xmlns:a="http://schemas.openxmlformats.org/drawingml/2006/main">
              <a:ext uri="{FF2B5EF4-FFF2-40B4-BE49-F238E27FC236}">
                <a16:creationId xmlns:a16="http://schemas.microsoft.com/office/drawing/2014/main" id="{28F565E2-66D6-4375-B6AE-4D09BF9715F4}"/>
              </a:ext>
            </a:extLst>
          </p:cNvPr>
          <p:cNvSpPr>
            <a:spLocks xmlns:a="http://schemas.openxmlformats.org/drawingml/2006/main" noGrp="1"/>
          </p:cNvSpPr>
          <p:nvPr>
            <p:ph type="body" idx="1"/>
          </p:nvPr>
        </p:nvSpPr>
        <p:spPr>
          <a:xfrm xmlns:a="http://schemas.openxmlformats.org/drawingml/2006/main">
            <a:off x="722313" y="1352550"/>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28" name="Google Shape;28;p8">
            <a:extLst xmlns:a="http://schemas.openxmlformats.org/drawingml/2006/main">
              <a:ext uri="{FF2B5EF4-FFF2-40B4-BE49-F238E27FC236}">
                <a16:creationId xmlns:a16="http://schemas.microsoft.com/office/drawing/2014/main" id="{E36CAC64-3B77-4E3D-9866-47C6993BB1E3}"/>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33" name="Google Shape;29;p8"/>
          <p:cNvPicPr>
            <a:picLocks xmlns:a="http://schemas.openxmlformats.org/drawingml/2006/main" noChangeAspect="1"/>
          </p:cNvPicPr>
          <p:nvPr/>
        </p:nvPicPr>
        <p:blipFill rotWithShape="1">
          <a:blip xmlns:r="http://schemas.openxmlformats.org/officeDocument/2006/relationships" xmlns:a="http://schemas.openxmlformats.org/drawingml/2006/main" r:embed="Rf71be6f0b26442ff">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Two Content" type="twoObj">
  <p:cSld name="TWO_OBJECTS">
    <p:bg>
      <p:bgPr>
        <a:blipFill xmlns:a="http://schemas.openxmlformats.org/drawingml/2006/main">
          <a:blip xmlns:r="http://schemas.openxmlformats.org/officeDocument/2006/relationships" r:embed="R1a5b90a8546a49b6">
            <a:alphaModFix/>
          </a:blip>
          <a:stretch>
            <a:fillRect l="0" t="0" r="0" b="0"/>
          </a:stretch>
        </a:blipFill>
      </p:bgPr>
    </p:bg>
    <p:spTree>
      <p:nvGrpSpPr>
        <p:cNvPr id="1" name=""/>
        <p:cNvGrpSpPr/>
        <p:nvPr/>
      </p:nvGrpSpPr>
      <p:grpSpPr>
        <a:xfrm xmlns:a="http://schemas.openxmlformats.org/drawingml/2006/main"/>
      </p:grpSpPr>
      <p:sp>
        <p:nvSpPr>
          <p:cNvPr id="31" name="Google Shape;31;p9">
            <a:extLst xmlns:a="http://schemas.openxmlformats.org/drawingml/2006/main">
              <a:ext uri="{FF2B5EF4-FFF2-40B4-BE49-F238E27FC236}">
                <a16:creationId xmlns:a16="http://schemas.microsoft.com/office/drawing/2014/main" id="{572AB830-7281-4F1F-A6A2-10F9214EF704}"/>
              </a:ext>
            </a:extLst>
          </p:cNvPr>
          <p:cNvSpPr>
            <a:spLocks xmlns:a="http://schemas.openxmlformats.org/drawingml/2006/main" noGrp="1"/>
          </p:cNvSpPr>
          <p:nvPr>
            <p:ph type="title" idx="0"/>
          </p:nvPr>
        </p:nvSpPr>
        <p:spPr>
          <a:xfrm xmlns:a="http://schemas.openxmlformats.org/drawingml/2006/main">
            <a:off x="457200" y="5143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32" name="Google Shape;32;p9">
            <a:extLst xmlns:a="http://schemas.openxmlformats.org/drawingml/2006/main">
              <a:ext uri="{FF2B5EF4-FFF2-40B4-BE49-F238E27FC236}">
                <a16:creationId xmlns:a16="http://schemas.microsoft.com/office/drawing/2014/main" id="{882D9A88-529D-4EA8-BEBD-7A937BCCDCFD}"/>
              </a:ext>
            </a:extLst>
          </p:cNvPr>
          <p:cNvSpPr>
            <a:spLocks xmlns:a="http://schemas.openxmlformats.org/drawingml/2006/main" noGrp="1"/>
          </p:cNvSpPr>
          <p:nvPr>
            <p:ph type="body" idx="1"/>
          </p:nvPr>
        </p:nvSpPr>
        <p:spPr>
          <a:xfrm xmlns:a="http://schemas.openxmlformats.org/drawingml/2006/main">
            <a:off x="457200" y="1085851"/>
            <a:ext cx="4038600" cy="3108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lnSpc>
                <a:spcPct val="100000"/>
              </a:lnSpc>
              <a:spcBef>
                <a:spcPts val="560"/>
              </a:spcBef>
              <a:spcAft>
                <a:spcPts val="0"/>
              </a:spcAft>
              <a:buClr>
                <a:schemeClr val="dk2"/>
              </a:buClr>
              <a:buSzPts val="2800"/>
              <a:buChar char="•"/>
              <a:defRPr sz="2800"/>
            </a:lvl1pPr>
            <a:lvl2pPr marL="914400" indent="-381000" algn="l">
              <a:lnSpc>
                <a:spcPct val="100000"/>
              </a:lnSpc>
              <a:spcBef>
                <a:spcPts val="480"/>
              </a:spcBef>
              <a:spcAft>
                <a:spcPts val="0"/>
              </a:spcAft>
              <a:buClr>
                <a:schemeClr val="dk2"/>
              </a:buClr>
              <a:buSzPts val="2400"/>
              <a:buChar char="–"/>
              <a:defRPr sz="2400"/>
            </a:lvl2pPr>
            <a:lvl3pPr marL="1371600" indent="-355600" algn="l">
              <a:lnSpc>
                <a:spcPct val="100000"/>
              </a:lnSpc>
              <a:spcBef>
                <a:spcPts val="400"/>
              </a:spcBef>
              <a:spcAft>
                <a:spcPts val="0"/>
              </a:spcAft>
              <a:buClr>
                <a:schemeClr val="dk2"/>
              </a:buClr>
              <a:buSzPts val="2000"/>
              <a:buChar char="•"/>
              <a:defRPr sz="2000"/>
            </a:lvl3pPr>
            <a:lvl4pPr marL="1828800" indent="-342900" algn="l">
              <a:lnSpc>
                <a:spcPct val="100000"/>
              </a:lnSpc>
              <a:spcBef>
                <a:spcPts val="360"/>
              </a:spcBef>
              <a:spcAft>
                <a:spcPts val="0"/>
              </a:spcAft>
              <a:buClr>
                <a:schemeClr val="dk2"/>
              </a:buClr>
              <a:buSzPts val="1800"/>
              <a:buChar char="–"/>
              <a:defRPr sz="1800"/>
            </a:lvl4pPr>
            <a:lvl5pPr marL="2286000" indent="-342900" algn="l">
              <a:lnSpc>
                <a:spcPct val="100000"/>
              </a:lnSpc>
              <a:spcBef>
                <a:spcPts val="360"/>
              </a:spcBef>
              <a:spcAft>
                <a:spcPts val="0"/>
              </a:spcAft>
              <a:buClr>
                <a:schemeClr val="dk2"/>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33" name="Google Shape;33;p9">
            <a:extLst xmlns:a="http://schemas.openxmlformats.org/drawingml/2006/main">
              <a:ext uri="{FF2B5EF4-FFF2-40B4-BE49-F238E27FC236}">
                <a16:creationId xmlns:a16="http://schemas.microsoft.com/office/drawing/2014/main" id="{FFD379FB-FC6A-411B-9864-DAB682D25069}"/>
              </a:ext>
            </a:extLst>
          </p:cNvPr>
          <p:cNvSpPr>
            <a:spLocks xmlns:a="http://schemas.openxmlformats.org/drawingml/2006/main" noGrp="1"/>
          </p:cNvSpPr>
          <p:nvPr>
            <p:ph type="body" idx="2"/>
          </p:nvPr>
        </p:nvSpPr>
        <p:spPr>
          <a:xfrm xmlns:a="http://schemas.openxmlformats.org/drawingml/2006/main">
            <a:off x="4648200" y="1085851"/>
            <a:ext cx="4038600" cy="3108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lnSpc>
                <a:spcPct val="100000"/>
              </a:lnSpc>
              <a:spcBef>
                <a:spcPts val="560"/>
              </a:spcBef>
              <a:spcAft>
                <a:spcPts val="0"/>
              </a:spcAft>
              <a:buClr>
                <a:schemeClr val="dk2"/>
              </a:buClr>
              <a:buSzPts val="2800"/>
              <a:buChar char="•"/>
              <a:defRPr sz="2800"/>
            </a:lvl1pPr>
            <a:lvl2pPr marL="914400" indent="-381000" algn="l">
              <a:lnSpc>
                <a:spcPct val="100000"/>
              </a:lnSpc>
              <a:spcBef>
                <a:spcPts val="480"/>
              </a:spcBef>
              <a:spcAft>
                <a:spcPts val="0"/>
              </a:spcAft>
              <a:buClr>
                <a:schemeClr val="dk2"/>
              </a:buClr>
              <a:buSzPts val="2400"/>
              <a:buChar char="–"/>
              <a:defRPr sz="2400"/>
            </a:lvl2pPr>
            <a:lvl3pPr marL="1371600" indent="-355600" algn="l">
              <a:lnSpc>
                <a:spcPct val="100000"/>
              </a:lnSpc>
              <a:spcBef>
                <a:spcPts val="400"/>
              </a:spcBef>
              <a:spcAft>
                <a:spcPts val="0"/>
              </a:spcAft>
              <a:buClr>
                <a:schemeClr val="dk2"/>
              </a:buClr>
              <a:buSzPts val="2000"/>
              <a:buChar char="•"/>
              <a:defRPr sz="2000"/>
            </a:lvl3pPr>
            <a:lvl4pPr marL="1828800" indent="-342900" algn="l">
              <a:lnSpc>
                <a:spcPct val="100000"/>
              </a:lnSpc>
              <a:spcBef>
                <a:spcPts val="360"/>
              </a:spcBef>
              <a:spcAft>
                <a:spcPts val="0"/>
              </a:spcAft>
              <a:buClr>
                <a:schemeClr val="dk2"/>
              </a:buClr>
              <a:buSzPts val="1800"/>
              <a:buChar char="–"/>
              <a:defRPr sz="1800"/>
            </a:lvl4pPr>
            <a:lvl5pPr marL="2286000" indent="-342900" algn="l">
              <a:lnSpc>
                <a:spcPct val="100000"/>
              </a:lnSpc>
              <a:spcBef>
                <a:spcPts val="360"/>
              </a:spcBef>
              <a:spcAft>
                <a:spcPts val="0"/>
              </a:spcAft>
              <a:buClr>
                <a:schemeClr val="dk2"/>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34" name="Google Shape;34;p9">
            <a:extLst xmlns:a="http://schemas.openxmlformats.org/drawingml/2006/main">
              <a:ext uri="{FF2B5EF4-FFF2-40B4-BE49-F238E27FC236}">
                <a16:creationId xmlns:a16="http://schemas.microsoft.com/office/drawing/2014/main" id="{40A3B26B-30F2-4DD4-8A73-C8DCE1238AA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0" name="Google Shape;35;p9"/>
          <p:cNvPicPr>
            <a:picLocks xmlns:a="http://schemas.openxmlformats.org/drawingml/2006/main" noChangeAspect="1"/>
          </p:cNvPicPr>
          <p:nvPr/>
        </p:nvPicPr>
        <p:blipFill rotWithShape="1">
          <a:blip xmlns:r="http://schemas.openxmlformats.org/officeDocument/2006/relationships" xmlns:a="http://schemas.openxmlformats.org/drawingml/2006/main" r:embed="R8ab7361af9204eae">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Comparison">
  <p:cSld name="Comparison">
    <p:bg>
      <p:bgPr>
        <a:blipFill xmlns:a="http://schemas.openxmlformats.org/drawingml/2006/main">
          <a:blip xmlns:r="http://schemas.openxmlformats.org/officeDocument/2006/relationships" r:embed="R80fb5e4901e84a29">
            <a:alphaModFix/>
          </a:blip>
          <a:stretch>
            <a:fillRect l="0" t="0" r="0" b="0"/>
          </a:stretch>
        </a:blipFill>
      </p:bgPr>
    </p:bg>
    <p:spTree>
      <p:nvGrpSpPr>
        <p:cNvPr id="1" name=""/>
        <p:cNvGrpSpPr/>
        <p:nvPr/>
      </p:nvGrpSpPr>
      <p:grpSpPr>
        <a:xfrm xmlns:a="http://schemas.openxmlformats.org/drawingml/2006/main"/>
      </p:grpSpPr>
      <p:sp>
        <p:nvSpPr>
          <p:cNvPr id="37" name="Google Shape;37;p10">
            <a:extLst xmlns:a="http://schemas.openxmlformats.org/drawingml/2006/main">
              <a:ext uri="{FF2B5EF4-FFF2-40B4-BE49-F238E27FC236}">
                <a16:creationId xmlns:a16="http://schemas.microsoft.com/office/drawing/2014/main" id="{5132B670-240F-426D-A702-8349F6ACF749}"/>
              </a:ext>
            </a:extLst>
          </p:cNvPr>
          <p:cNvSpPr>
            <a:spLocks xmlns:a="http://schemas.openxmlformats.org/drawingml/2006/main" noGrp="1"/>
          </p:cNvSpPr>
          <p:nvPr>
            <p:ph type="body" idx="1"/>
          </p:nvPr>
        </p:nvSpPr>
        <p:spPr>
          <a:xfrm xmlns:a="http://schemas.openxmlformats.org/drawingml/2006/main">
            <a:off x="457200" y="514350"/>
            <a:ext cx="4040188" cy="7739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80"/>
              </a:spcBef>
              <a:spcAft>
                <a:spcPts val="0"/>
              </a:spcAft>
              <a:buClr>
                <a:schemeClr val="dk2"/>
              </a:buClr>
              <a:buSzPts val="2400"/>
              <a:buNone/>
              <a:defRPr sz="2400" b="1"/>
            </a:lvl1pPr>
            <a:lvl2pPr marL="914400" indent="-228600" algn="l">
              <a:lnSpc>
                <a:spcPct val="100000"/>
              </a:lnSpc>
              <a:spcBef>
                <a:spcPts val="400"/>
              </a:spcBef>
              <a:spcAft>
                <a:spcPts val="0"/>
              </a:spcAft>
              <a:buClr>
                <a:schemeClr val="dk2"/>
              </a:buClr>
              <a:buSzPts val="2000"/>
              <a:buNone/>
              <a:defRPr sz="2000" b="1"/>
            </a:lvl2pPr>
            <a:lvl3pPr marL="1371600" indent="-228600" algn="l">
              <a:lnSpc>
                <a:spcPct val="100000"/>
              </a:lnSpc>
              <a:spcBef>
                <a:spcPts val="360"/>
              </a:spcBef>
              <a:spcAft>
                <a:spcPts val="0"/>
              </a:spcAft>
              <a:buClr>
                <a:schemeClr val="dk2"/>
              </a:buClr>
              <a:buSzPts val="1800"/>
              <a:buNone/>
              <a:defRPr sz="1800" b="1"/>
            </a:lvl3pPr>
            <a:lvl4pPr marL="1828800" indent="-228600" algn="l">
              <a:lnSpc>
                <a:spcPct val="100000"/>
              </a:lnSpc>
              <a:spcBef>
                <a:spcPts val="320"/>
              </a:spcBef>
              <a:spcAft>
                <a:spcPts val="0"/>
              </a:spcAft>
              <a:buClr>
                <a:schemeClr val="dk2"/>
              </a:buClr>
              <a:buSzPts val="1600"/>
              <a:buNone/>
              <a:defRPr sz="1600" b="1"/>
            </a:lvl4pPr>
            <a:lvl5pPr marL="2286000" indent="-228600" algn="l">
              <a:lnSpc>
                <a:spcPct val="100000"/>
              </a:lnSpc>
              <a:spcBef>
                <a:spcPts val="320"/>
              </a:spcBef>
              <a:spcAft>
                <a:spcPts val="0"/>
              </a:spcAft>
              <a:buClr>
                <a:schemeClr val="dk2"/>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38" name="Google Shape;38;p10">
            <a:extLst xmlns:a="http://schemas.openxmlformats.org/drawingml/2006/main">
              <a:ext uri="{FF2B5EF4-FFF2-40B4-BE49-F238E27FC236}">
                <a16:creationId xmlns:a16="http://schemas.microsoft.com/office/drawing/2014/main" id="{47B53898-A81A-4D92-BB3A-1247A98C010A}"/>
              </a:ext>
            </a:extLst>
          </p:cNvPr>
          <p:cNvSpPr>
            <a:spLocks xmlns:a="http://schemas.openxmlformats.org/drawingml/2006/main" noGrp="1"/>
          </p:cNvSpPr>
          <p:nvPr>
            <p:ph type="body" idx="2"/>
          </p:nvPr>
        </p:nvSpPr>
        <p:spPr>
          <a:xfrm xmlns:a="http://schemas.openxmlformats.org/drawingml/2006/main">
            <a:off x="457200" y="1288255"/>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lnSpc>
                <a:spcPct val="100000"/>
              </a:lnSpc>
              <a:spcBef>
                <a:spcPts val="480"/>
              </a:spcBef>
              <a:spcAft>
                <a:spcPts val="0"/>
              </a:spcAft>
              <a:buClr>
                <a:schemeClr val="dk2"/>
              </a:buClr>
              <a:buSzPts val="2400"/>
              <a:buChar char="•"/>
              <a:defRPr sz="2400"/>
            </a:lvl1pPr>
            <a:lvl2pPr marL="914400" indent="-355600" algn="l">
              <a:lnSpc>
                <a:spcPct val="100000"/>
              </a:lnSpc>
              <a:spcBef>
                <a:spcPts val="400"/>
              </a:spcBef>
              <a:spcAft>
                <a:spcPts val="0"/>
              </a:spcAft>
              <a:buClr>
                <a:schemeClr val="dk2"/>
              </a:buClr>
              <a:buSzPts val="2000"/>
              <a:buChar char="–"/>
              <a:defRPr sz="2000"/>
            </a:lvl2pPr>
            <a:lvl3pPr marL="1371600" indent="-342900" algn="l">
              <a:lnSpc>
                <a:spcPct val="100000"/>
              </a:lnSpc>
              <a:spcBef>
                <a:spcPts val="360"/>
              </a:spcBef>
              <a:spcAft>
                <a:spcPts val="0"/>
              </a:spcAft>
              <a:buClr>
                <a:schemeClr val="dk2"/>
              </a:buClr>
              <a:buSzPts val="1800"/>
              <a:buChar char="•"/>
              <a:defRPr sz="1800"/>
            </a:lvl3pPr>
            <a:lvl4pPr marL="1828800" indent="-330200" algn="l">
              <a:lnSpc>
                <a:spcPct val="100000"/>
              </a:lnSpc>
              <a:spcBef>
                <a:spcPts val="320"/>
              </a:spcBef>
              <a:spcAft>
                <a:spcPts val="0"/>
              </a:spcAft>
              <a:buClr>
                <a:schemeClr val="dk2"/>
              </a:buClr>
              <a:buSzPts val="1600"/>
              <a:buChar char="–"/>
              <a:defRPr sz="1600"/>
            </a:lvl4pPr>
            <a:lvl5pPr marL="2286000" indent="-330200" algn="l">
              <a:lnSpc>
                <a:spcPct val="100000"/>
              </a:lnSpc>
              <a:spcBef>
                <a:spcPts val="320"/>
              </a:spcBef>
              <a:spcAft>
                <a:spcPts val="0"/>
              </a:spcAft>
              <a:buClr>
                <a:schemeClr val="dk2"/>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39" name="Google Shape;39;p10">
            <a:extLst xmlns:a="http://schemas.openxmlformats.org/drawingml/2006/main">
              <a:ext uri="{FF2B5EF4-FFF2-40B4-BE49-F238E27FC236}">
                <a16:creationId xmlns:a16="http://schemas.microsoft.com/office/drawing/2014/main" id="{BCF58325-F569-4BB2-9070-680C3E96C1FD}"/>
              </a:ext>
            </a:extLst>
          </p:cNvPr>
          <p:cNvSpPr>
            <a:spLocks xmlns:a="http://schemas.openxmlformats.org/drawingml/2006/main" noGrp="1"/>
          </p:cNvSpPr>
          <p:nvPr>
            <p:ph type="body" idx="3"/>
          </p:nvPr>
        </p:nvSpPr>
        <p:spPr>
          <a:xfrm xmlns:a="http://schemas.openxmlformats.org/drawingml/2006/main">
            <a:off x="4645026" y="514350"/>
            <a:ext cx="4041775" cy="7739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80"/>
              </a:spcBef>
              <a:spcAft>
                <a:spcPts val="0"/>
              </a:spcAft>
              <a:buClr>
                <a:schemeClr val="dk2"/>
              </a:buClr>
              <a:buSzPts val="2400"/>
              <a:buNone/>
              <a:defRPr sz="2400" b="1"/>
            </a:lvl1pPr>
            <a:lvl2pPr marL="914400" indent="-228600" algn="l">
              <a:lnSpc>
                <a:spcPct val="100000"/>
              </a:lnSpc>
              <a:spcBef>
                <a:spcPts val="400"/>
              </a:spcBef>
              <a:spcAft>
                <a:spcPts val="0"/>
              </a:spcAft>
              <a:buClr>
                <a:schemeClr val="dk2"/>
              </a:buClr>
              <a:buSzPts val="2000"/>
              <a:buNone/>
              <a:defRPr sz="2000" b="1"/>
            </a:lvl2pPr>
            <a:lvl3pPr marL="1371600" indent="-228600" algn="l">
              <a:lnSpc>
                <a:spcPct val="100000"/>
              </a:lnSpc>
              <a:spcBef>
                <a:spcPts val="360"/>
              </a:spcBef>
              <a:spcAft>
                <a:spcPts val="0"/>
              </a:spcAft>
              <a:buClr>
                <a:schemeClr val="dk2"/>
              </a:buClr>
              <a:buSzPts val="1800"/>
              <a:buNone/>
              <a:defRPr sz="1800" b="1"/>
            </a:lvl3pPr>
            <a:lvl4pPr marL="1828800" indent="-228600" algn="l">
              <a:lnSpc>
                <a:spcPct val="100000"/>
              </a:lnSpc>
              <a:spcBef>
                <a:spcPts val="320"/>
              </a:spcBef>
              <a:spcAft>
                <a:spcPts val="0"/>
              </a:spcAft>
              <a:buClr>
                <a:schemeClr val="dk2"/>
              </a:buClr>
              <a:buSzPts val="1600"/>
              <a:buNone/>
              <a:defRPr sz="1600" b="1"/>
            </a:lvl4pPr>
            <a:lvl5pPr marL="2286000" indent="-228600" algn="l">
              <a:lnSpc>
                <a:spcPct val="100000"/>
              </a:lnSpc>
              <a:spcBef>
                <a:spcPts val="320"/>
              </a:spcBef>
              <a:spcAft>
                <a:spcPts val="0"/>
              </a:spcAft>
              <a:buClr>
                <a:schemeClr val="dk2"/>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471A090D-3F21-4FB3-A839-7EEC9B8C5E89}"/>
              </a:ext>
            </a:extLst>
          </p:cNvPr>
          <p:cNvSpPr>
            <a:spLocks xmlns:a="http://schemas.openxmlformats.org/drawingml/2006/main" noGrp="1"/>
          </p:cNvSpPr>
          <p:nvPr>
            <p:ph type="body" idx="4"/>
          </p:nvPr>
        </p:nvSpPr>
        <p:spPr>
          <a:xfrm xmlns:a="http://schemas.openxmlformats.org/drawingml/2006/main">
            <a:off x="4645026" y="1288255"/>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lnSpc>
                <a:spcPct val="100000"/>
              </a:lnSpc>
              <a:spcBef>
                <a:spcPts val="480"/>
              </a:spcBef>
              <a:spcAft>
                <a:spcPts val="0"/>
              </a:spcAft>
              <a:buClr>
                <a:schemeClr val="dk2"/>
              </a:buClr>
              <a:buSzPts val="2400"/>
              <a:buChar char="•"/>
              <a:defRPr sz="2400"/>
            </a:lvl1pPr>
            <a:lvl2pPr marL="914400" indent="-355600" algn="l">
              <a:lnSpc>
                <a:spcPct val="100000"/>
              </a:lnSpc>
              <a:spcBef>
                <a:spcPts val="400"/>
              </a:spcBef>
              <a:spcAft>
                <a:spcPts val="0"/>
              </a:spcAft>
              <a:buClr>
                <a:schemeClr val="dk2"/>
              </a:buClr>
              <a:buSzPts val="2000"/>
              <a:buChar char="–"/>
              <a:defRPr sz="2000"/>
            </a:lvl2pPr>
            <a:lvl3pPr marL="1371600" indent="-342900" algn="l">
              <a:lnSpc>
                <a:spcPct val="100000"/>
              </a:lnSpc>
              <a:spcBef>
                <a:spcPts val="360"/>
              </a:spcBef>
              <a:spcAft>
                <a:spcPts val="0"/>
              </a:spcAft>
              <a:buClr>
                <a:schemeClr val="dk2"/>
              </a:buClr>
              <a:buSzPts val="1800"/>
              <a:buChar char="•"/>
              <a:defRPr sz="1800"/>
            </a:lvl3pPr>
            <a:lvl4pPr marL="1828800" indent="-330200" algn="l">
              <a:lnSpc>
                <a:spcPct val="100000"/>
              </a:lnSpc>
              <a:spcBef>
                <a:spcPts val="320"/>
              </a:spcBef>
              <a:spcAft>
                <a:spcPts val="0"/>
              </a:spcAft>
              <a:buClr>
                <a:schemeClr val="dk2"/>
              </a:buClr>
              <a:buSzPts val="1600"/>
              <a:buChar char="–"/>
              <a:defRPr sz="1600"/>
            </a:lvl4pPr>
            <a:lvl5pPr marL="2286000" indent="-330200" algn="l">
              <a:lnSpc>
                <a:spcPct val="100000"/>
              </a:lnSpc>
              <a:spcBef>
                <a:spcPts val="320"/>
              </a:spcBef>
              <a:spcAft>
                <a:spcPts val="0"/>
              </a:spcAft>
              <a:buClr>
                <a:schemeClr val="dk2"/>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74371D8F-0CCC-404B-99F0-BA0973EE7237}"/>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8" name="Google Shape;42;p10"/>
          <p:cNvPicPr>
            <a:picLocks xmlns:a="http://schemas.openxmlformats.org/drawingml/2006/main" noChangeAspect="1"/>
          </p:cNvPicPr>
          <p:nvPr/>
        </p:nvPicPr>
        <p:blipFill rotWithShape="1">
          <a:blip xmlns:r="http://schemas.openxmlformats.org/officeDocument/2006/relationships" xmlns:a="http://schemas.openxmlformats.org/drawingml/2006/main" r:embed="Rfae4f1dd5d2b4280">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7.xml><?xml version="1.0" encoding="utf-8"?>
<p:sldLayout xmlns:p="http://schemas.openxmlformats.org/presentationml/2006/main" matchingName="Title Only" type="titleOnly">
  <p:cSld name="TITLE_ONLY">
    <p:bg>
      <p:bgPr>
        <a:blipFill xmlns:a="http://schemas.openxmlformats.org/drawingml/2006/main">
          <a:blip xmlns:r="http://schemas.openxmlformats.org/officeDocument/2006/relationships" r:embed="R3199ffa4a9444ef0">
            <a:alphaModFix/>
          </a:blip>
          <a:stretch>
            <a:fillRect l="0" t="0" r="0" b="0"/>
          </a:stretch>
        </a:blipFill>
      </p:bgPr>
    </p:bg>
    <p:spTree>
      <p:nvGrpSpPr>
        <p:cNvPr id="1" name=""/>
        <p:cNvGrpSpPr/>
        <p:nvPr/>
      </p:nvGrpSpPr>
      <p:grpSpPr>
        <a:xfrm xmlns:a="http://schemas.openxmlformats.org/drawingml/2006/main"/>
      </p:grpSpPr>
      <p:sp>
        <p:nvSpPr>
          <p:cNvPr id="44" name="Google Shape;44;p11">
            <a:extLst xmlns:a="http://schemas.openxmlformats.org/drawingml/2006/main">
              <a:ext uri="{FF2B5EF4-FFF2-40B4-BE49-F238E27FC236}">
                <a16:creationId xmlns:a16="http://schemas.microsoft.com/office/drawing/2014/main" id="{C72BA869-5F5A-4340-8BFF-955523601914}"/>
              </a:ext>
            </a:extLst>
          </p:cNvPr>
          <p:cNvSpPr>
            <a:spLocks xmlns:a="http://schemas.openxmlformats.org/drawingml/2006/main" noGrp="1"/>
          </p:cNvSpPr>
          <p:nvPr>
            <p:ph type="title" idx="0"/>
          </p:nvPr>
        </p:nvSpPr>
        <p:spPr>
          <a:xfrm xmlns:a="http://schemas.openxmlformats.org/drawingml/2006/main">
            <a:off x="457200" y="5143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45" name="Google Shape;45;p11">
            <a:extLst xmlns:a="http://schemas.openxmlformats.org/drawingml/2006/main">
              <a:ext uri="{FF2B5EF4-FFF2-40B4-BE49-F238E27FC236}">
                <a16:creationId xmlns:a16="http://schemas.microsoft.com/office/drawing/2014/main" id="{DDBE5E72-ED27-4482-BAF2-AD787D74EEB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9" name="Google Shape;46;p11"/>
          <p:cNvPicPr>
            <a:picLocks xmlns:a="http://schemas.openxmlformats.org/drawingml/2006/main" noChangeAspect="1"/>
          </p:cNvPicPr>
          <p:nvPr/>
        </p:nvPicPr>
        <p:blipFill rotWithShape="1">
          <a:blip xmlns:r="http://schemas.openxmlformats.org/officeDocument/2006/relationships" xmlns:a="http://schemas.openxmlformats.org/drawingml/2006/main" r:embed="Rc1c5b02ba45f4334">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8.xml><?xml version="1.0" encoding="utf-8"?>
<p:sldLayout xmlns:p="http://schemas.openxmlformats.org/presentationml/2006/main" matchingName="Blank" type="blank">
  <p:cSld name="BLANK">
    <p:bg>
      <p:bgPr>
        <a:blipFill xmlns:a="http://schemas.openxmlformats.org/drawingml/2006/main">
          <a:blip xmlns:r="http://schemas.openxmlformats.org/officeDocument/2006/relationships" r:embed="R18026d80dc2f49d3">
            <a:alphaModFix/>
          </a:blip>
          <a:stretch>
            <a:fillRect l="0" t="0" r="0" b="0"/>
          </a:stretch>
        </a:blipFill>
      </p:bgPr>
    </p:bg>
    <p:spTree>
      <p:nvGrpSpPr>
        <p:cNvPr id="1" name=""/>
        <p:cNvGrpSpPr/>
        <p:nvPr/>
      </p:nvGrpSpPr>
      <p:grpSpPr>
        <a:xfrm xmlns:a="http://schemas.openxmlformats.org/drawingml/2006/main"/>
      </p:grpSpPr>
      <p:sp>
        <p:nvSpPr>
          <p:cNvPr id="48" name="Google Shape;48;p12">
            <a:extLst xmlns:a="http://schemas.openxmlformats.org/drawingml/2006/main">
              <a:ext uri="{FF2B5EF4-FFF2-40B4-BE49-F238E27FC236}">
                <a16:creationId xmlns:a16="http://schemas.microsoft.com/office/drawing/2014/main" id="{67B86C1F-4CDF-4B46-979E-6AAE21529B98}"/>
              </a:ext>
            </a:extLst>
          </p:cNvPr>
          <p:cNvSpPr>
            <a:spLocks xmlns:a="http://schemas.openxmlformats.org/drawingml/2006/main" noGrp="1"/>
          </p:cNvSpPr>
          <p:nvPr>
            <p:ph type="sldNum" idx="12"/>
          </p:nvPr>
        </p:nvSpPr>
        <p:spPr>
          <a:xfrm xmlns:a="http://schemas.openxmlformats.org/drawingml/2006/main">
            <a:off x="32766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51" name="Google Shape;49;p12"/>
          <p:cNvPicPr>
            <a:picLocks xmlns:a="http://schemas.openxmlformats.org/drawingml/2006/main" noChangeAspect="1"/>
          </p:cNvPicPr>
          <p:nvPr/>
        </p:nvPicPr>
        <p:blipFill rotWithShape="1">
          <a:blip xmlns:r="http://schemas.openxmlformats.org/officeDocument/2006/relationships" xmlns:a="http://schemas.openxmlformats.org/drawingml/2006/main" r:embed="R4c1165aaacf14473">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9.xml><?xml version="1.0" encoding="utf-8"?>
<p:sldLayout xmlns:p="http://schemas.openxmlformats.org/presentationml/2006/main" matchingName="Content with Caption" type="objTx">
  <p:cSld name="OBJECT_WITH_CAPTION_TEXT">
    <p:bg>
      <p:bgPr>
        <a:blipFill xmlns:a="http://schemas.openxmlformats.org/drawingml/2006/main">
          <a:blip xmlns:r="http://schemas.openxmlformats.org/officeDocument/2006/relationships" r:embed="R7962dccd1ca84e2f">
            <a:alphaModFix/>
          </a:blip>
          <a:stretch>
            <a:fillRect l="0" t="0" r="0" b="0"/>
          </a:stretch>
        </a:blip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2A2D6E6E-4EDD-46AA-BC3B-FF5AEA5806E7}"/>
              </a:ext>
            </a:extLst>
          </p:cNvPr>
          <p:cNvSpPr>
            <a:spLocks xmlns:a="http://schemas.openxmlformats.org/drawingml/2006/main" noGrp="1"/>
          </p:cNvSpPr>
          <p:nvPr>
            <p:ph type="title" idx="0"/>
          </p:nvPr>
        </p:nvSpPr>
        <p:spPr>
          <a:xfrm xmlns:a="http://schemas.openxmlformats.org/drawingml/2006/main">
            <a:off x="457201" y="438150"/>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1400"/>
              <a:buNone/>
              <a:defRPr sz="2000" b="1">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2F07ADC9-0E3A-40F2-B18F-BF95BAF4D5D2}"/>
              </a:ext>
            </a:extLst>
          </p:cNvPr>
          <p:cNvSpPr>
            <a:spLocks xmlns:a="http://schemas.openxmlformats.org/drawingml/2006/main" noGrp="1"/>
          </p:cNvSpPr>
          <p:nvPr>
            <p:ph type="body" idx="1"/>
          </p:nvPr>
        </p:nvSpPr>
        <p:spPr>
          <a:xfrm xmlns:a="http://schemas.openxmlformats.org/drawingml/2006/main">
            <a:off x="3575050" y="438151"/>
            <a:ext cx="5111750" cy="365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31800" algn="l">
              <a:lnSpc>
                <a:spcPct val="100000"/>
              </a:lnSpc>
              <a:spcBef>
                <a:spcPts val="640"/>
              </a:spcBef>
              <a:spcAft>
                <a:spcPts val="0"/>
              </a:spcAft>
              <a:buClr>
                <a:schemeClr val="dk2"/>
              </a:buClr>
              <a:buSzPts val="3200"/>
              <a:buChar char="•"/>
              <a:defRPr sz="3200"/>
            </a:lvl1pPr>
            <a:lvl2pPr marL="914400" indent="-406400" algn="l">
              <a:lnSpc>
                <a:spcPct val="100000"/>
              </a:lnSpc>
              <a:spcBef>
                <a:spcPts val="560"/>
              </a:spcBef>
              <a:spcAft>
                <a:spcPts val="0"/>
              </a:spcAft>
              <a:buClr>
                <a:schemeClr val="dk2"/>
              </a:buClr>
              <a:buSzPts val="2800"/>
              <a:buChar char="–"/>
              <a:defRPr sz="2800"/>
            </a:lvl2pPr>
            <a:lvl3pPr marL="1371600" indent="-381000" algn="l">
              <a:lnSpc>
                <a:spcPct val="100000"/>
              </a:lnSpc>
              <a:spcBef>
                <a:spcPts val="480"/>
              </a:spcBef>
              <a:spcAft>
                <a:spcPts val="0"/>
              </a:spcAft>
              <a:buClr>
                <a:schemeClr val="dk2"/>
              </a:buClr>
              <a:buSzPts val="2400"/>
              <a:buChar char="•"/>
              <a:defRPr sz="2400"/>
            </a:lvl3pPr>
            <a:lvl4pPr marL="1828800" indent="-355600" algn="l">
              <a:lnSpc>
                <a:spcPct val="100000"/>
              </a:lnSpc>
              <a:spcBef>
                <a:spcPts val="400"/>
              </a:spcBef>
              <a:spcAft>
                <a:spcPts val="0"/>
              </a:spcAft>
              <a:buClr>
                <a:schemeClr val="dk2"/>
              </a:buClr>
              <a:buSzPts val="2000"/>
              <a:buChar char="–"/>
              <a:defRPr sz="2000"/>
            </a:lvl4pPr>
            <a:lvl5pPr marL="2286000" indent="-355600" algn="l">
              <a:lnSpc>
                <a:spcPct val="100000"/>
              </a:lnSpc>
              <a:spcBef>
                <a:spcPts val="400"/>
              </a:spcBef>
              <a:spcAft>
                <a:spcPts val="0"/>
              </a:spcAft>
              <a:buClr>
                <a:schemeClr val="dk2"/>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DAA04ECC-D61D-496C-9912-DDA30C3F9DF6}"/>
              </a:ext>
            </a:extLst>
          </p:cNvPr>
          <p:cNvSpPr>
            <a:spLocks xmlns:a="http://schemas.openxmlformats.org/drawingml/2006/main" noGrp="1"/>
          </p:cNvSpPr>
          <p:nvPr>
            <p:ph type="body" idx="2"/>
          </p:nvPr>
        </p:nvSpPr>
        <p:spPr>
          <a:xfrm xmlns:a="http://schemas.openxmlformats.org/drawingml/2006/main">
            <a:off x="457201" y="1428750"/>
            <a:ext cx="3008313" cy="26670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100000"/>
              </a:lnSpc>
              <a:spcBef>
                <a:spcPts val="280"/>
              </a:spcBef>
              <a:spcAft>
                <a:spcPts val="0"/>
              </a:spcAft>
              <a:buClr>
                <a:srgbClr val="006096"/>
              </a:buClr>
              <a:buSzPts val="1400"/>
              <a:buNone/>
              <a:defRPr sz="1400">
                <a:solidFill>
                  <a:srgbClr val="006096"/>
                </a:solidFill>
              </a:defRPr>
            </a:lvl1pPr>
            <a:lvl2pPr marL="914400" indent="-228600" algn="l">
              <a:lnSpc>
                <a:spcPct val="100000"/>
              </a:lnSpc>
              <a:spcBef>
                <a:spcPts val="240"/>
              </a:spcBef>
              <a:spcAft>
                <a:spcPts val="0"/>
              </a:spcAft>
              <a:buClr>
                <a:schemeClr val="dk2"/>
              </a:buClr>
              <a:buSzPts val="1200"/>
              <a:buNone/>
              <a:defRPr sz="1200"/>
            </a:lvl2pPr>
            <a:lvl3pPr marL="1371600" indent="-228600" algn="l">
              <a:lnSpc>
                <a:spcPct val="100000"/>
              </a:lnSpc>
              <a:spcBef>
                <a:spcPts val="200"/>
              </a:spcBef>
              <a:spcAft>
                <a:spcPts val="0"/>
              </a:spcAft>
              <a:buClr>
                <a:schemeClr val="dk2"/>
              </a:buClr>
              <a:buSzPts val="1000"/>
              <a:buNone/>
              <a:defRPr sz="1000"/>
            </a:lvl3pPr>
            <a:lvl4pPr marL="1828800" indent="-228600" algn="l">
              <a:lnSpc>
                <a:spcPct val="100000"/>
              </a:lnSpc>
              <a:spcBef>
                <a:spcPts val="180"/>
              </a:spcBef>
              <a:spcAft>
                <a:spcPts val="0"/>
              </a:spcAft>
              <a:buClr>
                <a:schemeClr val="dk2"/>
              </a:buClr>
              <a:buSzPts val="900"/>
              <a:buNone/>
              <a:defRPr sz="900"/>
            </a:lvl4pPr>
            <a:lvl5pPr marL="2286000" indent="-228600" algn="l">
              <a:lnSpc>
                <a:spcPct val="100000"/>
              </a:lnSpc>
              <a:spcBef>
                <a:spcPts val="180"/>
              </a:spcBef>
              <a:spcAft>
                <a:spcPts val="0"/>
              </a:spcAft>
              <a:buClr>
                <a:schemeClr val="dk2"/>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54" name="Google Shape;54;p13">
            <a:extLst xmlns:a="http://schemas.openxmlformats.org/drawingml/2006/main">
              <a:ext uri="{FF2B5EF4-FFF2-40B4-BE49-F238E27FC236}">
                <a16:creationId xmlns:a16="http://schemas.microsoft.com/office/drawing/2014/main" id="{3FF89AA4-6F42-4B35-B555-5FD3165C0DF0}"/>
              </a:ext>
            </a:extLst>
          </p:cNvPr>
          <p:cNvSpPr>
            <a:spLocks xmlns:a="http://schemas.openxmlformats.org/drawingml/2006/main" noGrp="1"/>
          </p:cNvSpPr>
          <p:nvPr>
            <p:ph type="sldNum" idx="12"/>
          </p:nvPr>
        </p:nvSpPr>
        <p:spPr>
          <a:xfrm xmlns:a="http://schemas.openxmlformats.org/drawingml/2006/main">
            <a:off x="3563998"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60" name="Google Shape;55;p13"/>
          <p:cNvPicPr>
            <a:picLocks xmlns:a="http://schemas.openxmlformats.org/drawingml/2006/main" noChangeAspect="1"/>
          </p:cNvPicPr>
          <p:nvPr/>
        </p:nvPicPr>
        <p:blipFill rotWithShape="1">
          <a:blip xmlns:r="http://schemas.openxmlformats.org/officeDocument/2006/relationships" xmlns:a="http://schemas.openxmlformats.org/drawingml/2006/main" r:embed="R11aeb12fa83d4893">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0.xml><?xml version="1.0" encoding="utf-8"?>
<p:sldLayout xmlns:p="http://schemas.openxmlformats.org/presentationml/2006/main" matchingName="Picture with Caption" type="picTx">
  <p:cSld name="PICTURE_WITH_CAPTION_TEXT">
    <p:bg>
      <p:bgPr>
        <a:blipFill xmlns:a="http://schemas.openxmlformats.org/drawingml/2006/main">
          <a:blip xmlns:r="http://schemas.openxmlformats.org/officeDocument/2006/relationships" r:embed="Ra8b9b45d1cce4791">
            <a:alphaModFix/>
          </a:blip>
          <a:stretch>
            <a:fillRect l="0" t="0" r="0" b="0"/>
          </a:stretch>
        </a:blipFill>
      </p:bgPr>
    </p:bg>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CF7C9820-D33E-447C-83DE-C1EA0A05BF55}"/>
              </a:ext>
            </a:extLst>
          </p:cNvPr>
          <p:cNvSpPr>
            <a:spLocks xmlns:a="http://schemas.openxmlformats.org/drawingml/2006/main" noGrp="1"/>
          </p:cNvSpPr>
          <p:nvPr>
            <p:ph type="title" idx="0"/>
          </p:nvPr>
        </p:nvSpPr>
        <p:spPr>
          <a:xfrm xmlns:a="http://schemas.openxmlformats.org/drawingml/2006/main">
            <a:off x="6096000" y="459580"/>
            <a:ext cx="2514600" cy="6643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1400"/>
              <a:buNone/>
              <a:defRPr sz="2000" b="1">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1E1CD35B-791E-4E68-B758-53F1062D112F}"/>
              </a:ext>
            </a:extLst>
          </p:cNvPr>
          <p:cNvSpPr>
            <a:spLocks xmlns:a="http://schemas.openxmlformats.org/drawingml/2006/main" noGrp="1"/>
          </p:cNvSpPr>
          <p:nvPr>
            <p:ph type="pic" idx="2"/>
          </p:nvPr>
        </p:nvSpPr>
        <p:spPr>
          <a:xfrm xmlns:a="http://schemas.openxmlformats.org/drawingml/2006/main">
            <a:off x="457200" y="459580"/>
            <a:ext cx="5486400" cy="3636169"/>
          </a:xfrm>
          <a:prstGeom xmlns:a="http://schemas.openxmlformats.org/drawingml/2006/main" prst="rect">
            <a:avLst/>
          </a:prstGeom>
          <a:noFill xmlns:a="http://schemas.openxmlformats.org/drawingml/2006/main"/>
          <a:ln xmlns:a="http://schemas.openxmlformats.org/drawingml/2006/main">
            <a:noFill/>
          </a:ln>
        </p:spPr>
      </p:sp>
      <p:sp>
        <p:nvSpPr>
          <p:cNvPr id="59" name="Google Shape;59;p14">
            <a:extLst xmlns:a="http://schemas.openxmlformats.org/drawingml/2006/main">
              <a:ext uri="{FF2B5EF4-FFF2-40B4-BE49-F238E27FC236}">
                <a16:creationId xmlns:a16="http://schemas.microsoft.com/office/drawing/2014/main" id="{E7FE0A16-DCC9-4873-8B41-8DAE163200E2}"/>
              </a:ext>
            </a:extLst>
          </p:cNvPr>
          <p:cNvSpPr>
            <a:spLocks xmlns:a="http://schemas.openxmlformats.org/drawingml/2006/main" noGrp="1"/>
          </p:cNvSpPr>
          <p:nvPr>
            <p:ph type="body" idx="1"/>
          </p:nvPr>
        </p:nvSpPr>
        <p:spPr>
          <a:xfrm xmlns:a="http://schemas.openxmlformats.org/drawingml/2006/main">
            <a:off x="6096000" y="1200150"/>
            <a:ext cx="25146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100000"/>
              </a:lnSpc>
              <a:spcBef>
                <a:spcPts val="280"/>
              </a:spcBef>
              <a:spcAft>
                <a:spcPts val="0"/>
              </a:spcAft>
              <a:buClr>
                <a:schemeClr val="dk2"/>
              </a:buClr>
              <a:buSzPts val="1400"/>
              <a:buNone/>
              <a:defRPr sz="1400"/>
            </a:lvl1pPr>
            <a:lvl2pPr marL="914400" indent="-228600" algn="l">
              <a:lnSpc>
                <a:spcPct val="100000"/>
              </a:lnSpc>
              <a:spcBef>
                <a:spcPts val="240"/>
              </a:spcBef>
              <a:spcAft>
                <a:spcPts val="0"/>
              </a:spcAft>
              <a:buClr>
                <a:schemeClr val="dk2"/>
              </a:buClr>
              <a:buSzPts val="1200"/>
              <a:buNone/>
              <a:defRPr sz="1200"/>
            </a:lvl2pPr>
            <a:lvl3pPr marL="1371600" indent="-228600" algn="l">
              <a:lnSpc>
                <a:spcPct val="100000"/>
              </a:lnSpc>
              <a:spcBef>
                <a:spcPts val="200"/>
              </a:spcBef>
              <a:spcAft>
                <a:spcPts val="0"/>
              </a:spcAft>
              <a:buClr>
                <a:schemeClr val="dk2"/>
              </a:buClr>
              <a:buSzPts val="1000"/>
              <a:buNone/>
              <a:defRPr sz="1000"/>
            </a:lvl3pPr>
            <a:lvl4pPr marL="1828800" indent="-228600" algn="l">
              <a:lnSpc>
                <a:spcPct val="100000"/>
              </a:lnSpc>
              <a:spcBef>
                <a:spcPts val="180"/>
              </a:spcBef>
              <a:spcAft>
                <a:spcPts val="0"/>
              </a:spcAft>
              <a:buClr>
                <a:schemeClr val="dk2"/>
              </a:buClr>
              <a:buSzPts val="900"/>
              <a:buNone/>
              <a:defRPr sz="900"/>
            </a:lvl4pPr>
            <a:lvl5pPr marL="2286000" indent="-228600" algn="l">
              <a:lnSpc>
                <a:spcPct val="100000"/>
              </a:lnSpc>
              <a:spcBef>
                <a:spcPts val="180"/>
              </a:spcBef>
              <a:spcAft>
                <a:spcPts val="0"/>
              </a:spcAft>
              <a:buClr>
                <a:schemeClr val="dk2"/>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60" name="Google Shape;60;p14">
            <a:extLst xmlns:a="http://schemas.openxmlformats.org/drawingml/2006/main">
              <a:ext uri="{FF2B5EF4-FFF2-40B4-BE49-F238E27FC236}">
                <a16:creationId xmlns:a16="http://schemas.microsoft.com/office/drawing/2014/main" id="{BB41893C-B038-422B-9D08-44FB58DB226F}"/>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66" name="Google Shape;61;p14"/>
          <p:cNvPicPr>
            <a:picLocks xmlns:a="http://schemas.openxmlformats.org/drawingml/2006/main" noChangeAspect="1"/>
          </p:cNvPicPr>
          <p:nvPr/>
        </p:nvPicPr>
        <p:blipFill rotWithShape="1">
          <a:blip xmlns:r="http://schemas.openxmlformats.org/officeDocument/2006/relationships" xmlns:a="http://schemas.openxmlformats.org/drawingml/2006/main" r:embed="R094e2a2db8d0412e">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1.xml><?xml version="1.0" encoding="utf-8"?>
<p:sldLayout xmlns:p="http://schemas.openxmlformats.org/presentationml/2006/main" matchingName="Title and Vertical Text" type="vertTx">
  <p:cSld name="VERTICAL_TEXT">
    <p:bg>
      <p:bgPr>
        <a:blipFill xmlns:a="http://schemas.openxmlformats.org/drawingml/2006/main">
          <a:blip xmlns:r="http://schemas.openxmlformats.org/officeDocument/2006/relationships" r:embed="Rdcc6862f001f4e90">
            <a:alphaModFix/>
          </a:blip>
          <a:stretch>
            <a:fillRect l="0" t="0" r="0" b="0"/>
          </a:stretch>
        </a:blipFill>
      </p:bgPr>
    </p:bg>
    <p:spTree>
      <p:nvGrpSpPr>
        <p:cNvPr id="1" name=""/>
        <p:cNvGrpSpPr/>
        <p:nvPr/>
      </p:nvGrpSpPr>
      <p:grpSpPr>
        <a:xfrm xmlns:a="http://schemas.openxmlformats.org/drawingml/2006/main"/>
      </p:grpSpPr>
      <p:sp>
        <p:nvSpPr>
          <p:cNvPr id="63" name="Google Shape;63;p15">
            <a:extLst xmlns:a="http://schemas.openxmlformats.org/drawingml/2006/main">
              <a:ext uri="{FF2B5EF4-FFF2-40B4-BE49-F238E27FC236}">
                <a16:creationId xmlns:a16="http://schemas.microsoft.com/office/drawing/2014/main" id="{685E8DEF-7480-49FD-AC15-32F9C6A90691}"/>
              </a:ext>
            </a:extLst>
          </p:cNvPr>
          <p:cNvSpPr>
            <a:spLocks xmlns:a="http://schemas.openxmlformats.org/drawingml/2006/main" noGrp="1"/>
          </p:cNvSpPr>
          <p:nvPr>
            <p:ph type="title" idx="0"/>
          </p:nvPr>
        </p:nvSpPr>
        <p:spPr>
          <a:xfrm xmlns:a="http://schemas.openxmlformats.org/drawingml/2006/main">
            <a:off x="457200" y="4762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257AC52E-7BE7-4427-B9E5-920F32576641}"/>
              </a:ext>
            </a:extLst>
          </p:cNvPr>
          <p:cNvSpPr>
            <a:spLocks xmlns:a="http://schemas.openxmlformats.org/drawingml/2006/main" noGrp="1"/>
          </p:cNvSpPr>
          <p:nvPr>
            <p:ph type="body" idx="1"/>
          </p:nvPr>
        </p:nvSpPr>
        <p:spPr>
          <a:xfrm xmlns:a="http://schemas.openxmlformats.org/drawingml/2006/main" rot="5400000">
            <a:off x="3246438" y="-1284287"/>
            <a:ext cx="2651125"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chemeClr val="dk2"/>
              </a:buClr>
              <a:buSzPts val="1800"/>
              <a:buChar char="•"/>
              <a:defRPr/>
            </a:lvl1pPr>
            <a:lvl2pPr marL="914400" indent="-342900" algn="l">
              <a:lnSpc>
                <a:spcPct val="100000"/>
              </a:lnSpc>
              <a:spcBef>
                <a:spcPts val="360"/>
              </a:spcBef>
              <a:spcAft>
                <a:spcPts val="0"/>
              </a:spcAft>
              <a:buClr>
                <a:schemeClr val="dk2"/>
              </a:buClr>
              <a:buSzPts val="1800"/>
              <a:buChar char="–"/>
              <a:defRPr/>
            </a:lvl2pPr>
            <a:lvl3pPr marL="1371600" indent="-342900" algn="l">
              <a:lnSpc>
                <a:spcPct val="100000"/>
              </a:lnSpc>
              <a:spcBef>
                <a:spcPts val="360"/>
              </a:spcBef>
              <a:spcAft>
                <a:spcPts val="0"/>
              </a:spcAft>
              <a:buClr>
                <a:schemeClr val="dk2"/>
              </a:buClr>
              <a:buSzPts val="1800"/>
              <a:buChar char="•"/>
              <a:defRPr/>
            </a:lvl3pPr>
            <a:lvl4pPr marL="1828800" indent="-342900" algn="l">
              <a:lnSpc>
                <a:spcPct val="100000"/>
              </a:lnSpc>
              <a:spcBef>
                <a:spcPts val="360"/>
              </a:spcBef>
              <a:spcAft>
                <a:spcPts val="0"/>
              </a:spcAft>
              <a:buClr>
                <a:schemeClr val="dk2"/>
              </a:buClr>
              <a:buSzPts val="1800"/>
              <a:buChar char="–"/>
              <a:defRPr/>
            </a:lvl4pPr>
            <a:lvl5pPr marL="2286000" indent="-342900" algn="l">
              <a:lnSpc>
                <a:spcPct val="100000"/>
              </a:lnSpc>
              <a:spcBef>
                <a:spcPts val="360"/>
              </a:spcBef>
              <a:spcAft>
                <a:spcPts val="0"/>
              </a:spcAft>
              <a:buClr>
                <a:schemeClr val="dk2"/>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65" name="Google Shape;65;p15">
            <a:extLst xmlns:a="http://schemas.openxmlformats.org/drawingml/2006/main">
              <a:ext uri="{FF2B5EF4-FFF2-40B4-BE49-F238E27FC236}">
                <a16:creationId xmlns:a16="http://schemas.microsoft.com/office/drawing/2014/main" id="{CDC71E33-7814-4593-A560-4F4F1CEB3B0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70" name="Google Shape;66;p15"/>
          <p:cNvPicPr>
            <a:picLocks xmlns:a="http://schemas.openxmlformats.org/drawingml/2006/main" noChangeAspect="1"/>
          </p:cNvPicPr>
          <p:nvPr/>
        </p:nvPicPr>
        <p:blipFill rotWithShape="1">
          <a:blip xmlns:r="http://schemas.openxmlformats.org/officeDocument/2006/relationships" xmlns:a="http://schemas.openxmlformats.org/drawingml/2006/main" r:embed="R6f68608edf154c69">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2.xml><?xml version="1.0" encoding="utf-8"?>
<p:sldLayout xmlns:p="http://schemas.openxmlformats.org/presentationml/2006/main" matchingName="Vertical Title and Text" type="vertTitleAndTx">
  <p:cSld name="VERTICAL_TITLE_AND_VERTICAL_TEXT">
    <p:bg>
      <p:bgPr>
        <a:blipFill xmlns:a="http://schemas.openxmlformats.org/drawingml/2006/main">
          <a:blip xmlns:r="http://schemas.openxmlformats.org/officeDocument/2006/relationships" r:embed="R136a6e906e4848b2">
            <a:alphaModFix/>
          </a:blip>
          <a:stretch>
            <a:fillRect l="0" t="0" r="0" b="0"/>
          </a:stretch>
        </a:blipFill>
      </p:bgPr>
    </p:bg>
    <p:spTree>
      <p:nvGrpSpPr>
        <p:cNvPr id="1" name=""/>
        <p:cNvGrpSpPr/>
        <p:nvPr/>
      </p:nvGrpSpPr>
      <p:grpSpPr>
        <a:xfrm xmlns:a="http://schemas.openxmlformats.org/drawingml/2006/main"/>
      </p:grpSpPr>
      <p:sp>
        <p:nvSpPr>
          <p:cNvPr id="68" name="Google Shape;68;p16">
            <a:extLst xmlns:a="http://schemas.openxmlformats.org/drawingml/2006/main">
              <a:ext uri="{FF2B5EF4-FFF2-40B4-BE49-F238E27FC236}">
                <a16:creationId xmlns:a16="http://schemas.microsoft.com/office/drawing/2014/main" id="{D5328C58-70E2-49B4-BCAB-5F4D8F7FC5A0}"/>
              </a:ext>
            </a:extLst>
          </p:cNvPr>
          <p:cNvSpPr>
            <a:spLocks xmlns:a="http://schemas.openxmlformats.org/drawingml/2006/main" noGrp="1"/>
          </p:cNvSpPr>
          <p:nvPr>
            <p:ph type="title" idx="0"/>
          </p:nvPr>
        </p:nvSpPr>
        <p:spPr>
          <a:xfrm xmlns:a="http://schemas.openxmlformats.org/drawingml/2006/main" rot="5400000">
            <a:off x="5857724" y="1277143"/>
            <a:ext cx="3579813"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69" name="Google Shape;69;p16">
            <a:extLst xmlns:a="http://schemas.openxmlformats.org/drawingml/2006/main">
              <a:ext uri="{FF2B5EF4-FFF2-40B4-BE49-F238E27FC236}">
                <a16:creationId xmlns:a16="http://schemas.microsoft.com/office/drawing/2014/main" id="{707CA7D3-A880-4F84-B3AC-F929EB88C1CE}"/>
              </a:ext>
            </a:extLst>
          </p:cNvPr>
          <p:cNvSpPr>
            <a:spLocks xmlns:a="http://schemas.openxmlformats.org/drawingml/2006/main" noGrp="1"/>
          </p:cNvSpPr>
          <p:nvPr>
            <p:ph type="body" idx="1"/>
          </p:nvPr>
        </p:nvSpPr>
        <p:spPr>
          <a:xfrm xmlns:a="http://schemas.openxmlformats.org/drawingml/2006/main" rot="5400000">
            <a:off x="1677194" y="-704057"/>
            <a:ext cx="3579813"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chemeClr val="dk2"/>
              </a:buClr>
              <a:buSzPts val="1800"/>
              <a:buChar char="•"/>
              <a:defRPr/>
            </a:lvl1pPr>
            <a:lvl2pPr marL="914400" indent="-342900" algn="l">
              <a:lnSpc>
                <a:spcPct val="100000"/>
              </a:lnSpc>
              <a:spcBef>
                <a:spcPts val="360"/>
              </a:spcBef>
              <a:spcAft>
                <a:spcPts val="0"/>
              </a:spcAft>
              <a:buClr>
                <a:schemeClr val="dk2"/>
              </a:buClr>
              <a:buSzPts val="1800"/>
              <a:buChar char="–"/>
              <a:defRPr/>
            </a:lvl2pPr>
            <a:lvl3pPr marL="1371600" indent="-342900" algn="l">
              <a:lnSpc>
                <a:spcPct val="100000"/>
              </a:lnSpc>
              <a:spcBef>
                <a:spcPts val="360"/>
              </a:spcBef>
              <a:spcAft>
                <a:spcPts val="0"/>
              </a:spcAft>
              <a:buClr>
                <a:schemeClr val="dk2"/>
              </a:buClr>
              <a:buSzPts val="1800"/>
              <a:buChar char="•"/>
              <a:defRPr/>
            </a:lvl3pPr>
            <a:lvl4pPr marL="1828800" indent="-342900" algn="l">
              <a:lnSpc>
                <a:spcPct val="100000"/>
              </a:lnSpc>
              <a:spcBef>
                <a:spcPts val="360"/>
              </a:spcBef>
              <a:spcAft>
                <a:spcPts val="0"/>
              </a:spcAft>
              <a:buClr>
                <a:schemeClr val="dk2"/>
              </a:buClr>
              <a:buSzPts val="1800"/>
              <a:buChar char="–"/>
              <a:defRPr/>
            </a:lvl4pPr>
            <a:lvl5pPr marL="2286000" indent="-342900" algn="l">
              <a:lnSpc>
                <a:spcPct val="100000"/>
              </a:lnSpc>
              <a:spcBef>
                <a:spcPts val="360"/>
              </a:spcBef>
              <a:spcAft>
                <a:spcPts val="0"/>
              </a:spcAft>
              <a:buClr>
                <a:schemeClr val="dk2"/>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70" name="Google Shape;70;p16">
            <a:extLst xmlns:a="http://schemas.openxmlformats.org/drawingml/2006/main">
              <a:ext uri="{FF2B5EF4-FFF2-40B4-BE49-F238E27FC236}">
                <a16:creationId xmlns:a16="http://schemas.microsoft.com/office/drawing/2014/main" id="{FFB6F35B-F066-437B-96A7-40DDC118CB88}"/>
              </a:ext>
            </a:extLst>
          </p:cNvPr>
          <p:cNvSpPr>
            <a:spLocks xmlns:a="http://schemas.openxmlformats.org/drawingml/2006/main" noGrp="1"/>
          </p:cNvSpPr>
          <p:nvPr>
            <p:ph type="sldNum" idx="12"/>
          </p:nvPr>
        </p:nvSpPr>
        <p:spPr>
          <a:xfrm xmlns:a="http://schemas.openxmlformats.org/drawingml/2006/main">
            <a:off x="33528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75" name="Google Shape;71;p16"/>
          <p:cNvPicPr>
            <a:picLocks xmlns:a="http://schemas.openxmlformats.org/drawingml/2006/main" noChangeAspect="1"/>
          </p:cNvPicPr>
          <p:nvPr/>
        </p:nvPicPr>
        <p:blipFill rotWithShape="1">
          <a:blip xmlns:r="http://schemas.openxmlformats.org/officeDocument/2006/relationships" xmlns:a="http://schemas.openxmlformats.org/drawingml/2006/main" r:embed="R13d391f09a19413e">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85402028d0704309" /><Relationship Type="http://schemas.openxmlformats.org/officeDocument/2006/relationships/theme" Target="/ppt/slideMasters/theme/theme2.xml" Id="R326ea82068d6414d" /><Relationship Type="http://schemas.openxmlformats.org/officeDocument/2006/relationships/slideLayout" Target="/ppt/slideLayouts/slideLayout1.xml" Id="R993c5882f58a4fb4" /><Relationship Type="http://schemas.openxmlformats.org/officeDocument/2006/relationships/slideLayout" Target="/ppt/slideLayouts/slideLayout2.xml" Id="R1ea052b0794a447e" /><Relationship Type="http://schemas.openxmlformats.org/officeDocument/2006/relationships/slideLayout" Target="/ppt/slideLayouts/slideLayout3.xml" Id="R451c8fa9ad144989" /><Relationship Type="http://schemas.openxmlformats.org/officeDocument/2006/relationships/slideLayout" Target="/ppt/slideLayouts/slideLayout4.xml" Id="Rc2f1faeb136d418e" /><Relationship Type="http://schemas.openxmlformats.org/officeDocument/2006/relationships/slideLayout" Target="/ppt/slideLayouts/slideLayout5.xml" Id="Rad9ba2c90af24f96" /><Relationship Type="http://schemas.openxmlformats.org/officeDocument/2006/relationships/slideLayout" Target="/ppt/slideLayouts/slideLayout6.xml" Id="Re9895457159440c2" /><Relationship Type="http://schemas.openxmlformats.org/officeDocument/2006/relationships/slideLayout" Target="/ppt/slideLayouts/slideLayout7.xml" Id="R8f8546cea2894879" /><Relationship Type="http://schemas.openxmlformats.org/officeDocument/2006/relationships/slideLayout" Target="/ppt/slideLayouts/slideLayout8.xml" Id="Rf553e9570d854778" /><Relationship Type="http://schemas.openxmlformats.org/officeDocument/2006/relationships/slideLayout" Target="/ppt/slideLayouts/slideLayout9.xml" Id="Rc517b9d80f7443bd" /><Relationship Type="http://schemas.openxmlformats.org/officeDocument/2006/relationships/slideLayout" Target="/ppt/slideLayouts/slideLayout10.xml" Id="R08c986708f7b48de" /><Relationship Type="http://schemas.openxmlformats.org/officeDocument/2006/relationships/slideLayout" Target="/ppt/slideLayouts/slideLayout11.xml" Id="R60fccc0c9e8a455c" /><Relationship Type="http://schemas.openxmlformats.org/officeDocument/2006/relationships/slideLayout" Target="/ppt/slideLayouts/slideLayout12.xml" Id="R5140b7377e95406b" /></Relationships>
</file>

<file path=ppt/slideMasters/slideMaster1.xml><?xml version="1.0" encoding="utf-8"?>
<p:sldMaster xmlns:p="http://schemas.openxmlformats.org/presentationml/2006/main">
  <p:cSld>
    <p:bg>
      <p:bgPr>
        <a:blipFill xmlns:a="http://schemas.openxmlformats.org/drawingml/2006/main">
          <a:blip xmlns:r="http://schemas.openxmlformats.org/officeDocument/2006/relationships" r:embed="R85402028d0704309">
            <a:alphaModFix/>
          </a:blip>
          <a:stretch>
            <a:fillRect l="0" t="0" r="0" b="0"/>
          </a:stretch>
        </a:blipFill>
      </p:bgPr>
    </p:bg>
    <p:spTree>
      <p:nvGrpSpPr>
        <p:cNvPr id="1" name=""/>
        <p:cNvGrpSpPr/>
        <p:nvPr/>
      </p:nvGrpSpPr>
      <p:grpSpPr>
        <a:xfrm xmlns:a="http://schemas.openxmlformats.org/drawingml/2006/main"/>
      </p:grpSpPr>
      <p:sp>
        <p:nvSpPr>
          <p:cNvPr id="10" name="Google Shape;10;p4">
            <a:extLst xmlns:a="http://schemas.openxmlformats.org/drawingml/2006/main">
              <a:ext uri="{FF2B5EF4-FFF2-40B4-BE49-F238E27FC236}">
                <a16:creationId xmlns:a16="http://schemas.microsoft.com/office/drawing/2014/main" id="{EA55C3EE-8EE7-44BB-9FA7-7BE99AF87134}"/>
              </a:ext>
            </a:extLst>
          </p:cNvPr>
          <p:cNvSpPr>
            <a:spLocks xmlns:a="http://schemas.openxmlformats.org/drawingml/2006/main" noGrp="1"/>
          </p:cNvSpPr>
          <p:nvPr>
            <p:ph type="title" idx="0"/>
          </p:nvPr>
        </p:nvSpPr>
        <p:spPr>
          <a:xfrm xmlns:a="http://schemas.openxmlformats.org/drawingml/2006/main">
            <a:off x="457200" y="91440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3200" b="0" i="0" u="none" cap="none">
                <a:solidFill>
                  <a:schemeClr val="lt1"/>
                </a:solidFill>
                <a:latin typeface="Calibri"/>
                <a:ea typeface="Calibri"/>
                <a:cs typeface="Calibri"/>
              </a:defRPr>
            </a:lvl1pPr>
            <a:lvl2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2pPr>
            <a:lvl3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3pPr>
            <a:lvl4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4pPr>
            <a:lvl5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5pPr>
            <a:lvl6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6pPr>
            <a:lvl7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7pPr>
            <a:lvl8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8pPr>
            <a:lvl9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9pPr>
          </a:lstStyle>
          <a:p xmlns:a="http://schemas.openxmlformats.org/drawingml/2006/main"/>
        </p:txBody>
      </p:sp>
      <p:sp>
        <p:nvSpPr>
          <p:cNvPr id="11" name="Google Shape;11;p4">
            <a:extLst xmlns:a="http://schemas.openxmlformats.org/drawingml/2006/main">
              <a:ext uri="{FF2B5EF4-FFF2-40B4-BE49-F238E27FC236}">
                <a16:creationId xmlns:a16="http://schemas.microsoft.com/office/drawing/2014/main" id="{A5D6AE06-8596-4986-BC67-327F2A29CD36}"/>
              </a:ext>
            </a:extLst>
          </p:cNvPr>
          <p:cNvSpPr>
            <a:spLocks xmlns:a="http://schemas.openxmlformats.org/drawingml/2006/main" noGrp="1"/>
          </p:cNvSpPr>
          <p:nvPr>
            <p:ph type="body" idx="1"/>
          </p:nvPr>
        </p:nvSpPr>
        <p:spPr>
          <a:xfrm xmlns:a="http://schemas.openxmlformats.org/drawingml/2006/main">
            <a:off x="457200" y="1943100"/>
            <a:ext cx="8229600" cy="265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1pPr>
            <a:lvl2pPr marL="9144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2pPr>
            <a:lvl3pPr marL="13716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3pPr>
            <a:lvl4pPr marL="18288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4pPr>
            <a:lvl5pPr marL="22860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12" name="Google Shape;12;p4">
            <a:extLst xmlns:a="http://schemas.openxmlformats.org/drawingml/2006/main">
              <a:ext uri="{FF2B5EF4-FFF2-40B4-BE49-F238E27FC236}">
                <a16:creationId xmlns:a16="http://schemas.microsoft.com/office/drawing/2014/main" id="{827FF4F2-1D4F-48FC-A4F1-A35FFC2B07AF}"/>
              </a:ext>
            </a:extLst>
          </p:cNvPr>
          <p:cNvSpPr>
            <a:spLocks xmlns:a="http://schemas.openxmlformats.org/drawingml/2006/main" noGrp="1"/>
          </p:cNvSpPr>
          <p:nvPr>
            <p:ph type="sldNum" idx="12"/>
          </p:nvPr>
        </p:nvSpPr>
        <p:spPr>
          <a:xfrm xmlns:a="http://schemas.openxmlformats.org/drawingml/2006/main">
            <a:off x="6553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9pPr>
          </a:lstStyle>
          <a:p xmlns:a="http://schemas.openxmlformats.org/drawingml/2006/main">
            <a:pPr marL="0" lvl="0" indent="0" algn="r">
              <a:spcBef>
                <a:spcPts val="0"/>
              </a:spcBef>
              <a:spcAft>
                <a:spcPts val="0"/>
              </a:spcAft>
              <a:buNone/>
            </a:pPr>
            <a:r>
              <a:t>1</a:t>
            </a:r>
            <a:endParaRPr sz="1400">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93c5882f58a4fb4"/>
    <p:sldLayoutId xmlns:r="http://schemas.openxmlformats.org/officeDocument/2006/relationships" id="2147483650" r:id="R1ea052b0794a447e"/>
    <p:sldLayoutId xmlns:r="http://schemas.openxmlformats.org/officeDocument/2006/relationships" id="2147483651" r:id="R451c8fa9ad144989"/>
    <p:sldLayoutId xmlns:r="http://schemas.openxmlformats.org/officeDocument/2006/relationships" id="2147483652" r:id="Rc2f1faeb136d418e"/>
    <p:sldLayoutId xmlns:r="http://schemas.openxmlformats.org/officeDocument/2006/relationships" id="2147483653" r:id="Rad9ba2c90af24f96"/>
    <p:sldLayoutId xmlns:r="http://schemas.openxmlformats.org/officeDocument/2006/relationships" id="2147483654" r:id="Re9895457159440c2"/>
    <p:sldLayoutId xmlns:r="http://schemas.openxmlformats.org/officeDocument/2006/relationships" id="2147483655" r:id="R8f8546cea2894879"/>
    <p:sldLayoutId xmlns:r="http://schemas.openxmlformats.org/officeDocument/2006/relationships" id="2147483656" r:id="Rf553e9570d854778"/>
    <p:sldLayoutId xmlns:r="http://schemas.openxmlformats.org/officeDocument/2006/relationships" id="2147483657" r:id="Rc517b9d80f7443bd"/>
    <p:sldLayoutId xmlns:r="http://schemas.openxmlformats.org/officeDocument/2006/relationships" id="2147483658" r:id="R08c986708f7b48de"/>
    <p:sldLayoutId xmlns:r="http://schemas.openxmlformats.org/officeDocument/2006/relationships" id="2147483659" r:id="R60fccc0c9e8a455c"/>
    <p:sldLayoutId xmlns:r="http://schemas.openxmlformats.org/officeDocument/2006/relationships" id="2147483660" r:id="R5140b7377e95406b"/>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8f1fc47d524e09" /><Relationship Type="http://schemas.openxmlformats.org/officeDocument/2006/relationships/notesSlide" Target="/ppt/notesSlides/notesSlide1.xml" Id="R41a507bcbec84e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c7fa2cda0e74dd3" /><Relationship Type="http://schemas.openxmlformats.org/officeDocument/2006/relationships/notesSlide" Target="/ppt/notesSlides/notesSlide2.xml" Id="R679ec07d711c41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d05b4b5e37d4f11" /><Relationship Type="http://schemas.openxmlformats.org/officeDocument/2006/relationships/image" Target="/ppt/media/image2.png" Id="R8eb018d8fb6a46e0" /><Relationship Type="http://schemas.openxmlformats.org/officeDocument/2006/relationships/notesSlide" Target="/ppt/notesSlides/notesSlide3.xml" Id="R3c7808f1646548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451e79bb76d4873" /><Relationship Type="http://schemas.openxmlformats.org/officeDocument/2006/relationships/image" Target="/ppt/media/image3.png" Id="R80133fa5be3549dc" /><Relationship Type="http://schemas.openxmlformats.org/officeDocument/2006/relationships/notesSlide" Target="/ppt/notesSlides/notesSlide4.xml" Id="Rd6bd1b956bff4f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38fea25a1964615" /><Relationship Type="http://schemas.openxmlformats.org/officeDocument/2006/relationships/notesSlide" Target="/ppt/notesSlides/notesSlide5.xml" Id="R4f057b5dcc1646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a12c12ad1eb48aa" /><Relationship Type="http://schemas.openxmlformats.org/officeDocument/2006/relationships/image" Target="/ppt/media/image4.png" Id="R9e3f40a330f74a59" /><Relationship Type="http://schemas.openxmlformats.org/officeDocument/2006/relationships/notesSlide" Target="/ppt/notesSlides/notesSlide6.xml" Id="Rd157e8e86b6e47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734f5dfce104e91" /><Relationship Type="http://schemas.openxmlformats.org/officeDocument/2006/relationships/image" Target="/ppt/media/image5.png" Id="Rc7f75475ede34e26" /><Relationship Type="http://schemas.openxmlformats.org/officeDocument/2006/relationships/hyperlink" Target="../Labs/SensorFusion/index.html#arm" TargetMode="External" Id="R9b2c2866fb15485d" /><Relationship Type="http://schemas.openxmlformats.org/officeDocument/2006/relationships/hyperlink" Target="../Labs/SensorFusion/index.html#arm" TargetMode="External" Id="R162e4649b2264394" /><Relationship Type="http://schemas.openxmlformats.org/officeDocument/2006/relationships/notesSlide" Target="/ppt/notesSlides/notesSlide7.xml" Id="Rbaea28e408d44f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218c67ffe5248aa" /><Relationship Type="http://schemas.openxmlformats.org/officeDocument/2006/relationships/notesSlide" Target="/ppt/notesSlides/notesSlide8.xml" Id="Rdd45e6a177b54c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03c75bd98a9423d" /><Relationship Type="http://schemas.openxmlformats.org/officeDocument/2006/relationships/image" Target="/ppt/media/image6.png" Id="R86d42c58bdac46cc" /><Relationship Type="http://schemas.openxmlformats.org/officeDocument/2006/relationships/notesSlide" Target="/ppt/notesSlides/notesSlide9.xml" Id="R68dbb00d7c5348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599fd9e92cc4b6d" /><Relationship Type="http://schemas.openxmlformats.org/officeDocument/2006/relationships/notesSlide" Target="/ppt/notesSlides/notesSlide10.xml" Id="R287048d5d91042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6ef5ddb63fa4eb9" /><Relationship Type="http://schemas.openxmlformats.org/officeDocument/2006/relationships/image" Target="/ppt/media/image7.png" Id="R585b39873b244197" /><Relationship Type="http://schemas.openxmlformats.org/officeDocument/2006/relationships/image" Target="/ppt/media/image8.png" Id="Rb5628827287e41f6" /><Relationship Type="http://schemas.openxmlformats.org/officeDocument/2006/relationships/notesSlide" Target="/ppt/notesSlides/notesSlide11.xml" Id="R3d271d28fdb84e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728b813a64d4cef" /><Relationship Type="http://schemas.openxmlformats.org/officeDocument/2006/relationships/image" Target="/ppt/media/image9.png" Id="Re9cbc227dc4c455f" /><Relationship Type="http://schemas.openxmlformats.org/officeDocument/2006/relationships/hyperlink" Target="../Labs/SensorFusion/index.html#camera" TargetMode="External" Id="R67cadd2cf20d4950" /><Relationship Type="http://schemas.openxmlformats.org/officeDocument/2006/relationships/hyperlink" Target="../Labs/SensorFusion/index.html#camera" TargetMode="External" Id="R6d5b794902594005" /><Relationship Type="http://schemas.openxmlformats.org/officeDocument/2006/relationships/notesSlide" Target="/ppt/notesSlides/notesSlide12.xml" Id="R8e92e4ac2dac46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ae0f90df104419c" /><Relationship Type="http://schemas.openxmlformats.org/officeDocument/2006/relationships/image" Target="/ppt/media/image10.png" Id="Rf1d84690d62d4431" /><Relationship Type="http://schemas.openxmlformats.org/officeDocument/2006/relationships/notesSlide" Target="/ppt/notesSlides/notesSlide13.xml" Id="Rc73805ab9ae44d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e27b15346d644c5" /><Relationship Type="http://schemas.openxmlformats.org/officeDocument/2006/relationships/notesSlide" Target="/ppt/notesSlides/notesSlide14.xml" Id="Rbd29bca86b794d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92c14109fd240a3" /><Relationship Type="http://schemas.openxmlformats.org/officeDocument/2006/relationships/image" Target="/ppt/media/image11.png" Id="R017d1f75942f476e" /><Relationship Type="http://schemas.openxmlformats.org/officeDocument/2006/relationships/notesSlide" Target="/ppt/notesSlides/notesSlide15.xml" Id="R27128e6866b24c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3f8bae5927241e6" /><Relationship Type="http://schemas.openxmlformats.org/officeDocument/2006/relationships/image" Target="/ppt/media/image12.png" Id="R5b929b1c8ca440c2" /><Relationship Type="http://schemas.openxmlformats.org/officeDocument/2006/relationships/image" Target="/ppt/media/image13.png" Id="R5cd48343c6b840dc" /><Relationship Type="http://schemas.openxmlformats.org/officeDocument/2006/relationships/notesSlide" Target="/ppt/notesSlides/notesSlide16.xml" Id="Rdc566a62c38c43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31801988936439b" /><Relationship Type="http://schemas.openxmlformats.org/officeDocument/2006/relationships/image" Target="/ppt/media/image14.png" Id="Rf092dd4d266448d5" /><Relationship Type="http://schemas.openxmlformats.org/officeDocument/2006/relationships/hyperlink" Target="../Labs/SensorFusion/index.html#lidar" TargetMode="External" Id="R7b3803df527f444f" /><Relationship Type="http://schemas.openxmlformats.org/officeDocument/2006/relationships/hyperlink" Target="../Labs/SensorFusion/index.html#lidar" TargetMode="External" Id="Rc930d7d4f60344fd" /><Relationship Type="http://schemas.openxmlformats.org/officeDocument/2006/relationships/notesSlide" Target="/ppt/notesSlides/notesSlide17.xml" Id="R6e8884ac0b63489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47a28ba7ccaa45f7" /><Relationship Type="http://schemas.openxmlformats.org/officeDocument/2006/relationships/notesSlide" Target="/ppt/notesSlides/notesSlide18.xml" Id="R8beb3e6aedee4c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6c33eca8984475d" /><Relationship Type="http://schemas.openxmlformats.org/officeDocument/2006/relationships/image" Target="/ppt/media/image15.png" Id="Rb36757a7d2a34a90" /><Relationship Type="http://schemas.openxmlformats.org/officeDocument/2006/relationships/notesSlide" Target="/ppt/notesSlides/notesSlide19.xml" Id="Ra0f01c8f29a248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668e8095955d4ba4" /><Relationship Type="http://schemas.openxmlformats.org/officeDocument/2006/relationships/notesSlide" Target="/ppt/notesSlides/notesSlide20.xml" Id="Rcf1c964eda884de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a770faa0e45f4417" /><Relationship Type="http://schemas.openxmlformats.org/officeDocument/2006/relationships/image" Target="/ppt/media/image16.png" Id="R4c491a7213724ac3" /><Relationship Type="http://schemas.openxmlformats.org/officeDocument/2006/relationships/image" Target="/ppt/media/image17.png" Id="Rcb61d7e76b6b41aa" /><Relationship Type="http://schemas.openxmlformats.org/officeDocument/2006/relationships/hyperlink" Target="../Labs/SensorFusion/index.html#calibration" TargetMode="External" Id="Rcf010da5d81e4115" /><Relationship Type="http://schemas.openxmlformats.org/officeDocument/2006/relationships/notesSlide" Target="/ppt/notesSlides/notesSlide21.xml" Id="Rffb372099fc44a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5a86db97e36d4b74" /><Relationship Type="http://schemas.openxmlformats.org/officeDocument/2006/relationships/notesSlide" Target="/ppt/notesSlides/notesSlide22.xml" Id="R6d2b563f3e524d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017a063af71b4d70" /><Relationship Type="http://schemas.openxmlformats.org/officeDocument/2006/relationships/notesSlide" Target="/ppt/notesSlides/notesSlide23.xml" Id="Rfb3b9c8e95b74f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b7f89a1ff7f2432d" /><Relationship Type="http://schemas.openxmlformats.org/officeDocument/2006/relationships/notesSlide" Target="/ppt/notesSlides/notesSlide24.xml" Id="R68084af4b4354b6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7de313c0e9254671" /><Relationship Type="http://schemas.openxmlformats.org/officeDocument/2006/relationships/image" Target="/ppt/media/image18.png" Id="Rcdfb81cdce2b4639" /><Relationship Type="http://schemas.openxmlformats.org/officeDocument/2006/relationships/hyperlink" Target="../Labs/SensorFusion/index.html#fusion" TargetMode="External" Id="R9685e0d9090b48c6" /><Relationship Type="http://schemas.openxmlformats.org/officeDocument/2006/relationships/hyperlink" Target="../Labs/SensorFusion/index.html#fusion" TargetMode="External" Id="R746b6516734f46c6" /><Relationship Type="http://schemas.openxmlformats.org/officeDocument/2006/relationships/notesSlide" Target="/ppt/notesSlides/notesSlide25.xml" Id="R46eb73154005406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8a7f67f6ab341eb" /><Relationship Type="http://schemas.openxmlformats.org/officeDocument/2006/relationships/image" Target="/ppt/media/image19.png" Id="R77ba9ec16fed4886" /><Relationship Type="http://schemas.openxmlformats.org/officeDocument/2006/relationships/notesSlide" Target="/ppt/notesSlides/notesSlide26.xml" Id="Rc54846922aab43c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35f1b1a2e88e40c0" /><Relationship Type="http://schemas.openxmlformats.org/officeDocument/2006/relationships/notesSlide" Target="/ppt/notesSlides/notesSlide27.xml" Id="R68f40154f16e4b5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c2cc4812ddcd4dd8" /><Relationship Type="http://schemas.openxmlformats.org/officeDocument/2006/relationships/notesSlide" Target="/ppt/notesSlides/notesSlide28.xml" Id="R065d9cd58bb7449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cf9ea706c12347db" /><Relationship Type="http://schemas.openxmlformats.org/officeDocument/2006/relationships/notesSlide" Target="/ppt/notesSlides/notesSlide29.xml" Id="R14dadc15560f43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b8e3d096fa144184" /><Relationship Type="http://schemas.openxmlformats.org/officeDocument/2006/relationships/hyperlink" Target="https://modernrobotics.northwestern.edu/nu-gm-book-resource/3-3-1-homogeneous-transformation-matrices/" TargetMode="External" Id="R5d176f1c00224e8d" /><Relationship Type="http://schemas.openxmlformats.org/officeDocument/2006/relationships/hyperlink" Target="https://docs.opencv.org/4.10.0/dc/dbb/tutorial_py_calibration.html" TargetMode="External" Id="Rf4d1ff1a305a401b" /><Relationship Type="http://schemas.openxmlformats.org/officeDocument/2006/relationships/hyperlink" Target="https://docs.ouster.com/sensor-docs/coordinate-system" TargetMode="External" Id="R0e760ac876ef4a17" /><Relationship Type="http://schemas.openxmlformats.org/officeDocument/2006/relationships/hyperlink" Target="https://www.mathworks.com/help/lidar/ug/lidar-camera-calibration.html" TargetMode="External" Id="R70e9c7191ed345e3" /><Relationship Type="http://schemas.openxmlformats.org/officeDocument/2006/relationships/notesSlide" Target="/ppt/notesSlides/notesSlide30.xml" Id="R32f4b143a824486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LECTURE 4">
            <a:extLst xmlns:a="http://schemas.openxmlformats.org/drawingml/2006/main">
              <a:ext uri="{FF2B5EF4-FFF2-40B4-BE49-F238E27FC236}">
                <a16:creationId xmlns:a16="http://schemas.microsoft.com/office/drawing/2014/main" id="{E9E5C2C5-3C57-4D37-80BE-C7635A722542}"/>
              </a:ext>
            </a:extLst>
          </p:cNvPr>
          <p:cNvSpPr>
            <a:spLocks xmlns:a="http://schemas.openxmlformats.org/drawingml/2006/main" noGrp="1"/>
          </p:cNvSpPr>
          <p:nvPr/>
        </p:nvSpPr>
        <p:spPr>
          <a:xfrm xmlns:a="http://schemas.openxmlformats.org/drawingml/2006/main">
            <a:off x="619125" y="90487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LECTURE 4</a:t>
            </a:r>
          </a:p>
        </p:txBody>
      </p:sp>
      <p:sp>
        <p:nvSpPr>
          <p:cNvPr id="2" name="Sensor fusion">
            <a:extLst xmlns:a="http://schemas.openxmlformats.org/drawingml/2006/main">
              <a:ext uri="{FF2B5EF4-FFF2-40B4-BE49-F238E27FC236}">
                <a16:creationId xmlns:a16="http://schemas.microsoft.com/office/drawing/2014/main" id="{712CA2C8-1A7B-4765-AACD-920F57111EAF}"/>
              </a:ext>
            </a:extLst>
          </p:cNvPr>
          <p:cNvSpPr>
            <a:spLocks xmlns:a="http://schemas.openxmlformats.org/drawingml/2006/main" noGrp="1"/>
          </p:cNvSpPr>
          <p:nvPr/>
        </p:nvSpPr>
        <p:spPr>
          <a:xfrm xmlns:a="http://schemas.openxmlformats.org/drawingml/2006/main">
            <a:off x="619125" y="15240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Sensor fusion</a:t>
            </a:r>
          </a:p>
        </p:txBody>
      </p:sp>
      <p:sp>
        <p:nvSpPr>
          <p:cNvPr id="3" name="for autonomous driving">
            <a:extLst xmlns:a="http://schemas.openxmlformats.org/drawingml/2006/main">
              <a:ext uri="{FF2B5EF4-FFF2-40B4-BE49-F238E27FC236}">
                <a16:creationId xmlns:a16="http://schemas.microsoft.com/office/drawing/2014/main" id="{037D0BD3-109C-4586-B438-92D647109454}"/>
              </a:ext>
            </a:extLst>
          </p:cNvPr>
          <p:cNvSpPr>
            <a:spLocks xmlns:a="http://schemas.openxmlformats.org/drawingml/2006/main" noGrp="1"/>
          </p:cNvSpPr>
          <p:nvPr/>
        </p:nvSpPr>
        <p:spPr>
          <a:xfrm xmlns:a="http://schemas.openxmlformats.org/drawingml/2006/main">
            <a:off x="619125" y="23336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for autonomous driving</a:t>
            </a:r>
          </a:p>
        </p:txBody>
      </p:sp>
      <p:sp>
        <p:nvSpPr>
          <p:cNvPr id="4" name="Coordinate frames, sensor models, and calibration">
            <a:extLst xmlns:a="http://schemas.openxmlformats.org/drawingml/2006/main">
              <a:ext uri="{FF2B5EF4-FFF2-40B4-BE49-F238E27FC236}">
                <a16:creationId xmlns:a16="http://schemas.microsoft.com/office/drawing/2014/main" id="{7DF442A4-356E-45E2-A2F9-1F4FC3FD7172}"/>
              </a:ext>
            </a:extLst>
          </p:cNvPr>
          <p:cNvSpPr>
            <a:spLocks xmlns:a="http://schemas.openxmlformats.org/drawingml/2006/main" noGrp="1"/>
          </p:cNvSpPr>
          <p:nvPr/>
        </p:nvSpPr>
        <p:spPr>
          <a:xfrm xmlns:a="http://schemas.openxmlformats.org/drawingml/2006/main">
            <a:off x="619125" y="314325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Coordinate frames, sensor models, and calibration</a:t>
            </a:r>
          </a:p>
        </p:txBody>
      </p:sp>
      <p:sp>
        <p:nvSpPr>
          <p:cNvPr id="5" name="Introduction to Autonomous Driving · Fall 2026">
            <a:extLst xmlns:a="http://schemas.openxmlformats.org/drawingml/2006/main">
              <a:ext uri="{FF2B5EF4-FFF2-40B4-BE49-F238E27FC236}">
                <a16:creationId xmlns:a16="http://schemas.microsoft.com/office/drawing/2014/main" id="{C26C2515-35AB-42C6-841B-9710F2E0D0CB}"/>
              </a:ext>
            </a:extLst>
          </p:cNvPr>
          <p:cNvSpPr>
            <a:spLocks xmlns:a="http://schemas.openxmlformats.org/drawingml/2006/main" noGrp="1"/>
          </p:cNvSpPr>
          <p:nvPr/>
        </p:nvSpPr>
        <p:spPr>
          <a:xfrm xmlns:a="http://schemas.openxmlformats.org/drawingml/2006/main">
            <a:off x="619125" y="4000500"/>
            <a:ext cx="771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Introduction to Autonomous Driving · Fall 2026</a:t>
            </a:r>
          </a:p>
        </p:txBody>
      </p:sp>
      <p:sp>
        <p:nvSpPr>
          <p:cNvPr id="6" name="1">
            <a:extLst xmlns:a="http://schemas.openxmlformats.org/drawingml/2006/main">
              <a:ext uri="{FF2B5EF4-FFF2-40B4-BE49-F238E27FC236}">
                <a16:creationId xmlns:a16="http://schemas.microsoft.com/office/drawing/2014/main" id="{4D6C180A-A39F-4532-AF1B-EC65B7FBB48B}"/>
              </a:ext>
            </a:extLst>
          </p:cNvPr>
          <p:cNvSpPr>
            <a:spLocks xmlns:a="http://schemas.openxmlformats.org/drawingml/2006/main" noGrp="1"/>
          </p:cNvSpPr>
          <p:nvPr/>
        </p:nvSpPr>
        <p:spPr>
          <a:xfrm xmlns:a="http://schemas.openxmlformats.org/drawingml/2006/main">
            <a:off x="8429625" y="4829175"/>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a:t>
            </a:r>
          </a:p>
        </p:txBody>
      </p:sp>
    </p:spTree>
    <p:extLst>
      <p:ext uri="{BB962C8B-B14F-4D97-AF65-F5344CB8AC3E}">
        <p14:creationId xmlns:p14="http://schemas.microsoft.com/office/powerpoint/2010/main" val="10595838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Why camera and LiDAR belong together">
            <a:extLst xmlns:a="http://schemas.openxmlformats.org/drawingml/2006/main">
              <a:ext uri="{FF2B5EF4-FFF2-40B4-BE49-F238E27FC236}">
                <a16:creationId xmlns:a16="http://schemas.microsoft.com/office/drawing/2014/main" id="{61ED8024-8829-4DDD-A72B-80F1792565D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Why camera and LiDAR belong together</a:t>
            </a:r>
          </a:p>
        </p:txBody>
      </p:sp>
      <p:sp>
        <p:nvSpPr>
          <p:cNvPr id="2" name="2">
            <a:extLst xmlns:a="http://schemas.openxmlformats.org/drawingml/2006/main">
              <a:ext uri="{FF2B5EF4-FFF2-40B4-BE49-F238E27FC236}">
                <a16:creationId xmlns:a16="http://schemas.microsoft.com/office/drawing/2014/main" id="{16B4F1E9-009D-496A-9B54-D618B552C3D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a:t>
            </a:r>
          </a:p>
        </p:txBody>
      </p:sp>
      <p:graphicFrame>
        <p:nvGraphicFramePr>
          <p:cNvPr id="7" name=""/>
          <p:cNvGraphicFramePr/>
          <p:nvPr/>
        </p:nvGraphicFramePr>
        <p:xfrm>
          <a:off xmlns:a="http://schemas.openxmlformats.org/drawingml/2006/main" x="523875" y="1438275"/>
          <a:ext xmlns:a="http://schemas.openxmlformats.org/drawingml/2006/main" cx="8096250" cy="2552700"/>
        </p:xfrm>
        <a:graphic xmlns:a="http://schemas.openxmlformats.org/drawingml/2006/main">
          <a:graphicData uri="http://schemas.openxmlformats.org/drawingml/2006/table">
            <a:tbl>
              <a:tblPr/>
              <a:tblGrid>
                <a:gridCol w="1809750"/>
                <a:gridCol w="3143250"/>
                <a:gridCol w="3143250"/>
              </a:tblGrid>
              <a:tr h="638175">
                <a:tc>
                  <a:txBody>
                    <a:bodyPr lIns="114300" tIns="85725" rIns="114300" bIns="85725">
                      <a:noAutofit/>
                    </a:bodyPr>
                    <a:lstStyle/>
                    <a:p>
                      <a:r>
                        <a:rPr sz="1575" b="1">
                          <a:solidFill>
                            <a:srgbClr val="FFFFFF"/>
                          </a:solidFill>
                          <a:latin typeface="Arial"/>
                          <a:ea typeface="Arial"/>
                          <a:cs typeface="Arial"/>
                        </a:rPr>
                        <a:t>Sensor</a:t>
                      </a:r>
                    </a:p>
                  </a:txBody>
                  <a:tcPr marL="91440" marR="91440" marT="45720" marB="45720" anchor="ctr">
                    <a:solidFill>
                      <a:srgbClr val="00539F"/>
                    </a:solidFill>
                  </a:tcPr>
                </a:tc>
                <a:tc>
                  <a:txBody>
                    <a:bodyPr lIns="114300" tIns="85725" rIns="114300" bIns="85725">
                      <a:noAutofit/>
                    </a:bodyPr>
                    <a:lstStyle/>
                    <a:p>
                      <a:r>
                        <a:rPr sz="1575" b="1">
                          <a:solidFill>
                            <a:srgbClr val="FFFFFF"/>
                          </a:solidFill>
                          <a:latin typeface="Arial"/>
                          <a:ea typeface="Arial"/>
                          <a:cs typeface="Arial"/>
                        </a:rPr>
                        <a:t>Useful evidence</a:t>
                      </a:r>
                    </a:p>
                  </a:txBody>
                  <a:tcPr marL="91440" marR="91440" marT="45720" marB="45720" anchor="ctr">
                    <a:solidFill>
                      <a:srgbClr val="00539F"/>
                    </a:solidFill>
                  </a:tcPr>
                </a:tc>
                <a:tc>
                  <a:txBody>
                    <a:bodyPr lIns="114300" tIns="85725" rIns="114300" bIns="85725">
                      <a:noAutofit/>
                    </a:bodyPr>
                    <a:lstStyle/>
                    <a:p>
                      <a:r>
                        <a:rPr sz="1575" b="1">
                          <a:solidFill>
                            <a:srgbClr val="FFFFFF"/>
                          </a:solidFill>
                          <a:latin typeface="Arial"/>
                          <a:ea typeface="Arial"/>
                          <a:cs typeface="Arial"/>
                        </a:rPr>
                        <a:t>Common limitation</a:t>
                      </a:r>
                    </a:p>
                  </a:txBody>
                  <a:tcPr marL="91440" marR="91440" marT="45720" marB="45720" anchor="ctr">
                    <a:solidFill>
                      <a:srgbClr val="00539F"/>
                    </a:solidFill>
                  </a:tcPr>
                </a:tc>
              </a:tr>
              <a:tr h="638175">
                <a:tc>
                  <a:txBody>
                    <a:bodyPr lIns="114300" tIns="85725" rIns="114300" bIns="85725">
                      <a:noAutofit/>
                    </a:bodyPr>
                    <a:lstStyle/>
                    <a:p>
                      <a:r>
                        <a:rPr sz="1575" b="0">
                          <a:solidFill>
                            <a:srgbClr val="17324D"/>
                          </a:solidFill>
                          <a:latin typeface="Arial"/>
                          <a:ea typeface="Arial"/>
                          <a:cs typeface="Arial"/>
                        </a:rPr>
                        <a:t>Camera</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Appearance, markings, object class</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Monocular depth is ambiguous</a:t>
                      </a:r>
                    </a:p>
                  </a:txBody>
                  <a:tcPr marL="91440" marR="91440" marT="45720" marB="45720" anchor="ctr">
                    <a:solidFill>
                      <a:srgbClr val="FFFFFF"/>
                    </a:solidFill>
                  </a:tcPr>
                </a:tc>
              </a:tr>
              <a:tr h="638175">
                <a:tc>
                  <a:txBody>
                    <a:bodyPr lIns="114300" tIns="85725" rIns="114300" bIns="85725">
                      <a:noAutofit/>
                    </a:bodyPr>
                    <a:lstStyle/>
                    <a:p>
                      <a:r>
                        <a:rPr sz="1575" b="0">
                          <a:solidFill>
                            <a:srgbClr val="17324D"/>
                          </a:solidFill>
                          <a:latin typeface="Arial"/>
                          <a:ea typeface="Arial"/>
                          <a:cs typeface="Arial"/>
                        </a:rPr>
                        <a:t>LiDAR</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Metric range and 3D structure</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Sparse angular samples</a:t>
                      </a:r>
                    </a:p>
                  </a:txBody>
                  <a:tcPr marL="91440" marR="91440" marT="45720" marB="45720" anchor="ctr">
                    <a:solidFill>
                      <a:srgbClr val="F1F6FA"/>
                    </a:solidFill>
                  </a:tcPr>
                </a:tc>
              </a:tr>
              <a:tr h="638175">
                <a:tc>
                  <a:txBody>
                    <a:bodyPr lIns="114300" tIns="85725" rIns="114300" bIns="85725">
                      <a:noAutofit/>
                    </a:bodyPr>
                    <a:lstStyle/>
                    <a:p>
                      <a:r>
                        <a:rPr sz="1575" b="0">
                          <a:solidFill>
                            <a:srgbClr val="17324D"/>
                          </a:solidFill>
                          <a:latin typeface="Arial"/>
                          <a:ea typeface="Arial"/>
                          <a:cs typeface="Arial"/>
                        </a:rPr>
                        <a:t>Together</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Appearance attached to geometry</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Requires alignment and association</a:t>
                      </a:r>
                    </a:p>
                  </a:txBody>
                  <a:tcPr marL="91440" marR="91440" marT="45720" marB="45720" anchor="ctr">
                    <a:solidFill>
                      <a:srgbClr val="FFFFFF"/>
                    </a:solidFill>
                  </a:tcPr>
                </a:tc>
              </a:tr>
            </a:tbl>
          </a:graphicData>
        </a:graphic>
      </p:graphicFrame>
      <p:sp>
        <p:nvSpPr>
          <p:cNvPr id="4" name="Fusion begins by making measurements geometrically comparable.">
            <a:extLst xmlns:a="http://schemas.openxmlformats.org/drawingml/2006/main">
              <a:ext uri="{FF2B5EF4-FFF2-40B4-BE49-F238E27FC236}">
                <a16:creationId xmlns:a16="http://schemas.microsoft.com/office/drawing/2014/main" id="{69E3637F-5507-45FB-982C-9A2EA8F24D89}"/>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Fusion begins by making measurements geometrically comparable.</a:t>
            </a:r>
          </a:p>
        </p:txBody>
      </p:sp>
    </p:spTree>
    <p:extLst>
      <p:ext uri="{BB962C8B-B14F-4D97-AF65-F5344CB8AC3E}">
        <p14:creationId xmlns:p14="http://schemas.microsoft.com/office/powerpoint/2010/main" val="18088388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A coordinate needs a frame">
            <a:extLst xmlns:a="http://schemas.openxmlformats.org/drawingml/2006/main">
              <a:ext uri="{FF2B5EF4-FFF2-40B4-BE49-F238E27FC236}">
                <a16:creationId xmlns:a16="http://schemas.microsoft.com/office/drawing/2014/main" id="{962AF051-86D6-43AC-A4D0-5B5C918C581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coordinate needs a frame</a:t>
            </a:r>
          </a:p>
        </p:txBody>
      </p:sp>
      <p:sp>
        <p:nvSpPr>
          <p:cNvPr id="2" name="3">
            <a:extLst xmlns:a="http://schemas.openxmlformats.org/drawingml/2006/main">
              <a:ext uri="{FF2B5EF4-FFF2-40B4-BE49-F238E27FC236}">
                <a16:creationId xmlns:a16="http://schemas.microsoft.com/office/drawing/2014/main" id="{FE1CB187-2847-43F5-9A22-26973892722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eb018d8fb6a46e0"/>
          <a:stretch xmlns:a="http://schemas.openxmlformats.org/drawingml/2006/main"/>
        </p:blipFill>
        <p:spPr>
          <a:xfrm xmlns:a="http://schemas.openxmlformats.org/drawingml/2006/main">
            <a:off x="665976" y="1400175"/>
            <a:ext cx="4945022" cy="2924175"/>
          </a:xfrm>
          <a:prstGeom xmlns:a="http://schemas.openxmlformats.org/drawingml/2006/main" prst="rect">
            <a:avLst/>
          </a:prstGeom>
        </p:spPr>
      </p:pic>
      <p:sp>
        <p:nvSpPr>
          <p:cNvPr id="4" name="A frame defines an origin and oriented axes.&#10;&#10;The same hand has d">
            <a:extLst xmlns:a="http://schemas.openxmlformats.org/drawingml/2006/main">
              <a:ext uri="{FF2B5EF4-FFF2-40B4-BE49-F238E27FC236}">
                <a16:creationId xmlns:a16="http://schemas.microsoft.com/office/drawing/2014/main" id="{87D7F72E-961F-426A-8A10-74934B42CCFA}"/>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A frame defines an origin and oriented axes.</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The same hand has different coordinates in the base and link frames.</a:t>
            </a:r>
          </a:p>
        </p:txBody>
      </p:sp>
      <p:sp>
        <p:nvSpPr>
          <p:cNvPr id="5" name="Always attach a frame name and units to a position.">
            <a:extLst xmlns:a="http://schemas.openxmlformats.org/drawingml/2006/main">
              <a:ext uri="{FF2B5EF4-FFF2-40B4-BE49-F238E27FC236}">
                <a16:creationId xmlns:a16="http://schemas.microsoft.com/office/drawing/2014/main" id="{783840BA-9332-4FCC-9837-B0E3FDB2F6CC}"/>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Always attach a frame name and units to a position.</a:t>
            </a:r>
          </a:p>
        </p:txBody>
      </p:sp>
    </p:spTree>
    <p:extLst>
      <p:ext uri="{BB962C8B-B14F-4D97-AF65-F5344CB8AC3E}">
        <p14:creationId xmlns:p14="http://schemas.microsoft.com/office/powerpoint/2010/main" val="18088388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Links and actuators">
            <a:extLst xmlns:a="http://schemas.openxmlformats.org/drawingml/2006/main">
              <a:ext uri="{FF2B5EF4-FFF2-40B4-BE49-F238E27FC236}">
                <a16:creationId xmlns:a16="http://schemas.microsoft.com/office/drawing/2014/main" id="{6D3B98C8-730C-40B7-845C-A741D9718266}"/>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Links and actuators</a:t>
            </a:r>
          </a:p>
        </p:txBody>
      </p:sp>
      <p:sp>
        <p:nvSpPr>
          <p:cNvPr id="2" name="4">
            <a:extLst xmlns:a="http://schemas.openxmlformats.org/drawingml/2006/main">
              <a:ext uri="{FF2B5EF4-FFF2-40B4-BE49-F238E27FC236}">
                <a16:creationId xmlns:a16="http://schemas.microsoft.com/office/drawing/2014/main" id="{671E2616-3985-44AF-B2C4-24BFA4E252E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0133fa5be3549dc"/>
          <a:stretch xmlns:a="http://schemas.openxmlformats.org/drawingml/2006/main"/>
        </p:blipFill>
        <p:spPr>
          <a:xfrm xmlns:a="http://schemas.openxmlformats.org/drawingml/2006/main">
            <a:off x="495300" y="1691839"/>
            <a:ext cx="5286375" cy="2340847"/>
          </a:xfrm>
          <a:prstGeom xmlns:a="http://schemas.openxmlformats.org/drawingml/2006/main" prst="rect">
            <a:avLst/>
          </a:prstGeom>
        </p:spPr>
      </p:pic>
      <p:sp>
        <p:nvSpPr>
          <p:cNvPr id="4" name="A rigid link has fixed geometry.&#10;&#10;A rotary joint changes angle. A">
            <a:extLst xmlns:a="http://schemas.openxmlformats.org/drawingml/2006/main">
              <a:ext uri="{FF2B5EF4-FFF2-40B4-BE49-F238E27FC236}">
                <a16:creationId xmlns:a16="http://schemas.microsoft.com/office/drawing/2014/main" id="{EF194770-EA29-4F89-A8CA-9E153AB0C7C0}"/>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A rigid link has fixed geometry.</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A rotary joint changes angle. A sliding joint changes extension.</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Each link carries its own frame.</a:t>
            </a:r>
          </a:p>
        </p:txBody>
      </p:sp>
      <p:sp>
        <p:nvSpPr>
          <p:cNvPr id="5" name="Joint values determine the relative transforms along the chain.">
            <a:extLst xmlns:a="http://schemas.openxmlformats.org/drawingml/2006/main">
              <a:ext uri="{FF2B5EF4-FFF2-40B4-BE49-F238E27FC236}">
                <a16:creationId xmlns:a16="http://schemas.microsoft.com/office/drawing/2014/main" id="{00F699C8-1C7D-4A5D-9F83-1CD56A21973F}"/>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Joint values determine the relative transforms along the chain.</a:t>
            </a:r>
          </a:p>
        </p:txBody>
      </p:sp>
    </p:spTree>
    <p:extLst>
      <p:ext uri="{BB962C8B-B14F-4D97-AF65-F5344CB8AC3E}">
        <p14:creationId xmlns:p14="http://schemas.microsoft.com/office/powerpoint/2010/main" val="18088388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Rotation and translation in one matrix">
            <a:extLst xmlns:a="http://schemas.openxmlformats.org/drawingml/2006/main">
              <a:ext uri="{FF2B5EF4-FFF2-40B4-BE49-F238E27FC236}">
                <a16:creationId xmlns:a16="http://schemas.microsoft.com/office/drawing/2014/main" id="{FE2A64F7-11D6-48A0-934D-92351FAD8A5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Rotation and translation in one matrix</a:t>
            </a:r>
          </a:p>
        </p:txBody>
      </p:sp>
      <p:sp>
        <p:nvSpPr>
          <p:cNvPr id="2" name="5">
            <a:extLst xmlns:a="http://schemas.openxmlformats.org/drawingml/2006/main">
              <a:ext uri="{FF2B5EF4-FFF2-40B4-BE49-F238E27FC236}">
                <a16:creationId xmlns:a16="http://schemas.microsoft.com/office/drawing/2014/main" id="{910A298C-11FE-4E20-B6E4-E5F787BAE09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5</a:t>
            </a:r>
          </a:p>
        </p:txBody>
      </p:sp>
      <p:sp>
        <p:nvSpPr>
          <p:cNvPr id="3" name="p_A = R_AB p_B + t_AB">
            <a:extLst xmlns:a="http://schemas.openxmlformats.org/drawingml/2006/main">
              <a:ext uri="{FF2B5EF4-FFF2-40B4-BE49-F238E27FC236}">
                <a16:creationId xmlns:a16="http://schemas.microsoft.com/office/drawing/2014/main" id="{47541B67-4277-407B-94AF-94407B140CEB}"/>
              </a:ext>
            </a:extLst>
          </p:cNvPr>
          <p:cNvSpPr>
            <a:spLocks xmlns:a="http://schemas.openxmlformats.org/drawingml/2006/main" noGrp="1"/>
          </p:cNvSpPr>
          <p:nvPr/>
        </p:nvSpPr>
        <p:spPr>
          <a:xfrm xmlns:a="http://schemas.openxmlformats.org/drawingml/2006/main">
            <a:off x="714375" y="142875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p_A = R_AB p_B + t_AB</a:t>
            </a:r>
          </a:p>
        </p:txBody>
      </p:sp>
      <p:sp>
        <p:nvSpPr>
          <p:cNvPr id="4" name="T_AB =">
            <a:extLst xmlns:a="http://schemas.openxmlformats.org/drawingml/2006/main">
              <a:ext uri="{FF2B5EF4-FFF2-40B4-BE49-F238E27FC236}">
                <a16:creationId xmlns:a16="http://schemas.microsoft.com/office/drawing/2014/main" id="{F9117E3D-FC4A-492D-9042-18F0C3490450}"/>
              </a:ext>
            </a:extLst>
          </p:cNvPr>
          <p:cNvSpPr>
            <a:spLocks xmlns:a="http://schemas.openxmlformats.org/drawingml/2006/main" noGrp="1"/>
          </p:cNvSpPr>
          <p:nvPr/>
        </p:nvSpPr>
        <p:spPr>
          <a:xfrm xmlns:a="http://schemas.openxmlformats.org/drawingml/2006/main">
            <a:off x="714375" y="2095500"/>
            <a:ext cx="171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T_AB =</a:t>
            </a:r>
          </a:p>
        </p:txBody>
      </p:sp>
      <p:sp>
        <p:nvSpPr>
          <p:cNvPr id="5" name="[">
            <a:extLst xmlns:a="http://schemas.openxmlformats.org/drawingml/2006/main">
              <a:ext uri="{FF2B5EF4-FFF2-40B4-BE49-F238E27FC236}">
                <a16:creationId xmlns:a16="http://schemas.microsoft.com/office/drawing/2014/main" id="{82DA49B0-D8CD-4373-B3B5-AA0C6F0C0752}"/>
              </a:ext>
            </a:extLst>
          </p:cNvPr>
          <p:cNvSpPr>
            <a:spLocks xmlns:a="http://schemas.openxmlformats.org/drawingml/2006/main" noGrp="1"/>
          </p:cNvSpPr>
          <p:nvPr/>
        </p:nvSpPr>
        <p:spPr>
          <a:xfrm xmlns:a="http://schemas.openxmlformats.org/drawingml/2006/main">
            <a:off x="2476500" y="1714500"/>
            <a:ext cx="428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7875" b="0">
                <a:solidFill>
                  <a:srgbClr val="00539F"/>
                </a:solidFill>
                <a:latin typeface="Arial"/>
                <a:ea typeface="Arial"/>
                <a:cs typeface="Arial"/>
              </a:defRPr>
            </a:pPr>
            <a:r>
              <a:rPr sz="7875" b="0">
                <a:solidFill>
                  <a:srgbClr val="00539F"/>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6E3D72D8-491B-476E-B406-BD08CB15053A}"/>
              </a:ext>
            </a:extLst>
          </p:cNvPr>
          <p:cNvSpPr>
            <a:spLocks xmlns:a="http://schemas.openxmlformats.org/drawingml/2006/main" noGrp="1"/>
          </p:cNvSpPr>
          <p:nvPr/>
        </p:nvSpPr>
        <p:spPr>
          <a:xfrm xmlns:a="http://schemas.openxmlformats.org/drawingml/2006/main">
            <a:off x="5286375" y="1714500"/>
            <a:ext cx="428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7875" b="0">
                <a:solidFill>
                  <a:srgbClr val="00539F"/>
                </a:solidFill>
                <a:latin typeface="Arial"/>
                <a:ea typeface="Arial"/>
                <a:cs typeface="Arial"/>
              </a:defRPr>
            </a:pPr>
            <a:r>
              <a:rPr sz="7875" b="0">
                <a:solidFill>
                  <a:srgbClr val="00539F"/>
                </a:solidFill>
                <a:latin typeface="Arial"/>
                <a:ea typeface="Arial"/>
                <a:cs typeface="Arial"/>
              </a:rPr>
              <a:t>]</a:t>
            </a:r>
          </a:p>
        </p:txBody>
      </p:sp>
      <p:sp>
        <p:nvSpPr>
          <p:cNvPr id="7" name="R_AB">
            <a:extLst xmlns:a="http://schemas.openxmlformats.org/drawingml/2006/main">
              <a:ext uri="{FF2B5EF4-FFF2-40B4-BE49-F238E27FC236}">
                <a16:creationId xmlns:a16="http://schemas.microsoft.com/office/drawing/2014/main" id="{F20D91E4-D10C-4A4A-9EFC-BB34852FB68B}"/>
              </a:ext>
            </a:extLst>
          </p:cNvPr>
          <p:cNvSpPr>
            <a:spLocks xmlns:a="http://schemas.openxmlformats.org/drawingml/2006/main" noGrp="1"/>
          </p:cNvSpPr>
          <p:nvPr/>
        </p:nvSpPr>
        <p:spPr>
          <a:xfrm xmlns:a="http://schemas.openxmlformats.org/drawingml/2006/main">
            <a:off x="2952750" y="2047875"/>
            <a:ext cx="138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0">
                <a:solidFill>
                  <a:srgbClr val="00539F"/>
                </a:solidFill>
                <a:latin typeface="Arial"/>
                <a:ea typeface="Arial"/>
                <a:cs typeface="Arial"/>
              </a:defRPr>
            </a:pPr>
            <a:r>
              <a:rPr sz="2250" b="0">
                <a:solidFill>
                  <a:srgbClr val="00539F"/>
                </a:solidFill>
                <a:latin typeface="Arial"/>
                <a:ea typeface="Arial"/>
                <a:cs typeface="Arial"/>
              </a:rPr>
              <a:t>R_AB</a:t>
            </a:r>
          </a:p>
        </p:txBody>
      </p:sp>
      <p:sp>
        <p:nvSpPr>
          <p:cNvPr id="8" name="t_AB">
            <a:extLst xmlns:a="http://schemas.openxmlformats.org/drawingml/2006/main">
              <a:ext uri="{FF2B5EF4-FFF2-40B4-BE49-F238E27FC236}">
                <a16:creationId xmlns:a16="http://schemas.microsoft.com/office/drawing/2014/main" id="{8043B729-960C-440B-86DE-FE5AECFFE838}"/>
              </a:ext>
            </a:extLst>
          </p:cNvPr>
          <p:cNvSpPr>
            <a:spLocks xmlns:a="http://schemas.openxmlformats.org/drawingml/2006/main" noGrp="1"/>
          </p:cNvSpPr>
          <p:nvPr/>
        </p:nvSpPr>
        <p:spPr>
          <a:xfrm xmlns:a="http://schemas.openxmlformats.org/drawingml/2006/main">
            <a:off x="4381500" y="2047875"/>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0">
                <a:solidFill>
                  <a:srgbClr val="00539F"/>
                </a:solidFill>
                <a:latin typeface="Arial"/>
                <a:ea typeface="Arial"/>
                <a:cs typeface="Arial"/>
              </a:defRPr>
            </a:pPr>
            <a:r>
              <a:rPr sz="2250" b="0">
                <a:solidFill>
                  <a:srgbClr val="00539F"/>
                </a:solidFill>
                <a:latin typeface="Arial"/>
                <a:ea typeface="Arial"/>
                <a:cs typeface="Arial"/>
              </a:rPr>
              <a:t>t_AB</a:t>
            </a:r>
          </a:p>
        </p:txBody>
      </p:sp>
      <p:sp>
        <p:nvSpPr>
          <p:cNvPr id="9" name="0">
            <a:extLst xmlns:a="http://schemas.openxmlformats.org/drawingml/2006/main">
              <a:ext uri="{FF2B5EF4-FFF2-40B4-BE49-F238E27FC236}">
                <a16:creationId xmlns:a16="http://schemas.microsoft.com/office/drawing/2014/main" id="{4FB2C52C-40D4-4631-9264-B3D9925D00E1}"/>
              </a:ext>
            </a:extLst>
          </p:cNvPr>
          <p:cNvSpPr>
            <a:spLocks xmlns:a="http://schemas.openxmlformats.org/drawingml/2006/main" noGrp="1"/>
          </p:cNvSpPr>
          <p:nvPr/>
        </p:nvSpPr>
        <p:spPr>
          <a:xfrm xmlns:a="http://schemas.openxmlformats.org/drawingml/2006/main">
            <a:off x="2952750" y="2619375"/>
            <a:ext cx="138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0">
                <a:solidFill>
                  <a:srgbClr val="00539F"/>
                </a:solidFill>
                <a:latin typeface="Arial"/>
                <a:ea typeface="Arial"/>
                <a:cs typeface="Arial"/>
              </a:defRPr>
            </a:pPr>
            <a:r>
              <a:rPr sz="2250" b="0">
                <a:solidFill>
                  <a:srgbClr val="00539F"/>
                </a:solidFill>
                <a:latin typeface="Arial"/>
                <a:ea typeface="Arial"/>
                <a:cs typeface="Arial"/>
              </a:rPr>
              <a:t>0</a:t>
            </a:r>
          </a:p>
        </p:txBody>
      </p:sp>
      <p:sp>
        <p:nvSpPr>
          <p:cNvPr id="10" name="1">
            <a:extLst xmlns:a="http://schemas.openxmlformats.org/drawingml/2006/main">
              <a:ext uri="{FF2B5EF4-FFF2-40B4-BE49-F238E27FC236}">
                <a16:creationId xmlns:a16="http://schemas.microsoft.com/office/drawing/2014/main" id="{3CB4AFB4-D92A-4AF5-AA87-E70660EBDC89}"/>
              </a:ext>
            </a:extLst>
          </p:cNvPr>
          <p:cNvSpPr>
            <a:spLocks xmlns:a="http://schemas.openxmlformats.org/drawingml/2006/main" noGrp="1"/>
          </p:cNvSpPr>
          <p:nvPr/>
        </p:nvSpPr>
        <p:spPr>
          <a:xfrm xmlns:a="http://schemas.openxmlformats.org/drawingml/2006/main">
            <a:off x="4381500" y="2619375"/>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0">
                <a:solidFill>
                  <a:srgbClr val="00539F"/>
                </a:solidFill>
                <a:latin typeface="Arial"/>
                <a:ea typeface="Arial"/>
                <a:cs typeface="Arial"/>
              </a:defRPr>
            </a:pPr>
            <a:r>
              <a:rPr sz="2250" b="0">
                <a:solidFill>
                  <a:srgbClr val="00539F"/>
                </a:solidFill>
                <a:latin typeface="Arial"/>
                <a:ea typeface="Arial"/>
                <a:cs typeface="Arial"/>
              </a:rPr>
              <a:t>1</a:t>
            </a:r>
          </a:p>
        </p:txBody>
      </p:sp>
      <p:sp>
        <p:nvSpPr>
          <p:cNvPr id="11" name="T₀ₙ = T₀₁ T₁₂ … Tₙ₋₁,ₙ">
            <a:extLst xmlns:a="http://schemas.openxmlformats.org/drawingml/2006/main">
              <a:ext uri="{FF2B5EF4-FFF2-40B4-BE49-F238E27FC236}">
                <a16:creationId xmlns:a16="http://schemas.microsoft.com/office/drawing/2014/main" id="{2B390F86-2B69-4719-A498-9875E408F215}"/>
              </a:ext>
            </a:extLst>
          </p:cNvPr>
          <p:cNvSpPr>
            <a:spLocks xmlns:a="http://schemas.openxmlformats.org/drawingml/2006/main" noGrp="1"/>
          </p:cNvSpPr>
          <p:nvPr/>
        </p:nvSpPr>
        <p:spPr>
          <a:xfrm xmlns:a="http://schemas.openxmlformats.org/drawingml/2006/main">
            <a:off x="714375" y="323850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0">
                <a:solidFill>
                  <a:srgbClr val="00539F"/>
                </a:solidFill>
                <a:latin typeface="Arial"/>
                <a:ea typeface="Arial"/>
                <a:cs typeface="Arial"/>
              </a:defRPr>
            </a:pPr>
            <a:r>
              <a:rPr sz="2250" b="0">
                <a:solidFill>
                  <a:srgbClr val="00539F"/>
                </a:solidFill>
                <a:latin typeface="Arial"/>
                <a:ea typeface="Arial"/>
                <a:cs typeface="Arial"/>
              </a:rPr>
              <a:t>T₀ₙ = T₀₁ T₁₂ … Tₙ₋₁,ₙ</a:t>
            </a:r>
          </a:p>
        </p:txBody>
      </p:sp>
      <p:sp>
        <p:nvSpPr>
          <p:cNvPr id="12" name="T_AB converts coordinates from frame B into frame A.&#10;R_AB gives o">
            <a:extLst xmlns:a="http://schemas.openxmlformats.org/drawingml/2006/main">
              <a:ext uri="{FF2B5EF4-FFF2-40B4-BE49-F238E27FC236}">
                <a16:creationId xmlns:a16="http://schemas.microsoft.com/office/drawing/2014/main" id="{EAB19195-548D-4753-9816-750748C2A349}"/>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T_AB converts coordinates from frame B into frame A.</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R_AB gives orientation. t_AB is the B-origin expressed in A.</a:t>
            </a:r>
          </a:p>
        </p:txBody>
      </p:sp>
      <p:sp>
        <p:nvSpPr>
          <p:cNvPr id="13" name="In 3D, T is 4 × 4. Our planar demo uses a 3 × 3 version.">
            <a:extLst xmlns:a="http://schemas.openxmlformats.org/drawingml/2006/main">
              <a:ext uri="{FF2B5EF4-FFF2-40B4-BE49-F238E27FC236}">
                <a16:creationId xmlns:a16="http://schemas.microsoft.com/office/drawing/2014/main" id="{A135B427-7A86-4CAA-93C3-3914525CBE85}"/>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In 3D, T is 4 × 4. Our planar demo uses a 3 × 3 version.</a:t>
            </a:r>
          </a:p>
        </p:txBody>
      </p:sp>
    </p:spTree>
    <p:extLst>
      <p:ext uri="{BB962C8B-B14F-4D97-AF65-F5344CB8AC3E}">
        <p14:creationId xmlns:p14="http://schemas.microsoft.com/office/powerpoint/2010/main" val="18088388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rward kinematics: a worked example">
            <a:extLst xmlns:a="http://schemas.openxmlformats.org/drawingml/2006/main">
              <a:ext uri="{FF2B5EF4-FFF2-40B4-BE49-F238E27FC236}">
                <a16:creationId xmlns:a16="http://schemas.microsoft.com/office/drawing/2014/main" id="{4CACE9A9-D2F4-4D1B-B4EB-CFD908FECBF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Forward kinematics: a worked example</a:t>
            </a:r>
          </a:p>
        </p:txBody>
      </p:sp>
      <p:sp>
        <p:nvSpPr>
          <p:cNvPr id="2" name="6">
            <a:extLst xmlns:a="http://schemas.openxmlformats.org/drawingml/2006/main">
              <a:ext uri="{FF2B5EF4-FFF2-40B4-BE49-F238E27FC236}">
                <a16:creationId xmlns:a16="http://schemas.microsoft.com/office/drawing/2014/main" id="{FD65E646-8848-45D3-9B74-7F1D3EBDFBC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e3f40a330f74a59"/>
          <a:stretch xmlns:a="http://schemas.openxmlformats.org/drawingml/2006/main"/>
        </p:blipFill>
        <p:spPr>
          <a:xfrm xmlns:a="http://schemas.openxmlformats.org/drawingml/2006/main">
            <a:off x="665976" y="1400175"/>
            <a:ext cx="4945022" cy="2924175"/>
          </a:xfrm>
          <a:prstGeom xmlns:a="http://schemas.openxmlformats.org/drawingml/2006/main" prst="rect">
            <a:avLst/>
          </a:prstGeom>
        </p:spPr>
      </p:pic>
      <p:sp>
        <p:nvSpPr>
          <p:cNvPr id="4" name="L₁ = L₂ = 1 m&#10;&#10;q₁ = 90°, q₂ = −90°&#10;&#10;x = cos 90° + cos 0° = 1&#10;&#10;y =">
            <a:extLst xmlns:a="http://schemas.openxmlformats.org/drawingml/2006/main">
              <a:ext uri="{FF2B5EF4-FFF2-40B4-BE49-F238E27FC236}">
                <a16:creationId xmlns:a16="http://schemas.microsoft.com/office/drawing/2014/main" id="{F94B484D-0536-41EA-BBC8-9EEA467588CF}"/>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L₁ = L₂ = 1 m</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q₁ = 90°, q₂ = −90°</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x = cos 90° + cos 0° = 1</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y = sin 90° + sin 0° = 1</a:t>
            </a:r>
          </a:p>
        </p:txBody>
      </p:sp>
      <p:sp>
        <p:nvSpPr>
          <p:cNvPr id="5" name="T₀₂ = T₀₁ T₁₂ gives the hand at (1, 1) m.">
            <a:extLst xmlns:a="http://schemas.openxmlformats.org/drawingml/2006/main">
              <a:ext uri="{FF2B5EF4-FFF2-40B4-BE49-F238E27FC236}">
                <a16:creationId xmlns:a16="http://schemas.microsoft.com/office/drawing/2014/main" id="{AB3DAAE4-53FB-40F8-B6BD-A90B8FD82079}"/>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T₀₂ = T₀₁ T₁₂ gives the hand at (1, 1) m.</a:t>
            </a:r>
          </a:p>
        </p:txBody>
      </p:sp>
    </p:spTree>
    <p:extLst>
      <p:ext uri="{BB962C8B-B14F-4D97-AF65-F5344CB8AC3E}">
        <p14:creationId xmlns:p14="http://schemas.microsoft.com/office/powerpoint/2010/main" val="18088388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Demo 1: build and inspect a robot arm">
            <a:extLst xmlns:a="http://schemas.openxmlformats.org/drawingml/2006/main">
              <a:ext uri="{FF2B5EF4-FFF2-40B4-BE49-F238E27FC236}">
                <a16:creationId xmlns:a16="http://schemas.microsoft.com/office/drawing/2014/main" id="{23AA08D4-859E-4B65-8F4D-E0C21ADD291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Demo 1: build and inspect a robot arm</a:t>
            </a:r>
          </a:p>
        </p:txBody>
      </p:sp>
      <p:sp>
        <p:nvSpPr>
          <p:cNvPr id="2" name="7">
            <a:extLst xmlns:a="http://schemas.openxmlformats.org/drawingml/2006/main">
              <a:ext uri="{FF2B5EF4-FFF2-40B4-BE49-F238E27FC236}">
                <a16:creationId xmlns:a16="http://schemas.microsoft.com/office/drawing/2014/main" id="{CC75B7EA-D406-41CB-913B-38240FA9B75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7f75475ede34e26"/>
          <a:stretch xmlns:a="http://schemas.openxmlformats.org/drawingml/2006/main"/>
        </p:blipFill>
        <p:spPr>
          <a:xfrm xmlns:a="http://schemas.openxmlformats.org/drawingml/2006/main">
            <a:off x="883429" y="1400175"/>
            <a:ext cx="4510118" cy="2667000"/>
          </a:xfrm>
          <a:prstGeom xmlns:a="http://schemas.openxmlformats.org/drawingml/2006/main" prst="rect">
            <a:avLst/>
          </a:prstGeom>
        </p:spPr>
      </p:pic>
      <p:sp>
        <p:nvSpPr>
          <p:cNvPr id="4" name="Add a rotary link, then a sliding joint.&#10;&#10;Change a parent angle. ">
            <a:extLst xmlns:a="http://schemas.openxmlformats.org/drawingml/2006/main">
              <a:ext uri="{FF2B5EF4-FFF2-40B4-BE49-F238E27FC236}">
                <a16:creationId xmlns:a16="http://schemas.microsoft.com/office/drawing/2014/main" id="{FB098C4C-B641-42FE-A093-CCDD657A307F}"/>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Add a rotary link, then a sliding joint.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Change a parent angle. Predict which frames move.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Inspect a local matrix and its cumulative product.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Challenge: reach (1, 1) m with two 1 m links.</a:t>
            </a:r>
          </a:p>
        </p:txBody>
      </p:sp>
      <p:sp>
        <p:nvSpPr>
          <p:cNvPr id="5" name="Open interactive demo">
            <a:extLst xmlns:a="http://schemas.openxmlformats.org/drawingml/2006/main">
              <a:ext uri="{FF2B5EF4-FFF2-40B4-BE49-F238E27FC236}">
                <a16:creationId xmlns:a16="http://schemas.microsoft.com/office/drawing/2014/main" id="{D5E95013-66B2-40A1-9843-4BF6FCA3CC67}"/>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9b2c2866fb15485d"/>
              </a:rPr>
              <a:t>Open interactive demo</a:t>
            </a:r>
          </a:p>
        </p:txBody>
      </p:sp>
      <p:sp>
        <p:nvSpPr>
          <p:cNvPr id="6" name="Open SensorFusion/index.html and choose “1 · Robot arm”.">
            <a:extLst xmlns:a="http://schemas.openxmlformats.org/drawingml/2006/main">
              <a:ext uri="{FF2B5EF4-FFF2-40B4-BE49-F238E27FC236}">
                <a16:creationId xmlns:a16="http://schemas.microsoft.com/office/drawing/2014/main" id="{1419C134-ACE9-4AFB-8BCF-E72884F4702C}"/>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a:hlinkClick xmlns:r="http://schemas.openxmlformats.org/officeDocument/2006/relationships" r:id="R162e4649b2264394"/>
              </a:rPr>
              <a:t>Open SensorFusion/index.html and choose “1 · Robot arm”.</a:t>
            </a:r>
          </a:p>
        </p:txBody>
      </p:sp>
    </p:spTree>
    <p:extLst>
      <p:ext uri="{BB962C8B-B14F-4D97-AF65-F5344CB8AC3E}">
        <p14:creationId xmlns:p14="http://schemas.microsoft.com/office/powerpoint/2010/main" val="18088388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Vehicle and camera axis conventions">
            <a:extLst xmlns:a="http://schemas.openxmlformats.org/drawingml/2006/main">
              <a:ext uri="{FF2B5EF4-FFF2-40B4-BE49-F238E27FC236}">
                <a16:creationId xmlns:a16="http://schemas.microsoft.com/office/drawing/2014/main" id="{AC65B716-709E-4D49-B9E7-636234E0C19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Vehicle and camera axis conventions</a:t>
            </a:r>
          </a:p>
        </p:txBody>
      </p:sp>
      <p:sp>
        <p:nvSpPr>
          <p:cNvPr id="2" name="8">
            <a:extLst xmlns:a="http://schemas.openxmlformats.org/drawingml/2006/main">
              <a:ext uri="{FF2B5EF4-FFF2-40B4-BE49-F238E27FC236}">
                <a16:creationId xmlns:a16="http://schemas.microsoft.com/office/drawing/2014/main" id="{2BA84EB1-926A-4B68-975D-D7878425B67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8</a:t>
            </a:r>
          </a:p>
        </p:txBody>
      </p:sp>
      <p:graphicFrame>
        <p:nvGraphicFramePr>
          <p:cNvPr id="7" name=""/>
          <p:cNvGraphicFramePr/>
          <p:nvPr/>
        </p:nvGraphicFramePr>
        <p:xfrm>
          <a:off xmlns:a="http://schemas.openxmlformats.org/drawingml/2006/main" x="523875" y="1438275"/>
          <a:ext xmlns:a="http://schemas.openxmlformats.org/drawingml/2006/main" cx="8096250" cy="2743200"/>
        </p:xfrm>
        <a:graphic xmlns:a="http://schemas.openxmlformats.org/drawingml/2006/main">
          <a:graphicData uri="http://schemas.openxmlformats.org/drawingml/2006/table">
            <a:tbl>
              <a:tblPr/>
              <a:tblGrid>
                <a:gridCol w="1809750"/>
                <a:gridCol w="3143250"/>
                <a:gridCol w="3143250"/>
              </a:tblGrid>
              <a:tr h="548640">
                <a:tc>
                  <a:txBody>
                    <a:bodyPr lIns="114300" tIns="85725" rIns="114300" bIns="85725">
                      <a:noAutofit/>
                    </a:bodyPr>
                    <a:lstStyle/>
                    <a:p>
                      <a:r>
                        <a:rPr sz="1575" b="1">
                          <a:solidFill>
                            <a:srgbClr val="FFFFFF"/>
                          </a:solidFill>
                          <a:latin typeface="Arial"/>
                          <a:ea typeface="Arial"/>
                          <a:cs typeface="Arial"/>
                        </a:rPr>
                        <a:t>Frame</a:t>
                      </a:r>
                    </a:p>
                  </a:txBody>
                  <a:tcPr marL="91440" marR="91440" marT="45720" marB="45720" anchor="ctr">
                    <a:solidFill>
                      <a:srgbClr val="00539F"/>
                    </a:solidFill>
                  </a:tcPr>
                </a:tc>
                <a:tc>
                  <a:txBody>
                    <a:bodyPr lIns="114300" tIns="85725" rIns="114300" bIns="85725">
                      <a:noAutofit/>
                    </a:bodyPr>
                    <a:lstStyle/>
                    <a:p>
                      <a:r>
                        <a:rPr sz="1575" b="1">
                          <a:solidFill>
                            <a:srgbClr val="FFFFFF"/>
                          </a:solidFill>
                          <a:latin typeface="Arial"/>
                          <a:ea typeface="Arial"/>
                          <a:cs typeface="Arial"/>
                        </a:rPr>
                        <a:t>Axes</a:t>
                      </a:r>
                    </a:p>
                  </a:txBody>
                  <a:tcPr marL="91440" marR="91440" marT="45720" marB="45720" anchor="ctr">
                    <a:solidFill>
                      <a:srgbClr val="00539F"/>
                    </a:solidFill>
                  </a:tcPr>
                </a:tc>
                <a:tc>
                  <a:txBody>
                    <a:bodyPr lIns="114300" tIns="85725" rIns="114300" bIns="85725">
                      <a:noAutofit/>
                    </a:bodyPr>
                    <a:lstStyle/>
                    <a:p>
                      <a:r>
                        <a:rPr sz="1575" b="1">
                          <a:solidFill>
                            <a:srgbClr val="FFFFFF"/>
                          </a:solidFill>
                          <a:latin typeface="Arial"/>
                          <a:ea typeface="Arial"/>
                          <a:cs typeface="Arial"/>
                        </a:rPr>
                        <a:t>Role</a:t>
                      </a:r>
                    </a:p>
                  </a:txBody>
                  <a:tcPr marL="91440" marR="91440" marT="45720" marB="45720" anchor="ctr">
                    <a:solidFill>
                      <a:srgbClr val="00539F"/>
                    </a:solidFill>
                  </a:tcPr>
                </a:tc>
              </a:tr>
              <a:tr h="548640">
                <a:tc>
                  <a:txBody>
                    <a:bodyPr lIns="114300" tIns="85725" rIns="114300" bIns="85725">
                      <a:noAutofit/>
                    </a:bodyPr>
                    <a:lstStyle/>
                    <a:p>
                      <a:r>
                        <a:rPr sz="1575" b="0">
                          <a:solidFill>
                            <a:srgbClr val="17324D"/>
                          </a:solidFill>
                          <a:latin typeface="Arial"/>
                          <a:ea typeface="Arial"/>
                          <a:cs typeface="Arial"/>
                        </a:rPr>
                        <a:t>Vehicle body</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x forward, y left, z up</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A common 3D reference</a:t>
                      </a:r>
                    </a:p>
                  </a:txBody>
                  <a:tcPr marL="91440" marR="91440" marT="45720" marB="45720" anchor="ctr">
                    <a:solidFill>
                      <a:srgbClr val="FFFFFF"/>
                    </a:solidFill>
                  </a:tcPr>
                </a:tc>
              </a:tr>
              <a:tr h="548640">
                <a:tc>
                  <a:txBody>
                    <a:bodyPr lIns="114300" tIns="85725" rIns="114300" bIns="85725">
                      <a:noAutofit/>
                    </a:bodyPr>
                    <a:lstStyle/>
                    <a:p>
                      <a:r>
                        <a:rPr sz="1575" b="0">
                          <a:solidFill>
                            <a:srgbClr val="17324D"/>
                          </a:solidFill>
                          <a:latin typeface="Arial"/>
                          <a:ea typeface="Arial"/>
                          <a:cs typeface="Arial"/>
                        </a:rPr>
                        <a:t>Camera optical</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x right, y down, z forward</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Pinhole projection</a:t>
                      </a:r>
                    </a:p>
                  </a:txBody>
                  <a:tcPr marL="91440" marR="91440" marT="45720" marB="45720" anchor="ctr">
                    <a:solidFill>
                      <a:srgbClr val="F1F6FA"/>
                    </a:solidFill>
                  </a:tcPr>
                </a:tc>
              </a:tr>
              <a:tr h="548640">
                <a:tc>
                  <a:txBody>
                    <a:bodyPr lIns="114300" tIns="85725" rIns="114300" bIns="85725">
                      <a:noAutofit/>
                    </a:bodyPr>
                    <a:lstStyle/>
                    <a:p>
                      <a:r>
                        <a:rPr sz="1575" b="0">
                          <a:solidFill>
                            <a:srgbClr val="17324D"/>
                          </a:solidFill>
                          <a:latin typeface="Arial"/>
                          <a:ea typeface="Arial"/>
                          <a:cs typeface="Arial"/>
                        </a:rPr>
                        <a:t>LiDAR</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Check driver conventions</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Range points in sensor frame</a:t>
                      </a:r>
                    </a:p>
                  </a:txBody>
                  <a:tcPr marL="91440" marR="91440" marT="45720" marB="45720" anchor="ctr">
                    <a:solidFill>
                      <a:srgbClr val="FFFFFF"/>
                    </a:solidFill>
                  </a:tcPr>
                </a:tc>
              </a:tr>
              <a:tr h="548640">
                <a:tc>
                  <a:txBody>
                    <a:bodyPr lIns="114300" tIns="85725" rIns="114300" bIns="85725">
                      <a:noAutofit/>
                    </a:bodyPr>
                    <a:lstStyle/>
                    <a:p>
                      <a:r>
                        <a:rPr sz="1575" b="0">
                          <a:solidFill>
                            <a:srgbClr val="17324D"/>
                          </a:solidFill>
                          <a:latin typeface="Arial"/>
                          <a:ea typeface="Arial"/>
                          <a:cs typeface="Arial"/>
                        </a:rPr>
                        <a:t>Image pixels</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u right, v down</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2D image coordinates</a:t>
                      </a:r>
                    </a:p>
                  </a:txBody>
                  <a:tcPr marL="91440" marR="91440" marT="45720" marB="45720" anchor="ctr">
                    <a:solidFill>
                      <a:srgbClr val="F1F6FA"/>
                    </a:solidFill>
                  </a:tcPr>
                </a:tc>
              </a:tr>
            </a:tbl>
          </a:graphicData>
        </a:graphic>
      </p:graphicFrame>
      <p:sp>
        <p:nvSpPr>
          <p:cNvPr id="4" name="Axis conversion is part of the extrinsic transform.">
            <a:extLst xmlns:a="http://schemas.openxmlformats.org/drawingml/2006/main">
              <a:ext uri="{FF2B5EF4-FFF2-40B4-BE49-F238E27FC236}">
                <a16:creationId xmlns:a16="http://schemas.microsoft.com/office/drawing/2014/main" id="{38A74B3F-061E-4353-B360-72502C74E43D}"/>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Axis conversion is part of the extrinsic transform.</a:t>
            </a:r>
          </a:p>
        </p:txBody>
      </p:sp>
    </p:spTree>
    <p:extLst>
      <p:ext uri="{BB962C8B-B14F-4D97-AF65-F5344CB8AC3E}">
        <p14:creationId xmlns:p14="http://schemas.microsoft.com/office/powerpoint/2010/main" val="18088388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The pinhole camera model">
            <a:extLst xmlns:a="http://schemas.openxmlformats.org/drawingml/2006/main">
              <a:ext uri="{FF2B5EF4-FFF2-40B4-BE49-F238E27FC236}">
                <a16:creationId xmlns:a16="http://schemas.microsoft.com/office/drawing/2014/main" id="{050AA93D-6C93-4528-95EA-A856FB4B384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pinhole camera model</a:t>
            </a:r>
          </a:p>
        </p:txBody>
      </p:sp>
      <p:sp>
        <p:nvSpPr>
          <p:cNvPr id="2" name="9">
            <a:extLst xmlns:a="http://schemas.openxmlformats.org/drawingml/2006/main">
              <a:ext uri="{FF2B5EF4-FFF2-40B4-BE49-F238E27FC236}">
                <a16:creationId xmlns:a16="http://schemas.microsoft.com/office/drawing/2014/main" id="{CA326F62-1B82-4906-AA7D-3953DD2C952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6d42c58bdac46cc"/>
          <a:stretch xmlns:a="http://schemas.openxmlformats.org/drawingml/2006/main"/>
        </p:blipFill>
        <p:spPr>
          <a:xfrm xmlns:a="http://schemas.openxmlformats.org/drawingml/2006/main">
            <a:off x="665976" y="1400175"/>
            <a:ext cx="4945022" cy="2924175"/>
          </a:xfrm>
          <a:prstGeom xmlns:a="http://schemas.openxmlformats.org/drawingml/2006/main" prst="rect">
            <a:avLst/>
          </a:prstGeom>
        </p:spPr>
      </p:pic>
      <p:sp>
        <p:nvSpPr>
          <p:cNvPr id="4" name="A scene point is (X, Y, Z) in the optical frame.&#10;&#10;Divide by depth">
            <a:extLst xmlns:a="http://schemas.openxmlformats.org/drawingml/2006/main">
              <a:ext uri="{FF2B5EF4-FFF2-40B4-BE49-F238E27FC236}">
                <a16:creationId xmlns:a16="http://schemas.microsoft.com/office/drawing/2014/main" id="{DE6A7F0F-B3B7-4B84-9232-E10F81C4EE6E}"/>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A scene point is (X, Y, Z) in the optical frame.</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Divide by depth: x = X/Z, y = Y/Z.</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Points behind the camera need rejection.</a:t>
            </a:r>
          </a:p>
        </p:txBody>
      </p:sp>
      <p:sp>
        <p:nvSpPr>
          <p:cNvPr id="5" name="Projection turns a 3D ray into an image location.">
            <a:extLst xmlns:a="http://schemas.openxmlformats.org/drawingml/2006/main">
              <a:ext uri="{FF2B5EF4-FFF2-40B4-BE49-F238E27FC236}">
                <a16:creationId xmlns:a16="http://schemas.microsoft.com/office/drawing/2014/main" id="{C6C17B1A-3937-4560-BD74-8CAB4020DE7A}"/>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Projection turns a 3D ray into an image location.</a:t>
            </a:r>
          </a:p>
        </p:txBody>
      </p:sp>
    </p:spTree>
    <p:extLst>
      <p:ext uri="{BB962C8B-B14F-4D97-AF65-F5344CB8AC3E}">
        <p14:creationId xmlns:p14="http://schemas.microsoft.com/office/powerpoint/2010/main" val="180883889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8" name="Camera intrinsics K">
            <a:extLst xmlns:a="http://schemas.openxmlformats.org/drawingml/2006/main">
              <a:ext uri="{FF2B5EF4-FFF2-40B4-BE49-F238E27FC236}">
                <a16:creationId xmlns:a16="http://schemas.microsoft.com/office/drawing/2014/main" id="{9ACA57CE-71DA-4E3C-A77B-3667800F1AC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Camera intrinsics K</a:t>
            </a:r>
          </a:p>
        </p:txBody>
      </p:sp>
      <p:sp>
        <p:nvSpPr>
          <p:cNvPr id="2" name="10">
            <a:extLst xmlns:a="http://schemas.openxmlformats.org/drawingml/2006/main">
              <a:ext uri="{FF2B5EF4-FFF2-40B4-BE49-F238E27FC236}">
                <a16:creationId xmlns:a16="http://schemas.microsoft.com/office/drawing/2014/main" id="{67AFDAFC-2182-4A27-91C5-EC82009C0A41}"/>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10</a:t>
            </a:r>
          </a:p>
        </p:txBody>
      </p:sp>
      <p:sp>
        <p:nvSpPr>
          <p:cNvPr id="3" name="K =">
            <a:extLst xmlns:a="http://schemas.openxmlformats.org/drawingml/2006/main">
              <a:ext uri="{FF2B5EF4-FFF2-40B4-BE49-F238E27FC236}">
                <a16:creationId xmlns:a16="http://schemas.microsoft.com/office/drawing/2014/main" id="{096B4292-8BBD-4B72-8D27-56BDA668BCD6}"/>
              </a:ext>
            </a:extLst>
          </p:cNvPr>
          <p:cNvSpPr>
            <a:spLocks xmlns:a="http://schemas.openxmlformats.org/drawingml/2006/main" noGrp="1"/>
          </p:cNvSpPr>
          <p:nvPr/>
        </p:nvSpPr>
        <p:spPr>
          <a:xfrm xmlns:a="http://schemas.openxmlformats.org/drawingml/2006/main">
            <a:off x="762000" y="1790700"/>
            <a:ext cx="1047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625" b="1">
                <a:solidFill>
                  <a:srgbClr val="00539F"/>
                </a:solidFill>
                <a:latin typeface="Arial"/>
                <a:ea typeface="Arial"/>
                <a:cs typeface="Arial"/>
              </a:defRPr>
            </a:pPr>
            <a:r>
              <a:rPr sz="2625" b="1">
                <a:solidFill>
                  <a:srgbClr val="00539F"/>
                </a:solidFill>
                <a:latin typeface="Arial"/>
                <a:ea typeface="Arial"/>
                <a:cs typeface="Arial"/>
              </a:rPr>
              <a:t>K =</a:t>
            </a:r>
          </a:p>
        </p:txBody>
      </p:sp>
      <p:sp>
        <p:nvSpPr>
          <p:cNvPr id="4" name="[">
            <a:extLst xmlns:a="http://schemas.openxmlformats.org/drawingml/2006/main">
              <a:ext uri="{FF2B5EF4-FFF2-40B4-BE49-F238E27FC236}">
                <a16:creationId xmlns:a16="http://schemas.microsoft.com/office/drawing/2014/main" id="{76893ABD-C4CA-4B4A-B98A-2687B191BA39}"/>
              </a:ext>
            </a:extLst>
          </p:cNvPr>
          <p:cNvSpPr>
            <a:spLocks xmlns:a="http://schemas.openxmlformats.org/drawingml/2006/main" noGrp="1"/>
          </p:cNvSpPr>
          <p:nvPr/>
        </p:nvSpPr>
        <p:spPr>
          <a:xfrm xmlns:a="http://schemas.openxmlformats.org/drawingml/2006/main">
            <a:off x="1857375" y="1219200"/>
            <a:ext cx="428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0275" b="0">
                <a:solidFill>
                  <a:srgbClr val="00539F"/>
                </a:solidFill>
                <a:latin typeface="Arial"/>
                <a:ea typeface="Arial"/>
                <a:cs typeface="Arial"/>
              </a:defRPr>
            </a:pPr>
            <a:r>
              <a:rPr sz="10275" b="0">
                <a:solidFill>
                  <a:srgbClr val="00539F"/>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295B9C2A-1CE2-46C6-93E4-4E27B0FB7CCB}"/>
              </a:ext>
            </a:extLst>
          </p:cNvPr>
          <p:cNvSpPr>
            <a:spLocks xmlns:a="http://schemas.openxmlformats.org/drawingml/2006/main" noGrp="1"/>
          </p:cNvSpPr>
          <p:nvPr/>
        </p:nvSpPr>
        <p:spPr>
          <a:xfrm xmlns:a="http://schemas.openxmlformats.org/drawingml/2006/main">
            <a:off x="4714875" y="1219200"/>
            <a:ext cx="428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0275" b="0">
                <a:solidFill>
                  <a:srgbClr val="00539F"/>
                </a:solidFill>
                <a:latin typeface="Arial"/>
                <a:ea typeface="Arial"/>
                <a:cs typeface="Arial"/>
              </a:defRPr>
            </a:pPr>
            <a:r>
              <a:rPr sz="10275" b="0">
                <a:solidFill>
                  <a:srgbClr val="00539F"/>
                </a:solidFill>
                <a:latin typeface="Arial"/>
                <a:ea typeface="Arial"/>
                <a:cs typeface="Arial"/>
              </a:rPr>
              <a:t>]</a:t>
            </a:r>
          </a:p>
        </p:txBody>
      </p:sp>
      <p:sp>
        <p:nvSpPr>
          <p:cNvPr id="6" name="fₓ">
            <a:extLst xmlns:a="http://schemas.openxmlformats.org/drawingml/2006/main">
              <a:ext uri="{FF2B5EF4-FFF2-40B4-BE49-F238E27FC236}">
                <a16:creationId xmlns:a16="http://schemas.microsoft.com/office/drawing/2014/main" id="{B2140966-B405-4291-99C0-4AC7BF4A5785}"/>
              </a:ext>
            </a:extLst>
          </p:cNvPr>
          <p:cNvSpPr>
            <a:spLocks xmlns:a="http://schemas.openxmlformats.org/drawingml/2006/main" noGrp="1"/>
          </p:cNvSpPr>
          <p:nvPr/>
        </p:nvSpPr>
        <p:spPr>
          <a:xfrm xmlns:a="http://schemas.openxmlformats.org/drawingml/2006/main">
            <a:off x="2381250" y="1600200"/>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fₓ</a:t>
            </a:r>
          </a:p>
        </p:txBody>
      </p:sp>
      <p:sp>
        <p:nvSpPr>
          <p:cNvPr id="7" name="0">
            <a:extLst xmlns:a="http://schemas.openxmlformats.org/drawingml/2006/main">
              <a:ext uri="{FF2B5EF4-FFF2-40B4-BE49-F238E27FC236}">
                <a16:creationId xmlns:a16="http://schemas.microsoft.com/office/drawing/2014/main" id="{EE7FCE2F-BEF6-4005-A1F0-E43A8CC5CD78}"/>
              </a:ext>
            </a:extLst>
          </p:cNvPr>
          <p:cNvSpPr>
            <a:spLocks xmlns:a="http://schemas.openxmlformats.org/drawingml/2006/main" noGrp="1"/>
          </p:cNvSpPr>
          <p:nvPr/>
        </p:nvSpPr>
        <p:spPr>
          <a:xfrm xmlns:a="http://schemas.openxmlformats.org/drawingml/2006/main">
            <a:off x="3190875" y="1600200"/>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0</a:t>
            </a:r>
          </a:p>
        </p:txBody>
      </p:sp>
      <p:sp>
        <p:nvSpPr>
          <p:cNvPr id="8" name="cₓ">
            <a:extLst xmlns:a="http://schemas.openxmlformats.org/drawingml/2006/main">
              <a:ext uri="{FF2B5EF4-FFF2-40B4-BE49-F238E27FC236}">
                <a16:creationId xmlns:a16="http://schemas.microsoft.com/office/drawing/2014/main" id="{FEA4A65F-8847-4C2F-8EF7-153C78200D16}"/>
              </a:ext>
            </a:extLst>
          </p:cNvPr>
          <p:cNvSpPr>
            <a:spLocks xmlns:a="http://schemas.openxmlformats.org/drawingml/2006/main" noGrp="1"/>
          </p:cNvSpPr>
          <p:nvPr/>
        </p:nvSpPr>
        <p:spPr>
          <a:xfrm xmlns:a="http://schemas.openxmlformats.org/drawingml/2006/main">
            <a:off x="4000500" y="1600200"/>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cₓ</a:t>
            </a:r>
          </a:p>
        </p:txBody>
      </p:sp>
      <p:sp>
        <p:nvSpPr>
          <p:cNvPr id="9" name="0">
            <a:extLst xmlns:a="http://schemas.openxmlformats.org/drawingml/2006/main">
              <a:ext uri="{FF2B5EF4-FFF2-40B4-BE49-F238E27FC236}">
                <a16:creationId xmlns:a16="http://schemas.microsoft.com/office/drawing/2014/main" id="{5038FAAC-1615-4DC1-A137-5FCED9FA3F07}"/>
              </a:ext>
            </a:extLst>
          </p:cNvPr>
          <p:cNvSpPr>
            <a:spLocks xmlns:a="http://schemas.openxmlformats.org/drawingml/2006/main" noGrp="1"/>
          </p:cNvSpPr>
          <p:nvPr/>
        </p:nvSpPr>
        <p:spPr>
          <a:xfrm xmlns:a="http://schemas.openxmlformats.org/drawingml/2006/main">
            <a:off x="2381250" y="2066925"/>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0</a:t>
            </a:r>
          </a:p>
        </p:txBody>
      </p:sp>
      <p:sp>
        <p:nvSpPr>
          <p:cNvPr id="10" name="fᵧ">
            <a:extLst xmlns:a="http://schemas.openxmlformats.org/drawingml/2006/main">
              <a:ext uri="{FF2B5EF4-FFF2-40B4-BE49-F238E27FC236}">
                <a16:creationId xmlns:a16="http://schemas.microsoft.com/office/drawing/2014/main" id="{9B15AB15-98A6-476E-93E4-CBD2AC9238CA}"/>
              </a:ext>
            </a:extLst>
          </p:cNvPr>
          <p:cNvSpPr>
            <a:spLocks xmlns:a="http://schemas.openxmlformats.org/drawingml/2006/main" noGrp="1"/>
          </p:cNvSpPr>
          <p:nvPr/>
        </p:nvSpPr>
        <p:spPr>
          <a:xfrm xmlns:a="http://schemas.openxmlformats.org/drawingml/2006/main">
            <a:off x="3190875" y="2066925"/>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fᵧ</a:t>
            </a:r>
          </a:p>
        </p:txBody>
      </p:sp>
      <p:sp>
        <p:nvSpPr>
          <p:cNvPr id="11" name="cᵧ">
            <a:extLst xmlns:a="http://schemas.openxmlformats.org/drawingml/2006/main">
              <a:ext uri="{FF2B5EF4-FFF2-40B4-BE49-F238E27FC236}">
                <a16:creationId xmlns:a16="http://schemas.microsoft.com/office/drawing/2014/main" id="{C656653F-4127-4F2F-82FF-8C6C7FFB8018}"/>
              </a:ext>
            </a:extLst>
          </p:cNvPr>
          <p:cNvSpPr>
            <a:spLocks xmlns:a="http://schemas.openxmlformats.org/drawingml/2006/main" noGrp="1"/>
          </p:cNvSpPr>
          <p:nvPr/>
        </p:nvSpPr>
        <p:spPr>
          <a:xfrm xmlns:a="http://schemas.openxmlformats.org/drawingml/2006/main">
            <a:off x="4000500" y="2066925"/>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cᵧ</a:t>
            </a:r>
          </a:p>
        </p:txBody>
      </p:sp>
      <p:sp>
        <p:nvSpPr>
          <p:cNvPr id="12" name="0">
            <a:extLst xmlns:a="http://schemas.openxmlformats.org/drawingml/2006/main">
              <a:ext uri="{FF2B5EF4-FFF2-40B4-BE49-F238E27FC236}">
                <a16:creationId xmlns:a16="http://schemas.microsoft.com/office/drawing/2014/main" id="{6E6D49E8-203D-44FB-91E1-13F89A98CD26}"/>
              </a:ext>
            </a:extLst>
          </p:cNvPr>
          <p:cNvSpPr>
            <a:spLocks xmlns:a="http://schemas.openxmlformats.org/drawingml/2006/main" noGrp="1"/>
          </p:cNvSpPr>
          <p:nvPr/>
        </p:nvSpPr>
        <p:spPr>
          <a:xfrm xmlns:a="http://schemas.openxmlformats.org/drawingml/2006/main">
            <a:off x="2381250" y="2533650"/>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0</a:t>
            </a:r>
          </a:p>
        </p:txBody>
      </p:sp>
      <p:sp>
        <p:nvSpPr>
          <p:cNvPr id="13" name="0">
            <a:extLst xmlns:a="http://schemas.openxmlformats.org/drawingml/2006/main">
              <a:ext uri="{FF2B5EF4-FFF2-40B4-BE49-F238E27FC236}">
                <a16:creationId xmlns:a16="http://schemas.microsoft.com/office/drawing/2014/main" id="{7B55355A-D6A7-4AB9-959D-8DEE477811EA}"/>
              </a:ext>
            </a:extLst>
          </p:cNvPr>
          <p:cNvSpPr>
            <a:spLocks xmlns:a="http://schemas.openxmlformats.org/drawingml/2006/main" noGrp="1"/>
          </p:cNvSpPr>
          <p:nvPr/>
        </p:nvSpPr>
        <p:spPr>
          <a:xfrm xmlns:a="http://schemas.openxmlformats.org/drawingml/2006/main">
            <a:off x="3190875" y="2533650"/>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0</a:t>
            </a:r>
          </a:p>
        </p:txBody>
      </p:sp>
      <p:sp>
        <p:nvSpPr>
          <p:cNvPr id="14" name="1">
            <a:extLst xmlns:a="http://schemas.openxmlformats.org/drawingml/2006/main">
              <a:ext uri="{FF2B5EF4-FFF2-40B4-BE49-F238E27FC236}">
                <a16:creationId xmlns:a16="http://schemas.microsoft.com/office/drawing/2014/main" id="{1CE9D168-DBB5-422D-8FA8-5CBC785859F0}"/>
              </a:ext>
            </a:extLst>
          </p:cNvPr>
          <p:cNvSpPr>
            <a:spLocks xmlns:a="http://schemas.openxmlformats.org/drawingml/2006/main" noGrp="1"/>
          </p:cNvSpPr>
          <p:nvPr/>
        </p:nvSpPr>
        <p:spPr>
          <a:xfrm xmlns:a="http://schemas.openxmlformats.org/drawingml/2006/main">
            <a:off x="4000500" y="2533650"/>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1</a:t>
            </a:r>
          </a:p>
        </p:txBody>
      </p:sp>
      <p:sp>
        <p:nvSpPr>
          <p:cNvPr id="15" name="u = fₓ X/Z + cₓ     v = fᵧ Y/Z + cᵧ">
            <a:extLst xmlns:a="http://schemas.openxmlformats.org/drawingml/2006/main">
              <a:ext uri="{FF2B5EF4-FFF2-40B4-BE49-F238E27FC236}">
                <a16:creationId xmlns:a16="http://schemas.microsoft.com/office/drawing/2014/main" id="{96D8BC99-84D1-433C-94FF-C8928AD09459}"/>
              </a:ext>
            </a:extLst>
          </p:cNvPr>
          <p:cNvSpPr>
            <a:spLocks xmlns:a="http://schemas.openxmlformats.org/drawingml/2006/main" noGrp="1"/>
          </p:cNvSpPr>
          <p:nvPr/>
        </p:nvSpPr>
        <p:spPr>
          <a:xfrm xmlns:a="http://schemas.openxmlformats.org/drawingml/2006/main">
            <a:off x="714375" y="3248025"/>
            <a:ext cx="7762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0">
                <a:solidFill>
                  <a:srgbClr val="00539F"/>
                </a:solidFill>
                <a:latin typeface="Arial"/>
                <a:ea typeface="Arial"/>
                <a:cs typeface="Arial"/>
              </a:defRPr>
            </a:pPr>
            <a:r>
              <a:rPr sz="2325" b="0">
                <a:solidFill>
                  <a:srgbClr val="00539F"/>
                </a:solidFill>
                <a:latin typeface="Arial"/>
                <a:ea typeface="Arial"/>
                <a:cs typeface="Arial"/>
              </a:rPr>
              <a:t>u = fₓ X/Z + cₓ     v = fᵧ Y/Z + cᵧ</a:t>
            </a:r>
          </a:p>
        </p:txBody>
      </p:sp>
      <p:sp>
        <p:nvSpPr>
          <p:cNvPr id="16" name="fₓ and fᵧ are focal lengths in pixels.&#10;(cₓ, cᵧ) is the principal ">
            <a:extLst xmlns:a="http://schemas.openxmlformats.org/drawingml/2006/main">
              <a:ext uri="{FF2B5EF4-FFF2-40B4-BE49-F238E27FC236}">
                <a16:creationId xmlns:a16="http://schemas.microsoft.com/office/drawing/2014/main" id="{1149C064-28AB-42A5-872B-3E096952F4D8}"/>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fₓ and fᵧ are focal lengths in pixels.</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(cₓ, cᵧ) is the principal point. The demo assumes zero skew.</a:t>
            </a:r>
          </a:p>
        </p:txBody>
      </p:sp>
      <p:sp>
        <p:nvSpPr>
          <p:cNvPr id="17" name="Intrinsics map normalized rays to pixel coordinates.">
            <a:extLst xmlns:a="http://schemas.openxmlformats.org/drawingml/2006/main">
              <a:ext uri="{FF2B5EF4-FFF2-40B4-BE49-F238E27FC236}">
                <a16:creationId xmlns:a16="http://schemas.microsoft.com/office/drawing/2014/main" id="{EDCBAB4B-1C52-4B5C-B849-953E1B132FFB}"/>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Intrinsics map normalized rays to pixel coordinates.</a:t>
            </a:r>
          </a:p>
        </p:txBody>
      </p:sp>
    </p:spTree>
    <p:extLst>
      <p:ext uri="{BB962C8B-B14F-4D97-AF65-F5344CB8AC3E}">
        <p14:creationId xmlns:p14="http://schemas.microsoft.com/office/powerpoint/2010/main" val="180883889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9" name="Focal length changes the field of view">
            <a:extLst xmlns:a="http://schemas.openxmlformats.org/drawingml/2006/main">
              <a:ext uri="{FF2B5EF4-FFF2-40B4-BE49-F238E27FC236}">
                <a16:creationId xmlns:a16="http://schemas.microsoft.com/office/drawing/2014/main" id="{09DE544E-EF88-4F0C-BC7A-B563193223E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Focal length changes the field of view</a:t>
            </a:r>
          </a:p>
        </p:txBody>
      </p:sp>
      <p:sp>
        <p:nvSpPr>
          <p:cNvPr id="2" name="11">
            <a:extLst xmlns:a="http://schemas.openxmlformats.org/drawingml/2006/main">
              <a:ext uri="{FF2B5EF4-FFF2-40B4-BE49-F238E27FC236}">
                <a16:creationId xmlns:a16="http://schemas.microsoft.com/office/drawing/2014/main" id="{404E0EAF-658A-4AE8-A873-4076B102C7E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85b39873b244197"/>
          <a:stretch xmlns:a="http://schemas.openxmlformats.org/drawingml/2006/main"/>
        </p:blipFill>
        <p:spPr>
          <a:xfrm xmlns:a="http://schemas.openxmlformats.org/drawingml/2006/main">
            <a:off x="523875" y="1354972"/>
            <a:ext cx="3857625" cy="2281157"/>
          </a:xfrm>
          <a:prstGeom xmlns:a="http://schemas.openxmlformats.org/drawingml/2006/main" prst="rect">
            <a:avLst/>
          </a:prstGeom>
        </p:spPr>
      </p:pic>
      <p:sp>
        <p:nvSpPr>
          <p:cNvPr id="4" name="fₓ = fᵧ = 600 px">
            <a:extLst xmlns:a="http://schemas.openxmlformats.org/drawingml/2006/main">
              <a:ext uri="{FF2B5EF4-FFF2-40B4-BE49-F238E27FC236}">
                <a16:creationId xmlns:a16="http://schemas.microsoft.com/office/drawing/2014/main" id="{AED1CDF8-730E-4931-934C-609D6F55CF28}"/>
              </a:ext>
            </a:extLst>
          </p:cNvPr>
          <p:cNvSpPr>
            <a:spLocks xmlns:a="http://schemas.openxmlformats.org/drawingml/2006/main" noGrp="1"/>
          </p:cNvSpPr>
          <p:nvPr/>
        </p:nvSpPr>
        <p:spPr>
          <a:xfrm xmlns:a="http://schemas.openxmlformats.org/drawingml/2006/main">
            <a:off x="523875" y="3562350"/>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fₓ = fᵧ = 600 px</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5628827287e41f6"/>
          <a:stretch xmlns:a="http://schemas.openxmlformats.org/drawingml/2006/main"/>
        </p:blipFill>
        <p:spPr>
          <a:xfrm xmlns:a="http://schemas.openxmlformats.org/drawingml/2006/main">
            <a:off x="4762500" y="1354972"/>
            <a:ext cx="3857625" cy="2281157"/>
          </a:xfrm>
          <a:prstGeom xmlns:a="http://schemas.openxmlformats.org/drawingml/2006/main" prst="rect">
            <a:avLst/>
          </a:prstGeom>
        </p:spPr>
      </p:pic>
      <p:sp>
        <p:nvSpPr>
          <p:cNvPr id="6" name="fₓ = fᵧ = 1200 px">
            <a:extLst xmlns:a="http://schemas.openxmlformats.org/drawingml/2006/main">
              <a:ext uri="{FF2B5EF4-FFF2-40B4-BE49-F238E27FC236}">
                <a16:creationId xmlns:a16="http://schemas.microsoft.com/office/drawing/2014/main" id="{1F5ACA2E-47F0-4392-85D2-2603D98D6ADB}"/>
              </a:ext>
            </a:extLst>
          </p:cNvPr>
          <p:cNvSpPr>
            <a:spLocks xmlns:a="http://schemas.openxmlformats.org/drawingml/2006/main" noGrp="1"/>
          </p:cNvSpPr>
          <p:nvPr/>
        </p:nvSpPr>
        <p:spPr>
          <a:xfrm xmlns:a="http://schemas.openxmlformats.org/drawingml/2006/main">
            <a:off x="4762500" y="3562350"/>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fₓ = fᵧ = 1200 px</a:t>
            </a:r>
          </a:p>
        </p:txBody>
      </p:sp>
      <p:sp>
        <p:nvSpPr>
          <p:cNvPr id="7" name="Same 800 × 500 image and fixed camera pose.&#10;For a centred pinhole">
            <a:extLst xmlns:a="http://schemas.openxmlformats.org/drawingml/2006/main">
              <a:ext uri="{FF2B5EF4-FFF2-40B4-BE49-F238E27FC236}">
                <a16:creationId xmlns:a16="http://schemas.microsoft.com/office/drawing/2014/main" id="{C2EFA642-CDF1-4B55-B007-EB7ACAB31209}"/>
              </a:ext>
            </a:extLst>
          </p:cNvPr>
          <p:cNvSpPr>
            <a:spLocks xmlns:a="http://schemas.openxmlformats.org/drawingml/2006/main" noGrp="1"/>
          </p:cNvSpPr>
          <p:nvPr/>
        </p:nvSpPr>
        <p:spPr>
          <a:xfrm xmlns:a="http://schemas.openxmlformats.org/drawingml/2006/main">
            <a:off x="523875" y="3905250"/>
            <a:ext cx="809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Same 800 × 500 image and fixed camera pose.</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For a centred pinhole: FOVₓ = 2 atan(W / 2fₓ).</a:t>
            </a:r>
          </a:p>
        </p:txBody>
      </p:sp>
      <p:sp>
        <p:nvSpPr>
          <p:cNvPr id="8" name="Doubling focal length magnifies the scene and narrows the view.">
            <a:extLst xmlns:a="http://schemas.openxmlformats.org/drawingml/2006/main">
              <a:ext uri="{FF2B5EF4-FFF2-40B4-BE49-F238E27FC236}">
                <a16:creationId xmlns:a16="http://schemas.microsoft.com/office/drawing/2014/main" id="{DBA82C27-5C3D-4539-8914-9C18F395EB74}"/>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Doubling focal length magnifies the scene and narrows the view.</a:t>
            </a:r>
          </a:p>
        </p:txBody>
      </p:sp>
    </p:spTree>
    <p:extLst>
      <p:ext uri="{BB962C8B-B14F-4D97-AF65-F5344CB8AC3E}">
        <p14:creationId xmlns:p14="http://schemas.microsoft.com/office/powerpoint/2010/main" val="180883889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Demo 2: change the camera intrinsics">
            <a:extLst xmlns:a="http://schemas.openxmlformats.org/drawingml/2006/main">
              <a:ext uri="{FF2B5EF4-FFF2-40B4-BE49-F238E27FC236}">
                <a16:creationId xmlns:a16="http://schemas.microsoft.com/office/drawing/2014/main" id="{0EFEFEAC-A9F8-4CB0-A974-D80D0882551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Demo 2: change the camera intrinsics</a:t>
            </a:r>
          </a:p>
        </p:txBody>
      </p:sp>
      <p:sp>
        <p:nvSpPr>
          <p:cNvPr id="2" name="12">
            <a:extLst xmlns:a="http://schemas.openxmlformats.org/drawingml/2006/main">
              <a:ext uri="{FF2B5EF4-FFF2-40B4-BE49-F238E27FC236}">
                <a16:creationId xmlns:a16="http://schemas.microsoft.com/office/drawing/2014/main" id="{FA9D78C4-BC45-4926-A722-C2E8399B1F11}"/>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9cbc227dc4c455f"/>
          <a:stretch xmlns:a="http://schemas.openxmlformats.org/drawingml/2006/main"/>
        </p:blipFill>
        <p:spPr>
          <a:xfrm xmlns:a="http://schemas.openxmlformats.org/drawingml/2006/main">
            <a:off x="883429" y="1400175"/>
            <a:ext cx="4510118" cy="2667000"/>
          </a:xfrm>
          <a:prstGeom xmlns:a="http://schemas.openxmlformats.org/drawingml/2006/main" prst="rect">
            <a:avLst/>
          </a:prstGeom>
        </p:spPr>
      </p:pic>
      <p:sp>
        <p:nvSpPr>
          <p:cNvPr id="4" name="Double fₓ and fᵧ, then reset.&#10;&#10;Change cₓ only. Compare position a">
            <a:extLst xmlns:a="http://schemas.openxmlformats.org/drawingml/2006/main">
              <a:ext uri="{FF2B5EF4-FFF2-40B4-BE49-F238E27FC236}">
                <a16:creationId xmlns:a16="http://schemas.microsoft.com/office/drawing/2014/main" id="{C070F941-BD1D-4F5A-959C-F547BC4D7ECF}"/>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Double fₓ and fᵧ, then reset.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Change cₓ only. Compare position and size.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Change fₓ only. Observe horizontal stretching.</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Predict where (1, 0, 10) m lands.</a:t>
            </a:r>
          </a:p>
        </p:txBody>
      </p:sp>
      <p:sp>
        <p:nvSpPr>
          <p:cNvPr id="5" name="Open interactive demo">
            <a:extLst xmlns:a="http://schemas.openxmlformats.org/drawingml/2006/main">
              <a:ext uri="{FF2B5EF4-FFF2-40B4-BE49-F238E27FC236}">
                <a16:creationId xmlns:a16="http://schemas.microsoft.com/office/drawing/2014/main" id="{E8557F18-8DEA-4B2E-8BC2-14939D08C096}"/>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67cadd2cf20d4950"/>
              </a:rPr>
              <a:t>Open interactive demo</a:t>
            </a:r>
          </a:p>
        </p:txBody>
      </p:sp>
      <p:sp>
        <p:nvSpPr>
          <p:cNvPr id="6" name="Open “2 · Camera”. Baseline point projection: (460, 250) px.">
            <a:extLst xmlns:a="http://schemas.openxmlformats.org/drawingml/2006/main">
              <a:ext uri="{FF2B5EF4-FFF2-40B4-BE49-F238E27FC236}">
                <a16:creationId xmlns:a16="http://schemas.microsoft.com/office/drawing/2014/main" id="{D933674A-8555-437C-8054-5827FF7AF697}"/>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a:hlinkClick xmlns:r="http://schemas.openxmlformats.org/officeDocument/2006/relationships" r:id="R6d5b794902594005"/>
              </a:rPr>
              <a:t>Open “2 · Camera”. Baseline point projection: (460, 250) px.</a:t>
            </a:r>
          </a:p>
        </p:txBody>
      </p:sp>
    </p:spTree>
    <p:extLst>
      <p:ext uri="{BB962C8B-B14F-4D97-AF65-F5344CB8AC3E}">
        <p14:creationId xmlns:p14="http://schemas.microsoft.com/office/powerpoint/2010/main" val="180883889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Distortion, resizing, and cropping">
            <a:extLst xmlns:a="http://schemas.openxmlformats.org/drawingml/2006/main">
              <a:ext uri="{FF2B5EF4-FFF2-40B4-BE49-F238E27FC236}">
                <a16:creationId xmlns:a16="http://schemas.microsoft.com/office/drawing/2014/main" id="{4A890D2D-0850-43F8-B178-C8E57F6C1B1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Distortion, resizing, and cropping</a:t>
            </a:r>
          </a:p>
        </p:txBody>
      </p:sp>
      <p:sp>
        <p:nvSpPr>
          <p:cNvPr id="2" name="13">
            <a:extLst xmlns:a="http://schemas.openxmlformats.org/drawingml/2006/main">
              <a:ext uri="{FF2B5EF4-FFF2-40B4-BE49-F238E27FC236}">
                <a16:creationId xmlns:a16="http://schemas.microsoft.com/office/drawing/2014/main" id="{0E191F49-6AD8-4EAB-87E5-BADAB2A02F0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13</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1d84690d62d4431"/>
          <a:stretch xmlns:a="http://schemas.openxmlformats.org/drawingml/2006/main"/>
        </p:blipFill>
        <p:spPr>
          <a:xfrm xmlns:a="http://schemas.openxmlformats.org/drawingml/2006/main">
            <a:off x="665976" y="1400175"/>
            <a:ext cx="4945022" cy="2924175"/>
          </a:xfrm>
          <a:prstGeom xmlns:a="http://schemas.openxmlformats.org/drawingml/2006/main" prst="rect">
            <a:avLst/>
          </a:prstGeom>
        </p:spPr>
      </p:pic>
      <p:sp>
        <p:nvSpPr>
          <p:cNvPr id="4" name="Radial distortion bends straight lines.&#10;&#10;Resizing by s scales fₓ,">
            <a:extLst xmlns:a="http://schemas.openxmlformats.org/drawingml/2006/main">
              <a:ext uri="{FF2B5EF4-FFF2-40B4-BE49-F238E27FC236}">
                <a16:creationId xmlns:a16="http://schemas.microsoft.com/office/drawing/2014/main" id="{0A3AA527-7075-446F-AB69-43D64B30A708}"/>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Radial distortion bends straight lines.</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Resizing by s scales fₓ, fᵧ, cₓ, and cᵧ.</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Cropping at (x₀, y₀) subtracts that offset from the principal point.</a:t>
            </a:r>
          </a:p>
        </p:txBody>
      </p:sp>
      <p:sp>
        <p:nvSpPr>
          <p:cNvPr id="5" name="The calibration must match the actual image passed to fusion.">
            <a:extLst xmlns:a="http://schemas.openxmlformats.org/drawingml/2006/main">
              <a:ext uri="{FF2B5EF4-FFF2-40B4-BE49-F238E27FC236}">
                <a16:creationId xmlns:a16="http://schemas.microsoft.com/office/drawing/2014/main" id="{D10069F8-70BA-4788-96B6-9873A8175147}"/>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The calibration must match the actual image passed to fusion.</a:t>
            </a:r>
          </a:p>
        </p:txBody>
      </p:sp>
    </p:spTree>
    <p:extLst>
      <p:ext uri="{BB962C8B-B14F-4D97-AF65-F5344CB8AC3E}">
        <p14:creationId xmlns:p14="http://schemas.microsoft.com/office/powerpoint/2010/main" val="18088388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LiDAR measures range along a beam">
            <a:extLst xmlns:a="http://schemas.openxmlformats.org/drawingml/2006/main">
              <a:ext uri="{FF2B5EF4-FFF2-40B4-BE49-F238E27FC236}">
                <a16:creationId xmlns:a16="http://schemas.microsoft.com/office/drawing/2014/main" id="{5B8DFE12-5738-41B8-84F9-CDD2BDD19B1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LiDAR measures range along a beam</a:t>
            </a:r>
          </a:p>
        </p:txBody>
      </p:sp>
      <p:sp>
        <p:nvSpPr>
          <p:cNvPr id="2" name="14">
            <a:extLst xmlns:a="http://schemas.openxmlformats.org/drawingml/2006/main">
              <a:ext uri="{FF2B5EF4-FFF2-40B4-BE49-F238E27FC236}">
                <a16:creationId xmlns:a16="http://schemas.microsoft.com/office/drawing/2014/main" id="{5081BBD0-CB98-48E6-9BF0-C210C9DD567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14</a:t>
            </a:r>
          </a:p>
        </p:txBody>
      </p:sp>
      <p:sp>
        <p:nvSpPr>
          <p:cNvPr id="3" name="r = c Δt / 2">
            <a:extLst xmlns:a="http://schemas.openxmlformats.org/drawingml/2006/main">
              <a:ext uri="{FF2B5EF4-FFF2-40B4-BE49-F238E27FC236}">
                <a16:creationId xmlns:a16="http://schemas.microsoft.com/office/drawing/2014/main" id="{DD38F603-988B-4F4E-ADE7-962A303002C4}"/>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r = c Δt / 2</a:t>
            </a:r>
          </a:p>
        </p:txBody>
      </p:sp>
      <p:sp>
        <p:nvSpPr>
          <p:cNvPr id="4" name="x = r cos φ cos θ">
            <a:extLst xmlns:a="http://schemas.openxmlformats.org/drawingml/2006/main">
              <a:ext uri="{FF2B5EF4-FFF2-40B4-BE49-F238E27FC236}">
                <a16:creationId xmlns:a16="http://schemas.microsoft.com/office/drawing/2014/main" id="{E4FB48C3-DB99-4086-8550-0B0D551F8118}"/>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x = r cos φ cos θ</a:t>
            </a:r>
          </a:p>
        </p:txBody>
      </p:sp>
      <p:sp>
        <p:nvSpPr>
          <p:cNvPr id="5" name="y = r cos φ sin θ     z = r sin φ">
            <a:extLst xmlns:a="http://schemas.openxmlformats.org/drawingml/2006/main">
              <a:ext uri="{FF2B5EF4-FFF2-40B4-BE49-F238E27FC236}">
                <a16:creationId xmlns:a16="http://schemas.microsoft.com/office/drawing/2014/main" id="{291DF44B-F8CD-4680-B50D-A64D3A0406AA}"/>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y = r cos φ sin θ     z = r sin φ</a:t>
            </a:r>
          </a:p>
        </p:txBody>
      </p:sp>
      <p:sp>
        <p:nvSpPr>
          <p:cNvPr id="6" name="Time-of-flight LiDAR measures a round trip.&#10;θ is azimuth. φ is el">
            <a:extLst xmlns:a="http://schemas.openxmlformats.org/drawingml/2006/main">
              <a:ext uri="{FF2B5EF4-FFF2-40B4-BE49-F238E27FC236}">
                <a16:creationId xmlns:a16="http://schemas.microsoft.com/office/drawing/2014/main" id="{C1310390-C238-46E1-9FA9-7E572A63D771}"/>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Time-of-flight LiDAR measures a round trip.</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θ is azimuth. φ is elevation. r is slant range.</a:t>
            </a:r>
          </a:p>
        </p:txBody>
      </p:sp>
      <p:sp>
        <p:nvSpPr>
          <p:cNvPr id="7" name="A point cloud depends on both ranges and beam directions.">
            <a:extLst xmlns:a="http://schemas.openxmlformats.org/drawingml/2006/main">
              <a:ext uri="{FF2B5EF4-FFF2-40B4-BE49-F238E27FC236}">
                <a16:creationId xmlns:a16="http://schemas.microsoft.com/office/drawing/2014/main" id="{9132F271-0090-41AD-BED5-E4646949143B}"/>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A point cloud depends on both ranges and beam directions.</a:t>
            </a:r>
          </a:p>
        </p:txBody>
      </p:sp>
    </p:spTree>
    <p:extLst>
      <p:ext uri="{BB962C8B-B14F-4D97-AF65-F5344CB8AC3E}">
        <p14:creationId xmlns:p14="http://schemas.microsoft.com/office/powerpoint/2010/main" val="18088388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360° scanning and vertical field of view">
            <a:extLst xmlns:a="http://schemas.openxmlformats.org/drawingml/2006/main">
              <a:ext uri="{FF2B5EF4-FFF2-40B4-BE49-F238E27FC236}">
                <a16:creationId xmlns:a16="http://schemas.microsoft.com/office/drawing/2014/main" id="{DBD055CB-4CB7-4B54-9C44-26349B6C4EF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360° scanning and vertical field of view</a:t>
            </a:r>
          </a:p>
        </p:txBody>
      </p:sp>
      <p:sp>
        <p:nvSpPr>
          <p:cNvPr id="2" name="15">
            <a:extLst xmlns:a="http://schemas.openxmlformats.org/drawingml/2006/main">
              <a:ext uri="{FF2B5EF4-FFF2-40B4-BE49-F238E27FC236}">
                <a16:creationId xmlns:a16="http://schemas.microsoft.com/office/drawing/2014/main" id="{4264BBD4-BE40-4567-BC63-C18A98BA3C0F}"/>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15</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17d1f75942f476e"/>
          <a:stretch xmlns:a="http://schemas.openxmlformats.org/drawingml/2006/main"/>
        </p:blipFill>
        <p:spPr>
          <a:xfrm xmlns:a="http://schemas.openxmlformats.org/drawingml/2006/main">
            <a:off x="495300" y="1691839"/>
            <a:ext cx="5286375" cy="2340847"/>
          </a:xfrm>
          <a:prstGeom xmlns:a="http://schemas.openxmlformats.org/drawingml/2006/main" prst="rect">
            <a:avLst/>
          </a:prstGeom>
        </p:spPr>
      </p:pic>
      <p:sp>
        <p:nvSpPr>
          <p:cNvPr id="4" name="Horizontal coverage: 360°&#10;&#10;Upper / lower: +15° / −25°&#10;&#10;Vertical F">
            <a:extLst xmlns:a="http://schemas.openxmlformats.org/drawingml/2006/main">
              <a:ext uri="{FF2B5EF4-FFF2-40B4-BE49-F238E27FC236}">
                <a16:creationId xmlns:a16="http://schemas.microsoft.com/office/drawing/2014/main" id="{603A9922-3C97-4003-B48E-F90038D32C5C}"/>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Horizontal coverage: 360°</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Upper / lower: +15° / −25°</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Vertical FOV: 40°</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Sensor height: 1.8 m</a:t>
            </a:r>
          </a:p>
        </p:txBody>
      </p:sp>
      <p:sp>
        <p:nvSpPr>
          <p:cNvPr id="5" name="The lower beam limit controls near-ground coverage.">
            <a:extLst xmlns:a="http://schemas.openxmlformats.org/drawingml/2006/main">
              <a:ext uri="{FF2B5EF4-FFF2-40B4-BE49-F238E27FC236}">
                <a16:creationId xmlns:a16="http://schemas.microsoft.com/office/drawing/2014/main" id="{0D1382ED-D8BD-46DB-8AB3-F98B485C43E4}"/>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The lower beam limit controls near-ground coverage.</a:t>
            </a:r>
          </a:p>
        </p:txBody>
      </p:sp>
    </p:spTree>
    <p:extLst>
      <p:ext uri="{BB962C8B-B14F-4D97-AF65-F5344CB8AC3E}">
        <p14:creationId xmlns:p14="http://schemas.microsoft.com/office/powerpoint/2010/main" val="180883889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9" name="More beams and wider FOV differ">
            <a:extLst xmlns:a="http://schemas.openxmlformats.org/drawingml/2006/main">
              <a:ext uri="{FF2B5EF4-FFF2-40B4-BE49-F238E27FC236}">
                <a16:creationId xmlns:a16="http://schemas.microsoft.com/office/drawing/2014/main" id="{540469AD-4215-462A-B5CE-08CB109D837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More beams and wider FOV differ</a:t>
            </a:r>
          </a:p>
        </p:txBody>
      </p:sp>
      <p:sp>
        <p:nvSpPr>
          <p:cNvPr id="2" name="16">
            <a:extLst xmlns:a="http://schemas.openxmlformats.org/drawingml/2006/main">
              <a:ext uri="{FF2B5EF4-FFF2-40B4-BE49-F238E27FC236}">
                <a16:creationId xmlns:a16="http://schemas.microsoft.com/office/drawing/2014/main" id="{E024E35A-3023-421B-A9D4-AED4CA7B406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16</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b929b1c8ca440c2"/>
          <a:stretch xmlns:a="http://schemas.openxmlformats.org/drawingml/2006/main"/>
        </p:blipFill>
        <p:spPr>
          <a:xfrm xmlns:a="http://schemas.openxmlformats.org/drawingml/2006/main">
            <a:off x="523875" y="1641457"/>
            <a:ext cx="3857625" cy="1708186"/>
          </a:xfrm>
          <a:prstGeom xmlns:a="http://schemas.openxmlformats.org/drawingml/2006/main" prst="rect">
            <a:avLst/>
          </a:prstGeom>
        </p:spPr>
      </p:pic>
      <p:sp>
        <p:nvSpPr>
          <p:cNvPr id="4" name="16 channels over 40°">
            <a:extLst xmlns:a="http://schemas.openxmlformats.org/drawingml/2006/main">
              <a:ext uri="{FF2B5EF4-FFF2-40B4-BE49-F238E27FC236}">
                <a16:creationId xmlns:a16="http://schemas.microsoft.com/office/drawing/2014/main" id="{60A069D9-7563-4B97-ABC4-06E37BE5B300}"/>
              </a:ext>
            </a:extLst>
          </p:cNvPr>
          <p:cNvSpPr>
            <a:spLocks xmlns:a="http://schemas.openxmlformats.org/drawingml/2006/main" noGrp="1"/>
          </p:cNvSpPr>
          <p:nvPr/>
        </p:nvSpPr>
        <p:spPr>
          <a:xfrm xmlns:a="http://schemas.openxmlformats.org/drawingml/2006/main">
            <a:off x="523875" y="3562350"/>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16 channels over 40°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cd48343c6b840dc"/>
          <a:stretch xmlns:a="http://schemas.openxmlformats.org/drawingml/2006/main"/>
        </p:blipFill>
        <p:spPr>
          <a:xfrm xmlns:a="http://schemas.openxmlformats.org/drawingml/2006/main">
            <a:off x="4762500" y="1641457"/>
            <a:ext cx="3857625" cy="1708186"/>
          </a:xfrm>
          <a:prstGeom xmlns:a="http://schemas.openxmlformats.org/drawingml/2006/main" prst="rect">
            <a:avLst/>
          </a:prstGeom>
        </p:spPr>
      </p:pic>
      <p:sp>
        <p:nvSpPr>
          <p:cNvPr id="6" name="64 channels over 40°">
            <a:extLst xmlns:a="http://schemas.openxmlformats.org/drawingml/2006/main">
              <a:ext uri="{FF2B5EF4-FFF2-40B4-BE49-F238E27FC236}">
                <a16:creationId xmlns:a16="http://schemas.microsoft.com/office/drawing/2014/main" id="{F4938053-7412-4947-A0FD-C7DABA5933C9}"/>
              </a:ext>
            </a:extLst>
          </p:cNvPr>
          <p:cNvSpPr>
            <a:spLocks xmlns:a="http://schemas.openxmlformats.org/drawingml/2006/main" noGrp="1"/>
          </p:cNvSpPr>
          <p:nvPr/>
        </p:nvSpPr>
        <p:spPr>
          <a:xfrm xmlns:a="http://schemas.openxmlformats.org/drawingml/2006/main">
            <a:off x="4762500" y="3562350"/>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64 channels over 40°</a:t>
            </a:r>
          </a:p>
        </p:txBody>
      </p:sp>
      <p:sp>
        <p:nvSpPr>
          <p:cNvPr id="7" name="At fixed vertical FOV, more channels reduce beam spacing.&#10;At fixe">
            <a:extLst xmlns:a="http://schemas.openxmlformats.org/drawingml/2006/main">
              <a:ext uri="{FF2B5EF4-FFF2-40B4-BE49-F238E27FC236}">
                <a16:creationId xmlns:a16="http://schemas.microsoft.com/office/drawing/2014/main" id="{E23431C0-D7A6-429A-A4F4-4A852920CD95}"/>
              </a:ext>
            </a:extLst>
          </p:cNvPr>
          <p:cNvSpPr>
            <a:spLocks xmlns:a="http://schemas.openxmlformats.org/drawingml/2006/main" noGrp="1"/>
          </p:cNvSpPr>
          <p:nvPr/>
        </p:nvSpPr>
        <p:spPr>
          <a:xfrm xmlns:a="http://schemas.openxmlformats.org/drawingml/2006/main">
            <a:off x="523875" y="3905250"/>
            <a:ext cx="809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At fixed vertical FOV, more channels reduce beam spacing.</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At fixed channels, a wider vertical FOV increases spacing.</a:t>
            </a:r>
          </a:p>
        </p:txBody>
      </p:sp>
      <p:sp>
        <p:nvSpPr>
          <p:cNvPr id="8" name="Coverage and angular resolution describe different properties.">
            <a:extLst xmlns:a="http://schemas.openxmlformats.org/drawingml/2006/main">
              <a:ext uri="{FF2B5EF4-FFF2-40B4-BE49-F238E27FC236}">
                <a16:creationId xmlns:a16="http://schemas.microsoft.com/office/drawing/2014/main" id="{D02CD2E3-3D29-4F45-9C95-91B41759AA44}"/>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Coverage and angular resolution describe different properties.</a:t>
            </a:r>
          </a:p>
        </p:txBody>
      </p:sp>
    </p:spTree>
    <p:extLst>
      <p:ext uri="{BB962C8B-B14F-4D97-AF65-F5344CB8AC3E}">
        <p14:creationId xmlns:p14="http://schemas.microsoft.com/office/powerpoint/2010/main" val="180883889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Demo 3: channels and perception at range">
            <a:extLst xmlns:a="http://schemas.openxmlformats.org/drawingml/2006/main">
              <a:ext uri="{FF2B5EF4-FFF2-40B4-BE49-F238E27FC236}">
                <a16:creationId xmlns:a16="http://schemas.microsoft.com/office/drawing/2014/main" id="{E42F3372-F659-45FE-9EBF-E579F128DF8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Demo 3: channels and perception at range</a:t>
            </a:r>
          </a:p>
        </p:txBody>
      </p:sp>
      <p:sp>
        <p:nvSpPr>
          <p:cNvPr id="2" name="17">
            <a:extLst xmlns:a="http://schemas.openxmlformats.org/drawingml/2006/main">
              <a:ext uri="{FF2B5EF4-FFF2-40B4-BE49-F238E27FC236}">
                <a16:creationId xmlns:a16="http://schemas.microsoft.com/office/drawing/2014/main" id="{1119D941-F2F9-49E6-9E73-43F0616396E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092dd4d266448d5"/>
          <a:stretch xmlns:a="http://schemas.openxmlformats.org/drawingml/2006/main"/>
        </p:blipFill>
        <p:spPr>
          <a:xfrm xmlns:a="http://schemas.openxmlformats.org/drawingml/2006/main">
            <a:off x="495300" y="1823297"/>
            <a:ext cx="5286375" cy="1820757"/>
          </a:xfrm>
          <a:prstGeom xmlns:a="http://schemas.openxmlformats.org/drawingml/2006/main" prst="rect">
            <a:avLst/>
          </a:prstGeom>
        </p:spPr>
      </p:pic>
      <p:sp>
        <p:nvSpPr>
          <p:cNvPr id="4" name="Compare 8, 32, and 128 channels at fixed FOV.&#10;&#10;Inspect identical ">
            <a:extLst xmlns:a="http://schemas.openxmlformats.org/drawingml/2006/main">
              <a:ext uri="{FF2B5EF4-FFF2-40B4-BE49-F238E27FC236}">
                <a16:creationId xmlns:a16="http://schemas.microsoft.com/office/drawing/2014/main" id="{D95B3873-C886-4B92-9260-186AD469FE8C}"/>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Compare 8, 32, and 128 channels at fixed FOV.</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Inspect identical targets at 10, 30, and 60 m.</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Increase the horizontal angular step.</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Raise the lower limit to −5° and compare.</a:t>
            </a:r>
          </a:p>
        </p:txBody>
      </p:sp>
      <p:sp>
        <p:nvSpPr>
          <p:cNvPr id="5" name="Open interactive demo">
            <a:extLst xmlns:a="http://schemas.openxmlformats.org/drawingml/2006/main">
              <a:ext uri="{FF2B5EF4-FFF2-40B4-BE49-F238E27FC236}">
                <a16:creationId xmlns:a16="http://schemas.microsoft.com/office/drawing/2014/main" id="{74DAFC10-07DD-41E3-9795-49243AF727FA}"/>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7b3803df527f444f"/>
              </a:rPr>
              <a:t>Open interactive demo</a:t>
            </a:r>
          </a:p>
        </p:txBody>
      </p:sp>
      <p:sp>
        <p:nvSpPr>
          <p:cNvPr id="6" name="Open “3 · LiDAR”. Fewer returns leave less evidence for perceptio">
            <a:extLst xmlns:a="http://schemas.openxmlformats.org/drawingml/2006/main">
              <a:ext uri="{FF2B5EF4-FFF2-40B4-BE49-F238E27FC236}">
                <a16:creationId xmlns:a16="http://schemas.microsoft.com/office/drawing/2014/main" id="{416EA00D-0DA2-45C6-A3A0-BF33ABD53485}"/>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a:hlinkClick xmlns:r="http://schemas.openxmlformats.org/officeDocument/2006/relationships" r:id="Rc930d7d4f60344fd"/>
              </a:rPr>
              <a:t>Open “3 · LiDAR”. Fewer returns leave less evidence for perception.</a:t>
            </a:r>
          </a:p>
        </p:txBody>
      </p:sp>
    </p:spTree>
    <p:extLst>
      <p:ext uri="{BB962C8B-B14F-4D97-AF65-F5344CB8AC3E}">
        <p14:creationId xmlns:p14="http://schemas.microsoft.com/office/powerpoint/2010/main" val="180883889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Intrinsic and extrinsic calibration">
            <a:extLst xmlns:a="http://schemas.openxmlformats.org/drawingml/2006/main">
              <a:ext uri="{FF2B5EF4-FFF2-40B4-BE49-F238E27FC236}">
                <a16:creationId xmlns:a16="http://schemas.microsoft.com/office/drawing/2014/main" id="{36E215C7-42F9-4D03-A077-A4158A5C946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Intrinsic and extrinsic calibration</a:t>
            </a:r>
          </a:p>
        </p:txBody>
      </p:sp>
      <p:sp>
        <p:nvSpPr>
          <p:cNvPr id="2" name="18">
            <a:extLst xmlns:a="http://schemas.openxmlformats.org/drawingml/2006/main">
              <a:ext uri="{FF2B5EF4-FFF2-40B4-BE49-F238E27FC236}">
                <a16:creationId xmlns:a16="http://schemas.microsoft.com/office/drawing/2014/main" id="{5C0E371C-6C64-479F-88D6-DEB70548572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18</a:t>
            </a:r>
          </a:p>
        </p:txBody>
      </p:sp>
      <p:graphicFrame>
        <p:nvGraphicFramePr>
          <p:cNvPr id="7" name=""/>
          <p:cNvGraphicFramePr/>
          <p:nvPr/>
        </p:nvGraphicFramePr>
        <p:xfrm>
          <a:off xmlns:a="http://schemas.openxmlformats.org/drawingml/2006/main" x="523875" y="1438275"/>
          <a:ext xmlns:a="http://schemas.openxmlformats.org/drawingml/2006/main" cx="8096250" cy="2743200"/>
        </p:xfrm>
        <a:graphic xmlns:a="http://schemas.openxmlformats.org/drawingml/2006/main">
          <a:graphicData uri="http://schemas.openxmlformats.org/drawingml/2006/table">
            <a:tbl>
              <a:tblPr/>
              <a:tblGrid>
                <a:gridCol w="1809750"/>
                <a:gridCol w="3143250"/>
                <a:gridCol w="3143250"/>
              </a:tblGrid>
              <a:tr h="548640">
                <a:tc>
                  <a:txBody>
                    <a:bodyPr lIns="114300" tIns="85725" rIns="114300" bIns="85725">
                      <a:noAutofit/>
                    </a:bodyPr>
                    <a:lstStyle/>
                    <a:p>
                      <a:r>
                        <a:rPr sz="1575" b="1">
                          <a:solidFill>
                            <a:srgbClr val="FFFFFF"/>
                          </a:solidFill>
                          <a:latin typeface="Arial"/>
                          <a:ea typeface="Arial"/>
                          <a:cs typeface="Arial"/>
                        </a:rPr>
                        <a:t>Quantity</a:t>
                      </a:r>
                    </a:p>
                  </a:txBody>
                  <a:tcPr marL="91440" marR="91440" marT="45720" marB="45720" anchor="ctr">
                    <a:solidFill>
                      <a:srgbClr val="00539F"/>
                    </a:solidFill>
                  </a:tcPr>
                </a:tc>
                <a:tc>
                  <a:txBody>
                    <a:bodyPr lIns="114300" tIns="85725" rIns="114300" bIns="85725">
                      <a:noAutofit/>
                    </a:bodyPr>
                    <a:lstStyle/>
                    <a:p>
                      <a:r>
                        <a:rPr sz="1575" b="1">
                          <a:solidFill>
                            <a:srgbClr val="FFFFFF"/>
                          </a:solidFill>
                          <a:latin typeface="Arial"/>
                          <a:ea typeface="Arial"/>
                          <a:cs typeface="Arial"/>
                        </a:rPr>
                        <a:t>What it describes</a:t>
                      </a:r>
                    </a:p>
                  </a:txBody>
                  <a:tcPr marL="91440" marR="91440" marT="45720" marB="45720" anchor="ctr">
                    <a:solidFill>
                      <a:srgbClr val="00539F"/>
                    </a:solidFill>
                  </a:tcPr>
                </a:tc>
                <a:tc>
                  <a:txBody>
                    <a:bodyPr lIns="114300" tIns="85725" rIns="114300" bIns="85725">
                      <a:noAutofit/>
                    </a:bodyPr>
                    <a:lstStyle/>
                    <a:p>
                      <a:r>
                        <a:rPr sz="1575" b="1">
                          <a:solidFill>
                            <a:srgbClr val="FFFFFF"/>
                          </a:solidFill>
                          <a:latin typeface="Arial"/>
                          <a:ea typeface="Arial"/>
                          <a:cs typeface="Arial"/>
                        </a:rPr>
                        <a:t>Examples</a:t>
                      </a:r>
                    </a:p>
                  </a:txBody>
                  <a:tcPr marL="91440" marR="91440" marT="45720" marB="45720" anchor="ctr">
                    <a:solidFill>
                      <a:srgbClr val="00539F"/>
                    </a:solidFill>
                  </a:tcPr>
                </a:tc>
              </a:tr>
              <a:tr h="548640">
                <a:tc>
                  <a:txBody>
                    <a:bodyPr lIns="114300" tIns="85725" rIns="114300" bIns="85725">
                      <a:noAutofit/>
                    </a:bodyPr>
                    <a:lstStyle/>
                    <a:p>
                      <a:r>
                        <a:rPr sz="1575" b="0">
                          <a:solidFill>
                            <a:srgbClr val="17324D"/>
                          </a:solidFill>
                          <a:latin typeface="Arial"/>
                          <a:ea typeface="Arial"/>
                          <a:cs typeface="Arial"/>
                        </a:rPr>
                        <a:t>Camera intrinsic</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Pixel formation inside a camera</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K and lens distortion</a:t>
                      </a:r>
                    </a:p>
                  </a:txBody>
                  <a:tcPr marL="91440" marR="91440" marT="45720" marB="45720" anchor="ctr">
                    <a:solidFill>
                      <a:srgbClr val="FFFFFF"/>
                    </a:solidFill>
                  </a:tcPr>
                </a:tc>
              </a:tr>
              <a:tr h="548640">
                <a:tc>
                  <a:txBody>
                    <a:bodyPr lIns="114300" tIns="85725" rIns="114300" bIns="85725">
                      <a:noAutofit/>
                    </a:bodyPr>
                    <a:lstStyle/>
                    <a:p>
                      <a:r>
                        <a:rPr sz="1575" b="0">
                          <a:solidFill>
                            <a:srgbClr val="17324D"/>
                          </a:solidFill>
                          <a:latin typeface="Arial"/>
                          <a:ea typeface="Arial"/>
                          <a:cs typeface="Arial"/>
                        </a:rPr>
                        <a:t>LiDAR intrinsic</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Beam and range model</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Beam angles and offsets</a:t>
                      </a:r>
                    </a:p>
                  </a:txBody>
                  <a:tcPr marL="91440" marR="91440" marT="45720" marB="45720" anchor="ctr">
                    <a:solidFill>
                      <a:srgbClr val="F1F6FA"/>
                    </a:solidFill>
                  </a:tcPr>
                </a:tc>
              </a:tr>
              <a:tr h="548640">
                <a:tc>
                  <a:txBody>
                    <a:bodyPr lIns="114300" tIns="85725" rIns="114300" bIns="85725">
                      <a:noAutofit/>
                    </a:bodyPr>
                    <a:lstStyle/>
                    <a:p>
                      <a:r>
                        <a:rPr sz="1575" b="0">
                          <a:solidFill>
                            <a:srgbClr val="17324D"/>
                          </a:solidFill>
                          <a:latin typeface="Arial"/>
                          <a:ea typeface="Arial"/>
                          <a:cs typeface="Arial"/>
                        </a:rPr>
                        <a:t>Sensor extrinsic</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Rigid pose between sensors</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Rotation R and translation t</a:t>
                      </a:r>
                    </a:p>
                  </a:txBody>
                  <a:tcPr marL="91440" marR="91440" marT="45720" marB="45720" anchor="ctr">
                    <a:solidFill>
                      <a:srgbClr val="FFFFFF"/>
                    </a:solidFill>
                  </a:tcPr>
                </a:tc>
              </a:tr>
              <a:tr h="548640">
                <a:tc>
                  <a:txBody>
                    <a:bodyPr lIns="114300" tIns="85725" rIns="114300" bIns="85725">
                      <a:noAutofit/>
                    </a:bodyPr>
                    <a:lstStyle/>
                    <a:p>
                      <a:r>
                        <a:rPr sz="1575" b="0">
                          <a:solidFill>
                            <a:srgbClr val="17324D"/>
                          </a:solidFill>
                          <a:latin typeface="Arial"/>
                          <a:ea typeface="Arial"/>
                          <a:cs typeface="Arial"/>
                        </a:rPr>
                        <a:t>Time alignment</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When a measurement occurred</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Clock offset and scan timing</a:t>
                      </a:r>
                    </a:p>
                  </a:txBody>
                  <a:tcPr marL="91440" marR="91440" marT="45720" marB="45720" anchor="ctr">
                    <a:solidFill>
                      <a:srgbClr val="F1F6FA"/>
                    </a:solidFill>
                  </a:tcPr>
                </a:tc>
              </a:tr>
            </a:tbl>
          </a:graphicData>
        </a:graphic>
      </p:graphicFrame>
      <p:sp>
        <p:nvSpPr>
          <p:cNvPr id="4" name="Changing a sensor mount changes extrinsics even if K stays the sa">
            <a:extLst xmlns:a="http://schemas.openxmlformats.org/drawingml/2006/main">
              <a:ext uri="{FF2B5EF4-FFF2-40B4-BE49-F238E27FC236}">
                <a16:creationId xmlns:a16="http://schemas.microsoft.com/office/drawing/2014/main" id="{536EE403-4122-417F-898D-FE13DD32202C}"/>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Changing a sensor mount changes extrinsics even if K stays the same.</a:t>
            </a:r>
          </a:p>
        </p:txBody>
      </p:sp>
    </p:spTree>
    <p:extLst>
      <p:ext uri="{BB962C8B-B14F-4D97-AF65-F5344CB8AC3E}">
        <p14:creationId xmlns:p14="http://schemas.microsoft.com/office/powerpoint/2010/main" val="180883889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Why a checkerboard works">
            <a:extLst xmlns:a="http://schemas.openxmlformats.org/drawingml/2006/main">
              <a:ext uri="{FF2B5EF4-FFF2-40B4-BE49-F238E27FC236}">
                <a16:creationId xmlns:a16="http://schemas.microsoft.com/office/drawing/2014/main" id="{ADDBB6F7-CAFB-4827-8744-DCAD9DB34DE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Why a checkerboard works</a:t>
            </a:r>
          </a:p>
        </p:txBody>
      </p:sp>
      <p:sp>
        <p:nvSpPr>
          <p:cNvPr id="2" name="19">
            <a:extLst xmlns:a="http://schemas.openxmlformats.org/drawingml/2006/main">
              <a:ext uri="{FF2B5EF4-FFF2-40B4-BE49-F238E27FC236}">
                <a16:creationId xmlns:a16="http://schemas.microsoft.com/office/drawing/2014/main" id="{59435AFA-53A7-4A02-9670-40AD8A5193B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36757a7d2a34a90"/>
          <a:stretch xmlns:a="http://schemas.openxmlformats.org/drawingml/2006/main"/>
        </p:blipFill>
        <p:spPr>
          <a:xfrm xmlns:a="http://schemas.openxmlformats.org/drawingml/2006/main">
            <a:off x="665976" y="1400175"/>
            <a:ext cx="4945022" cy="2924175"/>
          </a:xfrm>
          <a:prstGeom xmlns:a="http://schemas.openxmlformats.org/drawingml/2006/main" prst="rect">
            <a:avLst/>
          </a:prstGeom>
        </p:spPr>
      </p:pic>
      <p:sp>
        <p:nvSpPr>
          <p:cNvPr id="4" name="Known square size defines 3D board points.&#10;&#10;High-contrast interse">
            <a:extLst xmlns:a="http://schemas.openxmlformats.org/drawingml/2006/main">
              <a:ext uri="{FF2B5EF4-FFF2-40B4-BE49-F238E27FC236}">
                <a16:creationId xmlns:a16="http://schemas.microsoft.com/office/drawing/2014/main" id="{FEF36792-C4D1-4E01-AF09-1CA70CBF7A19}"/>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Known square size defines 3D board points.</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High-contrast intersections give repeatable image corners.</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9 × 6 inner corners require 10 × 7 squares.</a:t>
            </a:r>
          </a:p>
        </p:txBody>
      </p:sp>
      <p:sp>
        <p:nvSpPr>
          <p:cNvPr id="5" name="Each detected corner pairs a known board point with a measured pi">
            <a:extLst xmlns:a="http://schemas.openxmlformats.org/drawingml/2006/main">
              <a:ext uri="{FF2B5EF4-FFF2-40B4-BE49-F238E27FC236}">
                <a16:creationId xmlns:a16="http://schemas.microsoft.com/office/drawing/2014/main" id="{5ACFA8C0-2F4F-4E1D-9816-616F5204B371}"/>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Each detected corner pairs a known board point with a measured pixel.</a:t>
            </a:r>
          </a:p>
        </p:txBody>
      </p:sp>
    </p:spTree>
    <p:extLst>
      <p:ext uri="{BB962C8B-B14F-4D97-AF65-F5344CB8AC3E}">
        <p14:creationId xmlns:p14="http://schemas.microsoft.com/office/powerpoint/2010/main" val="180883889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2" name="A camera calibration workflow">
            <a:extLst xmlns:a="http://schemas.openxmlformats.org/drawingml/2006/main">
              <a:ext uri="{FF2B5EF4-FFF2-40B4-BE49-F238E27FC236}">
                <a16:creationId xmlns:a16="http://schemas.microsoft.com/office/drawing/2014/main" id="{CEEC2709-8AF9-4ACF-97E1-D095419AA51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camera calibration workflow</a:t>
            </a:r>
          </a:p>
        </p:txBody>
      </p:sp>
      <p:sp>
        <p:nvSpPr>
          <p:cNvPr id="2" name="20">
            <a:extLst xmlns:a="http://schemas.openxmlformats.org/drawingml/2006/main">
              <a:ext uri="{FF2B5EF4-FFF2-40B4-BE49-F238E27FC236}">
                <a16:creationId xmlns:a16="http://schemas.microsoft.com/office/drawing/2014/main" id="{CD0B1AF3-77B1-4877-B392-8DA38762341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20</a:t>
            </a:r>
          </a:p>
        </p:txBody>
      </p:sp>
      <p:sp>
        <p:nvSpPr>
          <p:cNvPr id="3" name="1">
            <a:extLst xmlns:a="http://schemas.openxmlformats.org/drawingml/2006/main">
              <a:ext uri="{FF2B5EF4-FFF2-40B4-BE49-F238E27FC236}">
                <a16:creationId xmlns:a16="http://schemas.microsoft.com/office/drawing/2014/main" id="{84E8BF7A-3C38-4390-B936-5000E944B6D2}"/>
              </a:ext>
            </a:extLst>
          </p:cNvPr>
          <p:cNvSpPr>
            <a:spLocks xmlns:a="http://schemas.openxmlformats.org/drawingml/2006/main" noGrp="1"/>
          </p:cNvSpPr>
          <p:nvPr/>
        </p:nvSpPr>
        <p:spPr>
          <a:xfrm xmlns:a="http://schemas.openxmlformats.org/drawingml/2006/main">
            <a:off x="523875" y="1447800"/>
            <a:ext cx="33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1</a:t>
            </a:r>
          </a:p>
        </p:txBody>
      </p:sp>
      <p:sp>
        <p:nvSpPr>
          <p:cNvPr id="4" name="Capture a rigid, flat target at varied tilts, distances, and imag">
            <a:extLst xmlns:a="http://schemas.openxmlformats.org/drawingml/2006/main">
              <a:ext uri="{FF2B5EF4-FFF2-40B4-BE49-F238E27FC236}">
                <a16:creationId xmlns:a16="http://schemas.microsoft.com/office/drawing/2014/main" id="{1B9A5116-E96F-4777-882C-2517C08DD914}"/>
              </a:ext>
            </a:extLst>
          </p:cNvPr>
          <p:cNvSpPr>
            <a:spLocks xmlns:a="http://schemas.openxmlformats.org/drawingml/2006/main" noGrp="1"/>
          </p:cNvSpPr>
          <p:nvPr/>
        </p:nvSpPr>
        <p:spPr>
          <a:xfrm xmlns:a="http://schemas.openxmlformats.org/drawingml/2006/main">
            <a:off x="1000125" y="1447800"/>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Capture a rigid, flat target at varied tilts, distances, and image locations.</a:t>
            </a:r>
          </a:p>
        </p:txBody>
      </p:sp>
      <p:sp>
        <p:nvSpPr>
          <p:cNvPr id="5" name="2">
            <a:extLst xmlns:a="http://schemas.openxmlformats.org/drawingml/2006/main">
              <a:ext uri="{FF2B5EF4-FFF2-40B4-BE49-F238E27FC236}">
                <a16:creationId xmlns:a16="http://schemas.microsoft.com/office/drawing/2014/main" id="{FE33F7F0-2DF8-467E-B2D3-C788B1F5DFB8}"/>
              </a:ext>
            </a:extLst>
          </p:cNvPr>
          <p:cNvSpPr>
            <a:spLocks xmlns:a="http://schemas.openxmlformats.org/drawingml/2006/main" noGrp="1"/>
          </p:cNvSpPr>
          <p:nvPr/>
        </p:nvSpPr>
        <p:spPr>
          <a:xfrm xmlns:a="http://schemas.openxmlformats.org/drawingml/2006/main">
            <a:off x="523875" y="2114550"/>
            <a:ext cx="33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2</a:t>
            </a:r>
          </a:p>
        </p:txBody>
      </p:sp>
      <p:sp>
        <p:nvSpPr>
          <p:cNvPr id="6" name="Detect inner corners and refine their pixel positions.">
            <a:extLst xmlns:a="http://schemas.openxmlformats.org/drawingml/2006/main">
              <a:ext uri="{FF2B5EF4-FFF2-40B4-BE49-F238E27FC236}">
                <a16:creationId xmlns:a16="http://schemas.microsoft.com/office/drawing/2014/main" id="{BEB89837-FD6D-4DDF-96CA-9A42EBA32C62}"/>
              </a:ext>
            </a:extLst>
          </p:cNvPr>
          <p:cNvSpPr>
            <a:spLocks xmlns:a="http://schemas.openxmlformats.org/drawingml/2006/main" noGrp="1"/>
          </p:cNvSpPr>
          <p:nvPr/>
        </p:nvSpPr>
        <p:spPr>
          <a:xfrm xmlns:a="http://schemas.openxmlformats.org/drawingml/2006/main">
            <a:off x="1000125" y="2114550"/>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Detect inner corners and refine their pixel positions.</a:t>
            </a:r>
          </a:p>
        </p:txBody>
      </p:sp>
      <p:sp>
        <p:nvSpPr>
          <p:cNvPr id="7" name="3">
            <a:extLst xmlns:a="http://schemas.openxmlformats.org/drawingml/2006/main">
              <a:ext uri="{FF2B5EF4-FFF2-40B4-BE49-F238E27FC236}">
                <a16:creationId xmlns:a16="http://schemas.microsoft.com/office/drawing/2014/main" id="{3A6437FE-83F0-415A-973D-509D6D5E9802}"/>
              </a:ext>
            </a:extLst>
          </p:cNvPr>
          <p:cNvSpPr>
            <a:spLocks xmlns:a="http://schemas.openxmlformats.org/drawingml/2006/main" noGrp="1"/>
          </p:cNvSpPr>
          <p:nvPr/>
        </p:nvSpPr>
        <p:spPr>
          <a:xfrm xmlns:a="http://schemas.openxmlformats.org/drawingml/2006/main">
            <a:off x="523875" y="2781300"/>
            <a:ext cx="33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3</a:t>
            </a:r>
          </a:p>
        </p:txBody>
      </p:sp>
      <p:sp>
        <p:nvSpPr>
          <p:cNvPr id="8" name="Estimate K, distortion, and a board pose for each view.">
            <a:extLst xmlns:a="http://schemas.openxmlformats.org/drawingml/2006/main">
              <a:ext uri="{FF2B5EF4-FFF2-40B4-BE49-F238E27FC236}">
                <a16:creationId xmlns:a16="http://schemas.microsoft.com/office/drawing/2014/main" id="{A092BD71-21F3-40AC-9A15-47B44FDC54F0}"/>
              </a:ext>
            </a:extLst>
          </p:cNvPr>
          <p:cNvSpPr>
            <a:spLocks xmlns:a="http://schemas.openxmlformats.org/drawingml/2006/main" noGrp="1"/>
          </p:cNvSpPr>
          <p:nvPr/>
        </p:nvSpPr>
        <p:spPr>
          <a:xfrm xmlns:a="http://schemas.openxmlformats.org/drawingml/2006/main">
            <a:off x="1000125" y="2781300"/>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Estimate K, distortion, and a board pose for each view.</a:t>
            </a:r>
          </a:p>
        </p:txBody>
      </p:sp>
      <p:sp>
        <p:nvSpPr>
          <p:cNvPr id="9" name="4">
            <a:extLst xmlns:a="http://schemas.openxmlformats.org/drawingml/2006/main">
              <a:ext uri="{FF2B5EF4-FFF2-40B4-BE49-F238E27FC236}">
                <a16:creationId xmlns:a16="http://schemas.microsoft.com/office/drawing/2014/main" id="{B73E3D01-5DA7-40BB-A3B2-31DDA05D5633}"/>
              </a:ext>
            </a:extLst>
          </p:cNvPr>
          <p:cNvSpPr>
            <a:spLocks xmlns:a="http://schemas.openxmlformats.org/drawingml/2006/main" noGrp="1"/>
          </p:cNvSpPr>
          <p:nvPr/>
        </p:nvSpPr>
        <p:spPr>
          <a:xfrm xmlns:a="http://schemas.openxmlformats.org/drawingml/2006/main">
            <a:off x="523875" y="3448050"/>
            <a:ext cx="33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4</a:t>
            </a:r>
          </a:p>
        </p:txBody>
      </p:sp>
      <p:sp>
        <p:nvSpPr>
          <p:cNvPr id="10" name="Check residuals and straight lines on held-out views.">
            <a:extLst xmlns:a="http://schemas.openxmlformats.org/drawingml/2006/main">
              <a:ext uri="{FF2B5EF4-FFF2-40B4-BE49-F238E27FC236}">
                <a16:creationId xmlns:a16="http://schemas.microsoft.com/office/drawing/2014/main" id="{C4859767-E3C9-424E-9D3F-B7DA4EE8D2C0}"/>
              </a:ext>
            </a:extLst>
          </p:cNvPr>
          <p:cNvSpPr>
            <a:spLocks xmlns:a="http://schemas.openxmlformats.org/drawingml/2006/main" noGrp="1"/>
          </p:cNvSpPr>
          <p:nvPr/>
        </p:nvSpPr>
        <p:spPr>
          <a:xfrm xmlns:a="http://schemas.openxmlformats.org/drawingml/2006/main">
            <a:off x="1000125" y="3448050"/>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Check residuals and straight lines on held-out views.</a:t>
            </a:r>
          </a:p>
        </p:txBody>
      </p:sp>
      <p:sp>
        <p:nvSpPr>
          <p:cNvPr id="11" name="Repeated front-facing images provide weak geometric diversity.">
            <a:extLst xmlns:a="http://schemas.openxmlformats.org/drawingml/2006/main">
              <a:ext uri="{FF2B5EF4-FFF2-40B4-BE49-F238E27FC236}">
                <a16:creationId xmlns:a16="http://schemas.microsoft.com/office/drawing/2014/main" id="{A5BA43AC-320B-4C96-B8FE-E98DA22A32DE}"/>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Repeated front-facing images provide weak geometric diversity.</a:t>
            </a:r>
          </a:p>
        </p:txBody>
      </p:sp>
    </p:spTree>
    <p:extLst>
      <p:ext uri="{BB962C8B-B14F-4D97-AF65-F5344CB8AC3E}">
        <p14:creationId xmlns:p14="http://schemas.microsoft.com/office/powerpoint/2010/main" val="18088388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9" name="Demo 4: corner reprojection error">
            <a:extLst xmlns:a="http://schemas.openxmlformats.org/drawingml/2006/main">
              <a:ext uri="{FF2B5EF4-FFF2-40B4-BE49-F238E27FC236}">
                <a16:creationId xmlns:a16="http://schemas.microsoft.com/office/drawing/2014/main" id="{9E570960-DE1B-4E74-8A21-C609C9213A8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Demo 4: corner reprojection error</a:t>
            </a:r>
          </a:p>
        </p:txBody>
      </p:sp>
      <p:sp>
        <p:nvSpPr>
          <p:cNvPr id="2" name="21">
            <a:extLst xmlns:a="http://schemas.openxmlformats.org/drawingml/2006/main">
              <a:ext uri="{FF2B5EF4-FFF2-40B4-BE49-F238E27FC236}">
                <a16:creationId xmlns:a16="http://schemas.microsoft.com/office/drawing/2014/main" id="{0B2B1D41-2F0D-44F3-AC08-3D4443168A5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c491a7213724ac3"/>
          <a:stretch xmlns:a="http://schemas.openxmlformats.org/drawingml/2006/main"/>
        </p:blipFill>
        <p:spPr>
          <a:xfrm xmlns:a="http://schemas.openxmlformats.org/drawingml/2006/main">
            <a:off x="523875" y="1354972"/>
            <a:ext cx="3857625" cy="2281157"/>
          </a:xfrm>
          <a:prstGeom xmlns:a="http://schemas.openxmlformats.org/drawingml/2006/main" prst="rect">
            <a:avLst/>
          </a:prstGeom>
        </p:spPr>
      </p:pic>
      <p:sp>
        <p:nvSpPr>
          <p:cNvPr id="4" name="Initial estimate: residuals remain">
            <a:extLst xmlns:a="http://schemas.openxmlformats.org/drawingml/2006/main">
              <a:ext uri="{FF2B5EF4-FFF2-40B4-BE49-F238E27FC236}">
                <a16:creationId xmlns:a16="http://schemas.microsoft.com/office/drawing/2014/main" id="{B9B8CC7C-F8D2-4821-AE01-D3E6B7A0A9A1}"/>
              </a:ext>
            </a:extLst>
          </p:cNvPr>
          <p:cNvSpPr>
            <a:spLocks xmlns:a="http://schemas.openxmlformats.org/drawingml/2006/main" noGrp="1"/>
          </p:cNvSpPr>
          <p:nvPr/>
        </p:nvSpPr>
        <p:spPr>
          <a:xfrm xmlns:a="http://schemas.openxmlformats.org/drawingml/2006/main">
            <a:off x="523875" y="3562350"/>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Initial estimate: residuals remain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b61d7e76b6b41aa"/>
          <a:stretch xmlns:a="http://schemas.openxmlformats.org/drawingml/2006/main"/>
        </p:blipFill>
        <p:spPr>
          <a:xfrm xmlns:a="http://schemas.openxmlformats.org/drawingml/2006/main">
            <a:off x="4762500" y="1354972"/>
            <a:ext cx="3857625" cy="2281157"/>
          </a:xfrm>
          <a:prstGeom xmlns:a="http://schemas.openxmlformats.org/drawingml/2006/main" prst="rect">
            <a:avLst/>
          </a:prstGeom>
        </p:spPr>
      </p:pic>
      <p:sp>
        <p:nvSpPr>
          <p:cNvPr id="6" name="Fitted K: corners align">
            <a:extLst xmlns:a="http://schemas.openxmlformats.org/drawingml/2006/main">
              <a:ext uri="{FF2B5EF4-FFF2-40B4-BE49-F238E27FC236}">
                <a16:creationId xmlns:a16="http://schemas.microsoft.com/office/drawing/2014/main" id="{EB0C2EC2-8449-4A66-843F-A29AFD667E23}"/>
              </a:ext>
            </a:extLst>
          </p:cNvPr>
          <p:cNvSpPr>
            <a:spLocks xmlns:a="http://schemas.openxmlformats.org/drawingml/2006/main" noGrp="1"/>
          </p:cNvSpPr>
          <p:nvPr/>
        </p:nvSpPr>
        <p:spPr>
          <a:xfrm xmlns:a="http://schemas.openxmlformats.org/drawingml/2006/main">
            <a:off x="4762500" y="3562350"/>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Fitted K: corners align</a:t>
            </a:r>
          </a:p>
        </p:txBody>
      </p:sp>
      <p:sp>
        <p:nvSpPr>
          <p:cNvPr id="7" name="Adjust focal length and principal point, then choose “Fit K”.&#10;The">
            <a:extLst xmlns:a="http://schemas.openxmlformats.org/drawingml/2006/main">
              <a:ext uri="{FF2B5EF4-FFF2-40B4-BE49-F238E27FC236}">
                <a16:creationId xmlns:a16="http://schemas.microsoft.com/office/drawing/2014/main" id="{91F426B9-1996-4D44-9079-6CB2150F2911}"/>
              </a:ext>
            </a:extLst>
          </p:cNvPr>
          <p:cNvSpPr>
            <a:spLocks xmlns:a="http://schemas.openxmlformats.org/drawingml/2006/main" noGrp="1"/>
          </p:cNvSpPr>
          <p:nvPr/>
        </p:nvSpPr>
        <p:spPr>
          <a:xfrm xmlns:a="http://schemas.openxmlformats.org/drawingml/2006/main">
            <a:off x="523875" y="3905250"/>
            <a:ext cx="809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Adjust focal length and principal point, then choose “Fit K”.</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The demo knows board pose and assumes zero distortion.</a:t>
            </a:r>
          </a:p>
        </p:txBody>
      </p:sp>
      <p:sp>
        <p:nvSpPr>
          <p:cNvPr id="8" name="Open “4 · Checkerboard”. Real calibration also estimates unknown ">
            <a:extLst xmlns:a="http://schemas.openxmlformats.org/drawingml/2006/main">
              <a:ext uri="{FF2B5EF4-FFF2-40B4-BE49-F238E27FC236}">
                <a16:creationId xmlns:a16="http://schemas.microsoft.com/office/drawing/2014/main" id="{79A63FC5-3A0E-4066-91C1-1B55E35E169B}"/>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a:hlinkClick xmlns:r="http://schemas.openxmlformats.org/officeDocument/2006/relationships" r:id="Rcf010da5d81e4115"/>
              </a:rPr>
              <a:t>Open “4 · Checkerboard”. Real calibration also estimates unknown poses.</a:t>
            </a:r>
          </a:p>
        </p:txBody>
      </p:sp>
    </p:spTree>
    <p:extLst>
      <p:ext uri="{BB962C8B-B14F-4D97-AF65-F5344CB8AC3E}">
        <p14:creationId xmlns:p14="http://schemas.microsoft.com/office/powerpoint/2010/main" val="180883889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8" name="A shared target links camera and LiDAR">
            <a:extLst xmlns:a="http://schemas.openxmlformats.org/drawingml/2006/main">
              <a:ext uri="{FF2B5EF4-FFF2-40B4-BE49-F238E27FC236}">
                <a16:creationId xmlns:a16="http://schemas.microsoft.com/office/drawing/2014/main" id="{C6DFFF29-F382-4771-B3A2-302B8DA3C16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shared target links camera and LiDAR</a:t>
            </a:r>
          </a:p>
        </p:txBody>
      </p:sp>
      <p:sp>
        <p:nvSpPr>
          <p:cNvPr id="2" name="22">
            <a:extLst xmlns:a="http://schemas.openxmlformats.org/drawingml/2006/main">
              <a:ext uri="{FF2B5EF4-FFF2-40B4-BE49-F238E27FC236}">
                <a16:creationId xmlns:a16="http://schemas.microsoft.com/office/drawing/2014/main" id="{64F99A63-2FBE-4049-8458-19D89F60BB5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22</a:t>
            </a:r>
          </a:p>
        </p:txBody>
      </p:sp>
      <p:sp>
        <p:nvSpPr>
          <p:cNvPr id="3" name="The camera observes printed corners and estimates the board pose.">
            <a:extLst xmlns:a="http://schemas.openxmlformats.org/drawingml/2006/main">
              <a:ext uri="{FF2B5EF4-FFF2-40B4-BE49-F238E27FC236}">
                <a16:creationId xmlns:a16="http://schemas.microsoft.com/office/drawing/2014/main" id="{3C453703-0836-46FF-9F33-33F57D17C1BF}"/>
              </a:ext>
            </a:extLst>
          </p:cNvPr>
          <p:cNvSpPr>
            <a:spLocks xmlns:a="http://schemas.openxmlformats.org/drawingml/2006/main" noGrp="1"/>
          </p:cNvSpPr>
          <p:nvPr/>
        </p:nvSpPr>
        <p:spPr>
          <a:xfrm xmlns:a="http://schemas.openxmlformats.org/drawingml/2006/main">
            <a:off x="619125" y="144780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The camera observes printed corners and estimates the board pose.</a:t>
            </a:r>
          </a:p>
        </p:txBody>
      </p:sp>
      <p:sp>
        <p:nvSpPr>
          <p:cNvPr id="4" name="LiDAR returns describe the board surface, edges, or other detecta">
            <a:extLst xmlns:a="http://schemas.openxmlformats.org/drawingml/2006/main">
              <a:ext uri="{FF2B5EF4-FFF2-40B4-BE49-F238E27FC236}">
                <a16:creationId xmlns:a16="http://schemas.microsoft.com/office/drawing/2014/main" id="{F9BF04FE-F425-4ABE-A49A-BA93C4380A25}"/>
              </a:ext>
            </a:extLst>
          </p:cNvPr>
          <p:cNvSpPr>
            <a:spLocks xmlns:a="http://schemas.openxmlformats.org/drawingml/2006/main" noGrp="1"/>
          </p:cNvSpPr>
          <p:nvPr/>
        </p:nvSpPr>
        <p:spPr>
          <a:xfrm xmlns:a="http://schemas.openxmlformats.org/drawingml/2006/main">
            <a:off x="619125" y="21145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LiDAR returns describe the board surface, edges, or other detectable geometry.</a:t>
            </a:r>
          </a:p>
        </p:txBody>
      </p:sp>
      <p:sp>
        <p:nvSpPr>
          <p:cNvPr id="5" name="Multiple target poses constrain one fixed camera–LiDAR rotation a">
            <a:extLst xmlns:a="http://schemas.openxmlformats.org/drawingml/2006/main">
              <a:ext uri="{FF2B5EF4-FFF2-40B4-BE49-F238E27FC236}">
                <a16:creationId xmlns:a16="http://schemas.microsoft.com/office/drawing/2014/main" id="{EFFCBC5F-D6FC-4DC5-BA9E-CB1CAAE2EEB6}"/>
              </a:ext>
            </a:extLst>
          </p:cNvPr>
          <p:cNvSpPr>
            <a:spLocks xmlns:a="http://schemas.openxmlformats.org/drawingml/2006/main" noGrp="1"/>
          </p:cNvSpPr>
          <p:nvPr/>
        </p:nvSpPr>
        <p:spPr>
          <a:xfrm xmlns:a="http://schemas.openxmlformats.org/drawingml/2006/main">
            <a:off x="619125" y="278130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Multiple target poses constrain one fixed camera–LiDAR rotation and translation.</a:t>
            </a:r>
          </a:p>
        </p:txBody>
      </p:sp>
      <p:sp>
        <p:nvSpPr>
          <p:cNvPr id="6" name="Validation projects new LiDAR measurements into new images.">
            <a:extLst xmlns:a="http://schemas.openxmlformats.org/drawingml/2006/main">
              <a:ext uri="{FF2B5EF4-FFF2-40B4-BE49-F238E27FC236}">
                <a16:creationId xmlns:a16="http://schemas.microsoft.com/office/drawing/2014/main" id="{607AA39A-762D-4764-86FF-D7092424F367}"/>
              </a:ext>
            </a:extLst>
          </p:cNvPr>
          <p:cNvSpPr>
            <a:spLocks xmlns:a="http://schemas.openxmlformats.org/drawingml/2006/main" noGrp="1"/>
          </p:cNvSpPr>
          <p:nvPr/>
        </p:nvSpPr>
        <p:spPr>
          <a:xfrm xmlns:a="http://schemas.openxmlformats.org/drawingml/2006/main">
            <a:off x="619125" y="34480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Validation projects new LiDAR measurements into new images.</a:t>
            </a:r>
          </a:p>
        </p:txBody>
      </p:sp>
      <p:sp>
        <p:nvSpPr>
          <p:cNvPr id="7" name="LiDAR does not automatically observe the printed corner grid.">
            <a:extLst xmlns:a="http://schemas.openxmlformats.org/drawingml/2006/main">
              <a:ext uri="{FF2B5EF4-FFF2-40B4-BE49-F238E27FC236}">
                <a16:creationId xmlns:a16="http://schemas.microsoft.com/office/drawing/2014/main" id="{D916A19F-AEC9-4930-8B7B-80DAAF2AA12C}"/>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LiDAR does not automatically observe the printed corner grid.</a:t>
            </a:r>
          </a:p>
        </p:txBody>
      </p:sp>
    </p:spTree>
    <p:extLst>
      <p:ext uri="{BB962C8B-B14F-4D97-AF65-F5344CB8AC3E}">
        <p14:creationId xmlns:p14="http://schemas.microsoft.com/office/powerpoint/2010/main" val="180883889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9" name="The LiDAR-to-image projection chain">
            <a:extLst xmlns:a="http://schemas.openxmlformats.org/drawingml/2006/main">
              <a:ext uri="{FF2B5EF4-FFF2-40B4-BE49-F238E27FC236}">
                <a16:creationId xmlns:a16="http://schemas.microsoft.com/office/drawing/2014/main" id="{C7BB5B22-7F97-4877-86F7-62CEFDEB706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LiDAR-to-image projection chain</a:t>
            </a:r>
          </a:p>
        </p:txBody>
      </p:sp>
      <p:sp>
        <p:nvSpPr>
          <p:cNvPr id="2" name="23">
            <a:extLst xmlns:a="http://schemas.openxmlformats.org/drawingml/2006/main">
              <a:ext uri="{FF2B5EF4-FFF2-40B4-BE49-F238E27FC236}">
                <a16:creationId xmlns:a16="http://schemas.microsoft.com/office/drawing/2014/main" id="{0511259B-73B6-4B85-A3E8-FF98AF2F66E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23</a:t>
            </a:r>
          </a:p>
        </p:txBody>
      </p:sp>
      <p:sp>
        <p:nvSpPr>
          <p:cNvPr id="3" name="p_C = R_CL p_L + t_CL">
            <a:extLst xmlns:a="http://schemas.openxmlformats.org/drawingml/2006/main">
              <a:ext uri="{FF2B5EF4-FFF2-40B4-BE49-F238E27FC236}">
                <a16:creationId xmlns:a16="http://schemas.microsoft.com/office/drawing/2014/main" id="{8B370550-62B4-40B7-ACA0-D896036017F9}"/>
              </a:ext>
            </a:extLst>
          </p:cNvPr>
          <p:cNvSpPr>
            <a:spLocks xmlns:a="http://schemas.openxmlformats.org/drawingml/2006/main" noGrp="1"/>
          </p:cNvSpPr>
          <p:nvPr/>
        </p:nvSpPr>
        <p:spPr>
          <a:xfrm xmlns:a="http://schemas.openxmlformats.org/drawingml/2006/main">
            <a:off x="714375" y="1476375"/>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p_C = R_CL p_L + t_CL</a:t>
            </a:r>
          </a:p>
        </p:txBody>
      </p:sp>
      <p:sp>
        <p:nvSpPr>
          <p:cNvPr id="4" name="x = X_C / Z_C     y = Y_C / Z_C">
            <a:extLst xmlns:a="http://schemas.openxmlformats.org/drawingml/2006/main">
              <a:ext uri="{FF2B5EF4-FFF2-40B4-BE49-F238E27FC236}">
                <a16:creationId xmlns:a16="http://schemas.microsoft.com/office/drawing/2014/main" id="{D6F40218-A6FE-475F-9FBF-B2A647EB7BFD}"/>
              </a:ext>
            </a:extLst>
          </p:cNvPr>
          <p:cNvSpPr>
            <a:spLocks xmlns:a="http://schemas.openxmlformats.org/drawingml/2006/main" noGrp="1"/>
          </p:cNvSpPr>
          <p:nvPr/>
        </p:nvSpPr>
        <p:spPr>
          <a:xfrm xmlns:a="http://schemas.openxmlformats.org/drawingml/2006/main">
            <a:off x="714375" y="2012156"/>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x = X_C / Z_C     y = Y_C / Z_C</a:t>
            </a:r>
          </a:p>
        </p:txBody>
      </p:sp>
      <p:sp>
        <p:nvSpPr>
          <p:cNvPr id="5" name="(x, y) → distortion model → (xᵈ, yᵈ)">
            <a:extLst xmlns:a="http://schemas.openxmlformats.org/drawingml/2006/main">
              <a:ext uri="{FF2B5EF4-FFF2-40B4-BE49-F238E27FC236}">
                <a16:creationId xmlns:a16="http://schemas.microsoft.com/office/drawing/2014/main" id="{4770C265-94D0-476F-BDC4-E2C3F3D07456}"/>
              </a:ext>
            </a:extLst>
          </p:cNvPr>
          <p:cNvSpPr>
            <a:spLocks xmlns:a="http://schemas.openxmlformats.org/drawingml/2006/main" noGrp="1"/>
          </p:cNvSpPr>
          <p:nvPr/>
        </p:nvSpPr>
        <p:spPr>
          <a:xfrm xmlns:a="http://schemas.openxmlformats.org/drawingml/2006/main">
            <a:off x="714375" y="2547938"/>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(x, y) → distortion model → (xᵈ, yᵈ)</a:t>
            </a:r>
          </a:p>
        </p:txBody>
      </p:sp>
      <p:sp>
        <p:nvSpPr>
          <p:cNvPr id="6" name="u = fₓ xᵈ + cₓ     v = fᵧ yᵈ + cᵧ">
            <a:extLst xmlns:a="http://schemas.openxmlformats.org/drawingml/2006/main">
              <a:ext uri="{FF2B5EF4-FFF2-40B4-BE49-F238E27FC236}">
                <a16:creationId xmlns:a16="http://schemas.microsoft.com/office/drawing/2014/main" id="{25F69449-401F-4E52-B986-605CE018894C}"/>
              </a:ext>
            </a:extLst>
          </p:cNvPr>
          <p:cNvSpPr>
            <a:spLocks xmlns:a="http://schemas.openxmlformats.org/drawingml/2006/main" noGrp="1"/>
          </p:cNvSpPr>
          <p:nvPr/>
        </p:nvSpPr>
        <p:spPr>
          <a:xfrm xmlns:a="http://schemas.openxmlformats.org/drawingml/2006/main">
            <a:off x="714375" y="3083719"/>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u = fₓ xᵈ + cₓ     v = fᵧ yᵈ + cᵧ</a:t>
            </a:r>
          </a:p>
        </p:txBody>
      </p:sp>
      <p:sp>
        <p:nvSpPr>
          <p:cNvPr id="7" name="Transform to the optical frame before dividing by depth.&#10;Keep Z_C">
            <a:extLst xmlns:a="http://schemas.openxmlformats.org/drawingml/2006/main">
              <a:ext uri="{FF2B5EF4-FFF2-40B4-BE49-F238E27FC236}">
                <a16:creationId xmlns:a16="http://schemas.microsoft.com/office/drawing/2014/main" id="{C7F4E234-B522-464D-9D19-D965E4F5626F}"/>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Transform to the optical frame before dividing by depth.</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Keep Z_C &gt; 0 and image coordinates inside the image.</a:t>
            </a:r>
          </a:p>
        </p:txBody>
      </p:sp>
      <p:sp>
        <p:nvSpPr>
          <p:cNvPr id="8" name="Raw and rectified images require the matching projection model.">
            <a:extLst xmlns:a="http://schemas.openxmlformats.org/drawingml/2006/main">
              <a:ext uri="{FF2B5EF4-FFF2-40B4-BE49-F238E27FC236}">
                <a16:creationId xmlns:a16="http://schemas.microsoft.com/office/drawing/2014/main" id="{08144061-5672-4D9B-B210-C97CBB269768}"/>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Raw and rectified images require the matching projection model.</a:t>
            </a:r>
          </a:p>
        </p:txBody>
      </p:sp>
    </p:spTree>
    <p:extLst>
      <p:ext uri="{BB962C8B-B14F-4D97-AF65-F5344CB8AC3E}">
        <p14:creationId xmlns:p14="http://schemas.microsoft.com/office/powerpoint/2010/main" val="180883889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9" name="A worked LiDAR-to-pixel example">
            <a:extLst xmlns:a="http://schemas.openxmlformats.org/drawingml/2006/main">
              <a:ext uri="{FF2B5EF4-FFF2-40B4-BE49-F238E27FC236}">
                <a16:creationId xmlns:a16="http://schemas.microsoft.com/office/drawing/2014/main" id="{817B46FE-97C4-4E42-9D71-7FC4BFE8C4D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worked LiDAR-to-pixel example</a:t>
            </a:r>
          </a:p>
        </p:txBody>
      </p:sp>
      <p:sp>
        <p:nvSpPr>
          <p:cNvPr id="2" name="24">
            <a:extLst xmlns:a="http://schemas.openxmlformats.org/drawingml/2006/main">
              <a:ext uri="{FF2B5EF4-FFF2-40B4-BE49-F238E27FC236}">
                <a16:creationId xmlns:a16="http://schemas.microsoft.com/office/drawing/2014/main" id="{351EC9BE-A898-4226-B6A5-A53E326944E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24</a:t>
            </a:r>
          </a:p>
        </p:txBody>
      </p:sp>
      <p:sp>
        <p:nvSpPr>
          <p:cNvPr id="3" name="p_L = (10, −1, 0.5) m">
            <a:extLst xmlns:a="http://schemas.openxmlformats.org/drawingml/2006/main">
              <a:ext uri="{FF2B5EF4-FFF2-40B4-BE49-F238E27FC236}">
                <a16:creationId xmlns:a16="http://schemas.microsoft.com/office/drawing/2014/main" id="{596291CE-8B54-4CBC-AF14-5AC8767E07D8}"/>
              </a:ext>
            </a:extLst>
          </p:cNvPr>
          <p:cNvSpPr>
            <a:spLocks xmlns:a="http://schemas.openxmlformats.org/drawingml/2006/main" noGrp="1"/>
          </p:cNvSpPr>
          <p:nvPr/>
        </p:nvSpPr>
        <p:spPr>
          <a:xfrm xmlns:a="http://schemas.openxmlformats.org/drawingml/2006/main">
            <a:off x="714375" y="1476375"/>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p_L = (10, −1, 0.5) m</a:t>
            </a:r>
          </a:p>
        </p:txBody>
      </p:sp>
      <p:sp>
        <p:nvSpPr>
          <p:cNvPr id="4" name="p_C = (−Y_L, 1.5 − Z_L, X_L) = (1, 1, 10) m">
            <a:extLst xmlns:a="http://schemas.openxmlformats.org/drawingml/2006/main">
              <a:ext uri="{FF2B5EF4-FFF2-40B4-BE49-F238E27FC236}">
                <a16:creationId xmlns:a16="http://schemas.microsoft.com/office/drawing/2014/main" id="{0BBDF333-9CD0-496A-A66A-D570B23E1D3D}"/>
              </a:ext>
            </a:extLst>
          </p:cNvPr>
          <p:cNvSpPr>
            <a:spLocks xmlns:a="http://schemas.openxmlformats.org/drawingml/2006/main" noGrp="1"/>
          </p:cNvSpPr>
          <p:nvPr/>
        </p:nvSpPr>
        <p:spPr>
          <a:xfrm xmlns:a="http://schemas.openxmlformats.org/drawingml/2006/main">
            <a:off x="714375" y="2012156"/>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00539F"/>
                </a:solidFill>
                <a:latin typeface="Arial"/>
                <a:ea typeface="Arial"/>
                <a:cs typeface="Arial"/>
              </a:defRPr>
            </a:pPr>
            <a:r>
              <a:rPr sz="2100" b="0">
                <a:solidFill>
                  <a:srgbClr val="00539F"/>
                </a:solidFill>
                <a:latin typeface="Arial"/>
                <a:ea typeface="Arial"/>
                <a:cs typeface="Arial"/>
              </a:rPr>
              <a:t>p_C = (−Y_L, 1.5 − Z_L, X_L) = (1, 1, 10) m</a:t>
            </a:r>
          </a:p>
        </p:txBody>
      </p:sp>
      <p:sp>
        <p:nvSpPr>
          <p:cNvPr id="5" name="u = 600 × 1/10 + 400 = 460 px">
            <a:extLst xmlns:a="http://schemas.openxmlformats.org/drawingml/2006/main">
              <a:ext uri="{FF2B5EF4-FFF2-40B4-BE49-F238E27FC236}">
                <a16:creationId xmlns:a16="http://schemas.microsoft.com/office/drawing/2014/main" id="{B80A3975-9A1B-4ACE-91E5-351DEC1053B0}"/>
              </a:ext>
            </a:extLst>
          </p:cNvPr>
          <p:cNvSpPr>
            <a:spLocks xmlns:a="http://schemas.openxmlformats.org/drawingml/2006/main" noGrp="1"/>
          </p:cNvSpPr>
          <p:nvPr/>
        </p:nvSpPr>
        <p:spPr>
          <a:xfrm xmlns:a="http://schemas.openxmlformats.org/drawingml/2006/main">
            <a:off x="714375" y="2547938"/>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u = 600 × 1/10 + 400 = 460 px</a:t>
            </a:r>
          </a:p>
        </p:txBody>
      </p:sp>
      <p:sp>
        <p:nvSpPr>
          <p:cNvPr id="6" name="v = 600 × 1/10 + 250 = 310 px">
            <a:extLst xmlns:a="http://schemas.openxmlformats.org/drawingml/2006/main">
              <a:ext uri="{FF2B5EF4-FFF2-40B4-BE49-F238E27FC236}">
                <a16:creationId xmlns:a16="http://schemas.microsoft.com/office/drawing/2014/main" id="{9EEE01E5-22F0-4C6C-9D8B-FAA38F5D60F7}"/>
              </a:ext>
            </a:extLst>
          </p:cNvPr>
          <p:cNvSpPr>
            <a:spLocks xmlns:a="http://schemas.openxmlformats.org/drawingml/2006/main" noGrp="1"/>
          </p:cNvSpPr>
          <p:nvPr/>
        </p:nvSpPr>
        <p:spPr>
          <a:xfrm xmlns:a="http://schemas.openxmlformats.org/drawingml/2006/main">
            <a:off x="714375" y="3083719"/>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v = 600 × 1/10 + 250 = 310 px</a:t>
            </a:r>
          </a:p>
        </p:txBody>
      </p:sp>
      <p:sp>
        <p:nvSpPr>
          <p:cNvPr id="7" name="LiDAR: x forward, y left, z up at ground level.&#10;Camera: 1.5 m abo">
            <a:extLst xmlns:a="http://schemas.openxmlformats.org/drawingml/2006/main">
              <a:ext uri="{FF2B5EF4-FFF2-40B4-BE49-F238E27FC236}">
                <a16:creationId xmlns:a16="http://schemas.microsoft.com/office/drawing/2014/main" id="{2DAB9BCB-16E8-414C-8019-158C7767ECDD}"/>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LiDAR: x forward, y left, z up at ground level.</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Camera: 1.5 m above the LiDAR origin, with aligned forward axes.</a:t>
            </a:r>
          </a:p>
        </p:txBody>
      </p:sp>
      <p:sp>
        <p:nvSpPr>
          <p:cNvPr id="8" name="The 10 m forward distance becomes optical depth Z_C.">
            <a:extLst xmlns:a="http://schemas.openxmlformats.org/drawingml/2006/main">
              <a:ext uri="{FF2B5EF4-FFF2-40B4-BE49-F238E27FC236}">
                <a16:creationId xmlns:a16="http://schemas.microsoft.com/office/drawing/2014/main" id="{DE1FFA90-505C-4815-A867-A573C2A37338}"/>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The 10 m forward distance becomes optical depth Z_C.</a:t>
            </a:r>
          </a:p>
        </p:txBody>
      </p:sp>
    </p:spTree>
    <p:extLst>
      <p:ext uri="{BB962C8B-B14F-4D97-AF65-F5344CB8AC3E}">
        <p14:creationId xmlns:p14="http://schemas.microsoft.com/office/powerpoint/2010/main" val="180883889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7" name="Demo 5: diagnose alignment errors">
            <a:extLst xmlns:a="http://schemas.openxmlformats.org/drawingml/2006/main">
              <a:ext uri="{FF2B5EF4-FFF2-40B4-BE49-F238E27FC236}">
                <a16:creationId xmlns:a16="http://schemas.microsoft.com/office/drawing/2014/main" id="{790AE5BB-9D42-4DA2-A813-AF5AE9299E5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Demo 5: diagnose alignment errors</a:t>
            </a:r>
          </a:p>
        </p:txBody>
      </p:sp>
      <p:sp>
        <p:nvSpPr>
          <p:cNvPr id="2" name="25">
            <a:extLst xmlns:a="http://schemas.openxmlformats.org/drawingml/2006/main">
              <a:ext uri="{FF2B5EF4-FFF2-40B4-BE49-F238E27FC236}">
                <a16:creationId xmlns:a16="http://schemas.microsoft.com/office/drawing/2014/main" id="{7B34A4CB-7EAD-4F7A-A56A-4F2F5092EB3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dfb81cdce2b4639"/>
          <a:stretch xmlns:a="http://schemas.openxmlformats.org/drawingml/2006/main"/>
        </p:blipFill>
        <p:spPr>
          <a:xfrm xmlns:a="http://schemas.openxmlformats.org/drawingml/2006/main">
            <a:off x="883429" y="1400175"/>
            <a:ext cx="4510118" cy="2667000"/>
          </a:xfrm>
          <a:prstGeom xmlns:a="http://schemas.openxmlformats.org/drawingml/2006/main" prst="rect">
            <a:avLst/>
          </a:prstGeom>
        </p:spPr>
      </p:pic>
      <p:sp>
        <p:nvSpPr>
          <p:cNvPr id="4" name="Introduce a fault, then change one parameter at a time.&#10;&#10;Compare ">
            <a:extLst xmlns:a="http://schemas.openxmlformats.org/drawingml/2006/main">
              <a:ext uri="{FF2B5EF4-FFF2-40B4-BE49-F238E27FC236}">
                <a16:creationId xmlns:a16="http://schemas.microsoft.com/office/drawing/2014/main" id="{1C9037A2-782C-4799-83D1-D999442B063B}"/>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Introduce a fault, then change one parameter at a time.</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Compare yaw and translation across target depths.</a:t>
            </a:r>
          </a:p>
          <a:p xmlns:a="http://schemas.openxmlformats.org/drawingml/2006/main">
            <a:r>
              <a:t/>
            </a:r>
          </a:p>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Restore geometry before changing the time offset.</a:t>
            </a:r>
          </a:p>
        </p:txBody>
      </p:sp>
      <p:sp>
        <p:nvSpPr>
          <p:cNvPr id="5" name="Open interactive demo">
            <a:extLst xmlns:a="http://schemas.openxmlformats.org/drawingml/2006/main">
              <a:ext uri="{FF2B5EF4-FFF2-40B4-BE49-F238E27FC236}">
                <a16:creationId xmlns:a16="http://schemas.microsoft.com/office/drawing/2014/main" id="{37A7FF35-01E0-42F6-AA89-BE2747A62D29}"/>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9685e0d9090b48c6"/>
              </a:rPr>
              <a:t>Open interactive demo</a:t>
            </a:r>
          </a:p>
        </p:txBody>
      </p:sp>
      <p:sp>
        <p:nvSpPr>
          <p:cNvPr id="6" name="Open “5 · Fusion”. Orange is the reference, blue is your projecti">
            <a:extLst xmlns:a="http://schemas.openxmlformats.org/drawingml/2006/main">
              <a:ext uri="{FF2B5EF4-FFF2-40B4-BE49-F238E27FC236}">
                <a16:creationId xmlns:a16="http://schemas.microsoft.com/office/drawing/2014/main" id="{BDE85526-4A75-482B-A0D6-87293EF31DAB}"/>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a:hlinkClick xmlns:r="http://schemas.openxmlformats.org/officeDocument/2006/relationships" r:id="R746b6516734f46c6"/>
              </a:rPr>
              <a:t>Open “5 · Fusion”. Orange is the reference, blue is your projection.</a:t>
            </a:r>
          </a:p>
        </p:txBody>
      </p:sp>
    </p:spTree>
    <p:extLst>
      <p:ext uri="{BB962C8B-B14F-4D97-AF65-F5344CB8AC3E}">
        <p14:creationId xmlns:p14="http://schemas.microsoft.com/office/powerpoint/2010/main" val="180883889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6" name="Time misalignment looks like geometry error">
            <a:extLst xmlns:a="http://schemas.openxmlformats.org/drawingml/2006/main">
              <a:ext uri="{FF2B5EF4-FFF2-40B4-BE49-F238E27FC236}">
                <a16:creationId xmlns:a16="http://schemas.microsoft.com/office/drawing/2014/main" id="{25FF6B3F-F224-419A-8AB0-36775662535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Time misalignment looks like geometry error</a:t>
            </a:r>
          </a:p>
        </p:txBody>
      </p:sp>
      <p:sp>
        <p:nvSpPr>
          <p:cNvPr id="2" name="26">
            <a:extLst xmlns:a="http://schemas.openxmlformats.org/drawingml/2006/main">
              <a:ext uri="{FF2B5EF4-FFF2-40B4-BE49-F238E27FC236}">
                <a16:creationId xmlns:a16="http://schemas.microsoft.com/office/drawing/2014/main" id="{8C2DA0C2-6FAB-432D-815D-84FE286981E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7ba9ec16fed4886"/>
          <a:stretch xmlns:a="http://schemas.openxmlformats.org/drawingml/2006/main"/>
        </p:blipFill>
        <p:spPr>
          <a:xfrm xmlns:a="http://schemas.openxmlformats.org/drawingml/2006/main">
            <a:off x="665976" y="1400175"/>
            <a:ext cx="4945022" cy="2924175"/>
          </a:xfrm>
          <a:prstGeom xmlns:a="http://schemas.openxmlformats.org/drawingml/2006/main" prst="rect">
            <a:avLst/>
          </a:prstGeom>
        </p:spPr>
      </p:pic>
      <p:sp>
        <p:nvSpPr>
          <p:cNvPr id="4" name="Object speed: 10 m/s&#10;&#10;Time offset: 100 ms&#10;&#10;Position mismatch: 1 m">
            <a:extLst xmlns:a="http://schemas.openxmlformats.org/drawingml/2006/main">
              <a:ext uri="{FF2B5EF4-FFF2-40B4-BE49-F238E27FC236}">
                <a16:creationId xmlns:a16="http://schemas.microsoft.com/office/drawing/2014/main" id="{71883A55-D7DC-4007-8489-60D6DE1F96B5}"/>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Object speed: 10 m/s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Time offset: 100 ms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Position mismatch: 1 m</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At 10 m and fₓ = 600 px: about 60 px lateral error</a:t>
            </a:r>
          </a:p>
        </p:txBody>
      </p:sp>
      <p:sp>
        <p:nvSpPr>
          <p:cNvPr id="5" name="Extrinsic calibration cannot fix a measurement taken at the wrong">
            <a:extLst xmlns:a="http://schemas.openxmlformats.org/drawingml/2006/main">
              <a:ext uri="{FF2B5EF4-FFF2-40B4-BE49-F238E27FC236}">
                <a16:creationId xmlns:a16="http://schemas.microsoft.com/office/drawing/2014/main" id="{17581E28-977B-4974-BC16-D09154644C25}"/>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Extrinsic calibration cannot fix a measurement taken at the wrong time.</a:t>
            </a:r>
          </a:p>
        </p:txBody>
      </p:sp>
    </p:spTree>
    <p:extLst>
      <p:ext uri="{BB962C8B-B14F-4D97-AF65-F5344CB8AC3E}">
        <p14:creationId xmlns:p14="http://schemas.microsoft.com/office/powerpoint/2010/main" val="180883889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8" name="Visibility and data association">
            <a:extLst xmlns:a="http://schemas.openxmlformats.org/drawingml/2006/main">
              <a:ext uri="{FF2B5EF4-FFF2-40B4-BE49-F238E27FC236}">
                <a16:creationId xmlns:a16="http://schemas.microsoft.com/office/drawing/2014/main" id="{3F3C9F82-5035-41A7-AD89-F6F83285D336}"/>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Visibility and data association</a:t>
            </a:r>
          </a:p>
        </p:txBody>
      </p:sp>
      <p:sp>
        <p:nvSpPr>
          <p:cNvPr id="2" name="27">
            <a:extLst xmlns:a="http://schemas.openxmlformats.org/drawingml/2006/main">
              <a:ext uri="{FF2B5EF4-FFF2-40B4-BE49-F238E27FC236}">
                <a16:creationId xmlns:a16="http://schemas.microsoft.com/office/drawing/2014/main" id="{4C7F3A67-D51D-4134-9ECB-8D85AE82CD1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27</a:t>
            </a:r>
          </a:p>
        </p:txBody>
      </p:sp>
      <p:sp>
        <p:nvSpPr>
          <p:cNvPr id="3" name="A point inside an image may lie behind another surface.">
            <a:extLst xmlns:a="http://schemas.openxmlformats.org/drawingml/2006/main">
              <a:ext uri="{FF2B5EF4-FFF2-40B4-BE49-F238E27FC236}">
                <a16:creationId xmlns:a16="http://schemas.microsoft.com/office/drawing/2014/main" id="{972A28ED-D986-42AD-B48E-A94C18A3B92B}"/>
              </a:ext>
            </a:extLst>
          </p:cNvPr>
          <p:cNvSpPr>
            <a:spLocks xmlns:a="http://schemas.openxmlformats.org/drawingml/2006/main" noGrp="1"/>
          </p:cNvSpPr>
          <p:nvPr/>
        </p:nvSpPr>
        <p:spPr>
          <a:xfrm xmlns:a="http://schemas.openxmlformats.org/drawingml/2006/main">
            <a:off x="619125" y="144780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point inside an image may lie behind another surface.</a:t>
            </a:r>
          </a:p>
        </p:txBody>
      </p:sp>
      <p:sp>
        <p:nvSpPr>
          <p:cNvPr id="4" name="Different sensor positions create different occlusion boundaries.">
            <a:extLst xmlns:a="http://schemas.openxmlformats.org/drawingml/2006/main">
              <a:ext uri="{FF2B5EF4-FFF2-40B4-BE49-F238E27FC236}">
                <a16:creationId xmlns:a16="http://schemas.microsoft.com/office/drawing/2014/main" id="{885FA380-0A76-4BD1-AC50-84C59C81B084}"/>
              </a:ext>
            </a:extLst>
          </p:cNvPr>
          <p:cNvSpPr>
            <a:spLocks xmlns:a="http://schemas.openxmlformats.org/drawingml/2006/main" noGrp="1"/>
          </p:cNvSpPr>
          <p:nvPr/>
        </p:nvSpPr>
        <p:spPr>
          <a:xfrm xmlns:a="http://schemas.openxmlformats.org/drawingml/2006/main">
            <a:off x="619125" y="21145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Different sensor positions create different occlusion boundaries.</a:t>
            </a:r>
          </a:p>
        </p:txBody>
      </p:sp>
      <p:sp>
        <p:nvSpPr>
          <p:cNvPr id="5" name="A detection box can contain returns from the road and background.">
            <a:extLst xmlns:a="http://schemas.openxmlformats.org/drawingml/2006/main">
              <a:ext uri="{FF2B5EF4-FFF2-40B4-BE49-F238E27FC236}">
                <a16:creationId xmlns:a16="http://schemas.microsoft.com/office/drawing/2014/main" id="{238283C2-F856-4FDF-AE95-63E9AE2DD648}"/>
              </a:ext>
            </a:extLst>
          </p:cNvPr>
          <p:cNvSpPr>
            <a:spLocks xmlns:a="http://schemas.openxmlformats.org/drawingml/2006/main" noGrp="1"/>
          </p:cNvSpPr>
          <p:nvPr/>
        </p:nvSpPr>
        <p:spPr>
          <a:xfrm xmlns:a="http://schemas.openxmlformats.org/drawingml/2006/main">
            <a:off x="619125" y="278130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detection box can contain returns from the road and background.</a:t>
            </a:r>
          </a:p>
        </p:txBody>
      </p:sp>
      <p:sp>
        <p:nvSpPr>
          <p:cNvPr id="6" name="Association must consider depth, visibility, and object geometry.">
            <a:extLst xmlns:a="http://schemas.openxmlformats.org/drawingml/2006/main">
              <a:ext uri="{FF2B5EF4-FFF2-40B4-BE49-F238E27FC236}">
                <a16:creationId xmlns:a16="http://schemas.microsoft.com/office/drawing/2014/main" id="{A0E5309E-9D79-4398-A7CA-4002B139C3B0}"/>
              </a:ext>
            </a:extLst>
          </p:cNvPr>
          <p:cNvSpPr>
            <a:spLocks xmlns:a="http://schemas.openxmlformats.org/drawingml/2006/main" noGrp="1"/>
          </p:cNvSpPr>
          <p:nvPr/>
        </p:nvSpPr>
        <p:spPr>
          <a:xfrm xmlns:a="http://schemas.openxmlformats.org/drawingml/2006/main">
            <a:off x="619125" y="34480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Association must consider depth, visibility, and object geometry.</a:t>
            </a:r>
          </a:p>
        </p:txBody>
      </p:sp>
      <p:sp>
        <p:nvSpPr>
          <p:cNvPr id="7" name="A projected point inside a box is only a candidate match.">
            <a:extLst xmlns:a="http://schemas.openxmlformats.org/drawingml/2006/main">
              <a:ext uri="{FF2B5EF4-FFF2-40B4-BE49-F238E27FC236}">
                <a16:creationId xmlns:a16="http://schemas.microsoft.com/office/drawing/2014/main" id="{E751F4ED-4A88-4169-83B2-170A23260536}"/>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A projected point inside a box is only a candidate match.</a:t>
            </a:r>
          </a:p>
        </p:txBody>
      </p:sp>
    </p:spTree>
    <p:extLst>
      <p:ext uri="{BB962C8B-B14F-4D97-AF65-F5344CB8AC3E}">
        <p14:creationId xmlns:p14="http://schemas.microsoft.com/office/powerpoint/2010/main" val="180883889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9" name="Fusion needs an uncertainty model">
            <a:extLst xmlns:a="http://schemas.openxmlformats.org/drawingml/2006/main">
              <a:ext uri="{FF2B5EF4-FFF2-40B4-BE49-F238E27FC236}">
                <a16:creationId xmlns:a16="http://schemas.microsoft.com/office/drawing/2014/main" id="{E702A32E-3C76-4335-8545-4D735736D32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Fusion needs an uncertainty model</a:t>
            </a:r>
          </a:p>
        </p:txBody>
      </p:sp>
      <p:sp>
        <p:nvSpPr>
          <p:cNvPr id="2" name="28">
            <a:extLst xmlns:a="http://schemas.openxmlformats.org/drawingml/2006/main">
              <a:ext uri="{FF2B5EF4-FFF2-40B4-BE49-F238E27FC236}">
                <a16:creationId xmlns:a16="http://schemas.microsoft.com/office/drawing/2014/main" id="{654422D1-BB20-4A4D-919A-D06648E30CC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28</a:t>
            </a:r>
          </a:p>
        </p:txBody>
      </p:sp>
      <p:sp>
        <p:nvSpPr>
          <p:cNvPr id="3" name="x̂ = (x₁/σ₁² + x₂/σ₂²) / (1/σ₁² + 1/σ₂²)">
            <a:extLst xmlns:a="http://schemas.openxmlformats.org/drawingml/2006/main">
              <a:ext uri="{FF2B5EF4-FFF2-40B4-BE49-F238E27FC236}">
                <a16:creationId xmlns:a16="http://schemas.microsoft.com/office/drawing/2014/main" id="{A419AA7C-D8CD-4A00-BE6C-F3BA629767D3}"/>
              </a:ext>
            </a:extLst>
          </p:cNvPr>
          <p:cNvSpPr>
            <a:spLocks xmlns:a="http://schemas.openxmlformats.org/drawingml/2006/main" noGrp="1"/>
          </p:cNvSpPr>
          <p:nvPr/>
        </p:nvSpPr>
        <p:spPr>
          <a:xfrm xmlns:a="http://schemas.openxmlformats.org/drawingml/2006/main">
            <a:off x="714375" y="1476375"/>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x̂ = (x₁/σ₁² + x₂/σ₂²) / (1/σ₁² + 1/σ₂²)</a:t>
            </a:r>
          </a:p>
        </p:txBody>
      </p:sp>
      <p:sp>
        <p:nvSpPr>
          <p:cNvPr id="4" name="x₁ = 10.0 m, σ₁ = 0.2 m">
            <a:extLst xmlns:a="http://schemas.openxmlformats.org/drawingml/2006/main">
              <a:ext uri="{FF2B5EF4-FFF2-40B4-BE49-F238E27FC236}">
                <a16:creationId xmlns:a16="http://schemas.microsoft.com/office/drawing/2014/main" id="{B4F77962-F56A-4982-B7D3-E4A622953678}"/>
              </a:ext>
            </a:extLst>
          </p:cNvPr>
          <p:cNvSpPr>
            <a:spLocks xmlns:a="http://schemas.openxmlformats.org/drawingml/2006/main" noGrp="1"/>
          </p:cNvSpPr>
          <p:nvPr/>
        </p:nvSpPr>
        <p:spPr>
          <a:xfrm xmlns:a="http://schemas.openxmlformats.org/drawingml/2006/main">
            <a:off x="714375" y="2012156"/>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x₁ = 10.0 m, σ₁ = 0.2 m</a:t>
            </a:r>
          </a:p>
        </p:txBody>
      </p:sp>
      <p:sp>
        <p:nvSpPr>
          <p:cNvPr id="5" name="x₂ = 11.0 m, σ₂ = 1.0 m">
            <a:extLst xmlns:a="http://schemas.openxmlformats.org/drawingml/2006/main">
              <a:ext uri="{FF2B5EF4-FFF2-40B4-BE49-F238E27FC236}">
                <a16:creationId xmlns:a16="http://schemas.microsoft.com/office/drawing/2014/main" id="{503B4F36-CD5B-4C45-8EB0-7DABD3082A8A}"/>
              </a:ext>
            </a:extLst>
          </p:cNvPr>
          <p:cNvSpPr>
            <a:spLocks xmlns:a="http://schemas.openxmlformats.org/drawingml/2006/main" noGrp="1"/>
          </p:cNvSpPr>
          <p:nvPr/>
        </p:nvSpPr>
        <p:spPr>
          <a:xfrm xmlns:a="http://schemas.openxmlformats.org/drawingml/2006/main">
            <a:off x="714375" y="2547938"/>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x₂ = 11.0 m, σ₂ = 1.0 m</a:t>
            </a:r>
          </a:p>
        </p:txBody>
      </p:sp>
      <p:sp>
        <p:nvSpPr>
          <p:cNvPr id="6" name="x̂ ≈ 10.04 m     σ ≈ 0.196 m">
            <a:extLst xmlns:a="http://schemas.openxmlformats.org/drawingml/2006/main">
              <a:ext uri="{FF2B5EF4-FFF2-40B4-BE49-F238E27FC236}">
                <a16:creationId xmlns:a16="http://schemas.microsoft.com/office/drawing/2014/main" id="{27EE2DD1-7E29-4E28-A527-7B6287BEEF05}"/>
              </a:ext>
            </a:extLst>
          </p:cNvPr>
          <p:cNvSpPr>
            <a:spLocks xmlns:a="http://schemas.openxmlformats.org/drawingml/2006/main" noGrp="1"/>
          </p:cNvSpPr>
          <p:nvPr/>
        </p:nvSpPr>
        <p:spPr>
          <a:xfrm xmlns:a="http://schemas.openxmlformats.org/drawingml/2006/main">
            <a:off x="714375" y="3083719"/>
            <a:ext cx="776287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x̂ ≈ 10.04 m     σ ≈ 0.196 m</a:t>
            </a:r>
          </a:p>
        </p:txBody>
      </p:sp>
      <p:sp>
        <p:nvSpPr>
          <p:cNvPr id="7" name="Toy example: two unbiased, independent estimates of the same scal">
            <a:extLst xmlns:a="http://schemas.openxmlformats.org/drawingml/2006/main">
              <a:ext uri="{FF2B5EF4-FFF2-40B4-BE49-F238E27FC236}">
                <a16:creationId xmlns:a16="http://schemas.microsoft.com/office/drawing/2014/main" id="{D3672EF4-9F49-4C0B-A0A2-A51D1B7DC7DC}"/>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Toy example: two unbiased, independent estimates of the same scalar.</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Correlated errors and wrong associations violate these assumptions.</a:t>
            </a:r>
          </a:p>
        </p:txBody>
      </p:sp>
      <p:sp>
        <p:nvSpPr>
          <p:cNvPr id="8" name="More measurements help only when their meaning and reliability ar">
            <a:extLst xmlns:a="http://schemas.openxmlformats.org/drawingml/2006/main">
              <a:ext uri="{FF2B5EF4-FFF2-40B4-BE49-F238E27FC236}">
                <a16:creationId xmlns:a16="http://schemas.microsoft.com/office/drawing/2014/main" id="{EE4AC834-A976-4023-A43D-ECCF851C115C}"/>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More measurements help only when their meaning and reliability are sound.</a:t>
            </a:r>
          </a:p>
        </p:txBody>
      </p:sp>
    </p:spTree>
    <p:extLst>
      <p:ext uri="{BB962C8B-B14F-4D97-AF65-F5344CB8AC3E}">
        <p14:creationId xmlns:p14="http://schemas.microsoft.com/office/powerpoint/2010/main" val="180883889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 name="Where fusion can happen">
            <a:extLst xmlns:a="http://schemas.openxmlformats.org/drawingml/2006/main">
              <a:ext uri="{FF2B5EF4-FFF2-40B4-BE49-F238E27FC236}">
                <a16:creationId xmlns:a16="http://schemas.microsoft.com/office/drawing/2014/main" id="{C141CACF-B38F-4055-8916-B645078B0176}"/>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Where fusion can happen</a:t>
            </a:r>
          </a:p>
        </p:txBody>
      </p:sp>
      <p:sp>
        <p:nvSpPr>
          <p:cNvPr id="2" name="29">
            <a:extLst xmlns:a="http://schemas.openxmlformats.org/drawingml/2006/main">
              <a:ext uri="{FF2B5EF4-FFF2-40B4-BE49-F238E27FC236}">
                <a16:creationId xmlns:a16="http://schemas.microsoft.com/office/drawing/2014/main" id="{ADB1A0B4-4B8B-4B10-9389-4F25586D96B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29</a:t>
            </a:r>
          </a:p>
        </p:txBody>
      </p:sp>
      <p:graphicFrame>
        <p:nvGraphicFramePr>
          <p:cNvPr id="7" name=""/>
          <p:cNvGraphicFramePr/>
          <p:nvPr/>
        </p:nvGraphicFramePr>
        <p:xfrm>
          <a:off xmlns:a="http://schemas.openxmlformats.org/drawingml/2006/main" x="523875" y="1438275"/>
          <a:ext xmlns:a="http://schemas.openxmlformats.org/drawingml/2006/main" cx="8096250" cy="2552700"/>
        </p:xfrm>
        <a:graphic xmlns:a="http://schemas.openxmlformats.org/drawingml/2006/main">
          <a:graphicData uri="http://schemas.openxmlformats.org/drawingml/2006/table">
            <a:tbl>
              <a:tblPr/>
              <a:tblGrid>
                <a:gridCol w="1809750"/>
                <a:gridCol w="3143250"/>
                <a:gridCol w="3143250"/>
              </a:tblGrid>
              <a:tr h="638175">
                <a:tc>
                  <a:txBody>
                    <a:bodyPr lIns="114300" tIns="85725" rIns="114300" bIns="85725">
                      <a:noAutofit/>
                    </a:bodyPr>
                    <a:lstStyle/>
                    <a:p>
                      <a:r>
                        <a:rPr sz="1575" b="1">
                          <a:solidFill>
                            <a:srgbClr val="FFFFFF"/>
                          </a:solidFill>
                          <a:latin typeface="Arial"/>
                          <a:ea typeface="Arial"/>
                          <a:cs typeface="Arial"/>
                        </a:rPr>
                        <a:t>Level</a:t>
                      </a:r>
                    </a:p>
                  </a:txBody>
                  <a:tcPr marL="91440" marR="91440" marT="45720" marB="45720" anchor="ctr">
                    <a:solidFill>
                      <a:srgbClr val="00539F"/>
                    </a:solidFill>
                  </a:tcPr>
                </a:tc>
                <a:tc>
                  <a:txBody>
                    <a:bodyPr lIns="114300" tIns="85725" rIns="114300" bIns="85725">
                      <a:noAutofit/>
                    </a:bodyPr>
                    <a:lstStyle/>
                    <a:p>
                      <a:r>
                        <a:rPr sz="1575" b="1">
                          <a:solidFill>
                            <a:srgbClr val="FFFFFF"/>
                          </a:solidFill>
                          <a:latin typeface="Arial"/>
                          <a:ea typeface="Arial"/>
                          <a:cs typeface="Arial"/>
                        </a:rPr>
                        <a:t>What combines</a:t>
                      </a:r>
                    </a:p>
                  </a:txBody>
                  <a:tcPr marL="91440" marR="91440" marT="45720" marB="45720" anchor="ctr">
                    <a:solidFill>
                      <a:srgbClr val="00539F"/>
                    </a:solidFill>
                  </a:tcPr>
                </a:tc>
                <a:tc>
                  <a:txBody>
                    <a:bodyPr lIns="114300" tIns="85725" rIns="114300" bIns="85725">
                      <a:noAutofit/>
                    </a:bodyPr>
                    <a:lstStyle/>
                    <a:p>
                      <a:r>
                        <a:rPr sz="1575" b="1">
                          <a:solidFill>
                            <a:srgbClr val="FFFFFF"/>
                          </a:solidFill>
                          <a:latin typeface="Arial"/>
                          <a:ea typeface="Arial"/>
                          <a:cs typeface="Arial"/>
                        </a:rPr>
                        <a:t>Example</a:t>
                      </a:r>
                    </a:p>
                  </a:txBody>
                  <a:tcPr marL="91440" marR="91440" marT="45720" marB="45720" anchor="ctr">
                    <a:solidFill>
                      <a:srgbClr val="00539F"/>
                    </a:solidFill>
                  </a:tcPr>
                </a:tc>
              </a:tr>
              <a:tr h="638175">
                <a:tc>
                  <a:txBody>
                    <a:bodyPr lIns="114300" tIns="85725" rIns="114300" bIns="85725">
                      <a:noAutofit/>
                    </a:bodyPr>
                    <a:lstStyle/>
                    <a:p>
                      <a:r>
                        <a:rPr sz="1575" b="0">
                          <a:solidFill>
                            <a:srgbClr val="17324D"/>
                          </a:solidFill>
                          <a:latin typeface="Arial"/>
                          <a:ea typeface="Arial"/>
                          <a:cs typeface="Arial"/>
                        </a:rPr>
                        <a:t>Measurements</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Projected or aligned samples</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Attach image colour to 3D points</a:t>
                      </a:r>
                    </a:p>
                  </a:txBody>
                  <a:tcPr marL="91440" marR="91440" marT="45720" marB="45720" anchor="ctr">
                    <a:solidFill>
                      <a:srgbClr val="FFFFFF"/>
                    </a:solidFill>
                  </a:tcPr>
                </a:tc>
              </a:tr>
              <a:tr h="638175">
                <a:tc>
                  <a:txBody>
                    <a:bodyPr lIns="114300" tIns="85725" rIns="114300" bIns="85725">
                      <a:noAutofit/>
                    </a:bodyPr>
                    <a:lstStyle/>
                    <a:p>
                      <a:r>
                        <a:rPr sz="1575" b="0">
                          <a:solidFill>
                            <a:srgbClr val="17324D"/>
                          </a:solidFill>
                          <a:latin typeface="Arial"/>
                          <a:ea typeface="Arial"/>
                          <a:cs typeface="Arial"/>
                        </a:rPr>
                        <a:t>Features</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Learned representations</a:t>
                      </a:r>
                    </a:p>
                  </a:txBody>
                  <a:tcPr marL="91440" marR="91440" marT="45720" marB="45720" anchor="ctr">
                    <a:solidFill>
                      <a:srgbClr val="F1F6FA"/>
                    </a:solidFill>
                  </a:tcPr>
                </a:tc>
                <a:tc>
                  <a:txBody>
                    <a:bodyPr lIns="114300" tIns="85725" rIns="114300" bIns="85725">
                      <a:noAutofit/>
                    </a:bodyPr>
                    <a:lstStyle/>
                    <a:p>
                      <a:r>
                        <a:rPr sz="1575" b="0">
                          <a:solidFill>
                            <a:srgbClr val="17324D"/>
                          </a:solidFill>
                          <a:latin typeface="Arial"/>
                          <a:ea typeface="Arial"/>
                          <a:cs typeface="Arial"/>
                        </a:rPr>
                        <a:t>Combine image and point-cloud features</a:t>
                      </a:r>
                    </a:p>
                  </a:txBody>
                  <a:tcPr marL="91440" marR="91440" marT="45720" marB="45720" anchor="ctr">
                    <a:solidFill>
                      <a:srgbClr val="F1F6FA"/>
                    </a:solidFill>
                  </a:tcPr>
                </a:tc>
              </a:tr>
              <a:tr h="638175">
                <a:tc>
                  <a:txBody>
                    <a:bodyPr lIns="114300" tIns="85725" rIns="114300" bIns="85725">
                      <a:noAutofit/>
                    </a:bodyPr>
                    <a:lstStyle/>
                    <a:p>
                      <a:r>
                        <a:rPr sz="1575" b="0">
                          <a:solidFill>
                            <a:srgbClr val="17324D"/>
                          </a:solidFill>
                          <a:latin typeface="Arial"/>
                          <a:ea typeface="Arial"/>
                          <a:cs typeface="Arial"/>
                        </a:rPr>
                        <a:t>Objects / tracks</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Detections or state estimates</a:t>
                      </a:r>
                    </a:p>
                  </a:txBody>
                  <a:tcPr marL="91440" marR="91440" marT="45720" marB="45720" anchor="ctr">
                    <a:solidFill>
                      <a:srgbClr val="FFFFFF"/>
                    </a:solidFill>
                  </a:tcPr>
                </a:tc>
                <a:tc>
                  <a:txBody>
                    <a:bodyPr lIns="114300" tIns="85725" rIns="114300" bIns="85725">
                      <a:noAutofit/>
                    </a:bodyPr>
                    <a:lstStyle/>
                    <a:p>
                      <a:r>
                        <a:rPr sz="1575" b="0">
                          <a:solidFill>
                            <a:srgbClr val="17324D"/>
                          </a:solidFill>
                          <a:latin typeface="Arial"/>
                          <a:ea typeface="Arial"/>
                          <a:cs typeface="Arial"/>
                        </a:rPr>
                        <a:t>Associate and update an object track</a:t>
                      </a:r>
                    </a:p>
                  </a:txBody>
                  <a:tcPr marL="91440" marR="91440" marT="45720" marB="45720" anchor="ctr">
                    <a:solidFill>
                      <a:srgbClr val="FFFFFF"/>
                    </a:solidFill>
                  </a:tcPr>
                </a:tc>
              </a:tr>
            </a:tbl>
          </a:graphicData>
        </a:graphic>
      </p:graphicFrame>
      <p:sp>
        <p:nvSpPr>
          <p:cNvPr id="4" name="Every level still needs geometry, timing, and a defensible associ">
            <a:extLst xmlns:a="http://schemas.openxmlformats.org/drawingml/2006/main">
              <a:ext uri="{FF2B5EF4-FFF2-40B4-BE49-F238E27FC236}">
                <a16:creationId xmlns:a16="http://schemas.microsoft.com/office/drawing/2014/main" id="{59B247AC-0678-4791-A2FF-072AB960E9A1}"/>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Every level still needs geometry, timing, and a defensible association.</a:t>
            </a:r>
          </a:p>
        </p:txBody>
      </p:sp>
    </p:spTree>
    <p:extLst>
      <p:ext uri="{BB962C8B-B14F-4D97-AF65-F5344CB8AC3E}">
        <p14:creationId xmlns:p14="http://schemas.microsoft.com/office/powerpoint/2010/main" val="180883889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1" name="Exit ticket and further reading">
            <a:extLst xmlns:a="http://schemas.openxmlformats.org/drawingml/2006/main">
              <a:ext uri="{FF2B5EF4-FFF2-40B4-BE49-F238E27FC236}">
                <a16:creationId xmlns:a16="http://schemas.microsoft.com/office/drawing/2014/main" id="{39B5D273-72C4-47E5-9A9D-BB0386D9CBF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Exit ticket and further reading</a:t>
            </a:r>
          </a:p>
        </p:txBody>
      </p:sp>
      <p:sp>
        <p:nvSpPr>
          <p:cNvPr id="2" name="30">
            <a:extLst xmlns:a="http://schemas.openxmlformats.org/drawingml/2006/main">
              <a:ext uri="{FF2B5EF4-FFF2-40B4-BE49-F238E27FC236}">
                <a16:creationId xmlns:a16="http://schemas.microsoft.com/office/drawing/2014/main" id="{BE1ABB9E-7AB3-498D-93FA-E043C34C933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30</a:t>
            </a:r>
          </a:p>
        </p:txBody>
      </p:sp>
      <p:sp>
        <p:nvSpPr>
          <p:cNvPr id="3" name="Compose two link transforms and state the hand frame.">
            <a:extLst xmlns:a="http://schemas.openxmlformats.org/drawingml/2006/main">
              <a:ext uri="{FF2B5EF4-FFF2-40B4-BE49-F238E27FC236}">
                <a16:creationId xmlns:a16="http://schemas.microsoft.com/office/drawing/2014/main" id="{90CEB058-0996-4062-9C15-797E4EEC3D2D}"/>
              </a:ext>
            </a:extLst>
          </p:cNvPr>
          <p:cNvSpPr>
            <a:spLocks xmlns:a="http://schemas.openxmlformats.org/drawingml/2006/main" noGrp="1"/>
          </p:cNvSpPr>
          <p:nvPr/>
        </p:nvSpPr>
        <p:spPr>
          <a:xfrm xmlns:a="http://schemas.openxmlformats.org/drawingml/2006/main">
            <a:off x="571500" y="142875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Compose two link transforms and state the hand frame.</a:t>
            </a:r>
          </a:p>
        </p:txBody>
      </p:sp>
      <p:sp>
        <p:nvSpPr>
          <p:cNvPr id="4" name="Explain how fₓ changes FOV at fixed image width.">
            <a:extLst xmlns:a="http://schemas.openxmlformats.org/drawingml/2006/main">
              <a:ext uri="{FF2B5EF4-FFF2-40B4-BE49-F238E27FC236}">
                <a16:creationId xmlns:a16="http://schemas.microsoft.com/office/drawing/2014/main" id="{6DEACFD1-AE68-4704-8B37-682794AD828E}"/>
              </a:ext>
            </a:extLst>
          </p:cNvPr>
          <p:cNvSpPr>
            <a:spLocks xmlns:a="http://schemas.openxmlformats.org/drawingml/2006/main" noGrp="1"/>
          </p:cNvSpPr>
          <p:nvPr/>
        </p:nvSpPr>
        <p:spPr>
          <a:xfrm xmlns:a="http://schemas.openxmlformats.org/drawingml/2006/main">
            <a:off x="571500" y="194310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Explain how fₓ changes FOV at fixed image width.</a:t>
            </a:r>
          </a:p>
        </p:txBody>
      </p:sp>
      <p:sp>
        <p:nvSpPr>
          <p:cNvPr id="5" name="Explain why a LiDAR point can miss its matching image object.">
            <a:extLst xmlns:a="http://schemas.openxmlformats.org/drawingml/2006/main">
              <a:ext uri="{FF2B5EF4-FFF2-40B4-BE49-F238E27FC236}">
                <a16:creationId xmlns:a16="http://schemas.microsoft.com/office/drawing/2014/main" id="{2FC8505E-C98D-486F-82FD-F1E9620F4214}"/>
              </a:ext>
            </a:extLst>
          </p:cNvPr>
          <p:cNvSpPr>
            <a:spLocks xmlns:a="http://schemas.openxmlformats.org/drawingml/2006/main" noGrp="1"/>
          </p:cNvSpPr>
          <p:nvPr/>
        </p:nvSpPr>
        <p:spPr>
          <a:xfrm xmlns:a="http://schemas.openxmlformats.org/drawingml/2006/main">
            <a:off x="571500" y="245745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Explain why a LiDAR point can miss its matching image object.</a:t>
            </a:r>
          </a:p>
        </p:txBody>
      </p:sp>
      <p:sp>
        <p:nvSpPr>
          <p:cNvPr id="6" name="Modern Robotics: transforms">
            <a:extLst xmlns:a="http://schemas.openxmlformats.org/drawingml/2006/main">
              <a:ext uri="{FF2B5EF4-FFF2-40B4-BE49-F238E27FC236}">
                <a16:creationId xmlns:a16="http://schemas.microsoft.com/office/drawing/2014/main" id="{4EDBBA9C-8AEF-48E8-8E5C-46D2B9A4470A}"/>
              </a:ext>
            </a:extLst>
          </p:cNvPr>
          <p:cNvSpPr>
            <a:spLocks xmlns:a="http://schemas.openxmlformats.org/drawingml/2006/main" noGrp="1"/>
          </p:cNvSpPr>
          <p:nvPr/>
        </p:nvSpPr>
        <p:spPr>
          <a:xfrm xmlns:a="http://schemas.openxmlformats.org/drawingml/2006/main">
            <a:off x="571500" y="316230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5d176f1c00224e8d"/>
              </a:rPr>
              <a:t>Modern Robotics: transforms</a:t>
            </a:r>
          </a:p>
        </p:txBody>
      </p:sp>
      <p:sp>
        <p:nvSpPr>
          <p:cNvPr id="7" name="OpenCV: camera calibration">
            <a:extLst xmlns:a="http://schemas.openxmlformats.org/drawingml/2006/main">
              <a:ext uri="{FF2B5EF4-FFF2-40B4-BE49-F238E27FC236}">
                <a16:creationId xmlns:a16="http://schemas.microsoft.com/office/drawing/2014/main" id="{3D36C2AC-C67E-4FA5-930A-55D64216D6A9}"/>
              </a:ext>
            </a:extLst>
          </p:cNvPr>
          <p:cNvSpPr>
            <a:spLocks xmlns:a="http://schemas.openxmlformats.org/drawingml/2006/main" noGrp="1"/>
          </p:cNvSpPr>
          <p:nvPr/>
        </p:nvSpPr>
        <p:spPr>
          <a:xfrm xmlns:a="http://schemas.openxmlformats.org/drawingml/2006/main">
            <a:off x="4619625" y="316230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f4d1ff1a305a401b"/>
              </a:rPr>
              <a:t>OpenCV: camera calibration</a:t>
            </a:r>
          </a:p>
        </p:txBody>
      </p:sp>
      <p:sp>
        <p:nvSpPr>
          <p:cNvPr id="8" name="Ouster: beam coordinates">
            <a:extLst xmlns:a="http://schemas.openxmlformats.org/drawingml/2006/main">
              <a:ext uri="{FF2B5EF4-FFF2-40B4-BE49-F238E27FC236}">
                <a16:creationId xmlns:a16="http://schemas.microsoft.com/office/drawing/2014/main" id="{F12586D2-83E9-4026-873E-3358B9BF1EBB}"/>
              </a:ext>
            </a:extLst>
          </p:cNvPr>
          <p:cNvSpPr>
            <a:spLocks xmlns:a="http://schemas.openxmlformats.org/drawingml/2006/main" noGrp="1"/>
          </p:cNvSpPr>
          <p:nvPr/>
        </p:nvSpPr>
        <p:spPr>
          <a:xfrm xmlns:a="http://schemas.openxmlformats.org/drawingml/2006/main">
            <a:off x="571500" y="360997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0e760ac876ef4a17"/>
              </a:rPr>
              <a:t>Ouster: beam coordinates</a:t>
            </a:r>
          </a:p>
        </p:txBody>
      </p:sp>
      <p:sp>
        <p:nvSpPr>
          <p:cNvPr id="9" name="LiDAR–camera calibration">
            <a:extLst xmlns:a="http://schemas.openxmlformats.org/drawingml/2006/main">
              <a:ext uri="{FF2B5EF4-FFF2-40B4-BE49-F238E27FC236}">
                <a16:creationId xmlns:a16="http://schemas.microsoft.com/office/drawing/2014/main" id="{131F6304-9431-45A4-8F1D-CE7694D0B329}"/>
              </a:ext>
            </a:extLst>
          </p:cNvPr>
          <p:cNvSpPr>
            <a:spLocks xmlns:a="http://schemas.openxmlformats.org/drawingml/2006/main" noGrp="1"/>
          </p:cNvSpPr>
          <p:nvPr/>
        </p:nvSpPr>
        <p:spPr>
          <a:xfrm xmlns:a="http://schemas.openxmlformats.org/drawingml/2006/main">
            <a:off x="4619625" y="360997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70e9c7191ed345e3"/>
              </a:rPr>
              <a:t>LiDAR–camera calibration</a:t>
            </a:r>
          </a:p>
        </p:txBody>
      </p:sp>
      <p:sp>
        <p:nvSpPr>
          <p:cNvPr id="10" name="Five local demos: SensorFusion/index.html">
            <a:extLst xmlns:a="http://schemas.openxmlformats.org/drawingml/2006/main">
              <a:ext uri="{FF2B5EF4-FFF2-40B4-BE49-F238E27FC236}">
                <a16:creationId xmlns:a16="http://schemas.microsoft.com/office/drawing/2014/main" id="{746FDBE0-C39B-4C3D-8CEF-0C5069C38134}"/>
              </a:ext>
            </a:extLst>
          </p:cNvPr>
          <p:cNvSpPr>
            <a:spLocks xmlns:a="http://schemas.openxmlformats.org/drawingml/2006/main" noGrp="1"/>
          </p:cNvSpPr>
          <p:nvPr/>
        </p:nvSpPr>
        <p:spPr>
          <a:xfrm xmlns:a="http://schemas.openxmlformats.org/drawingml/2006/main">
            <a:off x="523875" y="4533900"/>
            <a:ext cx="809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1">
                <a:solidFill>
                  <a:srgbClr val="00539F"/>
                </a:solidFill>
                <a:latin typeface="Arial"/>
                <a:ea typeface="Arial"/>
                <a:cs typeface="Arial"/>
              </a:defRPr>
            </a:pPr>
            <a:r>
              <a:rPr sz="1575" b="1">
                <a:solidFill>
                  <a:srgbClr val="00539F"/>
                </a:solidFill>
                <a:latin typeface="Arial"/>
                <a:ea typeface="Arial"/>
                <a:cs typeface="Arial"/>
              </a:rPr>
              <a:t>Five local demos: SensorFusion/index.html</a:t>
            </a:r>
          </a:p>
        </p:txBody>
      </p:sp>
    </p:spTree>
    <p:extLst>
      <p:ext uri="{BB962C8B-B14F-4D97-AF65-F5344CB8AC3E}">
        <p14:creationId xmlns:p14="http://schemas.microsoft.com/office/powerpoint/2010/main" val="1808838893"/>
      </p:ext>
    </p:extLst>
  </p:cSld>
</p:sld>
</file>

<file path=ppt/theme/theme1.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2026-09-09T14:24:20.4890000Z</dcterms:created>
  <dcterms:modified xsi:type="dcterms:W3CDTF">2026-09-09T14:24:20.4890000Z</dcterms:modified>
</coreProperties>
</file>