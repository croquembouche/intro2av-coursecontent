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110de09e374ac7" /><Relationship Type="http://schemas.openxmlformats.org/officeDocument/2006/relationships/extended-properties" Target="/docProps/app.xml" Id="R92741d0a442a45ab" /><Relationship Type="http://schemas.openxmlformats.org/officeDocument/2006/relationships/officeDocument" Target="/ppt/presentation.xml" Id="Rf7722ff857194e1b" /></Relationships>
</file>

<file path=ppt/presentation.xml><?xml version="1.0" encoding="utf-8"?>
<p:presentation xmlns:p="http://schemas.openxmlformats.org/presentationml/2006/main">
  <p:sldMasterIdLst>
    <p:sldMasterId xmlns:r="http://schemas.openxmlformats.org/officeDocument/2006/relationships" id="2147483648" r:id="R72d38b879bca4681"/>
  </p:sldMasterIdLst>
  <p:notesMasterIdLst>
    <p:notesMasterId xmlns:r="http://schemas.openxmlformats.org/officeDocument/2006/relationships" r:id="R629c4a35fbab4894"/>
  </p:notesMasterIdLst>
  <p:sldIdLst>
    <p:sldId xmlns:r="http://schemas.openxmlformats.org/officeDocument/2006/relationships" id="256" r:id="R63cd633b88c64925"/>
    <p:sldId xmlns:r="http://schemas.openxmlformats.org/officeDocument/2006/relationships" id="257" r:id="R00f7abd87f824821"/>
    <p:sldId xmlns:r="http://schemas.openxmlformats.org/officeDocument/2006/relationships" id="258" r:id="R193c5649b6794e9d"/>
    <p:sldId xmlns:r="http://schemas.openxmlformats.org/officeDocument/2006/relationships" id="259" r:id="R926c02e165ab4434"/>
    <p:sldId xmlns:r="http://schemas.openxmlformats.org/officeDocument/2006/relationships" id="260" r:id="Rdb677b64dc9b4fa0"/>
    <p:sldId xmlns:r="http://schemas.openxmlformats.org/officeDocument/2006/relationships" id="261" r:id="R52ccfdc62ff644cd"/>
    <p:sldId xmlns:r="http://schemas.openxmlformats.org/officeDocument/2006/relationships" id="262" r:id="R9edf5639097b426f"/>
    <p:sldId xmlns:r="http://schemas.openxmlformats.org/officeDocument/2006/relationships" id="263" r:id="Rae78f21f589d4a06"/>
    <p:sldId xmlns:r="http://schemas.openxmlformats.org/officeDocument/2006/relationships" id="264" r:id="R848c4ee9dbea4f98"/>
    <p:sldId xmlns:r="http://schemas.openxmlformats.org/officeDocument/2006/relationships" id="265" r:id="Ra16c0687ed214555"/>
    <p:sldId xmlns:r="http://schemas.openxmlformats.org/officeDocument/2006/relationships" id="266" r:id="Rd2e049e32b564184"/>
    <p:sldId xmlns:r="http://schemas.openxmlformats.org/officeDocument/2006/relationships" id="267" r:id="Rdb6112dc9d724ddd"/>
    <p:sldId xmlns:r="http://schemas.openxmlformats.org/officeDocument/2006/relationships" id="268" r:id="R3ca64e141363431c"/>
    <p:sldId xmlns:r="http://schemas.openxmlformats.org/officeDocument/2006/relationships" id="269" r:id="R27173340ba7b4687"/>
    <p:sldId xmlns:r="http://schemas.openxmlformats.org/officeDocument/2006/relationships" id="270" r:id="Rf698f7f2c9534f90"/>
    <p:sldId xmlns:r="http://schemas.openxmlformats.org/officeDocument/2006/relationships" id="271" r:id="R7081727a00ff409c"/>
    <p:sldId xmlns:r="http://schemas.openxmlformats.org/officeDocument/2006/relationships" id="272" r:id="R408c5798a9324e97"/>
    <p:sldId xmlns:r="http://schemas.openxmlformats.org/officeDocument/2006/relationships" id="273" r:id="R9fd3523ca80348ea"/>
    <p:sldId xmlns:r="http://schemas.openxmlformats.org/officeDocument/2006/relationships" id="274" r:id="R66c43769ac0343d4"/>
    <p:sldId xmlns:r="http://schemas.openxmlformats.org/officeDocument/2006/relationships" id="275" r:id="R7d000fb14402419f"/>
    <p:sldId xmlns:r="http://schemas.openxmlformats.org/officeDocument/2006/relationships" id="276" r:id="R2306dd4f74e44747"/>
    <p:sldId xmlns:r="http://schemas.openxmlformats.org/officeDocument/2006/relationships" id="277" r:id="Re7c3ded388a0418e"/>
    <p:sldId xmlns:r="http://schemas.openxmlformats.org/officeDocument/2006/relationships" id="278" r:id="Rd87223679872410e"/>
    <p:sldId xmlns:r="http://schemas.openxmlformats.org/officeDocument/2006/relationships" id="279" r:id="Rd89fecc2587c4930"/>
    <p:sldId xmlns:r="http://schemas.openxmlformats.org/officeDocument/2006/relationships" id="280" r:id="Rd145ef50d09c4273"/>
    <p:sldId xmlns:r="http://schemas.openxmlformats.org/officeDocument/2006/relationships" id="281" r:id="Rc4baabd36c7940b5"/>
    <p:sldId xmlns:r="http://schemas.openxmlformats.org/officeDocument/2006/relationships" id="282" r:id="R0423f5de15cd436a"/>
    <p:sldId xmlns:r="http://schemas.openxmlformats.org/officeDocument/2006/relationships" id="283" r:id="Rb5da8e4305f7474a"/>
    <p:sldId xmlns:r="http://schemas.openxmlformats.org/officeDocument/2006/relationships" id="284" r:id="Re55ac865a0e84437"/>
    <p:sldId xmlns:r="http://schemas.openxmlformats.org/officeDocument/2006/relationships" id="285" r:id="R091d745a52564c48"/>
    <p:sldId xmlns:r="http://schemas.openxmlformats.org/officeDocument/2006/relationships" id="286" r:id="R85e8a01b635c47f5"/>
    <p:sldId xmlns:r="http://schemas.openxmlformats.org/officeDocument/2006/relationships" id="287" r:id="R10f1370d7dcf47e1"/>
    <p:sldId xmlns:r="http://schemas.openxmlformats.org/officeDocument/2006/relationships" id="288" r:id="Rf52aec00def04632"/>
    <p:sldId xmlns:r="http://schemas.openxmlformats.org/officeDocument/2006/relationships" id="289" r:id="R2febcb5951dc4e8f"/>
    <p:sldId xmlns:r="http://schemas.openxmlformats.org/officeDocument/2006/relationships" id="290" r:id="R4f296c6a82034042"/>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042933127e491b" /><Relationship Type="http://schemas.openxmlformats.org/officeDocument/2006/relationships/slideMaster" Target="/ppt/slideMasters/slideMaster1.xml" Id="R72d38b879bca4681" /><Relationship Type="http://schemas.openxmlformats.org/officeDocument/2006/relationships/notesMaster" Target="/ppt/notesMasters/notesMaster1.xml" Id="R629c4a35fbab4894" /><Relationship Type="http://schemas.openxmlformats.org/officeDocument/2006/relationships/presProps" Target="/ppt/presProps.xml" Id="R0143dadf90174b22" /><Relationship Type="http://schemas.openxmlformats.org/officeDocument/2006/relationships/tableStyles" Target="/ppt/tableStyles.xml" Id="R26e399cdb4de4ebb" /><Relationship Type="http://schemas.openxmlformats.org/officeDocument/2006/relationships/slide" Target="/ppt/slides/slide1.xml" Id="R63cd633b88c64925" /><Relationship Type="http://schemas.openxmlformats.org/officeDocument/2006/relationships/slide" Target="/ppt/slides/slide2.xml" Id="R00f7abd87f824821" /><Relationship Type="http://schemas.openxmlformats.org/officeDocument/2006/relationships/slide" Target="/ppt/slides/slide3.xml" Id="R193c5649b6794e9d" /><Relationship Type="http://schemas.openxmlformats.org/officeDocument/2006/relationships/slide" Target="/ppt/slides/slide4.xml" Id="R926c02e165ab4434" /><Relationship Type="http://schemas.openxmlformats.org/officeDocument/2006/relationships/slide" Target="/ppt/slides/slide5.xml" Id="Rdb677b64dc9b4fa0" /><Relationship Type="http://schemas.openxmlformats.org/officeDocument/2006/relationships/slide" Target="/ppt/slides/slide6.xml" Id="R52ccfdc62ff644cd" /><Relationship Type="http://schemas.openxmlformats.org/officeDocument/2006/relationships/slide" Target="/ppt/slides/slide7.xml" Id="R9edf5639097b426f" /><Relationship Type="http://schemas.openxmlformats.org/officeDocument/2006/relationships/slide" Target="/ppt/slides/slide8.xml" Id="Rae78f21f589d4a06" /><Relationship Type="http://schemas.openxmlformats.org/officeDocument/2006/relationships/slide" Target="/ppt/slides/slide9.xml" Id="R848c4ee9dbea4f98" /><Relationship Type="http://schemas.openxmlformats.org/officeDocument/2006/relationships/slide" Target="/ppt/slides/slide10.xml" Id="Ra16c0687ed214555" /><Relationship Type="http://schemas.openxmlformats.org/officeDocument/2006/relationships/slide" Target="/ppt/slides/slide11.xml" Id="Rd2e049e32b564184" /><Relationship Type="http://schemas.openxmlformats.org/officeDocument/2006/relationships/slide" Target="/ppt/slides/slide12.xml" Id="Rdb6112dc9d724ddd" /><Relationship Type="http://schemas.openxmlformats.org/officeDocument/2006/relationships/slide" Target="/ppt/slides/slide13.xml" Id="R3ca64e141363431c" /><Relationship Type="http://schemas.openxmlformats.org/officeDocument/2006/relationships/slide" Target="/ppt/slides/slide14.xml" Id="R27173340ba7b4687" /><Relationship Type="http://schemas.openxmlformats.org/officeDocument/2006/relationships/slide" Target="/ppt/slides/slide15.xml" Id="Rf698f7f2c9534f90" /><Relationship Type="http://schemas.openxmlformats.org/officeDocument/2006/relationships/slide" Target="/ppt/slides/slide16.xml" Id="R7081727a00ff409c" /><Relationship Type="http://schemas.openxmlformats.org/officeDocument/2006/relationships/slide" Target="/ppt/slides/slide17.xml" Id="R408c5798a9324e97" /><Relationship Type="http://schemas.openxmlformats.org/officeDocument/2006/relationships/slide" Target="/ppt/slides/slide18.xml" Id="R9fd3523ca80348ea" /><Relationship Type="http://schemas.openxmlformats.org/officeDocument/2006/relationships/slide" Target="/ppt/slides/slide19.xml" Id="R66c43769ac0343d4" /><Relationship Type="http://schemas.openxmlformats.org/officeDocument/2006/relationships/slide" Target="/ppt/slides/slide20.xml" Id="R7d000fb14402419f" /><Relationship Type="http://schemas.openxmlformats.org/officeDocument/2006/relationships/slide" Target="/ppt/slides/slide21.xml" Id="R2306dd4f74e44747" /><Relationship Type="http://schemas.openxmlformats.org/officeDocument/2006/relationships/slide" Target="/ppt/slides/slide22.xml" Id="Re7c3ded388a0418e" /><Relationship Type="http://schemas.openxmlformats.org/officeDocument/2006/relationships/slide" Target="/ppt/slides/slide23.xml" Id="Rd87223679872410e" /><Relationship Type="http://schemas.openxmlformats.org/officeDocument/2006/relationships/slide" Target="/ppt/slides/slide24.xml" Id="Rd89fecc2587c4930" /><Relationship Type="http://schemas.openxmlformats.org/officeDocument/2006/relationships/slide" Target="/ppt/slides/slide25.xml" Id="Rd145ef50d09c4273" /><Relationship Type="http://schemas.openxmlformats.org/officeDocument/2006/relationships/slide" Target="/ppt/slides/slide26.xml" Id="Rc4baabd36c7940b5" /><Relationship Type="http://schemas.openxmlformats.org/officeDocument/2006/relationships/slide" Target="/ppt/slides/slide27.xml" Id="R0423f5de15cd436a" /><Relationship Type="http://schemas.openxmlformats.org/officeDocument/2006/relationships/slide" Target="/ppt/slides/slide28.xml" Id="Rb5da8e4305f7474a" /><Relationship Type="http://schemas.openxmlformats.org/officeDocument/2006/relationships/slide" Target="/ppt/slides/slide29.xml" Id="Re55ac865a0e84437" /><Relationship Type="http://schemas.openxmlformats.org/officeDocument/2006/relationships/slide" Target="/ppt/slides/slide30.xml" Id="R091d745a52564c48" /><Relationship Type="http://schemas.openxmlformats.org/officeDocument/2006/relationships/slide" Target="/ppt/slides/slide31.xml" Id="R85e8a01b635c47f5" /><Relationship Type="http://schemas.openxmlformats.org/officeDocument/2006/relationships/slide" Target="/ppt/slides/slide32.xml" Id="R10f1370d7dcf47e1" /><Relationship Type="http://schemas.openxmlformats.org/officeDocument/2006/relationships/slide" Target="/ppt/slides/slide33.xml" Id="Rf52aec00def04632" /><Relationship Type="http://schemas.openxmlformats.org/officeDocument/2006/relationships/slide" Target="/ppt/slides/slide34.xml" Id="R2febcb5951dc4e8f" /><Relationship Type="http://schemas.openxmlformats.org/officeDocument/2006/relationships/slide" Target="/ppt/slides/slide35.xml" Id="R4f296c6a820340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f52f677a8145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2cb20d51e74e30" /><Relationship Type="http://schemas.openxmlformats.org/officeDocument/2006/relationships/notesMaster" Target="/ppt/notesMasters/notesMaster1.xml" Id="R12637e51f9b24e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c8bd2aea554754" /><Relationship Type="http://schemas.openxmlformats.org/officeDocument/2006/relationships/notesMaster" Target="/ppt/notesMasters/notesMaster1.xml" Id="R3de93aa329aa4a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6e0f17b21c4c07" /><Relationship Type="http://schemas.openxmlformats.org/officeDocument/2006/relationships/notesMaster" Target="/ppt/notesMasters/notesMaster1.xml" Id="Rbdb4257440e148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5dc9c600844ec0" /><Relationship Type="http://schemas.openxmlformats.org/officeDocument/2006/relationships/notesMaster" Target="/ppt/notesMasters/notesMaster1.xml" Id="R99f6a6dd3ad34a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a1bf8b3e304017" /><Relationship Type="http://schemas.openxmlformats.org/officeDocument/2006/relationships/notesMaster" Target="/ppt/notesMasters/notesMaster1.xml" Id="Re2968d7891794b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1d9253ccb54fd9" /><Relationship Type="http://schemas.openxmlformats.org/officeDocument/2006/relationships/notesMaster" Target="/ppt/notesMasters/notesMaster1.xml" Id="R7d2736e2b9f140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a0925dd72f41e3" /><Relationship Type="http://schemas.openxmlformats.org/officeDocument/2006/relationships/notesMaster" Target="/ppt/notesMasters/notesMaster1.xml" Id="R72cd5957625341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6733eac3fe4e92" /><Relationship Type="http://schemas.openxmlformats.org/officeDocument/2006/relationships/notesMaster" Target="/ppt/notesMasters/notesMaster1.xml" Id="Ra1da4d5e62f044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3de08648fb4e03" /><Relationship Type="http://schemas.openxmlformats.org/officeDocument/2006/relationships/notesMaster" Target="/ppt/notesMasters/notesMaster1.xml" Id="Reea05e84c9df48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e70746d7f84bf0" /><Relationship Type="http://schemas.openxmlformats.org/officeDocument/2006/relationships/notesMaster" Target="/ppt/notesMasters/notesMaster1.xml" Id="R85d87feb5c9542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e5549278454275" /><Relationship Type="http://schemas.openxmlformats.org/officeDocument/2006/relationships/notesMaster" Target="/ppt/notesMasters/notesMaster1.xml" Id="R6ef41cf3d5e84a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3b7f96947d49c8" /><Relationship Type="http://schemas.openxmlformats.org/officeDocument/2006/relationships/notesMaster" Target="/ppt/notesMasters/notesMaster1.xml" Id="R069a73813bc048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0a32aeccf64dc0" /><Relationship Type="http://schemas.openxmlformats.org/officeDocument/2006/relationships/notesMaster" Target="/ppt/notesMasters/notesMaster1.xml" Id="Re07311c5204d41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c14c1636764b0d" /><Relationship Type="http://schemas.openxmlformats.org/officeDocument/2006/relationships/notesMaster" Target="/ppt/notesMasters/notesMaster1.xml" Id="R818847b59c234f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e486f2083440bc" /><Relationship Type="http://schemas.openxmlformats.org/officeDocument/2006/relationships/notesMaster" Target="/ppt/notesMasters/notesMaster1.xml" Id="R2b177cefbf9a42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8e4c4e598b4263" /><Relationship Type="http://schemas.openxmlformats.org/officeDocument/2006/relationships/notesMaster" Target="/ppt/notesMasters/notesMaster1.xml" Id="R3f8b9d4fd7304f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448b7bd3734139" /><Relationship Type="http://schemas.openxmlformats.org/officeDocument/2006/relationships/notesMaster" Target="/ppt/notesMasters/notesMaster1.xml" Id="R8ab99444513d43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7c3ce4c13a4295" /><Relationship Type="http://schemas.openxmlformats.org/officeDocument/2006/relationships/notesMaster" Target="/ppt/notesMasters/notesMaster1.xml" Id="R94c7c77cb3024f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6ac2c9493b4bbc" /><Relationship Type="http://schemas.openxmlformats.org/officeDocument/2006/relationships/notesMaster" Target="/ppt/notesMasters/notesMaster1.xml" Id="R0d83c2718ca6465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cece7132f044bf" /><Relationship Type="http://schemas.openxmlformats.org/officeDocument/2006/relationships/notesMaster" Target="/ppt/notesMasters/notesMaster1.xml" Id="R034d367405ea4f3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f77cc307df4cd3" /><Relationship Type="http://schemas.openxmlformats.org/officeDocument/2006/relationships/notesMaster" Target="/ppt/notesMasters/notesMaster1.xml" Id="Rda33fe679f7946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1b23c05288466a" /><Relationship Type="http://schemas.openxmlformats.org/officeDocument/2006/relationships/notesMaster" Target="/ppt/notesMasters/notesMaster1.xml" Id="R68eec11720b24f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78dfeb9ee9b46a3" /><Relationship Type="http://schemas.openxmlformats.org/officeDocument/2006/relationships/notesMaster" Target="/ppt/notesMasters/notesMaster1.xml" Id="Re34b737d82d240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4f4307347f49aa" /><Relationship Type="http://schemas.openxmlformats.org/officeDocument/2006/relationships/notesMaster" Target="/ppt/notesMasters/notesMaster1.xml" Id="Reb9bd29f9e4f41c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7a4ba3e8b44779" /><Relationship Type="http://schemas.openxmlformats.org/officeDocument/2006/relationships/notesMaster" Target="/ppt/notesMasters/notesMaster1.xml" Id="R415dbee5683b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141438353949b4" /><Relationship Type="http://schemas.openxmlformats.org/officeDocument/2006/relationships/notesMaster" Target="/ppt/notesMasters/notesMaster1.xml" Id="Rf31d9b602f0a40a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61585c2f41c40fe" /><Relationship Type="http://schemas.openxmlformats.org/officeDocument/2006/relationships/notesMaster" Target="/ppt/notesMasters/notesMaster1.xml" Id="Rbfd9ed62a13743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bfe9b19f61d4397" /><Relationship Type="http://schemas.openxmlformats.org/officeDocument/2006/relationships/notesMaster" Target="/ppt/notesMasters/notesMaster1.xml" Id="R5a16e9d033794b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74c4a55a65342e2" /><Relationship Type="http://schemas.openxmlformats.org/officeDocument/2006/relationships/notesMaster" Target="/ppt/notesMasters/notesMaster1.xml" Id="R61b0468463334e7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cac7e9df0204043" /><Relationship Type="http://schemas.openxmlformats.org/officeDocument/2006/relationships/notesMaster" Target="/ppt/notesMasters/notesMaster1.xml" Id="R0fb95a09d12b4c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be92f3fdb7474b" /><Relationship Type="http://schemas.openxmlformats.org/officeDocument/2006/relationships/notesMaster" Target="/ppt/notesMasters/notesMaster1.xml" Id="R837754cf105f4e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7c624dd56848a2" /><Relationship Type="http://schemas.openxmlformats.org/officeDocument/2006/relationships/notesMaster" Target="/ppt/notesMasters/notesMaster1.xml" Id="R9bd865f435c2485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a90e89400774006" /><Relationship Type="http://schemas.openxmlformats.org/officeDocument/2006/relationships/notesMaster" Target="/ppt/notesMasters/notesMaster1.xml" Id="R8d7c060c67444a2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31f93e96c14a6a" /><Relationship Type="http://schemas.openxmlformats.org/officeDocument/2006/relationships/notesMaster" Target="/ppt/notesMasters/notesMaster1.xml" Id="Ra985af837e504f8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586efc0180b4f34" /><Relationship Type="http://schemas.openxmlformats.org/officeDocument/2006/relationships/notesMaster" Target="/ppt/notesMasters/notesMaster1.xml" Id="Rf084ad403f1e48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this as a concept-led lecture with instructor demonstrations. Allow approximately 65–80 minutes depending on discussion. Students do not need to calculate commands, derive formulas, complete worksheets, or export results. Use the visual behavior to explain what each controller responds to and where its assumptions matter.</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an explanation in ordinary language. Students should distinguish a target-point tracker from error feedback and predictive planning. Use questions about what they see. Avoid turning this into a gain-calculation or optimization-derivation lesson.</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Lecture 7. A route or trajectory is an intention; steering and propulsion must carry it out. A plan can be reasonable while tracking is poor because the actuator is slow. A controller also cannot rescue every impossible plan. The speed and steering demonstrations isolate the two tasks.</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loop aloud, then repeat it. Each command changes the situation, so the controller must keep observing. A disturbance such as a hill enters between decisions. The demo uses exact simulated position and speed; real vehicles depend on estimates that can be delayed or noisy.</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cruise control on a hill. Feedback reacts to what happened. Feedforward anticipates a known load or bend using a model. They can be combined. The speed demo optionally compensates nominal drag; it does not sense upcoming hills. Keep that distinction clear.</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teaching vehicle captures basic turning and actuator response. It omits tire slip, road friction changes and many real dynamics. Models make prediction possible, but accuracy is conditional. LQR and MPC use a local approximation, while the simulated vehicle follows the nonlinear turning model.</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traces qualitatively first. A path that looks close can still involve aggressive steering. Gentle commands can leave tracking error. The numerical details are available in the demo but are not a class calculation task. These observations do not establish real-vehicle safety.</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instructor can operate every demonstration. Play shows time unfolding; Run 20 s jumps to the completed response; Step freezes attention on the next decision. No student calculations or submitted results are required. The lab saves a previous run for visual comparison. It works offline after extracting the package.</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a:p xmlns:a="http://schemas.openxmlformats.org/drawingml/2006/main">
            <a:r>
              <a:t/>
            </a:r>
          </a:p>
          <a:p xmlns:a="http://schemas.openxmlformats.org/drawingml/2006/main">
            <a:r>
              <a:t>Lab link: ../Labs/Control/index.html#pid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letters as present error, accumulated error, and change. The bars show which contribution is helping at the current moment; students do not add the bars by hand. Derivative action can amplify measurement noise, so the implementation filters it. This display is a sample from the hill scenario.</a:t>
            </a:r>
          </a:p>
          <a:p xmlns:a="http://schemas.openxmlformats.org/drawingml/2006/main">
            <a:r>
              <a:t/>
            </a:r>
          </a:p>
          <a:p xmlns:a="http://schemas.openxmlformats.org/drawingml/2006/main">
            <a:r>
              <a:t>Sources</a:t>
            </a:r>
          </a:p>
          <a:p xmlns:a="http://schemas.openxmlformats.org/drawingml/2006/main">
            <a:r>
              <a:t>https://www.mathworks.com/help/simulink/slref/anti-windup-control-using-a-pid-controller.html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../Labs/Control/index.html#pid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 P on a hill, press Play, and point out the persistent gap. Then load PI on a hill. The dashed saved speed trace allows a direct comparison. Both presets disable D so the contrast isolates the added integral term. Ask why correcting a persistent shortfall is useful; do not calculate the final speed.</a:t>
            </a:r>
          </a:p>
          <a:p xmlns:a="http://schemas.openxmlformats.org/drawingml/2006/main">
            <a:r>
              <a:t/>
            </a:r>
          </a:p>
          <a:p xmlns:a="http://schemas.openxmlformats.org/drawingml/2006/main">
            <a:r>
              <a:t>Sources</a:t>
            </a:r>
          </a:p>
          <a:p xmlns:a="http://schemas.openxmlformats.org/drawingml/2006/main">
            <a:r>
              <a:t>https://www.mathworks.com/help/simulink/slref/anti-windup-control-using-a-pid-controller.html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../Labs/Control/index.html#pid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integral windup as a mismatch between what is requested and what is possible. This braking case starts with acceleration toward a target and later lowers that target. The shown overshoot and recovery are computed by the demo with anti-windup off. Explain the memory effect without integral notation.</a:t>
            </a:r>
          </a:p>
          <a:p xmlns:a="http://schemas.openxmlformats.org/drawingml/2006/main">
            <a:r>
              <a:t/>
            </a:r>
          </a:p>
          <a:p xmlns:a="http://schemas.openxmlformats.org/drawingml/2006/main">
            <a:r>
              <a:t>Sources</a:t>
            </a:r>
          </a:p>
          <a:p xmlns:a="http://schemas.openxmlformats.org/drawingml/2006/main">
            <a:r>
              <a:t>https://www.mathworks.com/help/simulink/slref/anti-windup-control-using-a-pid-controller.html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same braking case with anti-windup enabled. Compare the shape and recovery with the preceding slide. Anti-windup does not create stronger brakes or instant response. The implementation conditionally pauses accumulation; there are other engineering implementations.</a:t>
            </a:r>
          </a:p>
          <a:p xmlns:a="http://schemas.openxmlformats.org/drawingml/2006/main">
            <a:r>
              <a:t/>
            </a:r>
          </a:p>
          <a:p xmlns:a="http://schemas.openxmlformats.org/drawingml/2006/main">
            <a:r>
              <a:t>Sources</a:t>
            </a:r>
          </a:p>
          <a:p xmlns:a="http://schemas.openxmlformats.org/drawingml/2006/main">
            <a:r>
              <a:t>https://www.mathworks.com/help/simulink/slref/anti-windup-control-using-a-pid-controller.html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../Labs/Control/index.html#pid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map of the remaining lecture. All four repeatedly respond to the vehicle state. PID is shown separately for speed. The categories are useful teaching distinctions; production systems may combine them and include additional compensation.</a:t>
            </a:r>
          </a:p>
          <a:p xmlns:a="http://schemas.openxmlformats.org/drawingml/2006/main">
            <a:r>
              <a:t/>
            </a:r>
          </a:p>
          <a:p xmlns:a="http://schemas.openxmlformats.org/drawingml/2006/main">
            <a:r>
              <a:t>Sources</a:t>
            </a:r>
          </a:p>
          <a:p xmlns:a="http://schemas.openxmlformats.org/drawingml/2006/main">
            <a:r>
              <a:t>https://www.ri.cmu.edu/pub_files/pub3/coulter_r_craig_1992_1/coulter_r_craig_1992_1.pdf</a:t>
            </a:r>
          </a:p>
          <a:p xmlns:a="http://schemas.openxmlformats.org/drawingml/2006/main">
            <a:r>
              <a:t>https://robots.stanford.edu/papers/thrun.stanley05.pdf</a:t>
            </a:r>
          </a:p>
          <a:p xmlns:a="http://schemas.openxmlformats.org/drawingml/2006/main">
            <a:r>
              <a:t>https://underactuated.mit.edu/lqr.html</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orange point is the target and the orange dashed line connects it to the rear axle. The close-up uses equal horizontal and vertical scales so the geometry is meaningful. The target moves as the car progresses. Keep attention on the point and turning response rather than a curvature formula.</a:t>
            </a:r>
          </a:p>
          <a:p xmlns:a="http://schemas.openxmlformats.org/drawingml/2006/main">
            <a:r>
              <a:t/>
            </a:r>
          </a:p>
          <a:p xmlns:a="http://schemas.openxmlformats.org/drawingml/2006/main">
            <a:r>
              <a:t>Sources</a:t>
            </a:r>
          </a:p>
          <a:p xmlns:a="http://schemas.openxmlformats.org/drawingml/2006/main">
            <a:r>
              <a:t>https://www.ri.cmu.edu/pub_files/pub3/coulter_r_craig_1992_1/coulter_r_craig_1992_1.pdf</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../Labs/Control/index.html#pure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Pure Pursuit switch between Short lookahead and Long lookahead. Show the target in close-up, then play the motion. Use the saved trace to compare. These are tendencies, not a promise that increasing lookahead always helps. No angle calculation is needed.</a:t>
            </a:r>
          </a:p>
          <a:p xmlns:a="http://schemas.openxmlformats.org/drawingml/2006/main">
            <a:r>
              <a:t/>
            </a:r>
          </a:p>
          <a:p xmlns:a="http://schemas.openxmlformats.org/drawingml/2006/main">
            <a:r>
              <a:t>Sources</a:t>
            </a:r>
          </a:p>
          <a:p xmlns:a="http://schemas.openxmlformats.org/drawingml/2006/main">
            <a:r>
              <a:t>https://www.ri.cmu.edu/pub_files/pub3/coulter_r_craig_1992_1/coulter_r_craig_1992_1.pdf</a:t>
            </a:r>
          </a:p>
          <a:p xmlns:a="http://schemas.openxmlformats.org/drawingml/2006/main">
            <a:r>
              <a:t/>
            </a:r>
          </a:p>
          <a:p xmlns:a="http://schemas.openxmlformats.org/drawingml/2006/main">
            <a:r>
              <a:t>Visuals</a:t>
            </a:r>
          </a:p>
          <a:p xmlns:a="http://schemas.openxmlformats.org/drawingml/2006/main">
            <a:r>
              <a:t>Editable text, equation text, or native comparison table.</a:t>
            </a:r>
          </a:p>
          <a:p xmlns:a="http://schemas.openxmlformats.org/drawingml/2006/main">
            <a:r>
              <a:t/>
            </a:r>
          </a:p>
          <a:p xmlns:a="http://schemas.openxmlformats.org/drawingml/2006/main">
            <a:r>
              <a:t>Lab link: ../Labs/Control/index.html#pure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front axle and the magenta sideways-error segment. A car can be close to the path but pointed away, or aligned but displaced. Stanley responds to both. The classroom implementation uses the core geometric law and a shared simulated actuator; it does not reproduce the full original racing vehicle.</a:t>
            </a:r>
          </a:p>
          <a:p xmlns:a="http://schemas.openxmlformats.org/drawingml/2006/main">
            <a:r>
              <a:t/>
            </a:r>
          </a:p>
          <a:p xmlns:a="http://schemas.openxmlformats.org/drawingml/2006/main">
            <a:r>
              <a:t>Sources</a:t>
            </a:r>
          </a:p>
          <a:p xmlns:a="http://schemas.openxmlformats.org/drawingml/2006/main">
            <a:r>
              <a:t>https://robots.stanford.edu/papers/thrun.stanley05.pdf</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../Labs/Control/index.html#stanley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Stanley: Gentle gain, Strong gain, then Strong gain plus delay. Keep the path and speed fixed. The plotted comparison contrasts strong gain with and without delay. Ask students to point out repeated crossings or persistent swings. Do not imply that every delayed configuration oscillates.</a:t>
            </a:r>
          </a:p>
          <a:p xmlns:a="http://schemas.openxmlformats.org/drawingml/2006/main">
            <a:r>
              <a:t/>
            </a:r>
          </a:p>
          <a:p xmlns:a="http://schemas.openxmlformats.org/drawingml/2006/main">
            <a:r>
              <a:t>Sources</a:t>
            </a:r>
          </a:p>
          <a:p xmlns:a="http://schemas.openxmlformats.org/drawingml/2006/main">
            <a:r>
              <a:t>https://robots.stanford.edu/papers/thrun.stanley05.pdf</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../Labs/Control/index.html#stanley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model-based feedback through the tradeoff students have already seen. A model relates steering to future error. The designer chooses how much to prioritize tracking and input effort. LQR turns that choice into a reusable feedback rule for the modeled operating conditions.</a:t>
            </a:r>
          </a:p>
          <a:p xmlns:a="http://schemas.openxmlformats.org/drawingml/2006/main">
            <a:r>
              <a:t/>
            </a:r>
          </a:p>
          <a:p xmlns:a="http://schemas.openxmlformats.org/drawingml/2006/main">
            <a:r>
              <a:t>Sources</a:t>
            </a:r>
          </a:p>
          <a:p xmlns:a="http://schemas.openxmlformats.org/drawingml/2006/main">
            <a:r>
              <a:t>https://underactuated.mit.edu/lqr.html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 LQR once as Linear Quadratic Regulator. Explain that it chooses a feedback rule under a local linear model and a cost that penalizes error and input. The words are sufficient; no matrices, gain-vector example, or cost calculation are needed. The demo also anticipates path curvature with feedforward.</a:t>
            </a:r>
          </a:p>
          <a:p xmlns:a="http://schemas.openxmlformats.org/drawingml/2006/main">
            <a:r>
              <a:t/>
            </a:r>
          </a:p>
          <a:p xmlns:a="http://schemas.openxmlformats.org/drawingml/2006/main">
            <a:r>
              <a:t>Sources</a:t>
            </a:r>
          </a:p>
          <a:p xmlns:a="http://schemas.openxmlformats.org/drawingml/2006/main">
            <a:r>
              <a:t>https://underactuated.mit.edu/lqr.html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../Labs/Control/index.html#lqr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 Balanced weights, Tracking priority, and Steering penalty. Watch both the error and input traces. Then load Limited actuator. Larger input penalties discourage command magnitude; they do not directly guarantee comfort or smooth steering. LQR here is designed without the actuator limits and lag, so clipping changes its behavior.</a:t>
            </a:r>
          </a:p>
          <a:p xmlns:a="http://schemas.openxmlformats.org/drawingml/2006/main">
            <a:r>
              <a:t/>
            </a:r>
          </a:p>
          <a:p xmlns:a="http://schemas.openxmlformats.org/drawingml/2006/main">
            <a:r>
              <a:t>Sources</a:t>
            </a:r>
          </a:p>
          <a:p xmlns:a="http://schemas.openxmlformats.org/drawingml/2006/main">
            <a:r>
              <a:t>https://underactuated.mit.edu/lqr.html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../Labs/Control/index.html#lqr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MPC with a lane change and limited steering response. This motivates planning a sequence rather than reacting only to the present. Preview alone is not exclusive to MPC: Pure Pursuit also looks ahead. MPC specifically optimizes a sequence using a predictive model and stated limits.</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around the loop verbally. Future actions are provisional. After the first action, a new measurement can reveal a disturbance or prediction error. The controller then optimizes again. No horizon arithmetic or optimization derivation is required.</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MPC and use Step, then Play. Point out the green prediction ahead of the car. It is recomputed from the current state, not recorded future ground truth. The displayed vehicle shows applied steering while the prediction is based on the planned sequence. Different colors and a dashed reference separate those roles.</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../Labs/Control/index.html#mpc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steering-sequence plot visualizes the same current plan as the green path. The point of the plot is the first-action/replanning mechanism, not numerical reading or calculation. Ask why an unexpected disturbance should change the remaining plan.</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../Labs/Control/index.html#mpc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soft preferences with hard input bounds. LQR in this demo has preferences but its design omits hard actuator limits. MPC includes steering angle and rate bounds in the plan. Neither controller can make an unattainable path feasible just by increasing a priority.</a:t>
            </a:r>
          </a:p>
          <a:p xmlns:a="http://schemas.openxmlformats.org/drawingml/2006/main">
            <a:r>
              <a:t/>
            </a:r>
          </a:p>
          <a:p xmlns:a="http://schemas.openxmlformats.org/drawingml/2006/main">
            <a:r>
              <a:t>Sources</a:t>
            </a:r>
          </a:p>
          <a:p xmlns:a="http://schemas.openxmlformats.org/drawingml/2006/main">
            <a:r>
              <a:t>https://underactuated.mit.edu/lqr.html</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compares short and long predictions starting from exactly the same vehicle state; it is not a pair of completed trajectories. Use MPC Short horizon and Long horizon on the same lane change. Then show the corresponding tight-limit cases. Use After 2 s if inspecting the numerical details to separate startup recovery from the lane change. Keep the lesson observational; no result table or export is required. A longer horizon need not win every measure.</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../Labs/Control/index.html#mpc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plotted Long horizon plus delay case separates requested, limited and applied steering over the complete run. The model used for this MPC omits actuator lag, command delay and bias. Even a well-solved plan can be inaccurate when those effects matter. Use the Added delay preset if there is time; do not focus on solver residuals.</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../Labs/Control/index.html#mpc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real engineering failure mechanisms. This demo has input limits but no obstacles or road boundaries, so a successful trace is not collision avoidance. It uses a fixed-budget approximate solver. The lesson is to inspect assumptions and the complete control loop rather than treat MPC as automatically superior.</a:t>
            </a:r>
          </a:p>
          <a:p xmlns:a="http://schemas.openxmlformats.org/drawingml/2006/main">
            <a:r>
              <a:t/>
            </a:r>
          </a:p>
          <a:p xmlns:a="http://schemas.openxmlformats.org/drawingml/2006/main">
            <a:r>
              <a:t>Sources</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Compare: Baseline, then Added delay. These are independent vehicles, not multiple commands on one car. The default tuning is illustrative, so this is not a universal ranking. Students can explain a visible response without calculating a score.</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../Labs/Control/index.html#compare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error history as a visual explanation. The horizontal zero line represents being on the path. Large oscillations or isolated peaks mean different things. Numerical details remain optional; no root-mean-square calculation is needed. The metrics use the rear axle consistently across lateral controllers.</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Computed plot from the same simulation and rendering component used by the companion Control lab. Synthetic instructional data, not a vehicle benchmark.</a:t>
            </a:r>
          </a:p>
          <a:p xmlns:a="http://schemas.openxmlformats.org/drawingml/2006/main">
            <a:r>
              <a:t/>
            </a:r>
          </a:p>
          <a:p xmlns:a="http://schemas.openxmlformats.org/drawingml/2006/main">
            <a:r>
              <a:t>Lab link: ../Labs/Control/index.html#compare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gives conceptual starting points, not deployment recommendations. A real vehicle may combine several methods. Choose based on the operating conditions, the available model and the physical actuator. Retuning, slowing down, or changing the plan can matter more than changing the algorithm name.</a:t>
            </a:r>
          </a:p>
          <a:p xmlns:a="http://schemas.openxmlformats.org/drawingml/2006/main">
            <a:r>
              <a:t/>
            </a:r>
          </a:p>
          <a:p xmlns:a="http://schemas.openxmlformats.org/drawingml/2006/main">
            <a:r>
              <a:t>Sources</a:t>
            </a:r>
          </a:p>
          <a:p xmlns:a="http://schemas.openxmlformats.org/drawingml/2006/main">
            <a:r>
              <a:t>https://www.mathworks.com/help/simulink/slref/anti-windup-control-using-a-pid-controller.html</a:t>
            </a:r>
          </a:p>
          <a:p xmlns:a="http://schemas.openxmlformats.org/drawingml/2006/main">
            <a:r>
              <a:t>https://www.ri.cmu.edu/pub_files/pub3/coulter_r_craig_1992_1/coulter_r_craig_1992_1.pdf</a:t>
            </a:r>
          </a:p>
          <a:p xmlns:a="http://schemas.openxmlformats.org/drawingml/2006/main">
            <a:r>
              <a:t>https://robots.stanford.edu/papers/thrun.stanley05.pdf</a:t>
            </a:r>
          </a:p>
          <a:p xmlns:a="http://schemas.openxmlformats.org/drawingml/2006/main">
            <a:r>
              <a:t>https://underactuated.mit.edu/lqr.html</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a brief overview. These approaches are not implemented in the demo. Connect each to a problem already seen: speed changes, uncertain dynamics or unfamiliar scenarios. Their design and validation requirements deserve a separate lecture rather than additional equations here.</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perception, localization, planning and control. The controller is only one part of the loop. Delayed estimates or miscalibrated actuation can spoil the response. The offline demo does not communicate with ROS or physical hardware; use it to illustrate these dependencies.</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optional verbal discussion prompts. There is no written exercise or numeric answer. Listen for persistent-error correction and windup, the target-distance tradeoff, and the need to incorporate fresh measurements. Students should refer to a behavior they saw in a demonstration.</a:t>
            </a:r>
          </a:p>
          <a:p xmlns:a="http://schemas.openxmlformats.org/drawingml/2006/main">
            <a:r>
              <a:t/>
            </a:r>
          </a:p>
          <a:p xmlns:a="http://schemas.openxmlformats.org/drawingml/2006/main">
            <a:r>
              <a:t>Sources</a:t>
            </a:r>
          </a:p>
          <a:p xmlns:a="http://schemas.openxmlformats.org/drawingml/2006/main">
            <a:r>
              <a:t>Original course explanation and companion teaching simulation.</a:t>
            </a:r>
          </a:p>
          <a:p xmlns:a="http://schemas.openxmlformats.org/drawingml/2006/main">
            <a:r>
              <a:t/>
            </a:r>
          </a:p>
          <a:p xmlns:a="http://schemas.openxmlformats.org/drawingml/2006/main">
            <a:r>
              <a:t>Visuals</a:t>
            </a:r>
          </a:p>
          <a:p xmlns:a="http://schemas.openxmlformats.org/drawingml/2006/main">
            <a:r>
              <a:t>Editable text, equation text, or native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package includes slides, a static PDF, six interactive views and a concept guide. It requires no installation or network for the demos. References and technical model details are in the README and speaker notes. Optional exports and fine tuning remain available, but no calculations or submitted lab report are required.</a:t>
            </a:r>
          </a:p>
          <a:p xmlns:a="http://schemas.openxmlformats.org/drawingml/2006/main">
            <a:r>
              <a:t/>
            </a:r>
          </a:p>
          <a:p xmlns:a="http://schemas.openxmlformats.org/drawingml/2006/main">
            <a:r>
              <a:t>Sources</a:t>
            </a:r>
          </a:p>
          <a:p xmlns:a="http://schemas.openxmlformats.org/drawingml/2006/main">
            <a:r>
              <a:t>https://www.mathworks.com/help/simulink/slref/anti-windup-control-using-a-pid-controller.html</a:t>
            </a:r>
          </a:p>
          <a:p xmlns:a="http://schemas.openxmlformats.org/drawingml/2006/main">
            <a:r>
              <a:t>https://www.ri.cmu.edu/pub_files/pub3/coulter_r_craig_1992_1/coulter_r_craig_1992_1.pdf</a:t>
            </a:r>
          </a:p>
          <a:p xmlns:a="http://schemas.openxmlformats.org/drawingml/2006/main">
            <a:r>
              <a:t>https://robots.stanford.edu/papers/thrun.stanley05.pdf</a:t>
            </a:r>
          </a:p>
          <a:p xmlns:a="http://schemas.openxmlformats.org/drawingml/2006/main">
            <a:r>
              <a:t>https://underactuated.mit.edu/lqr.html</a:t>
            </a:r>
          </a:p>
          <a:p xmlns:a="http://schemas.openxmlformats.org/drawingml/2006/main">
            <a:r>
              <a:t>https://www.do-mpc.com/en/latest/theory_mpc.html</a:t>
            </a:r>
          </a:p>
          <a:p xmlns:a="http://schemas.openxmlformats.org/drawingml/2006/main">
            <a:r>
              <a:t/>
            </a:r>
          </a:p>
          <a:p xmlns:a="http://schemas.openxmlformats.org/drawingml/2006/main">
            <a:r>
              <a:t>Visuals</a:t>
            </a:r>
          </a:p>
          <a:p xmlns:a="http://schemas.openxmlformats.org/drawingml/2006/main">
            <a:r>
              <a:t>Editable text, equation text, or native comparison table.</a:t>
            </a:r>
          </a:p>
          <a:p xmlns:a="http://schemas.openxmlformats.org/drawingml/2006/main">
            <a:r>
              <a:t/>
            </a:r>
          </a:p>
          <a:p xmlns:a="http://schemas.openxmlformats.org/drawingml/2006/main">
            <a:r>
              <a:t>Lab link: ../Labs/Control/index.html#compare (extract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f346ffd3e047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3edce694524c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23aac6d50d44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5e036b6f8544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d827e4433c42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6561d8377f40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84F4E8-72A0-452D-B1D5-87E6CEBE4C27}"/>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CBBC1C-0592-4F86-BB9E-70B872EFEFF9}"/>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F76CD7-0FB5-455E-A3B1-A91E0401A92A}"/>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7F5BDD-27B5-444D-A458-ACACDBD725C3}"/>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67BFB0-FF9F-43EB-A6E2-DBCC7CC756EA}"/>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5B7989-A122-4583-B100-700C4E09526E}"/>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52ADD0-DB49-4981-A0F3-69DBC495C367}"/>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F4C502-6786-4EF5-9AF0-CEF74A310AFF}"/>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B7CB7E-3C35-48FF-BB66-7084027C626A}"/>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8D1235-4049-4081-9FBD-B124BC41B462}"/>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b8b0fa45034699" /><Relationship Type="http://schemas.openxmlformats.org/officeDocument/2006/relationships/slideLayout" Target="/ppt/slideLayouts/slideLayout1.xml" Id="Re7ef4b40ac6e4985" /><Relationship Type="http://schemas.openxmlformats.org/officeDocument/2006/relationships/slideLayout" Target="/ppt/slideLayouts/slideLayout2.xml" Id="R19982d3f54a24703" /><Relationship Type="http://schemas.openxmlformats.org/officeDocument/2006/relationships/slideLayout" Target="/ppt/slideLayouts/slideLayout3.xml" Id="Re455935aed0543a4" /><Relationship Type="http://schemas.openxmlformats.org/officeDocument/2006/relationships/slideLayout" Target="/ppt/slideLayouts/slideLayout4.xml" Id="Rfbf7276fbe82439b" /><Relationship Type="http://schemas.openxmlformats.org/officeDocument/2006/relationships/slideLayout" Target="/ppt/slideLayouts/slideLayout5.xml" Id="R6aea5bbcab6e4159" /><Relationship Type="http://schemas.openxmlformats.org/officeDocument/2006/relationships/slideLayout" Target="/ppt/slideLayouts/slideLayout6.xml" Id="R7c4f1976a4f843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ef4b40ac6e4985"/>
    <p:sldLayoutId xmlns:r="http://schemas.openxmlformats.org/officeDocument/2006/relationships" id="2147483650" r:id="R19982d3f54a24703"/>
    <p:sldLayoutId xmlns:r="http://schemas.openxmlformats.org/officeDocument/2006/relationships" id="2147483651" r:id="Re455935aed0543a4"/>
    <p:sldLayoutId xmlns:r="http://schemas.openxmlformats.org/officeDocument/2006/relationships" id="2147483652" r:id="Rfbf7276fbe82439b"/>
    <p:sldLayoutId xmlns:r="http://schemas.openxmlformats.org/officeDocument/2006/relationships" id="2147483653" r:id="R6aea5bbcab6e4159"/>
    <p:sldLayoutId xmlns:r="http://schemas.openxmlformats.org/officeDocument/2006/relationships" id="2147483654" r:id="R7c4f1976a4f843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d75db7df9040e3" /><Relationship Type="http://schemas.openxmlformats.org/officeDocument/2006/relationships/image" Target="/ppt/media/image.jpeg" Id="Rf04606ead6dc48da" /><Relationship Type="http://schemas.openxmlformats.org/officeDocument/2006/relationships/notesSlide" Target="/ppt/notesSlides/notesSlide1.xml" Id="R76c029cfb0f049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02620ec4414efb" /><Relationship Type="http://schemas.openxmlformats.org/officeDocument/2006/relationships/image" Target="/ppt/media/image.png" Id="Rbbfa8641c2294f35" /><Relationship Type="http://schemas.openxmlformats.org/officeDocument/2006/relationships/notesSlide" Target="/ppt/notesSlides/notesSlide2.xml" Id="Rac8087d792a04d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783573cc3b14868" /><Relationship Type="http://schemas.openxmlformats.org/officeDocument/2006/relationships/image" Target="/ppt/media/image2.png" Id="R17a51a07d269456e" /><Relationship Type="http://schemas.openxmlformats.org/officeDocument/2006/relationships/notesSlide" Target="/ppt/notesSlides/notesSlide3.xml" Id="R1e674cb331524b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3a9e843db14c60" /><Relationship Type="http://schemas.openxmlformats.org/officeDocument/2006/relationships/image" Target="/ppt/media/image3.png" Id="R9a595c8bab0545c9" /><Relationship Type="http://schemas.openxmlformats.org/officeDocument/2006/relationships/notesSlide" Target="/ppt/notesSlides/notesSlide4.xml" Id="R78b1b232118146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5cd9dae7a84232" /><Relationship Type="http://schemas.openxmlformats.org/officeDocument/2006/relationships/image" Target="/ppt/media/image4.png" Id="Rade2da28791e4696" /><Relationship Type="http://schemas.openxmlformats.org/officeDocument/2006/relationships/notesSlide" Target="/ppt/notesSlides/notesSlide5.xml" Id="R9f0c0c8e135b4c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0663d5683540f6" /><Relationship Type="http://schemas.openxmlformats.org/officeDocument/2006/relationships/image" Target="/ppt/media/image5.png" Id="R979388dba6d544d3" /><Relationship Type="http://schemas.openxmlformats.org/officeDocument/2006/relationships/notesSlide" Target="/ppt/notesSlides/notesSlide6.xml" Id="R1d51949e94c54e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30039725144df6" /><Relationship Type="http://schemas.openxmlformats.org/officeDocument/2006/relationships/image" Target="/ppt/media/image6.png" Id="R000ae1db432b49c6" /><Relationship Type="http://schemas.openxmlformats.org/officeDocument/2006/relationships/notesSlide" Target="/ppt/notesSlides/notesSlide7.xml" Id="Ra0c439d343724e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a8723bf39a9467c" /><Relationship Type="http://schemas.openxmlformats.org/officeDocument/2006/relationships/image" Target="/ppt/media/image7.png" Id="R4bbc1a1d22b4467f" /><Relationship Type="http://schemas.openxmlformats.org/officeDocument/2006/relationships/hyperlink" Target="../Labs/Control/index.html#pid" TargetMode="External" Id="Rc1507bfc402f4a26" /><Relationship Type="http://schemas.openxmlformats.org/officeDocument/2006/relationships/notesSlide" Target="/ppt/notesSlides/notesSlide8.xml" Id="R6fb96c2996d44a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74767c0e42428e" /><Relationship Type="http://schemas.openxmlformats.org/officeDocument/2006/relationships/image" Target="/ppt/media/image8.png" Id="R4158926f41fd412e" /><Relationship Type="http://schemas.openxmlformats.org/officeDocument/2006/relationships/image" Target="/ppt/media/image9.png" Id="R0d8f62363a964a58" /><Relationship Type="http://schemas.openxmlformats.org/officeDocument/2006/relationships/hyperlink" Target="../Labs/Control/index.html#pid" TargetMode="External" Id="Rc7c19324492d476b" /><Relationship Type="http://schemas.openxmlformats.org/officeDocument/2006/relationships/notesSlide" Target="/ppt/notesSlides/notesSlide9.xml" Id="R4434e0b332074e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2344674dd44534" /><Relationship Type="http://schemas.openxmlformats.org/officeDocument/2006/relationships/image" Target="/ppt/media/image10.png" Id="R99eca23ffc114f66" /><Relationship Type="http://schemas.openxmlformats.org/officeDocument/2006/relationships/image" Target="/ppt/media/image11.png" Id="R63f319711ae64718" /><Relationship Type="http://schemas.openxmlformats.org/officeDocument/2006/relationships/hyperlink" Target="../Labs/Control/index.html#pid" TargetMode="External" Id="R0f2dc974849247e3" /><Relationship Type="http://schemas.openxmlformats.org/officeDocument/2006/relationships/notesSlide" Target="/ppt/notesSlides/notesSlide10.xml" Id="R625a16d7350040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5ef8dac83c48d4" /><Relationship Type="http://schemas.openxmlformats.org/officeDocument/2006/relationships/image" Target="/ppt/media/image12.png" Id="R3eaa6a6659f649de" /><Relationship Type="http://schemas.openxmlformats.org/officeDocument/2006/relationships/image" Target="/ppt/media/image13.png" Id="Raa9bbfba3c8a4fb6" /><Relationship Type="http://schemas.openxmlformats.org/officeDocument/2006/relationships/notesSlide" Target="/ppt/notesSlides/notesSlide11.xml" Id="R454ad6494a4e4a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88b0412a4e4256" /><Relationship Type="http://schemas.openxmlformats.org/officeDocument/2006/relationships/image" Target="/ppt/media/image14.png" Id="Rd30813ea72c44330" /><Relationship Type="http://schemas.openxmlformats.org/officeDocument/2006/relationships/image" Target="/ppt/media/image15.png" Id="Rf6f1083e364342a6" /><Relationship Type="http://schemas.openxmlformats.org/officeDocument/2006/relationships/hyperlink" Target="../Labs/Control/index.html#pid" TargetMode="External" Id="Rcbaea62396994289" /><Relationship Type="http://schemas.openxmlformats.org/officeDocument/2006/relationships/notesSlide" Target="/ppt/notesSlides/notesSlide12.xml" Id="Rfb023056d89a41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b1e92620ef445a1" /><Relationship Type="http://schemas.openxmlformats.org/officeDocument/2006/relationships/image" Target="/ppt/media/image16.png" Id="Ra16a91bc4a0c4fb3" /><Relationship Type="http://schemas.openxmlformats.org/officeDocument/2006/relationships/notesSlide" Target="/ppt/notesSlides/notesSlide13.xml" Id="Ra60eb802f4f34d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cb7719090624a69" /><Relationship Type="http://schemas.openxmlformats.org/officeDocument/2006/relationships/image" Target="/ppt/media/image17.png" Id="R319e46478e1546fb" /><Relationship Type="http://schemas.openxmlformats.org/officeDocument/2006/relationships/image" Target="/ppt/media/image18.png" Id="R90dbbfec8948439e" /><Relationship Type="http://schemas.openxmlformats.org/officeDocument/2006/relationships/hyperlink" Target="../Labs/Control/index.html#pure" TargetMode="External" Id="R23e1a4e9d4aa428a" /><Relationship Type="http://schemas.openxmlformats.org/officeDocument/2006/relationships/notesSlide" Target="/ppt/notesSlides/notesSlide14.xml" Id="R272f24fda7bf42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2ea42c7d04c47e8" /><Relationship Type="http://schemas.openxmlformats.org/officeDocument/2006/relationships/image" Target="/ppt/media/image19.png" Id="R8825e7679ebf42b0" /><Relationship Type="http://schemas.openxmlformats.org/officeDocument/2006/relationships/hyperlink" Target="../Labs/Control/index.html#pure" TargetMode="External" Id="R0bc6218efccf4559" /><Relationship Type="http://schemas.openxmlformats.org/officeDocument/2006/relationships/notesSlide" Target="/ppt/notesSlides/notesSlide15.xml" Id="R3e95bc83f11c48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e9bd77d101e44dd" /><Relationship Type="http://schemas.openxmlformats.org/officeDocument/2006/relationships/image" Target="/ppt/media/image20.png" Id="R20c5417e0ef34f80" /><Relationship Type="http://schemas.openxmlformats.org/officeDocument/2006/relationships/image" Target="/ppt/media/image21.png" Id="R796f30bf80f64c56" /><Relationship Type="http://schemas.openxmlformats.org/officeDocument/2006/relationships/hyperlink" Target="../Labs/Control/index.html#stanley" TargetMode="External" Id="R10729557d93d4310" /><Relationship Type="http://schemas.openxmlformats.org/officeDocument/2006/relationships/notesSlide" Target="/ppt/notesSlides/notesSlide16.xml" Id="Ra9afb3ca61a847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27179444d94452a" /><Relationship Type="http://schemas.openxmlformats.org/officeDocument/2006/relationships/image" Target="/ppt/media/image22.png" Id="Ra47b76f56dfb417a" /><Relationship Type="http://schemas.openxmlformats.org/officeDocument/2006/relationships/image" Target="/ppt/media/image23.png" Id="Rdab7f23f84b54584" /><Relationship Type="http://schemas.openxmlformats.org/officeDocument/2006/relationships/hyperlink" Target="../Labs/Control/index.html#stanley" TargetMode="External" Id="R7583e7319c054e57" /><Relationship Type="http://schemas.openxmlformats.org/officeDocument/2006/relationships/notesSlide" Target="/ppt/notesSlides/notesSlide17.xml" Id="R6966922b0eba4b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6f06e67fb744c8" /><Relationship Type="http://schemas.openxmlformats.org/officeDocument/2006/relationships/image" Target="/ppt/media/image24.png" Id="Rfb7d496eb17141ed" /><Relationship Type="http://schemas.openxmlformats.org/officeDocument/2006/relationships/notesSlide" Target="/ppt/notesSlides/notesSlide18.xml" Id="Rd8a80f34f54042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2950469fdbe42a9" /><Relationship Type="http://schemas.openxmlformats.org/officeDocument/2006/relationships/image" Target="/ppt/media/image25.png" Id="Ra1de6fd981d04e54" /><Relationship Type="http://schemas.openxmlformats.org/officeDocument/2006/relationships/image" Target="/ppt/media/image26.png" Id="R8d561a95dc7d443a" /><Relationship Type="http://schemas.openxmlformats.org/officeDocument/2006/relationships/hyperlink" Target="../Labs/Control/index.html#lqr" TargetMode="External" Id="R7445dcd88ba844b5" /><Relationship Type="http://schemas.openxmlformats.org/officeDocument/2006/relationships/notesSlide" Target="/ppt/notesSlides/notesSlide19.xml" Id="R85e9bcadbc9d4c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fb1405ac924444b" /><Relationship Type="http://schemas.openxmlformats.org/officeDocument/2006/relationships/image" Target="/ppt/media/image27.png" Id="R8f000c5732b04952" /><Relationship Type="http://schemas.openxmlformats.org/officeDocument/2006/relationships/image" Target="/ppt/media/image28.png" Id="Rbbcc47e686824ef0" /><Relationship Type="http://schemas.openxmlformats.org/officeDocument/2006/relationships/hyperlink" Target="../Labs/Control/index.html#lqr" TargetMode="External" Id="R9b6d64bef03c4b23" /><Relationship Type="http://schemas.openxmlformats.org/officeDocument/2006/relationships/notesSlide" Target="/ppt/notesSlides/notesSlide20.xml" Id="Rd97d4804c88441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aeb88d5689945f7" /><Relationship Type="http://schemas.openxmlformats.org/officeDocument/2006/relationships/image" Target="/ppt/media/image29.png" Id="R37a812aee2f94f9b" /><Relationship Type="http://schemas.openxmlformats.org/officeDocument/2006/relationships/notesSlide" Target="/ppt/notesSlides/notesSlide21.xml" Id="Rd461d691908c41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f84961890734a04" /><Relationship Type="http://schemas.openxmlformats.org/officeDocument/2006/relationships/image" Target="/ppt/media/image30.png" Id="Rc4f718c8f841499a" /><Relationship Type="http://schemas.openxmlformats.org/officeDocument/2006/relationships/notesSlide" Target="/ppt/notesSlides/notesSlide22.xml" Id="R8b4c2f1975bf419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e8f64350d1e4536" /><Relationship Type="http://schemas.openxmlformats.org/officeDocument/2006/relationships/image" Target="/ppt/media/image31.png" Id="R587358e77d1a4f56" /><Relationship Type="http://schemas.openxmlformats.org/officeDocument/2006/relationships/image" Target="/ppt/media/image32.png" Id="R9e54f2f1061f4630" /><Relationship Type="http://schemas.openxmlformats.org/officeDocument/2006/relationships/hyperlink" Target="../Labs/Control/index.html#mpc" TargetMode="External" Id="Re72ab764e1064dc5" /><Relationship Type="http://schemas.openxmlformats.org/officeDocument/2006/relationships/notesSlide" Target="/ppt/notesSlides/notesSlide23.xml" Id="R9044704985354e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8671e4bb3de4d43" /><Relationship Type="http://schemas.openxmlformats.org/officeDocument/2006/relationships/image" Target="/ppt/media/image33.png" Id="R13c5794bee6a41f3" /><Relationship Type="http://schemas.openxmlformats.org/officeDocument/2006/relationships/image" Target="/ppt/media/image34.png" Id="Rc2a598b5b006473c" /><Relationship Type="http://schemas.openxmlformats.org/officeDocument/2006/relationships/hyperlink" Target="../Labs/Control/index.html#mpc" TargetMode="External" Id="R110442c584a44b40" /><Relationship Type="http://schemas.openxmlformats.org/officeDocument/2006/relationships/notesSlide" Target="/ppt/notesSlides/notesSlide24.xml" Id="R509e75bf2ed643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2c3fd8a52e8417f" /><Relationship Type="http://schemas.openxmlformats.org/officeDocument/2006/relationships/image" Target="/ppt/media/image35.png" Id="R6eb74427e00a46ed" /><Relationship Type="http://schemas.openxmlformats.org/officeDocument/2006/relationships/notesSlide" Target="/ppt/notesSlides/notesSlide25.xml" Id="R78be3e50fe8a47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59f5d225b8c4e31" /><Relationship Type="http://schemas.openxmlformats.org/officeDocument/2006/relationships/image" Target="/ppt/media/image36.png" Id="Rb08567ace6104de4" /><Relationship Type="http://schemas.openxmlformats.org/officeDocument/2006/relationships/image" Target="/ppt/media/image37.png" Id="Rf1e6e5bf51f04313" /><Relationship Type="http://schemas.openxmlformats.org/officeDocument/2006/relationships/hyperlink" Target="../Labs/Control/index.html#mpc" TargetMode="External" Id="R149ce3704358404c" /><Relationship Type="http://schemas.openxmlformats.org/officeDocument/2006/relationships/notesSlide" Target="/ppt/notesSlides/notesSlide26.xml" Id="R074360a4a37143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3e8556764dc4fab" /><Relationship Type="http://schemas.openxmlformats.org/officeDocument/2006/relationships/image" Target="/ppt/media/image38.png" Id="R9d074537e1d7490b" /><Relationship Type="http://schemas.openxmlformats.org/officeDocument/2006/relationships/image" Target="/ppt/media/image39.png" Id="R5321180cc4f64248" /><Relationship Type="http://schemas.openxmlformats.org/officeDocument/2006/relationships/hyperlink" Target="../Labs/Control/index.html#mpc" TargetMode="External" Id="Rca003ce2aee643d7" /><Relationship Type="http://schemas.openxmlformats.org/officeDocument/2006/relationships/notesSlide" Target="/ppt/notesSlides/notesSlide27.xml" Id="R7e2ffe02ee9f402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37f981827944b53" /><Relationship Type="http://schemas.openxmlformats.org/officeDocument/2006/relationships/image" Target="/ppt/media/image40.png" Id="Rec367070f93b4555" /><Relationship Type="http://schemas.openxmlformats.org/officeDocument/2006/relationships/notesSlide" Target="/ppt/notesSlides/notesSlide28.xml" Id="Re01ccfbfb7cb4bf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db7c9e5f0a143bd" /><Relationship Type="http://schemas.openxmlformats.org/officeDocument/2006/relationships/image" Target="/ppt/media/image41.png" Id="R950df00d424b4e31" /><Relationship Type="http://schemas.openxmlformats.org/officeDocument/2006/relationships/image" Target="/ppt/media/image42.png" Id="R5fab5d4d0aec46de" /><Relationship Type="http://schemas.openxmlformats.org/officeDocument/2006/relationships/hyperlink" Target="../Labs/Control/index.html#compare" TargetMode="External" Id="Re29789e0fcfb4f43" /><Relationship Type="http://schemas.openxmlformats.org/officeDocument/2006/relationships/notesSlide" Target="/ppt/notesSlides/notesSlide29.xml" Id="Rf584004d2ae840c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4ca62b484d5422e" /><Relationship Type="http://schemas.openxmlformats.org/officeDocument/2006/relationships/image" Target="/ppt/media/image43.png" Id="R19a68bfbf67e4ffc" /><Relationship Type="http://schemas.openxmlformats.org/officeDocument/2006/relationships/image" Target="/ppt/media/image44.png" Id="R0048ca6197564b18" /><Relationship Type="http://schemas.openxmlformats.org/officeDocument/2006/relationships/hyperlink" Target="../Labs/Control/index.html#compare" TargetMode="External" Id="Re98affee4ae04b2c" /><Relationship Type="http://schemas.openxmlformats.org/officeDocument/2006/relationships/notesSlide" Target="/ppt/notesSlides/notesSlide30.xml" Id="R9070f167f3ee455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91fa19288f945f7" /><Relationship Type="http://schemas.openxmlformats.org/officeDocument/2006/relationships/image" Target="/ppt/media/image45.png" Id="R57096a74a10e4d7d" /><Relationship Type="http://schemas.openxmlformats.org/officeDocument/2006/relationships/notesSlide" Target="/ppt/notesSlides/notesSlide31.xml" Id="Rfdaeee31fd46458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8d178090a07423b" /><Relationship Type="http://schemas.openxmlformats.org/officeDocument/2006/relationships/image" Target="/ppt/media/image46.png" Id="Rde3542739da540ab" /><Relationship Type="http://schemas.openxmlformats.org/officeDocument/2006/relationships/notesSlide" Target="/ppt/notesSlides/notesSlide32.xml" Id="R2d350454661e424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652cc8764ed4bca" /><Relationship Type="http://schemas.openxmlformats.org/officeDocument/2006/relationships/image" Target="/ppt/media/image47.png" Id="Re6ccef2f688c43a4" /><Relationship Type="http://schemas.openxmlformats.org/officeDocument/2006/relationships/notesSlide" Target="/ppt/notesSlides/notesSlide33.xml" Id="Rb4b70b39d79147a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6bda593c5d04cf9" /><Relationship Type="http://schemas.openxmlformats.org/officeDocument/2006/relationships/image" Target="/ppt/media/image48.png" Id="R63fe333f14ce4259" /><Relationship Type="http://schemas.openxmlformats.org/officeDocument/2006/relationships/notesSlide" Target="/ppt/notesSlides/notesSlide34.xml" Id="Ra3a040929c02473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b1f9f74997d4207" /><Relationship Type="http://schemas.openxmlformats.org/officeDocument/2006/relationships/image" Target="/ppt/media/image49.png" Id="R75b7c1cb52c34a61" /><Relationship Type="http://schemas.openxmlformats.org/officeDocument/2006/relationships/hyperlink" Target="../Labs/Control/index.html#compare" TargetMode="External" Id="R573aac08266945ea" /><Relationship Type="http://schemas.openxmlformats.org/officeDocument/2006/relationships/notesSlide" Target="/ppt/notesSlides/notesSlide35.xml" Id="R72892eed244347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DB0FAC2-7532-493D-8E2D-E15AE5EB3DB8}"/>
              </a:ext>
            </a:extLst>
          </p:cNvPr>
          <p:cNvPicPr>
            <a:picLocks xmlns:a="http://schemas.openxmlformats.org/drawingml/2006/main" noChangeAspect="1"/>
          </p:cNvPicPr>
          <p:nvPr/>
        </p:nvPicPr>
        <p:blipFill>
          <a:blip xmlns:r="http://schemas.openxmlformats.org/officeDocument/2006/relationships" xmlns:a="http://schemas.openxmlformats.org/drawingml/2006/main" r:embed="Rf04606ead6dc48da"/>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LECTURE 8">
            <a:extLst xmlns:a="http://schemas.openxmlformats.org/drawingml/2006/main">
              <a:ext uri="{FF2B5EF4-FFF2-40B4-BE49-F238E27FC236}">
                <a16:creationId xmlns:a16="http://schemas.microsoft.com/office/drawing/2014/main" id="{168A944D-3C04-4F3D-839B-7B4D034C6391}"/>
              </a:ext>
            </a:extLst>
          </p:cNvPr>
          <p:cNvSpPr>
            <a:spLocks xmlns:a="http://schemas.openxmlformats.org/drawingml/2006/main" noGrp="1"/>
          </p:cNvSpPr>
          <p:nvPr/>
        </p:nvSpPr>
        <p:spPr>
          <a:xfrm xmlns:a="http://schemas.openxmlformats.org/drawingml/2006/main">
            <a:off x="619125" y="9048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FFFFFF"/>
                </a:solidFill>
                <a:latin typeface="Arial"/>
                <a:ea typeface="Arial"/>
                <a:cs typeface="Arial"/>
              </a:defRPr>
            </a:def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LECTURE 8</a:t>
            </a:r>
          </a:p>
        </p:txBody>
      </p:sp>
      <p:sp>
        <p:nvSpPr>
          <p:cNvPr id="3" name="Control">
            <a:extLst xmlns:a="http://schemas.openxmlformats.org/drawingml/2006/main">
              <a:ext uri="{FF2B5EF4-FFF2-40B4-BE49-F238E27FC236}">
                <a16:creationId xmlns:a16="http://schemas.microsoft.com/office/drawing/2014/main" id="{55688450-AC1E-40B7-9E82-42BD8C746EAE}"/>
              </a:ext>
            </a:extLst>
          </p:cNvPr>
          <p:cNvSpPr>
            <a:spLocks xmlns:a="http://schemas.openxmlformats.org/drawingml/2006/main" noGrp="1"/>
          </p:cNvSpPr>
          <p:nvPr/>
        </p:nvSpPr>
        <p:spPr>
          <a:xfrm xmlns:a="http://schemas.openxmlformats.org/drawingml/2006/main">
            <a:off x="619125" y="150495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Control</a:t>
            </a:r>
          </a:p>
        </p:txBody>
      </p:sp>
      <p:sp>
        <p:nvSpPr>
          <p:cNvPr id="4" name="for autonomous driving">
            <a:extLst xmlns:a="http://schemas.openxmlformats.org/drawingml/2006/main">
              <a:ext uri="{FF2B5EF4-FFF2-40B4-BE49-F238E27FC236}">
                <a16:creationId xmlns:a16="http://schemas.microsoft.com/office/drawing/2014/main" id="{80954A03-B3B0-4808-9D5A-810235A29A7F}"/>
              </a:ext>
            </a:extLst>
          </p:cNvPr>
          <p:cNvSpPr>
            <a:spLocks xmlns:a="http://schemas.openxmlformats.org/drawingml/2006/main" noGrp="1"/>
          </p:cNvSpPr>
          <p:nvPr/>
        </p:nvSpPr>
        <p:spPr>
          <a:xfrm xmlns:a="http://schemas.openxmlformats.org/drawingml/2006/main">
            <a:off x="619125" y="23336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75" b="0">
                <a:solidFill>
                  <a:srgbClr val="FFFFFF"/>
                </a:solidFill>
                <a:latin typeface="Arial"/>
                <a:ea typeface="Arial"/>
                <a:cs typeface="Arial"/>
              </a:defRPr>
            </a:defPPr>
          </a:lstStyle>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for autonomous driving</a:t>
            </a:r>
          </a:p>
        </p:txBody>
      </p:sp>
      <p:sp>
        <p:nvSpPr>
          <p:cNvPr id="5" name="How a vehicle follows a plan and corrects mistakes">
            <a:extLst xmlns:a="http://schemas.openxmlformats.org/drawingml/2006/main">
              <a:ext uri="{FF2B5EF4-FFF2-40B4-BE49-F238E27FC236}">
                <a16:creationId xmlns:a16="http://schemas.microsoft.com/office/drawing/2014/main" id="{F37DC04F-5317-4733-903E-11A008FF2BB9}"/>
              </a:ext>
            </a:extLst>
          </p:cNvPr>
          <p:cNvSpPr>
            <a:spLocks xmlns:a="http://schemas.openxmlformats.org/drawingml/2006/main" noGrp="1"/>
          </p:cNvSpPr>
          <p:nvPr/>
        </p:nvSpPr>
        <p:spPr>
          <a:xfrm xmlns:a="http://schemas.openxmlformats.org/drawingml/2006/main">
            <a:off x="619125" y="3200400"/>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How a vehicle follows a plan and corrects mistakes</a:t>
            </a:r>
          </a:p>
        </p:txBody>
      </p:sp>
      <p:sp>
        <p:nvSpPr>
          <p:cNvPr id="6" name="CISC 667 · Introduction to Autonomous Driving">
            <a:extLst xmlns:a="http://schemas.openxmlformats.org/drawingml/2006/main">
              <a:ext uri="{FF2B5EF4-FFF2-40B4-BE49-F238E27FC236}">
                <a16:creationId xmlns:a16="http://schemas.microsoft.com/office/drawing/2014/main" id="{857453E1-0412-4CB0-BE9B-200D4C70CA29}"/>
              </a:ext>
            </a:extLst>
          </p:cNvPr>
          <p:cNvSpPr>
            <a:spLocks xmlns:a="http://schemas.openxmlformats.org/drawingml/2006/main" noGrp="1"/>
          </p:cNvSpPr>
          <p:nvPr/>
        </p:nvSpPr>
        <p:spPr>
          <a:xfrm xmlns:a="http://schemas.openxmlformats.org/drawingml/2006/main">
            <a:off x="619125" y="4114800"/>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FFFFFF"/>
                </a:solidFill>
                <a:latin typeface="Arial"/>
                <a:ea typeface="Arial"/>
                <a:cs typeface="Arial"/>
              </a:defRPr>
            </a:def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CISC 667 · Introduction to Autonomous Driving</a:t>
            </a:r>
          </a:p>
        </p:txBody>
      </p:sp>
      <p:sp>
        <p:nvSpPr>
          <p:cNvPr id="7" name="1">
            <a:extLst xmlns:a="http://schemas.openxmlformats.org/drawingml/2006/main">
              <a:ext uri="{FF2B5EF4-FFF2-40B4-BE49-F238E27FC236}">
                <a16:creationId xmlns:a16="http://schemas.microsoft.com/office/drawing/2014/main" id="{1283986C-89E7-4881-8F0F-83834A1ED42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FFFFFF"/>
                </a:solidFill>
                <a:latin typeface="Arial"/>
                <a:ea typeface="Arial"/>
                <a:cs typeface="Arial"/>
              </a:defRPr>
            </a:def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Tree>
    <p:extLst>
      <p:ext uri="{BB962C8B-B14F-4D97-AF65-F5344CB8AC3E}">
        <p14:creationId xmlns:p14="http://schemas.microsoft.com/office/powerpoint/2010/main" val="10061901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5AEE173-F237-4613-9282-92AE5F6F8C5E}"/>
              </a:ext>
            </a:extLst>
          </p:cNvPr>
          <p:cNvPicPr>
            <a:picLocks xmlns:a="http://schemas.openxmlformats.org/drawingml/2006/main" noChangeAspect="1"/>
          </p:cNvPicPr>
          <p:nvPr/>
        </p:nvPicPr>
        <p:blipFill>
          <a:blip xmlns:r="http://schemas.openxmlformats.org/officeDocument/2006/relationships" xmlns:a="http://schemas.openxmlformats.org/drawingml/2006/main" r:embed="Rbbfa8641c2294f3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hat students should understand">
            <a:extLst xmlns:a="http://schemas.openxmlformats.org/drawingml/2006/main">
              <a:ext uri="{FF2B5EF4-FFF2-40B4-BE49-F238E27FC236}">
                <a16:creationId xmlns:a16="http://schemas.microsoft.com/office/drawing/2014/main" id="{A3B6B9FA-9280-4DB2-9FB6-F0ECABF636A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What students should understand</a:t>
            </a:r>
          </a:p>
        </p:txBody>
      </p:sp>
      <p:sp>
        <p:nvSpPr>
          <p:cNvPr id="3" name="2">
            <a:extLst xmlns:a="http://schemas.openxmlformats.org/drawingml/2006/main">
              <a:ext uri="{FF2B5EF4-FFF2-40B4-BE49-F238E27FC236}">
                <a16:creationId xmlns:a16="http://schemas.microsoft.com/office/drawing/2014/main" id="{5FF507E4-F3DA-4D7D-A373-A7753FF66AA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a:t>
            </a:r>
          </a:p>
        </p:txBody>
      </p:sp>
      <p:sp>
        <p:nvSpPr>
          <p:cNvPr id="4" name="How feedback helps a vehicle recover from a mistake.">
            <a:extLst xmlns:a="http://schemas.openxmlformats.org/drawingml/2006/main">
              <a:ext uri="{FF2B5EF4-FFF2-40B4-BE49-F238E27FC236}">
                <a16:creationId xmlns:a16="http://schemas.microsoft.com/office/drawing/2014/main" id="{3090A4EA-D169-4AA1-8BFB-11B4EE6A8E39}"/>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How feedback helps a vehicle recover from a mistake.</a:t>
            </a:r>
          </a:p>
        </p:txBody>
      </p:sp>
      <p:sp>
        <p:nvSpPr>
          <p:cNvPr id="5" name="How different controllers decide to accelerate or steer.">
            <a:extLst xmlns:a="http://schemas.openxmlformats.org/drawingml/2006/main">
              <a:ext uri="{FF2B5EF4-FFF2-40B4-BE49-F238E27FC236}">
                <a16:creationId xmlns:a16="http://schemas.microsoft.com/office/drawing/2014/main" id="{FF263F09-35EC-48D0-AA4A-55D57383419F}"/>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How different controllers decide to accelerate or steer.</a:t>
            </a:r>
          </a:p>
        </p:txBody>
      </p:sp>
      <p:sp>
        <p:nvSpPr>
          <p:cNvPr id="6" name="Why delay, physical limits, and a poor model can spoil a good pl">
            <a:extLst xmlns:a="http://schemas.openxmlformats.org/drawingml/2006/main">
              <a:ext uri="{FF2B5EF4-FFF2-40B4-BE49-F238E27FC236}">
                <a16:creationId xmlns:a16="http://schemas.microsoft.com/office/drawing/2014/main" id="{D3EA84E4-5897-4DAA-BB75-193BDF5AC502}"/>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Why delay, physical limits, and a poor model can spoil a good plan.</a:t>
            </a:r>
          </a:p>
        </p:txBody>
      </p:sp>
    </p:spTree>
    <p:extLst>
      <p:ext uri="{BB962C8B-B14F-4D97-AF65-F5344CB8AC3E}">
        <p14:creationId xmlns:p14="http://schemas.microsoft.com/office/powerpoint/2010/main" val="3196789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8F04A7C-95EC-4A27-A795-F083F0083A77}"/>
              </a:ext>
            </a:extLst>
          </p:cNvPr>
          <p:cNvPicPr>
            <a:picLocks xmlns:a="http://schemas.openxmlformats.org/drawingml/2006/main" noChangeAspect="1"/>
          </p:cNvPicPr>
          <p:nvPr/>
        </p:nvPicPr>
        <p:blipFill>
          <a:blip xmlns:r="http://schemas.openxmlformats.org/officeDocument/2006/relationships" xmlns:a="http://schemas.openxmlformats.org/drawingml/2006/main" r:embed="R17a51a07d269456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lanning chooses; control follows">
            <a:extLst xmlns:a="http://schemas.openxmlformats.org/drawingml/2006/main">
              <a:ext uri="{FF2B5EF4-FFF2-40B4-BE49-F238E27FC236}">
                <a16:creationId xmlns:a16="http://schemas.microsoft.com/office/drawing/2014/main" id="{BE08851A-7299-4C95-8CBA-56E267CA1EF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Planning chooses; control follows</a:t>
            </a:r>
          </a:p>
        </p:txBody>
      </p:sp>
      <p:sp>
        <p:nvSpPr>
          <p:cNvPr id="3" name="3">
            <a:extLst xmlns:a="http://schemas.openxmlformats.org/drawingml/2006/main">
              <a:ext uri="{FF2B5EF4-FFF2-40B4-BE49-F238E27FC236}">
                <a16:creationId xmlns:a16="http://schemas.microsoft.com/office/drawing/2014/main" id="{BDDE1253-498F-441A-B6B1-9813D7C25C5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a:t>
            </a:r>
          </a:p>
        </p:txBody>
      </p:sp>
      <p:sp>
        <p:nvSpPr>
          <p:cNvPr id="4" name="Planning chooses a path and a desired speed.">
            <a:extLst xmlns:a="http://schemas.openxmlformats.org/drawingml/2006/main">
              <a:ext uri="{FF2B5EF4-FFF2-40B4-BE49-F238E27FC236}">
                <a16:creationId xmlns:a16="http://schemas.microsoft.com/office/drawing/2014/main" id="{05B8A6D7-F932-40AC-AB87-8E6C6DA4FFD8}"/>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Planning chooses a path and a desired speed.</a:t>
            </a:r>
          </a:p>
        </p:txBody>
      </p:sp>
      <p:sp>
        <p:nvSpPr>
          <p:cNvPr id="5" name="Control keeps adjusting the vehicle toward that plan.">
            <a:extLst xmlns:a="http://schemas.openxmlformats.org/drawingml/2006/main">
              <a:ext uri="{FF2B5EF4-FFF2-40B4-BE49-F238E27FC236}">
                <a16:creationId xmlns:a16="http://schemas.microsoft.com/office/drawing/2014/main" id="{47041882-418E-4B5A-A141-8E3D55B4E814}"/>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Control keeps adjusting the vehicle toward that plan.</a:t>
            </a:r>
          </a:p>
        </p:txBody>
      </p:sp>
      <p:sp>
        <p:nvSpPr>
          <p:cNvPr id="6" name="The road, the vehicle, and imperfect information affect the resu">
            <a:extLst xmlns:a="http://schemas.openxmlformats.org/drawingml/2006/main">
              <a:ext uri="{FF2B5EF4-FFF2-40B4-BE49-F238E27FC236}">
                <a16:creationId xmlns:a16="http://schemas.microsoft.com/office/drawing/2014/main" id="{BFC7FE71-7A1E-47D6-AD5D-C9948DC33978}"/>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The road, the vehicle, and imperfect information affect the result.</a:t>
            </a:r>
          </a:p>
        </p:txBody>
      </p:sp>
    </p:spTree>
    <p:extLst>
      <p:ext uri="{BB962C8B-B14F-4D97-AF65-F5344CB8AC3E}">
        <p14:creationId xmlns:p14="http://schemas.microsoft.com/office/powerpoint/2010/main" val="7555858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9E144A05-5168-4FA8-BC20-512A7B596E01}"/>
              </a:ext>
            </a:extLst>
          </p:cNvPr>
          <p:cNvPicPr>
            <a:picLocks xmlns:a="http://schemas.openxmlformats.org/drawingml/2006/main" noChangeAspect="1"/>
          </p:cNvPicPr>
          <p:nvPr/>
        </p:nvPicPr>
        <p:blipFill>
          <a:blip xmlns:r="http://schemas.openxmlformats.org/officeDocument/2006/relationships" xmlns:a="http://schemas.openxmlformats.org/drawingml/2006/main" r:embed="R9a595c8bab0545c9"/>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Feedback: look, act, look again">
            <a:extLst xmlns:a="http://schemas.openxmlformats.org/drawingml/2006/main">
              <a:ext uri="{FF2B5EF4-FFF2-40B4-BE49-F238E27FC236}">
                <a16:creationId xmlns:a16="http://schemas.microsoft.com/office/drawing/2014/main" id="{85E8288C-1AA5-4D22-98F2-A32D8EA2A5B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Feedback: look, act, look again</a:t>
            </a:r>
          </a:p>
        </p:txBody>
      </p:sp>
      <p:sp>
        <p:nvSpPr>
          <p:cNvPr id="3" name="4">
            <a:extLst xmlns:a="http://schemas.openxmlformats.org/drawingml/2006/main">
              <a:ext uri="{FF2B5EF4-FFF2-40B4-BE49-F238E27FC236}">
                <a16:creationId xmlns:a16="http://schemas.microsoft.com/office/drawing/2014/main" id="{A8F496D3-DA1D-4377-8505-BB49ECD5E50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08CCFEA8-4F9F-4B3D-930D-3E995F6AB451}"/>
              </a:ext>
            </a:extLst>
          </p:cNvPr>
          <p:cNvSpPr>
            <a:spLocks xmlns:a="http://schemas.openxmlformats.org/drawingml/2006/main" noGrp="1"/>
          </p:cNvSpPr>
          <p:nvPr/>
        </p:nvSpPr>
        <p:spPr>
          <a:xfrm xmlns:a="http://schemas.openxmlformats.org/drawingml/2006/main">
            <a:off x="523875"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5" name="1">
            <a:extLst xmlns:a="http://schemas.openxmlformats.org/drawingml/2006/main">
              <a:ext uri="{FF2B5EF4-FFF2-40B4-BE49-F238E27FC236}">
                <a16:creationId xmlns:a16="http://schemas.microsoft.com/office/drawing/2014/main" id="{E51B3FC1-3299-4D60-B718-99C975490FD2}"/>
              </a:ext>
            </a:extLst>
          </p:cNvPr>
          <p:cNvSpPr>
            <a:spLocks xmlns:a="http://schemas.openxmlformats.org/drawingml/2006/main" noGrp="1"/>
          </p:cNvSpPr>
          <p:nvPr/>
        </p:nvSpPr>
        <p:spPr>
          <a:xfrm xmlns:a="http://schemas.openxmlformats.org/drawingml/2006/main">
            <a:off x="657225"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1</a:t>
            </a:r>
          </a:p>
        </p:txBody>
      </p:sp>
      <p:sp>
        <p:nvSpPr>
          <p:cNvPr id="6" name="Observe the vehicle">
            <a:extLst xmlns:a="http://schemas.openxmlformats.org/drawingml/2006/main">
              <a:ext uri="{FF2B5EF4-FFF2-40B4-BE49-F238E27FC236}">
                <a16:creationId xmlns:a16="http://schemas.microsoft.com/office/drawing/2014/main" id="{0466ADA0-D4D4-4AA3-ABCF-C450F80583AD}"/>
              </a:ext>
            </a:extLst>
          </p:cNvPr>
          <p:cNvSpPr>
            <a:spLocks xmlns:a="http://schemas.openxmlformats.org/drawingml/2006/main" noGrp="1"/>
          </p:cNvSpPr>
          <p:nvPr/>
        </p:nvSpPr>
        <p:spPr>
          <a:xfrm xmlns:a="http://schemas.openxmlformats.org/drawingml/2006/main">
            <a:off x="657225"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Observe the vehicle</a:t>
            </a:r>
          </a:p>
        </p:txBody>
      </p:sp>
      <p:sp>
        <p:nvSpPr>
          <p:cNvPr id="7" name="Where are we now?">
            <a:extLst xmlns:a="http://schemas.openxmlformats.org/drawingml/2006/main">
              <a:ext uri="{FF2B5EF4-FFF2-40B4-BE49-F238E27FC236}">
                <a16:creationId xmlns:a16="http://schemas.microsoft.com/office/drawing/2014/main" id="{BD9B0878-F7C7-41B6-95EE-03F7B3FF128E}"/>
              </a:ext>
            </a:extLst>
          </p:cNvPr>
          <p:cNvSpPr>
            <a:spLocks xmlns:a="http://schemas.openxmlformats.org/drawingml/2006/main" noGrp="1"/>
          </p:cNvSpPr>
          <p:nvPr/>
        </p:nvSpPr>
        <p:spPr>
          <a:xfrm xmlns:a="http://schemas.openxmlformats.org/drawingml/2006/main">
            <a:off x="657225"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Where are we now?</a:t>
            </a:r>
          </a:p>
        </p:txBody>
      </p:sp>
      <p:sp>
        <p:nvSpPr>
          <p:cNvPr id="8" name="→">
            <a:extLst xmlns:a="http://schemas.openxmlformats.org/drawingml/2006/main">
              <a:ext uri="{FF2B5EF4-FFF2-40B4-BE49-F238E27FC236}">
                <a16:creationId xmlns:a16="http://schemas.microsoft.com/office/drawing/2014/main" id="{6A4CCBB3-5C2B-4418-88AD-496AAD4F9816}"/>
              </a:ext>
            </a:extLst>
          </p:cNvPr>
          <p:cNvSpPr>
            <a:spLocks xmlns:a="http://schemas.openxmlformats.org/drawingml/2006/main" noGrp="1"/>
          </p:cNvSpPr>
          <p:nvPr/>
        </p:nvSpPr>
        <p:spPr>
          <a:xfrm xmlns:a="http://schemas.openxmlformats.org/drawingml/2006/main">
            <a:off x="2376488"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163DC5A-D66D-451B-B29E-7FA89D0A82E2}"/>
              </a:ext>
            </a:extLst>
          </p:cNvPr>
          <p:cNvSpPr>
            <a:spLocks xmlns:a="http://schemas.openxmlformats.org/drawingml/2006/main" noGrp="1"/>
          </p:cNvSpPr>
          <p:nvPr/>
        </p:nvSpPr>
        <p:spPr>
          <a:xfrm xmlns:a="http://schemas.openxmlformats.org/drawingml/2006/main">
            <a:off x="2605088"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0" name="2">
            <a:extLst xmlns:a="http://schemas.openxmlformats.org/drawingml/2006/main">
              <a:ext uri="{FF2B5EF4-FFF2-40B4-BE49-F238E27FC236}">
                <a16:creationId xmlns:a16="http://schemas.microsoft.com/office/drawing/2014/main" id="{E3109DE2-61C9-43A8-8633-993BE2165574}"/>
              </a:ext>
            </a:extLst>
          </p:cNvPr>
          <p:cNvSpPr>
            <a:spLocks xmlns:a="http://schemas.openxmlformats.org/drawingml/2006/main" noGrp="1"/>
          </p:cNvSpPr>
          <p:nvPr/>
        </p:nvSpPr>
        <p:spPr>
          <a:xfrm xmlns:a="http://schemas.openxmlformats.org/drawingml/2006/main">
            <a:off x="2738438"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2</a:t>
            </a:r>
          </a:p>
        </p:txBody>
      </p:sp>
      <p:sp>
        <p:nvSpPr>
          <p:cNvPr id="11" name="Compare with the plan">
            <a:extLst xmlns:a="http://schemas.openxmlformats.org/drawingml/2006/main">
              <a:ext uri="{FF2B5EF4-FFF2-40B4-BE49-F238E27FC236}">
                <a16:creationId xmlns:a16="http://schemas.microsoft.com/office/drawing/2014/main" id="{34C4E74B-44DF-4840-AD29-5AB0C534BA2E}"/>
              </a:ext>
            </a:extLst>
          </p:cNvPr>
          <p:cNvSpPr>
            <a:spLocks xmlns:a="http://schemas.openxmlformats.org/drawingml/2006/main" noGrp="1"/>
          </p:cNvSpPr>
          <p:nvPr/>
        </p:nvSpPr>
        <p:spPr>
          <a:xfrm xmlns:a="http://schemas.openxmlformats.org/drawingml/2006/main">
            <a:off x="2738438"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Compare with the plan</a:t>
            </a:r>
          </a:p>
        </p:txBody>
      </p:sp>
      <p:sp>
        <p:nvSpPr>
          <p:cNvPr id="12" name="What needs correcting?">
            <a:extLst xmlns:a="http://schemas.openxmlformats.org/drawingml/2006/main">
              <a:ext uri="{FF2B5EF4-FFF2-40B4-BE49-F238E27FC236}">
                <a16:creationId xmlns:a16="http://schemas.microsoft.com/office/drawing/2014/main" id="{506D1A3E-3037-4852-9FF8-6384ED95D19E}"/>
              </a:ext>
            </a:extLst>
          </p:cNvPr>
          <p:cNvSpPr>
            <a:spLocks xmlns:a="http://schemas.openxmlformats.org/drawingml/2006/main" noGrp="1"/>
          </p:cNvSpPr>
          <p:nvPr/>
        </p:nvSpPr>
        <p:spPr>
          <a:xfrm xmlns:a="http://schemas.openxmlformats.org/drawingml/2006/main">
            <a:off x="2738438"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What needs correcting?</a:t>
            </a:r>
          </a:p>
        </p:txBody>
      </p:sp>
      <p:sp>
        <p:nvSpPr>
          <p:cNvPr id="13" name="→">
            <a:extLst xmlns:a="http://schemas.openxmlformats.org/drawingml/2006/main">
              <a:ext uri="{FF2B5EF4-FFF2-40B4-BE49-F238E27FC236}">
                <a16:creationId xmlns:a16="http://schemas.microsoft.com/office/drawing/2014/main" id="{E30D51CB-B97B-4602-B9C8-80CA8E550143}"/>
              </a:ext>
            </a:extLst>
          </p:cNvPr>
          <p:cNvSpPr>
            <a:spLocks xmlns:a="http://schemas.openxmlformats.org/drawingml/2006/main" noGrp="1"/>
          </p:cNvSpPr>
          <p:nvPr/>
        </p:nvSpPr>
        <p:spPr>
          <a:xfrm xmlns:a="http://schemas.openxmlformats.org/drawingml/2006/main">
            <a:off x="4457700"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C6C99135-20F1-47C6-9490-1345E14D36F5}"/>
              </a:ext>
            </a:extLst>
          </p:cNvPr>
          <p:cNvSpPr>
            <a:spLocks xmlns:a="http://schemas.openxmlformats.org/drawingml/2006/main" noGrp="1"/>
          </p:cNvSpPr>
          <p:nvPr/>
        </p:nvSpPr>
        <p:spPr>
          <a:xfrm xmlns:a="http://schemas.openxmlformats.org/drawingml/2006/main">
            <a:off x="4686300"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5" name="3">
            <a:extLst xmlns:a="http://schemas.openxmlformats.org/drawingml/2006/main">
              <a:ext uri="{FF2B5EF4-FFF2-40B4-BE49-F238E27FC236}">
                <a16:creationId xmlns:a16="http://schemas.microsoft.com/office/drawing/2014/main" id="{E853BFA1-0F54-4884-9CA5-8B6DFB88985C}"/>
              </a:ext>
            </a:extLst>
          </p:cNvPr>
          <p:cNvSpPr>
            <a:spLocks xmlns:a="http://schemas.openxmlformats.org/drawingml/2006/main" noGrp="1"/>
          </p:cNvSpPr>
          <p:nvPr/>
        </p:nvSpPr>
        <p:spPr>
          <a:xfrm xmlns:a="http://schemas.openxmlformats.org/drawingml/2006/main">
            <a:off x="4819650"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3</a:t>
            </a:r>
          </a:p>
        </p:txBody>
      </p:sp>
      <p:sp>
        <p:nvSpPr>
          <p:cNvPr id="16" name="Adjust the controls">
            <a:extLst xmlns:a="http://schemas.openxmlformats.org/drawingml/2006/main">
              <a:ext uri="{FF2B5EF4-FFF2-40B4-BE49-F238E27FC236}">
                <a16:creationId xmlns:a16="http://schemas.microsoft.com/office/drawing/2014/main" id="{E5610738-EE7E-4D2E-9E3E-AC09344D0526}"/>
              </a:ext>
            </a:extLst>
          </p:cNvPr>
          <p:cNvSpPr>
            <a:spLocks xmlns:a="http://schemas.openxmlformats.org/drawingml/2006/main" noGrp="1"/>
          </p:cNvSpPr>
          <p:nvPr/>
        </p:nvSpPr>
        <p:spPr>
          <a:xfrm xmlns:a="http://schemas.openxmlformats.org/drawingml/2006/main">
            <a:off x="4819650"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Adjust the controls</a:t>
            </a:r>
          </a:p>
        </p:txBody>
      </p:sp>
      <p:sp>
        <p:nvSpPr>
          <p:cNvPr id="17" name="Accelerate, brake, or steer">
            <a:extLst xmlns:a="http://schemas.openxmlformats.org/drawingml/2006/main">
              <a:ext uri="{FF2B5EF4-FFF2-40B4-BE49-F238E27FC236}">
                <a16:creationId xmlns:a16="http://schemas.microsoft.com/office/drawing/2014/main" id="{C9B537C4-2904-40F7-A472-6CBC9A3F3251}"/>
              </a:ext>
            </a:extLst>
          </p:cNvPr>
          <p:cNvSpPr>
            <a:spLocks xmlns:a="http://schemas.openxmlformats.org/drawingml/2006/main" noGrp="1"/>
          </p:cNvSpPr>
          <p:nvPr/>
        </p:nvSpPr>
        <p:spPr>
          <a:xfrm xmlns:a="http://schemas.openxmlformats.org/drawingml/2006/main">
            <a:off x="4819650"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Accelerate, brake, or steer</a:t>
            </a:r>
          </a:p>
        </p:txBody>
      </p:sp>
      <p:sp>
        <p:nvSpPr>
          <p:cNvPr id="18" name="→">
            <a:extLst xmlns:a="http://schemas.openxmlformats.org/drawingml/2006/main">
              <a:ext uri="{FF2B5EF4-FFF2-40B4-BE49-F238E27FC236}">
                <a16:creationId xmlns:a16="http://schemas.microsoft.com/office/drawing/2014/main" id="{C578FB0F-40C8-4E2F-8FF7-46A276FE2702}"/>
              </a:ext>
            </a:extLst>
          </p:cNvPr>
          <p:cNvSpPr>
            <a:spLocks xmlns:a="http://schemas.openxmlformats.org/drawingml/2006/main" noGrp="1"/>
          </p:cNvSpPr>
          <p:nvPr/>
        </p:nvSpPr>
        <p:spPr>
          <a:xfrm xmlns:a="http://schemas.openxmlformats.org/drawingml/2006/main">
            <a:off x="6538913"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8A5C244-2B8F-4536-962A-86331C03F0EA}"/>
              </a:ext>
            </a:extLst>
          </p:cNvPr>
          <p:cNvSpPr>
            <a:spLocks xmlns:a="http://schemas.openxmlformats.org/drawingml/2006/main" noGrp="1"/>
          </p:cNvSpPr>
          <p:nvPr/>
        </p:nvSpPr>
        <p:spPr>
          <a:xfrm xmlns:a="http://schemas.openxmlformats.org/drawingml/2006/main">
            <a:off x="6767513"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20" name="4">
            <a:extLst xmlns:a="http://schemas.openxmlformats.org/drawingml/2006/main">
              <a:ext uri="{FF2B5EF4-FFF2-40B4-BE49-F238E27FC236}">
                <a16:creationId xmlns:a16="http://schemas.microsoft.com/office/drawing/2014/main" id="{8818FC56-9127-4D2B-91D2-1F19B5310BAF}"/>
              </a:ext>
            </a:extLst>
          </p:cNvPr>
          <p:cNvSpPr>
            <a:spLocks xmlns:a="http://schemas.openxmlformats.org/drawingml/2006/main" noGrp="1"/>
          </p:cNvSpPr>
          <p:nvPr/>
        </p:nvSpPr>
        <p:spPr>
          <a:xfrm xmlns:a="http://schemas.openxmlformats.org/drawingml/2006/main">
            <a:off x="6900863"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4</a:t>
            </a:r>
          </a:p>
        </p:txBody>
      </p:sp>
      <p:sp>
        <p:nvSpPr>
          <p:cNvPr id="21" name="Observe again">
            <a:extLst xmlns:a="http://schemas.openxmlformats.org/drawingml/2006/main">
              <a:ext uri="{FF2B5EF4-FFF2-40B4-BE49-F238E27FC236}">
                <a16:creationId xmlns:a16="http://schemas.microsoft.com/office/drawing/2014/main" id="{85AF0A7A-4048-4508-966F-BD47D5FC513D}"/>
              </a:ext>
            </a:extLst>
          </p:cNvPr>
          <p:cNvSpPr>
            <a:spLocks xmlns:a="http://schemas.openxmlformats.org/drawingml/2006/main" noGrp="1"/>
          </p:cNvSpPr>
          <p:nvPr/>
        </p:nvSpPr>
        <p:spPr>
          <a:xfrm xmlns:a="http://schemas.openxmlformats.org/drawingml/2006/main">
            <a:off x="6900863"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Observe again</a:t>
            </a:r>
          </a:p>
        </p:txBody>
      </p:sp>
      <p:sp>
        <p:nvSpPr>
          <p:cNvPr id="22" name="Did the correction help?">
            <a:extLst xmlns:a="http://schemas.openxmlformats.org/drawingml/2006/main">
              <a:ext uri="{FF2B5EF4-FFF2-40B4-BE49-F238E27FC236}">
                <a16:creationId xmlns:a16="http://schemas.microsoft.com/office/drawing/2014/main" id="{25B7CE01-BFE3-4FAA-B0AE-2B07773DAC12}"/>
              </a:ext>
            </a:extLst>
          </p:cNvPr>
          <p:cNvSpPr>
            <a:spLocks xmlns:a="http://schemas.openxmlformats.org/drawingml/2006/main" noGrp="1"/>
          </p:cNvSpPr>
          <p:nvPr/>
        </p:nvSpPr>
        <p:spPr>
          <a:xfrm xmlns:a="http://schemas.openxmlformats.org/drawingml/2006/main">
            <a:off x="6900863"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Did the correction help?</a:t>
            </a:r>
          </a:p>
        </p:txBody>
      </p:sp>
      <p:sp>
        <p:nvSpPr>
          <p:cNvPr id="23" name="A correction changes the situation. The next measurement closes ">
            <a:extLst xmlns:a="http://schemas.openxmlformats.org/drawingml/2006/main">
              <a:ext uri="{FF2B5EF4-FFF2-40B4-BE49-F238E27FC236}">
                <a16:creationId xmlns:a16="http://schemas.microsoft.com/office/drawing/2014/main" id="{40C278DA-F8C6-4B73-8ECE-4C1954B6BEC3}"/>
              </a:ext>
            </a:extLst>
          </p:cNvPr>
          <p:cNvSpPr>
            <a:spLocks xmlns:a="http://schemas.openxmlformats.org/drawingml/2006/main" noGrp="1"/>
          </p:cNvSpPr>
          <p:nvPr/>
        </p:nvSpPr>
        <p:spPr>
          <a:xfrm xmlns:a="http://schemas.openxmlformats.org/drawingml/2006/main">
            <a:off x="619125" y="38862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correction changes the situation. The next measurement closes the loop.</a:t>
            </a:r>
          </a:p>
        </p:txBody>
      </p:sp>
    </p:spTree>
    <p:extLst>
      <p:ext uri="{BB962C8B-B14F-4D97-AF65-F5344CB8AC3E}">
        <p14:creationId xmlns:p14="http://schemas.microsoft.com/office/powerpoint/2010/main" val="208874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57CA588-692B-4EFE-B443-434EF79B384E}"/>
              </a:ext>
            </a:extLst>
          </p:cNvPr>
          <p:cNvPicPr>
            <a:picLocks xmlns:a="http://schemas.openxmlformats.org/drawingml/2006/main" noChangeAspect="1"/>
          </p:cNvPicPr>
          <p:nvPr/>
        </p:nvPicPr>
        <p:blipFill>
          <a:blip xmlns:r="http://schemas.openxmlformats.org/officeDocument/2006/relationships" xmlns:a="http://schemas.openxmlformats.org/drawingml/2006/main" r:embed="Rade2da28791e469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eacting and anticipating work together">
            <a:extLst xmlns:a="http://schemas.openxmlformats.org/drawingml/2006/main">
              <a:ext uri="{FF2B5EF4-FFF2-40B4-BE49-F238E27FC236}">
                <a16:creationId xmlns:a16="http://schemas.microsoft.com/office/drawing/2014/main" id="{9A28E6DC-EE60-43CA-9BD0-439929ADD8C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Reacting and anticipating work together</a:t>
            </a:r>
          </a:p>
        </p:txBody>
      </p:sp>
      <p:sp>
        <p:nvSpPr>
          <p:cNvPr id="3" name="5">
            <a:extLst xmlns:a="http://schemas.openxmlformats.org/drawingml/2006/main">
              <a:ext uri="{FF2B5EF4-FFF2-40B4-BE49-F238E27FC236}">
                <a16:creationId xmlns:a16="http://schemas.microsoft.com/office/drawing/2014/main" id="{E36D9C6B-99AC-4A2E-AF6E-EA3ABADC045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27B5D4EF-C9C9-450A-B322-C34DA736F637}"/>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762000">
                <a:tc>
                  <a:txBody>
                    <a:bodyPr lIns="114300" tIns="76200" rIns="114300" bIns="76200">
                      <a:noAutofit/>
                    </a:bodyPr>
                    <a:lstStyle/>
                    <a:p>
                      <a:r>
                        <a:rPr sz="1425" b="1">
                          <a:solidFill>
                            <a:srgbClr val="FFFFFF"/>
                          </a:solidFill>
                          <a:latin typeface="Arial"/>
                          <a:ea typeface="Arial"/>
                          <a:cs typeface="Arial"/>
                        </a:rPr>
                        <a:t>Approach</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Driving intuition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Limitation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762000">
                <a:tc>
                  <a:txBody>
                    <a:bodyPr lIns="114300" tIns="76200" rIns="114300" bIns="76200">
                      <a:noAutofit/>
                    </a:bodyPr>
                    <a:lstStyle/>
                    <a:p>
                      <a:r>
                        <a:rPr sz="1425" b="0">
                          <a:solidFill>
                            <a:srgbClr val="17324D"/>
                          </a:solidFill>
                          <a:latin typeface="Arial"/>
                          <a:ea typeface="Arial"/>
                          <a:cs typeface="Arial"/>
                        </a:rPr>
                        <a:t>Fixed command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Keep the same pedal position</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 hill changes the speed</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762000">
                <a:tc>
                  <a:txBody>
                    <a:bodyPr lIns="114300" tIns="76200" rIns="114300" bIns="76200">
                      <a:noAutofit/>
                    </a:bodyPr>
                    <a:lstStyle/>
                    <a:p>
                      <a:r>
                        <a:rPr sz="1425" b="0">
                          <a:solidFill>
                            <a:srgbClr val="17324D"/>
                          </a:solidFill>
                          <a:latin typeface="Arial"/>
                          <a:ea typeface="Arial"/>
                          <a:cs typeface="Arial"/>
                        </a:rPr>
                        <a:t>Feedback</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Notice the slowdown and correct it</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The error has already appeared</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762000">
                <a:tc>
                  <a:txBody>
                    <a:bodyPr lIns="114300" tIns="76200" rIns="114300" bIns="76200">
                      <a:noAutofit/>
                    </a:bodyPr>
                    <a:lstStyle/>
                    <a:p>
                      <a:r>
                        <a:rPr sz="1425" b="0">
                          <a:solidFill>
                            <a:srgbClr val="17324D"/>
                          </a:solidFill>
                          <a:latin typeface="Arial"/>
                          <a:ea typeface="Arial"/>
                          <a:cs typeface="Arial"/>
                        </a:rPr>
                        <a:t>Feedforward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Anticipate a known demand</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The model can be wrong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Tree>
    <p:extLst>
      <p:ext uri="{BB962C8B-B14F-4D97-AF65-F5344CB8AC3E}">
        <p14:creationId xmlns:p14="http://schemas.microsoft.com/office/powerpoint/2010/main" val="10620265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ECF99E7-F5E9-4986-B6B3-89061C2338F4}"/>
              </a:ext>
            </a:extLst>
          </p:cNvPr>
          <p:cNvPicPr>
            <a:picLocks xmlns:a="http://schemas.openxmlformats.org/drawingml/2006/main" noChangeAspect="1"/>
          </p:cNvPicPr>
          <p:nvPr/>
        </p:nvPicPr>
        <p:blipFill>
          <a:blip xmlns:r="http://schemas.openxmlformats.org/officeDocument/2006/relationships" xmlns:a="http://schemas.openxmlformats.org/drawingml/2006/main" r:embed="R979388dba6d544d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model is a useful simplification">
            <a:extLst xmlns:a="http://schemas.openxmlformats.org/drawingml/2006/main">
              <a:ext uri="{FF2B5EF4-FFF2-40B4-BE49-F238E27FC236}">
                <a16:creationId xmlns:a16="http://schemas.microsoft.com/office/drawing/2014/main" id="{AD8E638E-5401-435F-886E-A250A6FD289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model is a useful simplification</a:t>
            </a:r>
          </a:p>
        </p:txBody>
      </p:sp>
      <p:sp>
        <p:nvSpPr>
          <p:cNvPr id="3" name="6">
            <a:extLst xmlns:a="http://schemas.openxmlformats.org/drawingml/2006/main">
              <a:ext uri="{FF2B5EF4-FFF2-40B4-BE49-F238E27FC236}">
                <a16:creationId xmlns:a16="http://schemas.microsoft.com/office/drawing/2014/main" id="{E7E70E09-2ED1-4BFB-8FB1-6C91546787C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86967CCA-5441-4E19-B83B-0A9BB55E430C}"/>
              </a:ext>
            </a:extLst>
          </p:cNvPr>
          <p:cNvSpPr>
            <a:spLocks xmlns:a="http://schemas.openxmlformats.org/drawingml/2006/main" noGrp="1"/>
          </p:cNvSpPr>
          <p:nvPr/>
        </p:nvSpPr>
        <p:spPr>
          <a:xfrm xmlns:a="http://schemas.openxmlformats.org/drawingml/2006/main">
            <a:off x="523875" y="1819275"/>
            <a:ext cx="2546350"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5" name="1">
            <a:extLst xmlns:a="http://schemas.openxmlformats.org/drawingml/2006/main">
              <a:ext uri="{FF2B5EF4-FFF2-40B4-BE49-F238E27FC236}">
                <a16:creationId xmlns:a16="http://schemas.microsoft.com/office/drawing/2014/main" id="{8EB504BD-A317-465D-B4BB-596C7FCB173C}"/>
              </a:ext>
            </a:extLst>
          </p:cNvPr>
          <p:cNvSpPr>
            <a:spLocks xmlns:a="http://schemas.openxmlformats.org/drawingml/2006/main" noGrp="1"/>
          </p:cNvSpPr>
          <p:nvPr/>
        </p:nvSpPr>
        <p:spPr>
          <a:xfrm xmlns:a="http://schemas.openxmlformats.org/drawingml/2006/main">
            <a:off x="657225" y="1971675"/>
            <a:ext cx="227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1</a:t>
            </a:r>
          </a:p>
        </p:txBody>
      </p:sp>
      <p:sp>
        <p:nvSpPr>
          <p:cNvPr id="6" name="Steering and speed">
            <a:extLst xmlns:a="http://schemas.openxmlformats.org/drawingml/2006/main">
              <a:ext uri="{FF2B5EF4-FFF2-40B4-BE49-F238E27FC236}">
                <a16:creationId xmlns:a16="http://schemas.microsoft.com/office/drawing/2014/main" id="{598FA8C8-F42A-4CD6-A39E-BFCB9C717BF7}"/>
              </a:ext>
            </a:extLst>
          </p:cNvPr>
          <p:cNvSpPr>
            <a:spLocks xmlns:a="http://schemas.openxmlformats.org/drawingml/2006/main" noGrp="1"/>
          </p:cNvSpPr>
          <p:nvPr/>
        </p:nvSpPr>
        <p:spPr>
          <a:xfrm xmlns:a="http://schemas.openxmlformats.org/drawingml/2006/main">
            <a:off x="657225" y="2362200"/>
            <a:ext cx="227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539F"/>
                </a:solidFill>
                <a:latin typeface="Arial"/>
                <a:ea typeface="Arial"/>
                <a:cs typeface="Arial"/>
              </a:defRPr>
            </a:defPPr>
          </a:lstStyle>
          <a:p xmlns:a="http://schemas.openxmlformats.org/drawingml/2006/main">
            <a:pPr>
              <a:defRPr sz="1725" b="1">
                <a:solidFill>
                  <a:srgbClr val="00539F"/>
                </a:solidFill>
                <a:latin typeface="Arial"/>
                <a:ea typeface="Arial"/>
                <a:cs typeface="Arial"/>
              </a:defRPr>
            </a:pPr>
            <a:r>
              <a:rPr sz="1725" b="1">
                <a:solidFill>
                  <a:srgbClr val="00539F"/>
                </a:solidFill>
                <a:latin typeface="Arial"/>
                <a:ea typeface="Arial"/>
                <a:cs typeface="Arial"/>
              </a:rPr>
              <a:t>Steering and speed</a:t>
            </a:r>
          </a:p>
        </p:txBody>
      </p:sp>
      <p:sp>
        <p:nvSpPr>
          <p:cNvPr id="7" name="Possible control actions">
            <a:extLst xmlns:a="http://schemas.openxmlformats.org/drawingml/2006/main">
              <a:ext uri="{FF2B5EF4-FFF2-40B4-BE49-F238E27FC236}">
                <a16:creationId xmlns:a16="http://schemas.microsoft.com/office/drawing/2014/main" id="{80B52FDB-2768-46E5-8C43-05B7DF32F363}"/>
              </a:ext>
            </a:extLst>
          </p:cNvPr>
          <p:cNvSpPr>
            <a:spLocks xmlns:a="http://schemas.openxmlformats.org/drawingml/2006/main" noGrp="1"/>
          </p:cNvSpPr>
          <p:nvPr/>
        </p:nvSpPr>
        <p:spPr>
          <a:xfrm xmlns:a="http://schemas.openxmlformats.org/drawingml/2006/main">
            <a:off x="657225" y="2952750"/>
            <a:ext cx="227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Possible control actions</a:t>
            </a:r>
          </a:p>
        </p:txBody>
      </p:sp>
      <p:sp>
        <p:nvSpPr>
          <p:cNvPr id="8" name="→">
            <a:extLst xmlns:a="http://schemas.openxmlformats.org/drawingml/2006/main">
              <a:ext uri="{FF2B5EF4-FFF2-40B4-BE49-F238E27FC236}">
                <a16:creationId xmlns:a16="http://schemas.microsoft.com/office/drawing/2014/main" id="{426EED49-7660-455F-8183-654500EA190A}"/>
              </a:ext>
            </a:extLst>
          </p:cNvPr>
          <p:cNvSpPr>
            <a:spLocks xmlns:a="http://schemas.openxmlformats.org/drawingml/2006/main" noGrp="1"/>
          </p:cNvSpPr>
          <p:nvPr/>
        </p:nvSpPr>
        <p:spPr>
          <a:xfrm xmlns:a="http://schemas.openxmlformats.org/drawingml/2006/main">
            <a:off x="3070225"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0F1058FE-5E20-415A-B7A9-C2891A873696}"/>
              </a:ext>
            </a:extLst>
          </p:cNvPr>
          <p:cNvSpPr>
            <a:spLocks xmlns:a="http://schemas.openxmlformats.org/drawingml/2006/main" noGrp="1"/>
          </p:cNvSpPr>
          <p:nvPr/>
        </p:nvSpPr>
        <p:spPr>
          <a:xfrm xmlns:a="http://schemas.openxmlformats.org/drawingml/2006/main">
            <a:off x="3298825" y="1819275"/>
            <a:ext cx="2546350"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0" name="2">
            <a:extLst xmlns:a="http://schemas.openxmlformats.org/drawingml/2006/main">
              <a:ext uri="{FF2B5EF4-FFF2-40B4-BE49-F238E27FC236}">
                <a16:creationId xmlns:a16="http://schemas.microsoft.com/office/drawing/2014/main" id="{27CBB11B-31C2-4058-9332-1EAE58266AD3}"/>
              </a:ext>
            </a:extLst>
          </p:cNvPr>
          <p:cNvSpPr>
            <a:spLocks xmlns:a="http://schemas.openxmlformats.org/drawingml/2006/main" noGrp="1"/>
          </p:cNvSpPr>
          <p:nvPr/>
        </p:nvSpPr>
        <p:spPr>
          <a:xfrm xmlns:a="http://schemas.openxmlformats.org/drawingml/2006/main">
            <a:off x="3432175" y="1971675"/>
            <a:ext cx="227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2</a:t>
            </a:r>
          </a:p>
        </p:txBody>
      </p:sp>
      <p:sp>
        <p:nvSpPr>
          <p:cNvPr id="11" name="Vehicle model">
            <a:extLst xmlns:a="http://schemas.openxmlformats.org/drawingml/2006/main">
              <a:ext uri="{FF2B5EF4-FFF2-40B4-BE49-F238E27FC236}">
                <a16:creationId xmlns:a16="http://schemas.microsoft.com/office/drawing/2014/main" id="{C928C360-5950-4FC7-9E6A-F82BE439CBFF}"/>
              </a:ext>
            </a:extLst>
          </p:cNvPr>
          <p:cNvSpPr>
            <a:spLocks xmlns:a="http://schemas.openxmlformats.org/drawingml/2006/main" noGrp="1"/>
          </p:cNvSpPr>
          <p:nvPr/>
        </p:nvSpPr>
        <p:spPr>
          <a:xfrm xmlns:a="http://schemas.openxmlformats.org/drawingml/2006/main">
            <a:off x="3432175" y="2362200"/>
            <a:ext cx="227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539F"/>
                </a:solidFill>
                <a:latin typeface="Arial"/>
                <a:ea typeface="Arial"/>
                <a:cs typeface="Arial"/>
              </a:defRPr>
            </a:defPPr>
          </a:lstStyle>
          <a:p xmlns:a="http://schemas.openxmlformats.org/drawingml/2006/main">
            <a:pPr>
              <a:defRPr sz="1725" b="1">
                <a:solidFill>
                  <a:srgbClr val="00539F"/>
                </a:solidFill>
                <a:latin typeface="Arial"/>
                <a:ea typeface="Arial"/>
                <a:cs typeface="Arial"/>
              </a:defRPr>
            </a:pPr>
            <a:r>
              <a:rPr sz="1725" b="1">
                <a:solidFill>
                  <a:srgbClr val="00539F"/>
                </a:solidFill>
                <a:latin typeface="Arial"/>
                <a:ea typeface="Arial"/>
                <a:cs typeface="Arial"/>
              </a:rPr>
              <a:t>Vehicle model</a:t>
            </a:r>
          </a:p>
        </p:txBody>
      </p:sp>
      <p:sp>
        <p:nvSpPr>
          <p:cNvPr id="12" name="Predict the next movement">
            <a:extLst xmlns:a="http://schemas.openxmlformats.org/drawingml/2006/main">
              <a:ext uri="{FF2B5EF4-FFF2-40B4-BE49-F238E27FC236}">
                <a16:creationId xmlns:a16="http://schemas.microsoft.com/office/drawing/2014/main" id="{5D2E3A63-9FCD-4B2C-807C-C07E77A0AF9F}"/>
              </a:ext>
            </a:extLst>
          </p:cNvPr>
          <p:cNvSpPr>
            <a:spLocks xmlns:a="http://schemas.openxmlformats.org/drawingml/2006/main" noGrp="1"/>
          </p:cNvSpPr>
          <p:nvPr/>
        </p:nvSpPr>
        <p:spPr>
          <a:xfrm xmlns:a="http://schemas.openxmlformats.org/drawingml/2006/main">
            <a:off x="3432175" y="2952750"/>
            <a:ext cx="227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Predict the next movement</a:t>
            </a:r>
          </a:p>
        </p:txBody>
      </p:sp>
      <p:sp>
        <p:nvSpPr>
          <p:cNvPr id="13" name="→">
            <a:extLst xmlns:a="http://schemas.openxmlformats.org/drawingml/2006/main">
              <a:ext uri="{FF2B5EF4-FFF2-40B4-BE49-F238E27FC236}">
                <a16:creationId xmlns:a16="http://schemas.microsoft.com/office/drawing/2014/main" id="{490B8D73-5CAC-4B25-9146-09B865FA928E}"/>
              </a:ext>
            </a:extLst>
          </p:cNvPr>
          <p:cNvSpPr>
            <a:spLocks xmlns:a="http://schemas.openxmlformats.org/drawingml/2006/main" noGrp="1"/>
          </p:cNvSpPr>
          <p:nvPr/>
        </p:nvSpPr>
        <p:spPr>
          <a:xfrm xmlns:a="http://schemas.openxmlformats.org/drawingml/2006/main">
            <a:off x="5845175"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03E1AF24-92AE-457B-B340-B6000A61369E}"/>
              </a:ext>
            </a:extLst>
          </p:cNvPr>
          <p:cNvSpPr>
            <a:spLocks xmlns:a="http://schemas.openxmlformats.org/drawingml/2006/main" noGrp="1"/>
          </p:cNvSpPr>
          <p:nvPr/>
        </p:nvSpPr>
        <p:spPr>
          <a:xfrm xmlns:a="http://schemas.openxmlformats.org/drawingml/2006/main">
            <a:off x="6073775" y="1819275"/>
            <a:ext cx="2546350"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5" name="3">
            <a:extLst xmlns:a="http://schemas.openxmlformats.org/drawingml/2006/main">
              <a:ext uri="{FF2B5EF4-FFF2-40B4-BE49-F238E27FC236}">
                <a16:creationId xmlns:a16="http://schemas.microsoft.com/office/drawing/2014/main" id="{2DFB2A15-C3D9-496D-ABBC-A0A40088DF91}"/>
              </a:ext>
            </a:extLst>
          </p:cNvPr>
          <p:cNvSpPr>
            <a:spLocks xmlns:a="http://schemas.openxmlformats.org/drawingml/2006/main" noGrp="1"/>
          </p:cNvSpPr>
          <p:nvPr/>
        </p:nvSpPr>
        <p:spPr>
          <a:xfrm xmlns:a="http://schemas.openxmlformats.org/drawingml/2006/main">
            <a:off x="6207125" y="1971675"/>
            <a:ext cx="227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3</a:t>
            </a:r>
          </a:p>
        </p:txBody>
      </p:sp>
      <p:sp>
        <p:nvSpPr>
          <p:cNvPr id="16" name="Predicted motion">
            <a:extLst xmlns:a="http://schemas.openxmlformats.org/drawingml/2006/main">
              <a:ext uri="{FF2B5EF4-FFF2-40B4-BE49-F238E27FC236}">
                <a16:creationId xmlns:a16="http://schemas.microsoft.com/office/drawing/2014/main" id="{1C1606FD-4FC5-4E0C-BD48-F20C03992C28}"/>
              </a:ext>
            </a:extLst>
          </p:cNvPr>
          <p:cNvSpPr>
            <a:spLocks xmlns:a="http://schemas.openxmlformats.org/drawingml/2006/main" noGrp="1"/>
          </p:cNvSpPr>
          <p:nvPr/>
        </p:nvSpPr>
        <p:spPr>
          <a:xfrm xmlns:a="http://schemas.openxmlformats.org/drawingml/2006/main">
            <a:off x="6207125" y="2362200"/>
            <a:ext cx="227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539F"/>
                </a:solidFill>
                <a:latin typeface="Arial"/>
                <a:ea typeface="Arial"/>
                <a:cs typeface="Arial"/>
              </a:defRPr>
            </a:defPPr>
          </a:lstStyle>
          <a:p xmlns:a="http://schemas.openxmlformats.org/drawingml/2006/main">
            <a:pPr>
              <a:defRPr sz="1725" b="1">
                <a:solidFill>
                  <a:srgbClr val="00539F"/>
                </a:solidFill>
                <a:latin typeface="Arial"/>
                <a:ea typeface="Arial"/>
                <a:cs typeface="Arial"/>
              </a:defRPr>
            </a:pPr>
            <a:r>
              <a:rPr sz="1725" b="1">
                <a:solidFill>
                  <a:srgbClr val="00539F"/>
                </a:solidFill>
                <a:latin typeface="Arial"/>
                <a:ea typeface="Arial"/>
                <a:cs typeface="Arial"/>
              </a:rPr>
              <a:t>Predicted motion</a:t>
            </a:r>
          </a:p>
        </p:txBody>
      </p:sp>
      <p:sp>
        <p:nvSpPr>
          <p:cNvPr id="17" name="Useful, but imperfect">
            <a:extLst xmlns:a="http://schemas.openxmlformats.org/drawingml/2006/main">
              <a:ext uri="{FF2B5EF4-FFF2-40B4-BE49-F238E27FC236}">
                <a16:creationId xmlns:a16="http://schemas.microsoft.com/office/drawing/2014/main" id="{88F64215-25D2-46C2-A96F-8EE96AD35559}"/>
              </a:ext>
            </a:extLst>
          </p:cNvPr>
          <p:cNvSpPr>
            <a:spLocks xmlns:a="http://schemas.openxmlformats.org/drawingml/2006/main" noGrp="1"/>
          </p:cNvSpPr>
          <p:nvPr/>
        </p:nvSpPr>
        <p:spPr>
          <a:xfrm xmlns:a="http://schemas.openxmlformats.org/drawingml/2006/main">
            <a:off x="6207125" y="2952750"/>
            <a:ext cx="227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Useful, but imperfect</a:t>
            </a:r>
          </a:p>
        </p:txBody>
      </p:sp>
      <p:sp>
        <p:nvSpPr>
          <p:cNvPr id="18" name="A prediction helps choose an action; new measurements reveal wha">
            <a:extLst xmlns:a="http://schemas.openxmlformats.org/drawingml/2006/main">
              <a:ext uri="{FF2B5EF4-FFF2-40B4-BE49-F238E27FC236}">
                <a16:creationId xmlns:a16="http://schemas.microsoft.com/office/drawing/2014/main" id="{90B6FE8E-D59B-4C3C-911A-65D1F75DB206}"/>
              </a:ext>
            </a:extLst>
          </p:cNvPr>
          <p:cNvSpPr>
            <a:spLocks xmlns:a="http://schemas.openxmlformats.org/drawingml/2006/main" noGrp="1"/>
          </p:cNvSpPr>
          <p:nvPr/>
        </p:nvSpPr>
        <p:spPr>
          <a:xfrm xmlns:a="http://schemas.openxmlformats.org/drawingml/2006/main">
            <a:off x="619125" y="38862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prediction helps choose an action; new measurements reveal what really happened.</a:t>
            </a:r>
          </a:p>
        </p:txBody>
      </p:sp>
    </p:spTree>
    <p:extLst>
      <p:ext uri="{BB962C8B-B14F-4D97-AF65-F5344CB8AC3E}">
        <p14:creationId xmlns:p14="http://schemas.microsoft.com/office/powerpoint/2010/main" val="21229702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DEA7FFAD-9474-4A7E-BF38-3FB6CD8953F9}"/>
              </a:ext>
            </a:extLst>
          </p:cNvPr>
          <p:cNvPicPr>
            <a:picLocks xmlns:a="http://schemas.openxmlformats.org/drawingml/2006/main" noChangeAspect="1"/>
          </p:cNvPicPr>
          <p:nvPr/>
        </p:nvPicPr>
        <p:blipFill>
          <a:blip xmlns:r="http://schemas.openxmlformats.org/officeDocument/2006/relationships" xmlns:a="http://schemas.openxmlformats.org/drawingml/2006/main" r:embed="R000ae1db432b49c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hat does good control look like?">
            <a:extLst xmlns:a="http://schemas.openxmlformats.org/drawingml/2006/main">
              <a:ext uri="{FF2B5EF4-FFF2-40B4-BE49-F238E27FC236}">
                <a16:creationId xmlns:a16="http://schemas.microsoft.com/office/drawing/2014/main" id="{071D9E69-DA7C-4EFB-8B72-4DE32CEB1B9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What does good control look like?</a:t>
            </a:r>
          </a:p>
        </p:txBody>
      </p:sp>
      <p:sp>
        <p:nvSpPr>
          <p:cNvPr id="3" name="7">
            <a:extLst xmlns:a="http://schemas.openxmlformats.org/drawingml/2006/main">
              <a:ext uri="{FF2B5EF4-FFF2-40B4-BE49-F238E27FC236}">
                <a16:creationId xmlns:a16="http://schemas.microsoft.com/office/drawing/2014/main" id="{29D3D46D-4E8A-468A-A913-D7D5635F1B1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8C65CC5B-81F1-42E8-830D-AA35F0EB4DC2}"/>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609600">
                <a:tc>
                  <a:txBody>
                    <a:bodyPr lIns="114300" tIns="76200" rIns="114300" bIns="76200">
                      <a:noAutofit/>
                    </a:bodyPr>
                    <a:lstStyle/>
                    <a:p>
                      <a:r>
                        <a:rPr sz="1425" b="1">
                          <a:solidFill>
                            <a:srgbClr val="FFFFFF"/>
                          </a:solidFill>
                          <a:latin typeface="Arial"/>
                          <a:ea typeface="Arial"/>
                          <a:cs typeface="Arial"/>
                        </a:rPr>
                        <a:t>Look at</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Ask</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Do not overlook</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609600">
                <a:tc>
                  <a:txBody>
                    <a:bodyPr lIns="114300" tIns="76200" rIns="114300" bIns="76200">
                      <a:noAutofit/>
                    </a:bodyPr>
                    <a:lstStyle/>
                    <a:p>
                      <a:r>
                        <a:rPr sz="1425" b="0">
                          <a:solidFill>
                            <a:srgbClr val="17324D"/>
                          </a:solidFill>
                          <a:latin typeface="Arial"/>
                          <a:ea typeface="Arial"/>
                          <a:cs typeface="Arial"/>
                        </a:rPr>
                        <a:t>Following the plan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Does it stay close?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 brief large miss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Recovery</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Does the error fade away?</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Repeated side-to-side motion</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609600">
                <a:tc>
                  <a:txBody>
                    <a:bodyPr lIns="114300" tIns="76200" rIns="114300" bIns="76200">
                      <a:noAutofit/>
                    </a:bodyPr>
                    <a:lstStyle/>
                    <a:p>
                      <a:r>
                        <a:rPr sz="1425" b="0">
                          <a:solidFill>
                            <a:srgbClr val="17324D"/>
                          </a:solidFill>
                          <a:latin typeface="Arial"/>
                          <a:ea typeface="Arial"/>
                          <a:cs typeface="Arial"/>
                        </a:rPr>
                        <a:t>Control action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Is steering reasonably gentle?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Large or rapidly changing requests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Physical response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Can the actuator keep up?</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Delay and limited steering</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7645142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AA671E9-E056-4F4E-ACF7-5E914FC0F718}"/>
              </a:ext>
            </a:extLst>
          </p:cNvPr>
          <p:cNvPicPr>
            <a:picLocks xmlns:a="http://schemas.openxmlformats.org/drawingml/2006/main" noChangeAspect="1"/>
          </p:cNvPicPr>
          <p:nvPr/>
        </p:nvPicPr>
        <p:blipFill>
          <a:blip xmlns:r="http://schemas.openxmlformats.org/officeDocument/2006/relationships" xmlns:a="http://schemas.openxmlformats.org/drawingml/2006/main" r:embed="R4bbc1a1d22b4467f"/>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How we will watch the demonstrations">
            <a:extLst xmlns:a="http://schemas.openxmlformats.org/drawingml/2006/main">
              <a:ext uri="{FF2B5EF4-FFF2-40B4-BE49-F238E27FC236}">
                <a16:creationId xmlns:a16="http://schemas.microsoft.com/office/drawing/2014/main" id="{EDC5C872-D949-4786-A0E0-FA2C954DB6B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How we will watch the demonstrations</a:t>
            </a:r>
          </a:p>
        </p:txBody>
      </p:sp>
      <p:sp>
        <p:nvSpPr>
          <p:cNvPr id="3" name="8">
            <a:extLst xmlns:a="http://schemas.openxmlformats.org/drawingml/2006/main">
              <a:ext uri="{FF2B5EF4-FFF2-40B4-BE49-F238E27FC236}">
                <a16:creationId xmlns:a16="http://schemas.microsoft.com/office/drawing/2014/main" id="{68D507FA-94ED-46FF-B2EA-534450565B7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8</a:t>
            </a:r>
          </a:p>
        </p:txBody>
      </p:sp>
      <p:sp>
        <p:nvSpPr>
          <p:cNvPr id="4" name="Choose a named case and press Play.">
            <a:extLst xmlns:a="http://schemas.openxmlformats.org/drawingml/2006/main">
              <a:ext uri="{FF2B5EF4-FFF2-40B4-BE49-F238E27FC236}">
                <a16:creationId xmlns:a16="http://schemas.microsoft.com/office/drawing/2014/main" id="{57291B62-0584-4193-B58B-D7C8BF77DA4D}"/>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Choose a named case and press Play.</a:t>
            </a:r>
          </a:p>
        </p:txBody>
      </p:sp>
      <p:sp>
        <p:nvSpPr>
          <p:cNvPr id="5" name="Watch one feature: speed, target point, steering, or prediction.">
            <a:extLst xmlns:a="http://schemas.openxmlformats.org/drawingml/2006/main">
              <a:ext uri="{FF2B5EF4-FFF2-40B4-BE49-F238E27FC236}">
                <a16:creationId xmlns:a16="http://schemas.microsoft.com/office/drawing/2014/main" id="{135D760B-BE40-4CC9-81C8-F6540ED17537}"/>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Watch one feature: speed, target point, steering, or prediction.</a:t>
            </a:r>
          </a:p>
        </p:txBody>
      </p:sp>
      <p:sp>
        <p:nvSpPr>
          <p:cNvPr id="6" name="Switch to a contrasting case and explain what changed.">
            <a:extLst xmlns:a="http://schemas.openxmlformats.org/drawingml/2006/main">
              <a:ext uri="{FF2B5EF4-FFF2-40B4-BE49-F238E27FC236}">
                <a16:creationId xmlns:a16="http://schemas.microsoft.com/office/drawing/2014/main" id="{8D96143B-1960-4508-B68D-EF2260CB2FF7}"/>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Switch to a contrasting case and explain what changed.</a:t>
            </a:r>
          </a:p>
        </p:txBody>
      </p:sp>
      <p:sp>
        <p:nvSpPr>
          <p:cNvPr id="7" name="Open interactive demonstration">
            <a:extLst xmlns:a="http://schemas.openxmlformats.org/drawingml/2006/main">
              <a:ext uri="{FF2B5EF4-FFF2-40B4-BE49-F238E27FC236}">
                <a16:creationId xmlns:a16="http://schemas.microsoft.com/office/drawing/2014/main" id="{9661B7BD-6CDD-4768-9A64-4BBAC2C03B43}"/>
              </a:ext>
            </a:extLst>
          </p:cNvPr>
          <p:cNvSpPr>
            <a:spLocks xmlns:a="http://schemas.openxmlformats.org/drawingml/2006/main" noGrp="1"/>
          </p:cNvSpPr>
          <p:nvPr/>
        </p:nvSpPr>
        <p:spPr>
          <a:xfrm xmlns:a="http://schemas.openxmlformats.org/drawingml/2006/main">
            <a:off x="619125" y="454342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1507bfc402f4a26"/>
              </a:rPr>
              <a:t>Open interactive demonstration</a:t>
            </a:r>
          </a:p>
        </p:txBody>
      </p:sp>
    </p:spTree>
    <p:extLst>
      <p:ext uri="{BB962C8B-B14F-4D97-AF65-F5344CB8AC3E}">
        <p14:creationId xmlns:p14="http://schemas.microsoft.com/office/powerpoint/2010/main" val="8967833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9D5D331-1E0D-4718-B6E7-6B4317994FF8}"/>
              </a:ext>
            </a:extLst>
          </p:cNvPr>
          <p:cNvPicPr>
            <a:picLocks xmlns:a="http://schemas.openxmlformats.org/drawingml/2006/main" noChangeAspect="1"/>
          </p:cNvPicPr>
          <p:nvPr/>
        </p:nvPicPr>
        <p:blipFill>
          <a:blip xmlns:r="http://schemas.openxmlformats.org/officeDocument/2006/relationships" xmlns:a="http://schemas.openxmlformats.org/drawingml/2006/main" r:embed="R4158926f41fd412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ID: three ways to correct speed">
            <a:extLst xmlns:a="http://schemas.openxmlformats.org/drawingml/2006/main">
              <a:ext uri="{FF2B5EF4-FFF2-40B4-BE49-F238E27FC236}">
                <a16:creationId xmlns:a16="http://schemas.microsoft.com/office/drawing/2014/main" id="{916F1A82-1092-4519-94A0-7EE986C7E33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PID: three ways to correct speed</a:t>
            </a:r>
          </a:p>
        </p:txBody>
      </p:sp>
      <p:sp>
        <p:nvSpPr>
          <p:cNvPr id="3" name="9">
            <a:extLst xmlns:a="http://schemas.openxmlformats.org/drawingml/2006/main">
              <a:ext uri="{FF2B5EF4-FFF2-40B4-BE49-F238E27FC236}">
                <a16:creationId xmlns:a16="http://schemas.microsoft.com/office/drawing/2014/main" id="{70CC80F0-FA90-4317-8722-8F2C11D1E87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9</a:t>
            </a:r>
          </a:p>
        </p:txBody>
      </p:sp>
      <p:pic>
        <p:nvPicPr>
          <p:cNvPr id="4" name="">
            <a:extLst xmlns:a="http://schemas.openxmlformats.org/drawingml/2006/main">
              <a:ext uri="{FF2B5EF4-FFF2-40B4-BE49-F238E27FC236}">
                <a16:creationId xmlns:a16="http://schemas.microsoft.com/office/drawing/2014/main" id="{EBA1CA51-DD32-4F34-9EB6-F30BFCB837DD}"/>
              </a:ext>
            </a:extLst>
          </p:cNvPr>
          <p:cNvPicPr>
            <a:picLocks xmlns:a="http://schemas.openxmlformats.org/drawingml/2006/main" noChangeAspect="1"/>
          </p:cNvPicPr>
          <p:nvPr/>
        </p:nvPicPr>
        <p:blipFill>
          <a:blip xmlns:r="http://schemas.openxmlformats.org/officeDocument/2006/relationships" xmlns:a="http://schemas.openxmlformats.org/drawingml/2006/main" r:embed="R0d8f62363a964a58"/>
          <a:stretch xmlns:a="http://schemas.openxmlformats.org/drawingml/2006/main"/>
        </p:blipFill>
        <p:spPr>
          <a:xfrm xmlns:a="http://schemas.openxmlformats.org/drawingml/2006/main">
            <a:off x="495300" y="1942148"/>
            <a:ext cx="5524500" cy="1878330"/>
          </a:xfrm>
          <a:prstGeom xmlns:a="http://schemas.openxmlformats.org/drawingml/2006/main" prst="rect">
            <a:avLst/>
          </a:prstGeom>
        </p:spPr>
      </p:pic>
      <p:sp>
        <p:nvSpPr>
          <p:cNvPr id="5" name="P reacts to how far speed is from the target.&#10;&#10;I builds a correc">
            <a:extLst xmlns:a="http://schemas.openxmlformats.org/drawingml/2006/main">
              <a:ext uri="{FF2B5EF4-FFF2-40B4-BE49-F238E27FC236}">
                <a16:creationId xmlns:a16="http://schemas.microsoft.com/office/drawing/2014/main" id="{827CF166-6D6F-4A02-AF11-3FA6EB2831CF}"/>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 reacts to how far speed is from the target.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 builds a correction for a persistent shortfall.</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D damps rapid changes in measured speed.</a:t>
            </a:r>
          </a:p>
        </p:txBody>
      </p:sp>
      <p:sp>
        <p:nvSpPr>
          <p:cNvPr id="6" name="Open interactive demonstration">
            <a:extLst xmlns:a="http://schemas.openxmlformats.org/drawingml/2006/main">
              <a:ext uri="{FF2B5EF4-FFF2-40B4-BE49-F238E27FC236}">
                <a16:creationId xmlns:a16="http://schemas.microsoft.com/office/drawing/2014/main" id="{6C8C7EF1-AA8C-474D-9297-9D343C085681}"/>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7c19324492d476b"/>
              </a:rPr>
              <a:t>Open interactive demonstration</a:t>
            </a:r>
          </a:p>
        </p:txBody>
      </p:sp>
    </p:spTree>
    <p:extLst>
      <p:ext uri="{BB962C8B-B14F-4D97-AF65-F5344CB8AC3E}">
        <p14:creationId xmlns:p14="http://schemas.microsoft.com/office/powerpoint/2010/main" val="14988716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354917E-7606-4031-9F40-723E1B91D6FE}"/>
              </a:ext>
            </a:extLst>
          </p:cNvPr>
          <p:cNvPicPr>
            <a:picLocks xmlns:a="http://schemas.openxmlformats.org/drawingml/2006/main" noChangeAspect="1"/>
          </p:cNvPicPr>
          <p:nvPr/>
        </p:nvPicPr>
        <p:blipFill>
          <a:blip xmlns:r="http://schemas.openxmlformats.org/officeDocument/2006/relationships" xmlns:a="http://schemas.openxmlformats.org/drawingml/2006/main" r:embed="R99eca23ffc114f6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atch: holding speed on a hill">
            <a:extLst xmlns:a="http://schemas.openxmlformats.org/drawingml/2006/main">
              <a:ext uri="{FF2B5EF4-FFF2-40B4-BE49-F238E27FC236}">
                <a16:creationId xmlns:a16="http://schemas.microsoft.com/office/drawing/2014/main" id="{B1570A39-97F0-4AFD-A96F-6FE09EA304A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Watch: holding speed on a hill</a:t>
            </a:r>
          </a:p>
        </p:txBody>
      </p:sp>
      <p:sp>
        <p:nvSpPr>
          <p:cNvPr id="3" name="10">
            <a:extLst xmlns:a="http://schemas.openxmlformats.org/drawingml/2006/main">
              <a:ext uri="{FF2B5EF4-FFF2-40B4-BE49-F238E27FC236}">
                <a16:creationId xmlns:a16="http://schemas.microsoft.com/office/drawing/2014/main" id="{2009A3C3-3CC0-46A2-84DD-5788442BD8C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3EB8D697-72A2-4C98-8B9B-F14A829183B3}"/>
              </a:ext>
            </a:extLst>
          </p:cNvPr>
          <p:cNvPicPr>
            <a:picLocks xmlns:a="http://schemas.openxmlformats.org/drawingml/2006/main" noChangeAspect="1"/>
          </p:cNvPicPr>
          <p:nvPr/>
        </p:nvPicPr>
        <p:blipFill>
          <a:blip xmlns:r="http://schemas.openxmlformats.org/officeDocument/2006/relationships" xmlns:a="http://schemas.openxmlformats.org/drawingml/2006/main" r:embed="R63f319711ae64718"/>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With P alone, speed settles below the target.&#10;&#10;Adding I builds t">
            <a:extLst xmlns:a="http://schemas.openxmlformats.org/drawingml/2006/main">
              <a:ext uri="{FF2B5EF4-FFF2-40B4-BE49-F238E27FC236}">
                <a16:creationId xmlns:a16="http://schemas.microsoft.com/office/drawing/2014/main" id="{BF0405C0-90F7-462C-9AB6-0951D6DA4BB5}"/>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With P alone, speed settles below the target.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Adding I builds the extra push that is missing.</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Watch the gap close after the hill begins.</a:t>
            </a:r>
          </a:p>
        </p:txBody>
      </p:sp>
      <p:sp>
        <p:nvSpPr>
          <p:cNvPr id="6" name="Open interactive demonstration">
            <a:extLst xmlns:a="http://schemas.openxmlformats.org/drawingml/2006/main">
              <a:ext uri="{FF2B5EF4-FFF2-40B4-BE49-F238E27FC236}">
                <a16:creationId xmlns:a16="http://schemas.microsoft.com/office/drawing/2014/main" id="{F093FE83-C4AF-44A1-B4E7-8BDE8B4B773C}"/>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0f2dc974849247e3"/>
              </a:rPr>
              <a:t>Open interactive demonstration</a:t>
            </a:r>
          </a:p>
        </p:txBody>
      </p:sp>
    </p:spTree>
    <p:extLst>
      <p:ext uri="{BB962C8B-B14F-4D97-AF65-F5344CB8AC3E}">
        <p14:creationId xmlns:p14="http://schemas.microsoft.com/office/powerpoint/2010/main" val="5564315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91385DE-154C-416E-A6FC-162AB78D340E}"/>
              </a:ext>
            </a:extLst>
          </p:cNvPr>
          <p:cNvPicPr>
            <a:picLocks xmlns:a="http://schemas.openxmlformats.org/drawingml/2006/main" noChangeAspect="1"/>
          </p:cNvPicPr>
          <p:nvPr/>
        </p:nvPicPr>
        <p:blipFill>
          <a:blip xmlns:r="http://schemas.openxmlformats.org/officeDocument/2006/relationships" xmlns:a="http://schemas.openxmlformats.org/drawingml/2006/main" r:embed="R3eaa6a6659f649de"/>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hen correction keeps building up">
            <a:extLst xmlns:a="http://schemas.openxmlformats.org/drawingml/2006/main">
              <a:ext uri="{FF2B5EF4-FFF2-40B4-BE49-F238E27FC236}">
                <a16:creationId xmlns:a16="http://schemas.microsoft.com/office/drawing/2014/main" id="{4FFFE5DD-0B5F-41C8-AF6C-2D649B8B5AE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When correction keeps building up</a:t>
            </a:r>
          </a:p>
        </p:txBody>
      </p:sp>
      <p:sp>
        <p:nvSpPr>
          <p:cNvPr id="3" name="11">
            <a:extLst xmlns:a="http://schemas.openxmlformats.org/drawingml/2006/main">
              <a:ext uri="{FF2B5EF4-FFF2-40B4-BE49-F238E27FC236}">
                <a16:creationId xmlns:a16="http://schemas.microsoft.com/office/drawing/2014/main" id="{778AD5C2-D30A-4972-A041-2C1A3A36C7F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6A01592F-64DF-462A-9464-CB3A83776DC0}"/>
              </a:ext>
            </a:extLst>
          </p:cNvPr>
          <p:cNvPicPr>
            <a:picLocks xmlns:a="http://schemas.openxmlformats.org/drawingml/2006/main" noChangeAspect="1"/>
          </p:cNvPicPr>
          <p:nvPr/>
        </p:nvPicPr>
        <p:blipFill>
          <a:blip xmlns:r="http://schemas.openxmlformats.org/officeDocument/2006/relationships" xmlns:a="http://schemas.openxmlformats.org/drawingml/2006/main" r:embed="Raa9bbfba3c8a4fb6"/>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The actuator is already doing all it can.&#10;&#10;The controller keeps ">
            <a:extLst xmlns:a="http://schemas.openxmlformats.org/drawingml/2006/main">
              <a:ext uri="{FF2B5EF4-FFF2-40B4-BE49-F238E27FC236}">
                <a16:creationId xmlns:a16="http://schemas.microsoft.com/office/drawing/2014/main" id="{6A6BF035-51DC-4E3C-AA56-B24CEBE6314F}"/>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actuator is already doing all it can.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controller keeps remembering the shortfall.</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That stored correction can delay recovery.</a:t>
            </a:r>
          </a:p>
        </p:txBody>
      </p:sp>
    </p:spTree>
    <p:extLst>
      <p:ext uri="{BB962C8B-B14F-4D97-AF65-F5344CB8AC3E}">
        <p14:creationId xmlns:p14="http://schemas.microsoft.com/office/powerpoint/2010/main" val="4018244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8248567-E94B-420B-B457-7367A3AF19D8}"/>
              </a:ext>
            </a:extLst>
          </p:cNvPr>
          <p:cNvPicPr>
            <a:picLocks xmlns:a="http://schemas.openxmlformats.org/drawingml/2006/main" noChangeAspect="1"/>
          </p:cNvPicPr>
          <p:nvPr/>
        </p:nvPicPr>
        <p:blipFill>
          <a:blip xmlns:r="http://schemas.openxmlformats.org/officeDocument/2006/relationships" xmlns:a="http://schemas.openxmlformats.org/drawingml/2006/main" r:embed="Rd30813ea72c4433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nti-windup respects the actuator">
            <a:extLst xmlns:a="http://schemas.openxmlformats.org/drawingml/2006/main">
              <a:ext uri="{FF2B5EF4-FFF2-40B4-BE49-F238E27FC236}">
                <a16:creationId xmlns:a16="http://schemas.microsoft.com/office/drawing/2014/main" id="{F942AC78-4A08-498B-89B0-8495137A855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Anti-windup respects the actuator</a:t>
            </a:r>
          </a:p>
        </p:txBody>
      </p:sp>
      <p:sp>
        <p:nvSpPr>
          <p:cNvPr id="3" name="12">
            <a:extLst xmlns:a="http://schemas.openxmlformats.org/drawingml/2006/main">
              <a:ext uri="{FF2B5EF4-FFF2-40B4-BE49-F238E27FC236}">
                <a16:creationId xmlns:a16="http://schemas.microsoft.com/office/drawing/2014/main" id="{A2D8CBC3-B5C4-4032-96CB-37CB1EF6F08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2785A0CD-99A1-4706-A1E0-6A405CFCD1A5}"/>
              </a:ext>
            </a:extLst>
          </p:cNvPr>
          <p:cNvPicPr>
            <a:picLocks xmlns:a="http://schemas.openxmlformats.org/drawingml/2006/main" noChangeAspect="1"/>
          </p:cNvPicPr>
          <p:nvPr/>
        </p:nvPicPr>
        <p:blipFill>
          <a:blip xmlns:r="http://schemas.openxmlformats.org/officeDocument/2006/relationships" xmlns:a="http://schemas.openxmlformats.org/drawingml/2006/main" r:embed="Rf6f1083e364342a6"/>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Pause the buildup when it makes saturation worse.&#10;&#10;Keep useful c">
            <a:extLst xmlns:a="http://schemas.openxmlformats.org/drawingml/2006/main">
              <a:ext uri="{FF2B5EF4-FFF2-40B4-BE49-F238E27FC236}">
                <a16:creationId xmlns:a16="http://schemas.microsoft.com/office/drawing/2014/main" id="{FF3B9E0A-E5F2-4F69-85C3-E1D438F9DA70}"/>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Pause the buildup when it makes saturation worse.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Keep useful correction without storing as much excess.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Braking still takes time.</a:t>
            </a:r>
          </a:p>
        </p:txBody>
      </p:sp>
      <p:sp>
        <p:nvSpPr>
          <p:cNvPr id="6" name="Open interactive demonstration">
            <a:extLst xmlns:a="http://schemas.openxmlformats.org/drawingml/2006/main">
              <a:ext uri="{FF2B5EF4-FFF2-40B4-BE49-F238E27FC236}">
                <a16:creationId xmlns:a16="http://schemas.microsoft.com/office/drawing/2014/main" id="{F6520FC4-2AC0-4024-897A-A8293EE6E645}"/>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baea62396994289"/>
              </a:rPr>
              <a:t>Open interactive demonstration</a:t>
            </a:r>
          </a:p>
        </p:txBody>
      </p:sp>
    </p:spTree>
    <p:extLst>
      <p:ext uri="{BB962C8B-B14F-4D97-AF65-F5344CB8AC3E}">
        <p14:creationId xmlns:p14="http://schemas.microsoft.com/office/powerpoint/2010/main" val="2969503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5DFC776-BB57-4906-92E2-6BC42E68BBD6}"/>
              </a:ext>
            </a:extLst>
          </p:cNvPr>
          <p:cNvPicPr>
            <a:picLocks xmlns:a="http://schemas.openxmlformats.org/drawingml/2006/main" noChangeAspect="1"/>
          </p:cNvPicPr>
          <p:nvPr/>
        </p:nvPicPr>
        <p:blipFill>
          <a:blip xmlns:r="http://schemas.openxmlformats.org/officeDocument/2006/relationships" xmlns:a="http://schemas.openxmlformats.org/drawingml/2006/main" r:embed="Ra16a91bc4a0c4fb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Four ideas for following a path">
            <a:extLst xmlns:a="http://schemas.openxmlformats.org/drawingml/2006/main">
              <a:ext uri="{FF2B5EF4-FFF2-40B4-BE49-F238E27FC236}">
                <a16:creationId xmlns:a16="http://schemas.microsoft.com/office/drawing/2014/main" id="{8CEBBDDA-876B-41D3-A9F6-CE9BBD18D72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Four ideas for following a path</a:t>
            </a:r>
          </a:p>
        </p:txBody>
      </p:sp>
      <p:sp>
        <p:nvSpPr>
          <p:cNvPr id="3" name="13">
            <a:extLst xmlns:a="http://schemas.openxmlformats.org/drawingml/2006/main">
              <a:ext uri="{FF2B5EF4-FFF2-40B4-BE49-F238E27FC236}">
                <a16:creationId xmlns:a16="http://schemas.microsoft.com/office/drawing/2014/main" id="{AA2D254D-C9CD-4F8B-8660-C478F98CEA2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AD8B40E9-600C-48C5-81A8-DA348DFF679D}"/>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609600">
                <a:tc>
                  <a:txBody>
                    <a:bodyPr lIns="114300" tIns="76200" rIns="114300" bIns="76200">
                      <a:noAutofit/>
                    </a:bodyPr>
                    <a:lstStyle/>
                    <a:p>
                      <a:r>
                        <a:rPr sz="1425" b="1">
                          <a:solidFill>
                            <a:srgbClr val="FFFFFF"/>
                          </a:solidFill>
                          <a:latin typeface="Arial"/>
                          <a:ea typeface="Arial"/>
                          <a:cs typeface="Arial"/>
                        </a:rPr>
                        <a:t>Controller</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Main idea</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What to watch</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609600">
                <a:tc>
                  <a:txBody>
                    <a:bodyPr lIns="114300" tIns="76200" rIns="114300" bIns="76200">
                      <a:noAutofit/>
                    </a:bodyPr>
                    <a:lstStyle/>
                    <a:p>
                      <a:r>
                        <a:rPr sz="1425" b="0">
                          <a:solidFill>
                            <a:srgbClr val="17324D"/>
                          </a:solidFill>
                          <a:latin typeface="Arial"/>
                          <a:ea typeface="Arial"/>
                          <a:cs typeface="Arial"/>
                        </a:rPr>
                        <a:t>Pure Pursuit</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Aim at a point ahead</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Where the target is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Stanley</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Align and move toward the path</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Heading and sideways error</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609600">
                <a:tc>
                  <a:txBody>
                    <a:bodyPr lIns="114300" tIns="76200" rIns="114300" bIns="76200">
                      <a:noAutofit/>
                    </a:bodyPr>
                    <a:lstStyle/>
                    <a:p>
                      <a:r>
                        <a:rPr sz="1425" b="0">
                          <a:solidFill>
                            <a:srgbClr val="17324D"/>
                          </a:solidFill>
                          <a:latin typeface="Arial"/>
                          <a:ea typeface="Arial"/>
                          <a:cs typeface="Arial"/>
                        </a:rPr>
                        <a:t>LQR</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Choose model-based feedback</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Tracking versus steering effort</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MPC</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Plan ahead, then replan</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Prediction and physical limits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309511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010381F-8B90-4AFC-B2DB-BAF08B799E7D}"/>
              </a:ext>
            </a:extLst>
          </p:cNvPr>
          <p:cNvPicPr>
            <a:picLocks xmlns:a="http://schemas.openxmlformats.org/drawingml/2006/main" noChangeAspect="1"/>
          </p:cNvPicPr>
          <p:nvPr/>
        </p:nvPicPr>
        <p:blipFill>
          <a:blip xmlns:r="http://schemas.openxmlformats.org/officeDocument/2006/relationships" xmlns:a="http://schemas.openxmlformats.org/drawingml/2006/main" r:embed="R319e46478e1546f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ure Pursuit: follow a point ahead">
            <a:extLst xmlns:a="http://schemas.openxmlformats.org/drawingml/2006/main">
              <a:ext uri="{FF2B5EF4-FFF2-40B4-BE49-F238E27FC236}">
                <a16:creationId xmlns:a16="http://schemas.microsoft.com/office/drawing/2014/main" id="{35CD3E0C-A0C0-4E52-B4F6-D31DE1367D0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Pure Pursuit: follow a point ahead</a:t>
            </a:r>
          </a:p>
        </p:txBody>
      </p:sp>
      <p:sp>
        <p:nvSpPr>
          <p:cNvPr id="3" name="14">
            <a:extLst xmlns:a="http://schemas.openxmlformats.org/drawingml/2006/main">
              <a:ext uri="{FF2B5EF4-FFF2-40B4-BE49-F238E27FC236}">
                <a16:creationId xmlns:a16="http://schemas.microsoft.com/office/drawing/2014/main" id="{1CD958A5-7FEC-46CB-A145-90B243AEB0C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8FECB7E5-9BE1-4750-AFCA-BF9BB87A190A}"/>
              </a:ext>
            </a:extLst>
          </p:cNvPr>
          <p:cNvPicPr>
            <a:picLocks xmlns:a="http://schemas.openxmlformats.org/drawingml/2006/main" noChangeAspect="1"/>
          </p:cNvPicPr>
          <p:nvPr/>
        </p:nvPicPr>
        <p:blipFill>
          <a:blip xmlns:r="http://schemas.openxmlformats.org/officeDocument/2006/relationships" xmlns:a="http://schemas.openxmlformats.org/drawingml/2006/main" r:embed="R90dbbfec8948439e"/>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Pick a target farther along the path.&#10;&#10;Turn toward that target.&#10;">
            <a:extLst xmlns:a="http://schemas.openxmlformats.org/drawingml/2006/main">
              <a:ext uri="{FF2B5EF4-FFF2-40B4-BE49-F238E27FC236}">
                <a16:creationId xmlns:a16="http://schemas.microsoft.com/office/drawing/2014/main" id="{2D8E78EA-D7D2-4301-907D-0D5972A69EFB}"/>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Pick a target farther along the path.</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Turn toward that target.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Move forward and pick the next target.</a:t>
            </a:r>
          </a:p>
        </p:txBody>
      </p:sp>
      <p:sp>
        <p:nvSpPr>
          <p:cNvPr id="6" name="Open interactive demonstration">
            <a:extLst xmlns:a="http://schemas.openxmlformats.org/drawingml/2006/main">
              <a:ext uri="{FF2B5EF4-FFF2-40B4-BE49-F238E27FC236}">
                <a16:creationId xmlns:a16="http://schemas.microsoft.com/office/drawing/2014/main" id="{B75C381C-2D41-44D7-9080-2992A275E9C6}"/>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23e1a4e9d4aa428a"/>
              </a:rPr>
              <a:t>Open interactive demonstration</a:t>
            </a:r>
          </a:p>
        </p:txBody>
      </p:sp>
    </p:spTree>
    <p:extLst>
      <p:ext uri="{BB962C8B-B14F-4D97-AF65-F5344CB8AC3E}">
        <p14:creationId xmlns:p14="http://schemas.microsoft.com/office/powerpoint/2010/main" val="8321370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5B7374E-9227-40E2-8B63-DD3BC59A2F93}"/>
              </a:ext>
            </a:extLst>
          </p:cNvPr>
          <p:cNvPicPr>
            <a:picLocks xmlns:a="http://schemas.openxmlformats.org/drawingml/2006/main" noChangeAspect="1"/>
          </p:cNvPicPr>
          <p:nvPr/>
        </p:nvPicPr>
        <p:blipFill>
          <a:blip xmlns:r="http://schemas.openxmlformats.org/officeDocument/2006/relationships" xmlns:a="http://schemas.openxmlformats.org/drawingml/2006/main" r:embed="R8825e7679ebf42b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atch: near target or far target?">
            <a:extLst xmlns:a="http://schemas.openxmlformats.org/drawingml/2006/main">
              <a:ext uri="{FF2B5EF4-FFF2-40B4-BE49-F238E27FC236}">
                <a16:creationId xmlns:a16="http://schemas.microsoft.com/office/drawing/2014/main" id="{259D5DE7-5F99-4255-8178-5A03F2DE4B2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Watch: near target or far target?</a:t>
            </a:r>
          </a:p>
        </p:txBody>
      </p:sp>
      <p:sp>
        <p:nvSpPr>
          <p:cNvPr id="3" name="15">
            <a:extLst xmlns:a="http://schemas.openxmlformats.org/drawingml/2006/main">
              <a:ext uri="{FF2B5EF4-FFF2-40B4-BE49-F238E27FC236}">
                <a16:creationId xmlns:a16="http://schemas.microsoft.com/office/drawing/2014/main" id="{B5DFB99F-706A-41A8-99B9-8DD03496325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B1070B98-C979-40C1-9B0D-D96D187158C9}"/>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762000">
                <a:tc>
                  <a:txBody>
                    <a:bodyPr lIns="114300" tIns="76200" rIns="114300" bIns="76200">
                      <a:noAutofit/>
                    </a:bodyPr>
                    <a:lstStyle/>
                    <a:p>
                      <a:r>
                        <a:rPr sz="1425" b="1">
                          <a:solidFill>
                            <a:srgbClr val="FFFFFF"/>
                          </a:solidFill>
                          <a:latin typeface="Arial"/>
                          <a:ea typeface="Arial"/>
                          <a:cs typeface="Arial"/>
                        </a:rPr>
                        <a:t>Target choice</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Typical behavior</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Possible drawback</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762000">
                <a:tc>
                  <a:txBody>
                    <a:bodyPr lIns="114300" tIns="76200" rIns="114300" bIns="76200">
                      <a:noAutofit/>
                    </a:bodyPr>
                    <a:lstStyle/>
                    <a:p>
                      <a:r>
                        <a:rPr sz="1425" b="0">
                          <a:solidFill>
                            <a:srgbClr val="17324D"/>
                          </a:solidFill>
                          <a:latin typeface="Arial"/>
                          <a:ea typeface="Arial"/>
                          <a:cs typeface="Arial"/>
                        </a:rPr>
                        <a:t>Nearby</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Corrects more sharply</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Busy or sensitive steering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762000">
                <a:tc>
                  <a:txBody>
                    <a:bodyPr lIns="114300" tIns="76200" rIns="114300" bIns="76200">
                      <a:noAutofit/>
                    </a:bodyPr>
                    <a:lstStyle/>
                    <a:p>
                      <a:r>
                        <a:rPr sz="1425" b="0">
                          <a:solidFill>
                            <a:srgbClr val="17324D"/>
                          </a:solidFill>
                          <a:latin typeface="Arial"/>
                          <a:ea typeface="Arial"/>
                          <a:cs typeface="Arial"/>
                        </a:rPr>
                        <a:t>Farther ahead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Turns more gently</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May cut corners or recover slowly</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762000">
                <a:tc>
                  <a:txBody>
                    <a:bodyPr lIns="114300" tIns="76200" rIns="114300" bIns="76200">
                      <a:noAutofit/>
                    </a:bodyPr>
                    <a:lstStyle/>
                    <a:p>
                      <a:r>
                        <a:rPr sz="1425" b="0">
                          <a:solidFill>
                            <a:srgbClr val="17324D"/>
                          </a:solidFill>
                          <a:latin typeface="Arial"/>
                          <a:ea typeface="Arial"/>
                          <a:cs typeface="Arial"/>
                        </a:rPr>
                        <a:t>Higher speed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Less time to correct</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The same choice may work worse</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
        <p:nvSpPr>
          <p:cNvPr id="5" name="Open interactive demonstration">
            <a:extLst xmlns:a="http://schemas.openxmlformats.org/drawingml/2006/main">
              <a:ext uri="{FF2B5EF4-FFF2-40B4-BE49-F238E27FC236}">
                <a16:creationId xmlns:a16="http://schemas.microsoft.com/office/drawing/2014/main" id="{119ED1DF-1FF2-4A2B-9C0B-77AFFC6006C9}"/>
              </a:ext>
            </a:extLst>
          </p:cNvPr>
          <p:cNvSpPr>
            <a:spLocks xmlns:a="http://schemas.openxmlformats.org/drawingml/2006/main" noGrp="1"/>
          </p:cNvSpPr>
          <p:nvPr/>
        </p:nvSpPr>
        <p:spPr>
          <a:xfrm xmlns:a="http://schemas.openxmlformats.org/drawingml/2006/main">
            <a:off x="523875" y="454342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0bc6218efccf4559"/>
              </a:rPr>
              <a:t>Open interactive demonstration</a:t>
            </a:r>
          </a:p>
        </p:txBody>
      </p:sp>
    </p:spTree>
    <p:extLst>
      <p:ext uri="{BB962C8B-B14F-4D97-AF65-F5344CB8AC3E}">
        <p14:creationId xmlns:p14="http://schemas.microsoft.com/office/powerpoint/2010/main" val="9247114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BD823A5-B373-472A-8EF0-6A0049BAE6A0}"/>
              </a:ext>
            </a:extLst>
          </p:cNvPr>
          <p:cNvPicPr>
            <a:picLocks xmlns:a="http://schemas.openxmlformats.org/drawingml/2006/main" noChangeAspect="1"/>
          </p:cNvPicPr>
          <p:nvPr/>
        </p:nvPicPr>
        <p:blipFill>
          <a:blip xmlns:r="http://schemas.openxmlformats.org/officeDocument/2006/relationships" xmlns:a="http://schemas.openxmlformats.org/drawingml/2006/main" r:embed="R20c5417e0ef34f8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Stanley: align and move toward the path">
            <a:extLst xmlns:a="http://schemas.openxmlformats.org/drawingml/2006/main">
              <a:ext uri="{FF2B5EF4-FFF2-40B4-BE49-F238E27FC236}">
                <a16:creationId xmlns:a16="http://schemas.microsoft.com/office/drawing/2014/main" id="{5A5A7E80-7C83-4590-B243-0D2D6852A85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Stanley: align and move toward the path</a:t>
            </a:r>
          </a:p>
        </p:txBody>
      </p:sp>
      <p:sp>
        <p:nvSpPr>
          <p:cNvPr id="3" name="16">
            <a:extLst xmlns:a="http://schemas.openxmlformats.org/drawingml/2006/main">
              <a:ext uri="{FF2B5EF4-FFF2-40B4-BE49-F238E27FC236}">
                <a16:creationId xmlns:a16="http://schemas.microsoft.com/office/drawing/2014/main" id="{3169CD82-B8CE-49EA-8173-9BEF91973F1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16</a:t>
            </a:r>
          </a:p>
        </p:txBody>
      </p:sp>
      <p:pic>
        <p:nvPicPr>
          <p:cNvPr id="4" name="">
            <a:extLst xmlns:a="http://schemas.openxmlformats.org/drawingml/2006/main">
              <a:ext uri="{FF2B5EF4-FFF2-40B4-BE49-F238E27FC236}">
                <a16:creationId xmlns:a16="http://schemas.microsoft.com/office/drawing/2014/main" id="{05D95C47-AA14-43B3-916F-BAAED2152DBB}"/>
              </a:ext>
            </a:extLst>
          </p:cNvPr>
          <p:cNvPicPr>
            <a:picLocks xmlns:a="http://schemas.openxmlformats.org/drawingml/2006/main" noChangeAspect="1"/>
          </p:cNvPicPr>
          <p:nvPr/>
        </p:nvPicPr>
        <p:blipFill>
          <a:blip xmlns:r="http://schemas.openxmlformats.org/officeDocument/2006/relationships" xmlns:a="http://schemas.openxmlformats.org/drawingml/2006/main" r:embed="R796f30bf80f64c56"/>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Is the vehicle pointing along the path?&#10;&#10;Is the front axle to on">
            <a:extLst xmlns:a="http://schemas.openxmlformats.org/drawingml/2006/main">
              <a:ext uri="{FF2B5EF4-FFF2-40B4-BE49-F238E27FC236}">
                <a16:creationId xmlns:a16="http://schemas.microsoft.com/office/drawing/2014/main" id="{8D0CF8BC-C0DB-4E43-834F-A10CD3921BA4}"/>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Is the vehicle pointing along the path?</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Is the front axle to one side of it?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Combine those two corrections.</a:t>
            </a:r>
          </a:p>
        </p:txBody>
      </p:sp>
      <p:sp>
        <p:nvSpPr>
          <p:cNvPr id="6" name="Open interactive demonstration">
            <a:extLst xmlns:a="http://schemas.openxmlformats.org/drawingml/2006/main">
              <a:ext uri="{FF2B5EF4-FFF2-40B4-BE49-F238E27FC236}">
                <a16:creationId xmlns:a16="http://schemas.microsoft.com/office/drawing/2014/main" id="{FA4E3F43-B677-4820-ADB9-568715E67B5B}"/>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10729557d93d4310"/>
              </a:rPr>
              <a:t>Open interactive demonstration</a:t>
            </a:r>
          </a:p>
        </p:txBody>
      </p:sp>
    </p:spTree>
    <p:extLst>
      <p:ext uri="{BB962C8B-B14F-4D97-AF65-F5344CB8AC3E}">
        <p14:creationId xmlns:p14="http://schemas.microsoft.com/office/powerpoint/2010/main" val="9300202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64600FE-6E1E-49C2-ADBA-FCD9192EE9A1}"/>
              </a:ext>
            </a:extLst>
          </p:cNvPr>
          <p:cNvPicPr>
            <a:picLocks xmlns:a="http://schemas.openxmlformats.org/drawingml/2006/main" noChangeAspect="1"/>
          </p:cNvPicPr>
          <p:nvPr/>
        </p:nvPicPr>
        <p:blipFill>
          <a:blip xmlns:r="http://schemas.openxmlformats.org/officeDocument/2006/relationships" xmlns:a="http://schemas.openxmlformats.org/drawingml/2006/main" r:embed="Ra47b76f56dfb417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atch: a strong correction can arrive late">
            <a:extLst xmlns:a="http://schemas.openxmlformats.org/drawingml/2006/main">
              <a:ext uri="{FF2B5EF4-FFF2-40B4-BE49-F238E27FC236}">
                <a16:creationId xmlns:a16="http://schemas.microsoft.com/office/drawing/2014/main" id="{F00721C0-79B2-4224-9CCD-6EBAEA906BB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Watch: a strong correction can arrive late</a:t>
            </a:r>
          </a:p>
        </p:txBody>
      </p:sp>
      <p:sp>
        <p:nvSpPr>
          <p:cNvPr id="3" name="17">
            <a:extLst xmlns:a="http://schemas.openxmlformats.org/drawingml/2006/main">
              <a:ext uri="{FF2B5EF4-FFF2-40B4-BE49-F238E27FC236}">
                <a16:creationId xmlns:a16="http://schemas.microsoft.com/office/drawing/2014/main" id="{C09B92BA-8B8F-4394-AF16-DF3BAD0929B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17</a:t>
            </a:r>
          </a:p>
        </p:txBody>
      </p:sp>
      <p:pic>
        <p:nvPicPr>
          <p:cNvPr id="4" name="">
            <a:extLst xmlns:a="http://schemas.openxmlformats.org/drawingml/2006/main">
              <a:ext uri="{FF2B5EF4-FFF2-40B4-BE49-F238E27FC236}">
                <a16:creationId xmlns:a16="http://schemas.microsoft.com/office/drawing/2014/main" id="{C56F1EF6-8D42-4654-A312-C0E0946EA261}"/>
              </a:ext>
            </a:extLst>
          </p:cNvPr>
          <p:cNvPicPr>
            <a:picLocks xmlns:a="http://schemas.openxmlformats.org/drawingml/2006/main" noChangeAspect="1"/>
          </p:cNvPicPr>
          <p:nvPr/>
        </p:nvPicPr>
        <p:blipFill>
          <a:blip xmlns:r="http://schemas.openxmlformats.org/officeDocument/2006/relationships" xmlns:a="http://schemas.openxmlformats.org/drawingml/2006/main" r:embed="Rdab7f23f84b54584"/>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A stronger response tries to remove the error quickly.&#10;&#10;Delay me">
            <a:extLst xmlns:a="http://schemas.openxmlformats.org/drawingml/2006/main">
              <a:ext uri="{FF2B5EF4-FFF2-40B4-BE49-F238E27FC236}">
                <a16:creationId xmlns:a16="http://schemas.microsoft.com/office/drawing/2014/main" id="{D58199B2-E660-4904-95EF-ECCEEC4FEEEB}"/>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stronger response tries to remove the error quickly.</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Delay means the vehicle has moved before it acts.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Repeated late corrections can create oscillation.</a:t>
            </a:r>
          </a:p>
        </p:txBody>
      </p:sp>
      <p:sp>
        <p:nvSpPr>
          <p:cNvPr id="6" name="Open interactive demonstration">
            <a:extLst xmlns:a="http://schemas.openxmlformats.org/drawingml/2006/main">
              <a:ext uri="{FF2B5EF4-FFF2-40B4-BE49-F238E27FC236}">
                <a16:creationId xmlns:a16="http://schemas.microsoft.com/office/drawing/2014/main" id="{D58FE19A-A3C4-49BD-9E6B-DE9485092FB9}"/>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583e7319c054e57"/>
              </a:rPr>
              <a:t>Open interactive demonstration</a:t>
            </a:r>
          </a:p>
        </p:txBody>
      </p:sp>
    </p:spTree>
    <p:extLst>
      <p:ext uri="{BB962C8B-B14F-4D97-AF65-F5344CB8AC3E}">
        <p14:creationId xmlns:p14="http://schemas.microsoft.com/office/powerpoint/2010/main" val="2211671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33077DF5-48FA-4310-A622-DEF25E3A1A73}"/>
              </a:ext>
            </a:extLst>
          </p:cNvPr>
          <p:cNvPicPr>
            <a:picLocks xmlns:a="http://schemas.openxmlformats.org/drawingml/2006/main" noChangeAspect="1"/>
          </p:cNvPicPr>
          <p:nvPr/>
        </p:nvPicPr>
        <p:blipFill>
          <a:blip xmlns:r="http://schemas.openxmlformats.org/officeDocument/2006/relationships" xmlns:a="http://schemas.openxmlformats.org/drawingml/2006/main" r:embed="Rfb7d496eb17141ed"/>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Using a model to choose a response">
            <a:extLst xmlns:a="http://schemas.openxmlformats.org/drawingml/2006/main">
              <a:ext uri="{FF2B5EF4-FFF2-40B4-BE49-F238E27FC236}">
                <a16:creationId xmlns:a16="http://schemas.microsoft.com/office/drawing/2014/main" id="{109A76DD-DF29-4C31-8781-AC1D46639DD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Using a model to choose a response</a:t>
            </a:r>
          </a:p>
        </p:txBody>
      </p:sp>
      <p:sp>
        <p:nvSpPr>
          <p:cNvPr id="3" name="18">
            <a:extLst xmlns:a="http://schemas.openxmlformats.org/drawingml/2006/main">
              <a:ext uri="{FF2B5EF4-FFF2-40B4-BE49-F238E27FC236}">
                <a16:creationId xmlns:a16="http://schemas.microsoft.com/office/drawing/2014/main" id="{1217BE1F-C1BE-4F49-8B98-F9FFA784294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F7AC5376-18EC-4E0A-8C22-AD588B4DB86A}"/>
              </a:ext>
            </a:extLst>
          </p:cNvPr>
          <p:cNvSpPr>
            <a:spLocks xmlns:a="http://schemas.openxmlformats.org/drawingml/2006/main" noGrp="1"/>
          </p:cNvSpPr>
          <p:nvPr/>
        </p:nvSpPr>
        <p:spPr>
          <a:xfrm xmlns:a="http://schemas.openxmlformats.org/drawingml/2006/main">
            <a:off x="523875" y="1819275"/>
            <a:ext cx="2546350"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5" name="1">
            <a:extLst xmlns:a="http://schemas.openxmlformats.org/drawingml/2006/main">
              <a:ext uri="{FF2B5EF4-FFF2-40B4-BE49-F238E27FC236}">
                <a16:creationId xmlns:a16="http://schemas.microsoft.com/office/drawing/2014/main" id="{340AF04E-92D5-433A-B26C-67B85F196907}"/>
              </a:ext>
            </a:extLst>
          </p:cNvPr>
          <p:cNvSpPr>
            <a:spLocks xmlns:a="http://schemas.openxmlformats.org/drawingml/2006/main" noGrp="1"/>
          </p:cNvSpPr>
          <p:nvPr/>
        </p:nvSpPr>
        <p:spPr>
          <a:xfrm xmlns:a="http://schemas.openxmlformats.org/drawingml/2006/main">
            <a:off x="657225" y="1971675"/>
            <a:ext cx="227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1</a:t>
            </a:r>
          </a:p>
        </p:txBody>
      </p:sp>
      <p:sp>
        <p:nvSpPr>
          <p:cNvPr id="6" name="Current situation">
            <a:extLst xmlns:a="http://schemas.openxmlformats.org/drawingml/2006/main">
              <a:ext uri="{FF2B5EF4-FFF2-40B4-BE49-F238E27FC236}">
                <a16:creationId xmlns:a16="http://schemas.microsoft.com/office/drawing/2014/main" id="{8D6C88CF-95EE-42F4-AA21-74ACAB5EFA7F}"/>
              </a:ext>
            </a:extLst>
          </p:cNvPr>
          <p:cNvSpPr>
            <a:spLocks xmlns:a="http://schemas.openxmlformats.org/drawingml/2006/main" noGrp="1"/>
          </p:cNvSpPr>
          <p:nvPr/>
        </p:nvSpPr>
        <p:spPr>
          <a:xfrm xmlns:a="http://schemas.openxmlformats.org/drawingml/2006/main">
            <a:off x="657225" y="2362200"/>
            <a:ext cx="227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539F"/>
                </a:solidFill>
                <a:latin typeface="Arial"/>
                <a:ea typeface="Arial"/>
                <a:cs typeface="Arial"/>
              </a:defRPr>
            </a:defPPr>
          </a:lstStyle>
          <a:p xmlns:a="http://schemas.openxmlformats.org/drawingml/2006/main">
            <a:pPr>
              <a:defRPr sz="1725" b="1">
                <a:solidFill>
                  <a:srgbClr val="00539F"/>
                </a:solidFill>
                <a:latin typeface="Arial"/>
                <a:ea typeface="Arial"/>
                <a:cs typeface="Arial"/>
              </a:defRPr>
            </a:pPr>
            <a:r>
              <a:rPr sz="1725" b="1">
                <a:solidFill>
                  <a:srgbClr val="00539F"/>
                </a:solidFill>
                <a:latin typeface="Arial"/>
                <a:ea typeface="Arial"/>
                <a:cs typeface="Arial"/>
              </a:rPr>
              <a:t>Current situation</a:t>
            </a:r>
          </a:p>
        </p:txBody>
      </p:sp>
      <p:sp>
        <p:nvSpPr>
          <p:cNvPr id="7" name="Position and heading">
            <a:extLst xmlns:a="http://schemas.openxmlformats.org/drawingml/2006/main">
              <a:ext uri="{FF2B5EF4-FFF2-40B4-BE49-F238E27FC236}">
                <a16:creationId xmlns:a16="http://schemas.microsoft.com/office/drawing/2014/main" id="{76CFACC3-D64C-4506-AAD8-CDB784D444E1}"/>
              </a:ext>
            </a:extLst>
          </p:cNvPr>
          <p:cNvSpPr>
            <a:spLocks xmlns:a="http://schemas.openxmlformats.org/drawingml/2006/main" noGrp="1"/>
          </p:cNvSpPr>
          <p:nvPr/>
        </p:nvSpPr>
        <p:spPr>
          <a:xfrm xmlns:a="http://schemas.openxmlformats.org/drawingml/2006/main">
            <a:off x="657225" y="2952750"/>
            <a:ext cx="227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Position and heading</a:t>
            </a:r>
          </a:p>
        </p:txBody>
      </p:sp>
      <p:sp>
        <p:nvSpPr>
          <p:cNvPr id="8" name="→">
            <a:extLst xmlns:a="http://schemas.openxmlformats.org/drawingml/2006/main">
              <a:ext uri="{FF2B5EF4-FFF2-40B4-BE49-F238E27FC236}">
                <a16:creationId xmlns:a16="http://schemas.microsoft.com/office/drawing/2014/main" id="{EF5CEC97-DB1A-4218-80AC-26443FF2CA84}"/>
              </a:ext>
            </a:extLst>
          </p:cNvPr>
          <p:cNvSpPr>
            <a:spLocks xmlns:a="http://schemas.openxmlformats.org/drawingml/2006/main" noGrp="1"/>
          </p:cNvSpPr>
          <p:nvPr/>
        </p:nvSpPr>
        <p:spPr>
          <a:xfrm xmlns:a="http://schemas.openxmlformats.org/drawingml/2006/main">
            <a:off x="3070225"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0ECA1BE0-72B6-47D9-8F09-C6D767AF4AEA}"/>
              </a:ext>
            </a:extLst>
          </p:cNvPr>
          <p:cNvSpPr>
            <a:spLocks xmlns:a="http://schemas.openxmlformats.org/drawingml/2006/main" noGrp="1"/>
          </p:cNvSpPr>
          <p:nvPr/>
        </p:nvSpPr>
        <p:spPr>
          <a:xfrm xmlns:a="http://schemas.openxmlformats.org/drawingml/2006/main">
            <a:off x="3298825" y="1819275"/>
            <a:ext cx="2546350"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0" name="2">
            <a:extLst xmlns:a="http://schemas.openxmlformats.org/drawingml/2006/main">
              <a:ext uri="{FF2B5EF4-FFF2-40B4-BE49-F238E27FC236}">
                <a16:creationId xmlns:a16="http://schemas.microsoft.com/office/drawing/2014/main" id="{B1B8F51B-F958-4A2B-9AA3-6F609800A809}"/>
              </a:ext>
            </a:extLst>
          </p:cNvPr>
          <p:cNvSpPr>
            <a:spLocks xmlns:a="http://schemas.openxmlformats.org/drawingml/2006/main" noGrp="1"/>
          </p:cNvSpPr>
          <p:nvPr/>
        </p:nvSpPr>
        <p:spPr>
          <a:xfrm xmlns:a="http://schemas.openxmlformats.org/drawingml/2006/main">
            <a:off x="3432175" y="1971675"/>
            <a:ext cx="227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2</a:t>
            </a:r>
          </a:p>
        </p:txBody>
      </p:sp>
      <p:sp>
        <p:nvSpPr>
          <p:cNvPr id="11" name="A model of response">
            <a:extLst xmlns:a="http://schemas.openxmlformats.org/drawingml/2006/main">
              <a:ext uri="{FF2B5EF4-FFF2-40B4-BE49-F238E27FC236}">
                <a16:creationId xmlns:a16="http://schemas.microsoft.com/office/drawing/2014/main" id="{C4B656F3-D1E3-4986-A611-84E356323081}"/>
              </a:ext>
            </a:extLst>
          </p:cNvPr>
          <p:cNvSpPr>
            <a:spLocks xmlns:a="http://schemas.openxmlformats.org/drawingml/2006/main" noGrp="1"/>
          </p:cNvSpPr>
          <p:nvPr/>
        </p:nvSpPr>
        <p:spPr>
          <a:xfrm xmlns:a="http://schemas.openxmlformats.org/drawingml/2006/main">
            <a:off x="3432175" y="2362200"/>
            <a:ext cx="227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539F"/>
                </a:solidFill>
                <a:latin typeface="Arial"/>
                <a:ea typeface="Arial"/>
                <a:cs typeface="Arial"/>
              </a:defRPr>
            </a:defPPr>
          </a:lstStyle>
          <a:p xmlns:a="http://schemas.openxmlformats.org/drawingml/2006/main">
            <a:pPr>
              <a:defRPr sz="1725" b="1">
                <a:solidFill>
                  <a:srgbClr val="00539F"/>
                </a:solidFill>
                <a:latin typeface="Arial"/>
                <a:ea typeface="Arial"/>
                <a:cs typeface="Arial"/>
              </a:defRPr>
            </a:pPr>
            <a:r>
              <a:rPr sz="1725" b="1">
                <a:solidFill>
                  <a:srgbClr val="00539F"/>
                </a:solidFill>
                <a:latin typeface="Arial"/>
                <a:ea typeface="Arial"/>
                <a:cs typeface="Arial"/>
              </a:rPr>
              <a:t>A model of response</a:t>
            </a:r>
          </a:p>
        </p:txBody>
      </p:sp>
      <p:sp>
        <p:nvSpPr>
          <p:cNvPr id="12" name="What a correction will do">
            <a:extLst xmlns:a="http://schemas.openxmlformats.org/drawingml/2006/main">
              <a:ext uri="{FF2B5EF4-FFF2-40B4-BE49-F238E27FC236}">
                <a16:creationId xmlns:a16="http://schemas.microsoft.com/office/drawing/2014/main" id="{5265C38E-6716-428C-B0F3-77B0F2A4012E}"/>
              </a:ext>
            </a:extLst>
          </p:cNvPr>
          <p:cNvSpPr>
            <a:spLocks xmlns:a="http://schemas.openxmlformats.org/drawingml/2006/main" noGrp="1"/>
          </p:cNvSpPr>
          <p:nvPr/>
        </p:nvSpPr>
        <p:spPr>
          <a:xfrm xmlns:a="http://schemas.openxmlformats.org/drawingml/2006/main">
            <a:off x="3432175" y="2952750"/>
            <a:ext cx="227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What a correction will do</a:t>
            </a:r>
          </a:p>
        </p:txBody>
      </p:sp>
      <p:sp>
        <p:nvSpPr>
          <p:cNvPr id="13" name="→">
            <a:extLst xmlns:a="http://schemas.openxmlformats.org/drawingml/2006/main">
              <a:ext uri="{FF2B5EF4-FFF2-40B4-BE49-F238E27FC236}">
                <a16:creationId xmlns:a16="http://schemas.microsoft.com/office/drawing/2014/main" id="{D1F68B32-FDBD-425A-8019-0A440CD60F66}"/>
              </a:ext>
            </a:extLst>
          </p:cNvPr>
          <p:cNvSpPr>
            <a:spLocks xmlns:a="http://schemas.openxmlformats.org/drawingml/2006/main" noGrp="1"/>
          </p:cNvSpPr>
          <p:nvPr/>
        </p:nvSpPr>
        <p:spPr>
          <a:xfrm xmlns:a="http://schemas.openxmlformats.org/drawingml/2006/main">
            <a:off x="5845175"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57C2A466-AF7A-4DC2-8F72-4135FCD7A08E}"/>
              </a:ext>
            </a:extLst>
          </p:cNvPr>
          <p:cNvSpPr>
            <a:spLocks xmlns:a="http://schemas.openxmlformats.org/drawingml/2006/main" noGrp="1"/>
          </p:cNvSpPr>
          <p:nvPr/>
        </p:nvSpPr>
        <p:spPr>
          <a:xfrm xmlns:a="http://schemas.openxmlformats.org/drawingml/2006/main">
            <a:off x="6073775" y="1819275"/>
            <a:ext cx="2546350"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5" name="3">
            <a:extLst xmlns:a="http://schemas.openxmlformats.org/drawingml/2006/main">
              <a:ext uri="{FF2B5EF4-FFF2-40B4-BE49-F238E27FC236}">
                <a16:creationId xmlns:a16="http://schemas.microsoft.com/office/drawing/2014/main" id="{745D7F7B-6900-4BE9-BE31-8F71C29F6844}"/>
              </a:ext>
            </a:extLst>
          </p:cNvPr>
          <p:cNvSpPr>
            <a:spLocks xmlns:a="http://schemas.openxmlformats.org/drawingml/2006/main" noGrp="1"/>
          </p:cNvSpPr>
          <p:nvPr/>
        </p:nvSpPr>
        <p:spPr>
          <a:xfrm xmlns:a="http://schemas.openxmlformats.org/drawingml/2006/main">
            <a:off x="6207125" y="1971675"/>
            <a:ext cx="227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3</a:t>
            </a:r>
          </a:p>
        </p:txBody>
      </p:sp>
      <p:sp>
        <p:nvSpPr>
          <p:cNvPr id="16" name="A preferred tradeoff">
            <a:extLst xmlns:a="http://schemas.openxmlformats.org/drawingml/2006/main">
              <a:ext uri="{FF2B5EF4-FFF2-40B4-BE49-F238E27FC236}">
                <a16:creationId xmlns:a16="http://schemas.microsoft.com/office/drawing/2014/main" id="{DCA1C387-2FAA-4A89-9D3A-25400787AC7B}"/>
              </a:ext>
            </a:extLst>
          </p:cNvPr>
          <p:cNvSpPr>
            <a:spLocks xmlns:a="http://schemas.openxmlformats.org/drawingml/2006/main" noGrp="1"/>
          </p:cNvSpPr>
          <p:nvPr/>
        </p:nvSpPr>
        <p:spPr>
          <a:xfrm xmlns:a="http://schemas.openxmlformats.org/drawingml/2006/main">
            <a:off x="6207125" y="2362200"/>
            <a:ext cx="227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00539F"/>
                </a:solidFill>
                <a:latin typeface="Arial"/>
                <a:ea typeface="Arial"/>
                <a:cs typeface="Arial"/>
              </a:defRPr>
            </a:defPPr>
          </a:lstStyle>
          <a:p xmlns:a="http://schemas.openxmlformats.org/drawingml/2006/main">
            <a:pPr>
              <a:defRPr sz="1725" b="1">
                <a:solidFill>
                  <a:srgbClr val="00539F"/>
                </a:solidFill>
                <a:latin typeface="Arial"/>
                <a:ea typeface="Arial"/>
                <a:cs typeface="Arial"/>
              </a:defRPr>
            </a:pPr>
            <a:r>
              <a:rPr sz="1725" b="1">
                <a:solidFill>
                  <a:srgbClr val="00539F"/>
                </a:solidFill>
                <a:latin typeface="Arial"/>
                <a:ea typeface="Arial"/>
                <a:cs typeface="Arial"/>
              </a:rPr>
              <a:t>A preferred tradeoff</a:t>
            </a:r>
          </a:p>
        </p:txBody>
      </p:sp>
      <p:sp>
        <p:nvSpPr>
          <p:cNvPr id="17" name="Close tracking or gentler steering">
            <a:extLst xmlns:a="http://schemas.openxmlformats.org/drawingml/2006/main">
              <a:ext uri="{FF2B5EF4-FFF2-40B4-BE49-F238E27FC236}">
                <a16:creationId xmlns:a16="http://schemas.microsoft.com/office/drawing/2014/main" id="{99101303-9841-4689-AD29-F16450823267}"/>
              </a:ext>
            </a:extLst>
          </p:cNvPr>
          <p:cNvSpPr>
            <a:spLocks xmlns:a="http://schemas.openxmlformats.org/drawingml/2006/main" noGrp="1"/>
          </p:cNvSpPr>
          <p:nvPr/>
        </p:nvSpPr>
        <p:spPr>
          <a:xfrm xmlns:a="http://schemas.openxmlformats.org/drawingml/2006/main">
            <a:off x="6207125" y="2952750"/>
            <a:ext cx="227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Close tracking or gentler steering</a:t>
            </a:r>
          </a:p>
        </p:txBody>
      </p:sp>
      <p:sp>
        <p:nvSpPr>
          <p:cNvPr id="18" name="The model helps turn a design preference into a control rule.">
            <a:extLst xmlns:a="http://schemas.openxmlformats.org/drawingml/2006/main">
              <a:ext uri="{FF2B5EF4-FFF2-40B4-BE49-F238E27FC236}">
                <a16:creationId xmlns:a16="http://schemas.microsoft.com/office/drawing/2014/main" id="{EEB35155-023A-4178-B74F-0F5B7633056C}"/>
              </a:ext>
            </a:extLst>
          </p:cNvPr>
          <p:cNvSpPr>
            <a:spLocks xmlns:a="http://schemas.openxmlformats.org/drawingml/2006/main" noGrp="1"/>
          </p:cNvSpPr>
          <p:nvPr/>
        </p:nvSpPr>
        <p:spPr>
          <a:xfrm xmlns:a="http://schemas.openxmlformats.org/drawingml/2006/main">
            <a:off x="619125" y="38862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The model helps turn a design preference into a control rule.</a:t>
            </a:r>
          </a:p>
        </p:txBody>
      </p:sp>
    </p:spTree>
    <p:extLst>
      <p:ext uri="{BB962C8B-B14F-4D97-AF65-F5344CB8AC3E}">
        <p14:creationId xmlns:p14="http://schemas.microsoft.com/office/powerpoint/2010/main" val="6915579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A034714-F2A0-46B3-9ED7-4196D611436C}"/>
              </a:ext>
            </a:extLst>
          </p:cNvPr>
          <p:cNvPicPr>
            <a:picLocks xmlns:a="http://schemas.openxmlformats.org/drawingml/2006/main" noChangeAspect="1"/>
          </p:cNvPicPr>
          <p:nvPr/>
        </p:nvPicPr>
        <p:blipFill>
          <a:blip xmlns:r="http://schemas.openxmlformats.org/officeDocument/2006/relationships" xmlns:a="http://schemas.openxmlformats.org/drawingml/2006/main" r:embed="Ra1de6fd981d04e5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QR: balance tracking and steering effort">
            <a:extLst xmlns:a="http://schemas.openxmlformats.org/drawingml/2006/main">
              <a:ext uri="{FF2B5EF4-FFF2-40B4-BE49-F238E27FC236}">
                <a16:creationId xmlns:a16="http://schemas.microsoft.com/office/drawing/2014/main" id="{DFD02D8D-A392-4165-BEB8-22A282364FA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LQR: balance tracking and steering effort</a:t>
            </a:r>
          </a:p>
        </p:txBody>
      </p:sp>
      <p:sp>
        <p:nvSpPr>
          <p:cNvPr id="3" name="19">
            <a:extLst xmlns:a="http://schemas.openxmlformats.org/drawingml/2006/main">
              <a:ext uri="{FF2B5EF4-FFF2-40B4-BE49-F238E27FC236}">
                <a16:creationId xmlns:a16="http://schemas.microsoft.com/office/drawing/2014/main" id="{B24210EC-D743-46DC-B0CB-D13DDAE9A34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19</a:t>
            </a:r>
          </a:p>
        </p:txBody>
      </p:sp>
      <p:pic>
        <p:nvPicPr>
          <p:cNvPr id="4" name="">
            <a:extLst xmlns:a="http://schemas.openxmlformats.org/drawingml/2006/main">
              <a:ext uri="{FF2B5EF4-FFF2-40B4-BE49-F238E27FC236}">
                <a16:creationId xmlns:a16="http://schemas.microsoft.com/office/drawing/2014/main" id="{210ABD41-BE96-4475-8B7E-73E613501FB4}"/>
              </a:ext>
            </a:extLst>
          </p:cNvPr>
          <p:cNvPicPr>
            <a:picLocks xmlns:a="http://schemas.openxmlformats.org/drawingml/2006/main" noChangeAspect="1"/>
          </p:cNvPicPr>
          <p:nvPr/>
        </p:nvPicPr>
        <p:blipFill>
          <a:blip xmlns:r="http://schemas.openxmlformats.org/officeDocument/2006/relationships" xmlns:a="http://schemas.openxmlformats.org/drawingml/2006/main" r:embed="R8d561a95dc7d443a"/>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Use a model to choose the feedback response.&#10;&#10;Decide how strongl">
            <a:extLst xmlns:a="http://schemas.openxmlformats.org/drawingml/2006/main">
              <a:ext uri="{FF2B5EF4-FFF2-40B4-BE49-F238E27FC236}">
                <a16:creationId xmlns:a16="http://schemas.microsoft.com/office/drawing/2014/main" id="{40AD33AE-ABE8-4B78-81F6-7581985BD218}"/>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Use a model to choose the feedback response.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Decide how strongly to value accurate tracking.</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Balance that against large steering corrections.</a:t>
            </a:r>
          </a:p>
        </p:txBody>
      </p:sp>
      <p:sp>
        <p:nvSpPr>
          <p:cNvPr id="6" name="Open interactive demonstration">
            <a:extLst xmlns:a="http://schemas.openxmlformats.org/drawingml/2006/main">
              <a:ext uri="{FF2B5EF4-FFF2-40B4-BE49-F238E27FC236}">
                <a16:creationId xmlns:a16="http://schemas.microsoft.com/office/drawing/2014/main" id="{CC00A142-CFC0-4D91-82C5-9BC64D792133}"/>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445dcd88ba844b5"/>
              </a:rPr>
              <a:t>Open interactive demonstration</a:t>
            </a:r>
          </a:p>
        </p:txBody>
      </p:sp>
    </p:spTree>
    <p:extLst>
      <p:ext uri="{BB962C8B-B14F-4D97-AF65-F5344CB8AC3E}">
        <p14:creationId xmlns:p14="http://schemas.microsoft.com/office/powerpoint/2010/main" val="9300119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D7BB26D-4B7A-46BB-A3A9-8B4E14FAA336}"/>
              </a:ext>
            </a:extLst>
          </p:cNvPr>
          <p:cNvPicPr>
            <a:picLocks xmlns:a="http://schemas.openxmlformats.org/drawingml/2006/main" noChangeAspect="1"/>
          </p:cNvPicPr>
          <p:nvPr/>
        </p:nvPicPr>
        <p:blipFill>
          <a:blip xmlns:r="http://schemas.openxmlformats.org/officeDocument/2006/relationships" xmlns:a="http://schemas.openxmlformats.org/drawingml/2006/main" r:embed="R8f000c5732b0495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atch: change the priority">
            <a:extLst xmlns:a="http://schemas.openxmlformats.org/drawingml/2006/main">
              <a:ext uri="{FF2B5EF4-FFF2-40B4-BE49-F238E27FC236}">
                <a16:creationId xmlns:a16="http://schemas.microsoft.com/office/drawing/2014/main" id="{2596F38B-D487-46A4-994B-0F5C5CA5502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Watch: change the priority</a:t>
            </a:r>
          </a:p>
        </p:txBody>
      </p:sp>
      <p:sp>
        <p:nvSpPr>
          <p:cNvPr id="3" name="20">
            <a:extLst xmlns:a="http://schemas.openxmlformats.org/drawingml/2006/main">
              <a:ext uri="{FF2B5EF4-FFF2-40B4-BE49-F238E27FC236}">
                <a16:creationId xmlns:a16="http://schemas.microsoft.com/office/drawing/2014/main" id="{D10B9AA0-83F6-49C6-9C79-BD299821004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20</a:t>
            </a:r>
          </a:p>
        </p:txBody>
      </p:sp>
      <p:pic>
        <p:nvPicPr>
          <p:cNvPr id="4" name="">
            <a:extLst xmlns:a="http://schemas.openxmlformats.org/drawingml/2006/main">
              <a:ext uri="{FF2B5EF4-FFF2-40B4-BE49-F238E27FC236}">
                <a16:creationId xmlns:a16="http://schemas.microsoft.com/office/drawing/2014/main" id="{C645E5F1-D8D5-415D-AED8-16BECDACDCB0}"/>
              </a:ext>
            </a:extLst>
          </p:cNvPr>
          <p:cNvPicPr>
            <a:picLocks xmlns:a="http://schemas.openxmlformats.org/drawingml/2006/main" noChangeAspect="1"/>
          </p:cNvPicPr>
          <p:nvPr/>
        </p:nvPicPr>
        <p:blipFill>
          <a:blip xmlns:r="http://schemas.openxmlformats.org/officeDocument/2006/relationships" xmlns:a="http://schemas.openxmlformats.org/drawingml/2006/main" r:embed="Rbbcc47e686824ef0"/>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Tracking priority tolerates stronger corrections.&#10;&#10;Steering pena">
            <a:extLst xmlns:a="http://schemas.openxmlformats.org/drawingml/2006/main">
              <a:ext uri="{FF2B5EF4-FFF2-40B4-BE49-F238E27FC236}">
                <a16:creationId xmlns:a16="http://schemas.microsoft.com/office/drawing/2014/main" id="{569C471F-6846-46F5-9657-0C9DC94F4DCA}"/>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Tracking priority tolerates stronger corrections.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Steering penalty discourages large corrections.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steering limit can prevent the designed response.</a:t>
            </a:r>
          </a:p>
        </p:txBody>
      </p:sp>
      <p:sp>
        <p:nvSpPr>
          <p:cNvPr id="6" name="Open interactive demonstration">
            <a:extLst xmlns:a="http://schemas.openxmlformats.org/drawingml/2006/main">
              <a:ext uri="{FF2B5EF4-FFF2-40B4-BE49-F238E27FC236}">
                <a16:creationId xmlns:a16="http://schemas.microsoft.com/office/drawing/2014/main" id="{DE6FF981-6ECB-433C-A977-2E72B61735D2}"/>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b6d64bef03c4b23"/>
              </a:rPr>
              <a:t>Open interactive demonstration</a:t>
            </a:r>
          </a:p>
        </p:txBody>
      </p:sp>
    </p:spTree>
    <p:extLst>
      <p:ext uri="{BB962C8B-B14F-4D97-AF65-F5344CB8AC3E}">
        <p14:creationId xmlns:p14="http://schemas.microsoft.com/office/powerpoint/2010/main" val="870940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772A08F-B383-4345-B1D4-9907C06E7260}"/>
              </a:ext>
            </a:extLst>
          </p:cNvPr>
          <p:cNvPicPr>
            <a:picLocks xmlns:a="http://schemas.openxmlformats.org/drawingml/2006/main" noChangeAspect="1"/>
          </p:cNvPicPr>
          <p:nvPr/>
        </p:nvPicPr>
        <p:blipFill>
          <a:blip xmlns:r="http://schemas.openxmlformats.org/officeDocument/2006/relationships" xmlns:a="http://schemas.openxmlformats.org/drawingml/2006/main" r:embed="R37a812aee2f94f9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hy look farther ahead?">
            <a:extLst xmlns:a="http://schemas.openxmlformats.org/drawingml/2006/main">
              <a:ext uri="{FF2B5EF4-FFF2-40B4-BE49-F238E27FC236}">
                <a16:creationId xmlns:a16="http://schemas.microsoft.com/office/drawing/2014/main" id="{F09106B1-E0BE-4195-8B3E-2EFD5E62781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Why look farther ahead?</a:t>
            </a:r>
          </a:p>
        </p:txBody>
      </p:sp>
      <p:sp>
        <p:nvSpPr>
          <p:cNvPr id="3" name="21">
            <a:extLst xmlns:a="http://schemas.openxmlformats.org/drawingml/2006/main">
              <a:ext uri="{FF2B5EF4-FFF2-40B4-BE49-F238E27FC236}">
                <a16:creationId xmlns:a16="http://schemas.microsoft.com/office/drawing/2014/main" id="{46C58C2A-011F-42B9-B8D8-E60EA52AC8B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21</a:t>
            </a:r>
          </a:p>
        </p:txBody>
      </p:sp>
      <p:sp>
        <p:nvSpPr>
          <p:cNvPr id="4" name="A bend is coming while steering is still changing.">
            <a:extLst xmlns:a="http://schemas.openxmlformats.org/drawingml/2006/main">
              <a:ext uri="{FF2B5EF4-FFF2-40B4-BE49-F238E27FC236}">
                <a16:creationId xmlns:a16="http://schemas.microsoft.com/office/drawing/2014/main" id="{6F1996DF-B346-48BC-94F3-D75F96E1602D}"/>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bend is coming while steering is still changing.</a:t>
            </a:r>
          </a:p>
        </p:txBody>
      </p:sp>
      <p:sp>
        <p:nvSpPr>
          <p:cNvPr id="5" name="Waiting until the error appears can be too late.">
            <a:extLst xmlns:a="http://schemas.openxmlformats.org/drawingml/2006/main">
              <a:ext uri="{FF2B5EF4-FFF2-40B4-BE49-F238E27FC236}">
                <a16:creationId xmlns:a16="http://schemas.microsoft.com/office/drawing/2014/main" id="{06928BF7-F6A9-4866-8F5E-216C957530C9}"/>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Waiting until the error appears can be too late.</a:t>
            </a:r>
          </a:p>
        </p:txBody>
      </p:sp>
      <p:sp>
        <p:nvSpPr>
          <p:cNvPr id="6" name="Prediction lets the controller consider future choices now.">
            <a:extLst xmlns:a="http://schemas.openxmlformats.org/drawingml/2006/main">
              <a:ext uri="{FF2B5EF4-FFF2-40B4-BE49-F238E27FC236}">
                <a16:creationId xmlns:a16="http://schemas.microsoft.com/office/drawing/2014/main" id="{E0B87889-FDF3-4386-9B44-F3E443A2C375}"/>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Prediction lets the controller consider future choices now.</a:t>
            </a:r>
          </a:p>
        </p:txBody>
      </p:sp>
    </p:spTree>
    <p:extLst>
      <p:ext uri="{BB962C8B-B14F-4D97-AF65-F5344CB8AC3E}">
        <p14:creationId xmlns:p14="http://schemas.microsoft.com/office/powerpoint/2010/main" val="5490097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77A81635-234B-4641-915E-9D10F51C9DF6}"/>
              </a:ext>
            </a:extLst>
          </p:cNvPr>
          <p:cNvPicPr>
            <a:picLocks xmlns:a="http://schemas.openxmlformats.org/drawingml/2006/main" noChangeAspect="1"/>
          </p:cNvPicPr>
          <p:nvPr/>
        </p:nvPicPr>
        <p:blipFill>
          <a:blip xmlns:r="http://schemas.openxmlformats.org/officeDocument/2006/relationships" xmlns:a="http://schemas.openxmlformats.org/drawingml/2006/main" r:embed="Rc4f718c8f841499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MPC: plan, act once, update">
            <a:extLst xmlns:a="http://schemas.openxmlformats.org/drawingml/2006/main">
              <a:ext uri="{FF2B5EF4-FFF2-40B4-BE49-F238E27FC236}">
                <a16:creationId xmlns:a16="http://schemas.microsoft.com/office/drawing/2014/main" id="{1E16D807-8D5B-4C53-AA66-D12A3E1269D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MPC: plan, act once, update</a:t>
            </a:r>
          </a:p>
        </p:txBody>
      </p:sp>
      <p:sp>
        <p:nvSpPr>
          <p:cNvPr id="3" name="22">
            <a:extLst xmlns:a="http://schemas.openxmlformats.org/drawingml/2006/main">
              <a:ext uri="{FF2B5EF4-FFF2-40B4-BE49-F238E27FC236}">
                <a16:creationId xmlns:a16="http://schemas.microsoft.com/office/drawing/2014/main" id="{D84F2530-EA98-479C-8DAB-14334C64C87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9672C047-B7FC-4CAD-8D2B-E2D7EEE89F1A}"/>
              </a:ext>
            </a:extLst>
          </p:cNvPr>
          <p:cNvSpPr>
            <a:spLocks xmlns:a="http://schemas.openxmlformats.org/drawingml/2006/main" noGrp="1"/>
          </p:cNvSpPr>
          <p:nvPr/>
        </p:nvSpPr>
        <p:spPr>
          <a:xfrm xmlns:a="http://schemas.openxmlformats.org/drawingml/2006/main">
            <a:off x="523875"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5" name="1">
            <a:extLst xmlns:a="http://schemas.openxmlformats.org/drawingml/2006/main">
              <a:ext uri="{FF2B5EF4-FFF2-40B4-BE49-F238E27FC236}">
                <a16:creationId xmlns:a16="http://schemas.microsoft.com/office/drawing/2014/main" id="{0F9234D0-6F51-4F00-8995-9D6D7C1BDB48}"/>
              </a:ext>
            </a:extLst>
          </p:cNvPr>
          <p:cNvSpPr>
            <a:spLocks xmlns:a="http://schemas.openxmlformats.org/drawingml/2006/main" noGrp="1"/>
          </p:cNvSpPr>
          <p:nvPr/>
        </p:nvSpPr>
        <p:spPr>
          <a:xfrm xmlns:a="http://schemas.openxmlformats.org/drawingml/2006/main">
            <a:off x="657225"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1</a:t>
            </a:r>
          </a:p>
        </p:txBody>
      </p:sp>
      <p:sp>
        <p:nvSpPr>
          <p:cNvPr id="6" name="Predict ahead">
            <a:extLst xmlns:a="http://schemas.openxmlformats.org/drawingml/2006/main">
              <a:ext uri="{FF2B5EF4-FFF2-40B4-BE49-F238E27FC236}">
                <a16:creationId xmlns:a16="http://schemas.microsoft.com/office/drawing/2014/main" id="{3896853E-DC1C-406D-9DB3-939836873D8E}"/>
              </a:ext>
            </a:extLst>
          </p:cNvPr>
          <p:cNvSpPr>
            <a:spLocks xmlns:a="http://schemas.openxmlformats.org/drawingml/2006/main" noGrp="1"/>
          </p:cNvSpPr>
          <p:nvPr/>
        </p:nvSpPr>
        <p:spPr>
          <a:xfrm xmlns:a="http://schemas.openxmlformats.org/drawingml/2006/main">
            <a:off x="657225"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Predict ahead</a:t>
            </a:r>
          </a:p>
        </p:txBody>
      </p:sp>
      <p:sp>
        <p:nvSpPr>
          <p:cNvPr id="7" name="Use the current state">
            <a:extLst xmlns:a="http://schemas.openxmlformats.org/drawingml/2006/main">
              <a:ext uri="{FF2B5EF4-FFF2-40B4-BE49-F238E27FC236}">
                <a16:creationId xmlns:a16="http://schemas.microsoft.com/office/drawing/2014/main" id="{3DBBD74C-14BA-40BD-B46B-2784CDBA2316}"/>
              </a:ext>
            </a:extLst>
          </p:cNvPr>
          <p:cNvSpPr>
            <a:spLocks xmlns:a="http://schemas.openxmlformats.org/drawingml/2006/main" noGrp="1"/>
          </p:cNvSpPr>
          <p:nvPr/>
        </p:nvSpPr>
        <p:spPr>
          <a:xfrm xmlns:a="http://schemas.openxmlformats.org/drawingml/2006/main">
            <a:off x="657225"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Use the current state</a:t>
            </a:r>
          </a:p>
        </p:txBody>
      </p:sp>
      <p:sp>
        <p:nvSpPr>
          <p:cNvPr id="8" name="→">
            <a:extLst xmlns:a="http://schemas.openxmlformats.org/drawingml/2006/main">
              <a:ext uri="{FF2B5EF4-FFF2-40B4-BE49-F238E27FC236}">
                <a16:creationId xmlns:a16="http://schemas.microsoft.com/office/drawing/2014/main" id="{0F824CEB-FEFE-43A0-B9E4-23B8B092A2CC}"/>
              </a:ext>
            </a:extLst>
          </p:cNvPr>
          <p:cNvSpPr>
            <a:spLocks xmlns:a="http://schemas.openxmlformats.org/drawingml/2006/main" noGrp="1"/>
          </p:cNvSpPr>
          <p:nvPr/>
        </p:nvSpPr>
        <p:spPr>
          <a:xfrm xmlns:a="http://schemas.openxmlformats.org/drawingml/2006/main">
            <a:off x="2376488"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E0909A25-B3A8-4FFF-A8A3-79968BD4BBBA}"/>
              </a:ext>
            </a:extLst>
          </p:cNvPr>
          <p:cNvSpPr>
            <a:spLocks xmlns:a="http://schemas.openxmlformats.org/drawingml/2006/main" noGrp="1"/>
          </p:cNvSpPr>
          <p:nvPr/>
        </p:nvSpPr>
        <p:spPr>
          <a:xfrm xmlns:a="http://schemas.openxmlformats.org/drawingml/2006/main">
            <a:off x="2605088"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0" name="2">
            <a:extLst xmlns:a="http://schemas.openxmlformats.org/drawingml/2006/main">
              <a:ext uri="{FF2B5EF4-FFF2-40B4-BE49-F238E27FC236}">
                <a16:creationId xmlns:a16="http://schemas.microsoft.com/office/drawing/2014/main" id="{4DFAA368-A2AE-4E5B-BD11-FEA4CD2943B1}"/>
              </a:ext>
            </a:extLst>
          </p:cNvPr>
          <p:cNvSpPr>
            <a:spLocks xmlns:a="http://schemas.openxmlformats.org/drawingml/2006/main" noGrp="1"/>
          </p:cNvSpPr>
          <p:nvPr/>
        </p:nvSpPr>
        <p:spPr>
          <a:xfrm xmlns:a="http://schemas.openxmlformats.org/drawingml/2006/main">
            <a:off x="2738438"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2</a:t>
            </a:r>
          </a:p>
        </p:txBody>
      </p:sp>
      <p:sp>
        <p:nvSpPr>
          <p:cNvPr id="11" name="Choose a sequence">
            <a:extLst xmlns:a="http://schemas.openxmlformats.org/drawingml/2006/main">
              <a:ext uri="{FF2B5EF4-FFF2-40B4-BE49-F238E27FC236}">
                <a16:creationId xmlns:a16="http://schemas.microsoft.com/office/drawing/2014/main" id="{B9E1E9B5-1479-4C60-9902-B8C34C34913C}"/>
              </a:ext>
            </a:extLst>
          </p:cNvPr>
          <p:cNvSpPr>
            <a:spLocks xmlns:a="http://schemas.openxmlformats.org/drawingml/2006/main" noGrp="1"/>
          </p:cNvSpPr>
          <p:nvPr/>
        </p:nvSpPr>
        <p:spPr>
          <a:xfrm xmlns:a="http://schemas.openxmlformats.org/drawingml/2006/main">
            <a:off x="2738438"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Choose a sequence</a:t>
            </a:r>
          </a:p>
        </p:txBody>
      </p:sp>
      <p:sp>
        <p:nvSpPr>
          <p:cNvPr id="12" name="Consider preferences and limits">
            <a:extLst xmlns:a="http://schemas.openxmlformats.org/drawingml/2006/main">
              <a:ext uri="{FF2B5EF4-FFF2-40B4-BE49-F238E27FC236}">
                <a16:creationId xmlns:a16="http://schemas.microsoft.com/office/drawing/2014/main" id="{9228DB8D-B2C0-4BDE-A44E-DA20B2B3A610}"/>
              </a:ext>
            </a:extLst>
          </p:cNvPr>
          <p:cNvSpPr>
            <a:spLocks xmlns:a="http://schemas.openxmlformats.org/drawingml/2006/main" noGrp="1"/>
          </p:cNvSpPr>
          <p:nvPr/>
        </p:nvSpPr>
        <p:spPr>
          <a:xfrm xmlns:a="http://schemas.openxmlformats.org/drawingml/2006/main">
            <a:off x="2738438"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Consider preferences and limits</a:t>
            </a:r>
          </a:p>
        </p:txBody>
      </p:sp>
      <p:sp>
        <p:nvSpPr>
          <p:cNvPr id="13" name="→">
            <a:extLst xmlns:a="http://schemas.openxmlformats.org/drawingml/2006/main">
              <a:ext uri="{FF2B5EF4-FFF2-40B4-BE49-F238E27FC236}">
                <a16:creationId xmlns:a16="http://schemas.microsoft.com/office/drawing/2014/main" id="{8183FE98-837A-46CD-85C5-8FEE3E2F936B}"/>
              </a:ext>
            </a:extLst>
          </p:cNvPr>
          <p:cNvSpPr>
            <a:spLocks xmlns:a="http://schemas.openxmlformats.org/drawingml/2006/main" noGrp="1"/>
          </p:cNvSpPr>
          <p:nvPr/>
        </p:nvSpPr>
        <p:spPr>
          <a:xfrm xmlns:a="http://schemas.openxmlformats.org/drawingml/2006/main">
            <a:off x="4457700"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48EB1C10-F0E6-4803-A116-771D0D7AF635}"/>
              </a:ext>
            </a:extLst>
          </p:cNvPr>
          <p:cNvSpPr>
            <a:spLocks xmlns:a="http://schemas.openxmlformats.org/drawingml/2006/main" noGrp="1"/>
          </p:cNvSpPr>
          <p:nvPr/>
        </p:nvSpPr>
        <p:spPr>
          <a:xfrm xmlns:a="http://schemas.openxmlformats.org/drawingml/2006/main">
            <a:off x="4686300"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15" name="3">
            <a:extLst xmlns:a="http://schemas.openxmlformats.org/drawingml/2006/main">
              <a:ext uri="{FF2B5EF4-FFF2-40B4-BE49-F238E27FC236}">
                <a16:creationId xmlns:a16="http://schemas.microsoft.com/office/drawing/2014/main" id="{44829CA8-FA72-44FD-9BC0-D1CAB2B9FB64}"/>
              </a:ext>
            </a:extLst>
          </p:cNvPr>
          <p:cNvSpPr>
            <a:spLocks xmlns:a="http://schemas.openxmlformats.org/drawingml/2006/main" noGrp="1"/>
          </p:cNvSpPr>
          <p:nvPr/>
        </p:nvSpPr>
        <p:spPr>
          <a:xfrm xmlns:a="http://schemas.openxmlformats.org/drawingml/2006/main">
            <a:off x="4819650"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3</a:t>
            </a:r>
          </a:p>
        </p:txBody>
      </p:sp>
      <p:sp>
        <p:nvSpPr>
          <p:cNvPr id="16" name="Apply the first action">
            <a:extLst xmlns:a="http://schemas.openxmlformats.org/drawingml/2006/main">
              <a:ext uri="{FF2B5EF4-FFF2-40B4-BE49-F238E27FC236}">
                <a16:creationId xmlns:a16="http://schemas.microsoft.com/office/drawing/2014/main" id="{AA4C2DC2-9E3E-4972-BCCA-1F04AE1B1BCA}"/>
              </a:ext>
            </a:extLst>
          </p:cNvPr>
          <p:cNvSpPr>
            <a:spLocks xmlns:a="http://schemas.openxmlformats.org/drawingml/2006/main" noGrp="1"/>
          </p:cNvSpPr>
          <p:nvPr/>
        </p:nvSpPr>
        <p:spPr>
          <a:xfrm xmlns:a="http://schemas.openxmlformats.org/drawingml/2006/main">
            <a:off x="4819650"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Apply the first action</a:t>
            </a:r>
          </a:p>
        </p:txBody>
      </p:sp>
      <p:sp>
        <p:nvSpPr>
          <p:cNvPr id="17" name="Start carrying out the plan">
            <a:extLst xmlns:a="http://schemas.openxmlformats.org/drawingml/2006/main">
              <a:ext uri="{FF2B5EF4-FFF2-40B4-BE49-F238E27FC236}">
                <a16:creationId xmlns:a16="http://schemas.microsoft.com/office/drawing/2014/main" id="{DD72DA06-F393-486E-B3A4-2F4E7A928CF2}"/>
              </a:ext>
            </a:extLst>
          </p:cNvPr>
          <p:cNvSpPr>
            <a:spLocks xmlns:a="http://schemas.openxmlformats.org/drawingml/2006/main" noGrp="1"/>
          </p:cNvSpPr>
          <p:nvPr/>
        </p:nvSpPr>
        <p:spPr>
          <a:xfrm xmlns:a="http://schemas.openxmlformats.org/drawingml/2006/main">
            <a:off x="4819650"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Start carrying out the plan</a:t>
            </a:r>
          </a:p>
        </p:txBody>
      </p:sp>
      <p:sp>
        <p:nvSpPr>
          <p:cNvPr id="18" name="→">
            <a:extLst xmlns:a="http://schemas.openxmlformats.org/drawingml/2006/main">
              <a:ext uri="{FF2B5EF4-FFF2-40B4-BE49-F238E27FC236}">
                <a16:creationId xmlns:a16="http://schemas.microsoft.com/office/drawing/2014/main" id="{A696A939-FA88-4882-9244-640CCB4FA20E}"/>
              </a:ext>
            </a:extLst>
          </p:cNvPr>
          <p:cNvSpPr>
            <a:spLocks xmlns:a="http://schemas.openxmlformats.org/drawingml/2006/main" noGrp="1"/>
          </p:cNvSpPr>
          <p:nvPr/>
        </p:nvSpPr>
        <p:spPr>
          <a:xfrm xmlns:a="http://schemas.openxmlformats.org/drawingml/2006/main">
            <a:off x="6538913" y="2352675"/>
            <a:ext cx="22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C1EDD6F9-D75A-4FAB-91A1-18A2AEB8A115}"/>
              </a:ext>
            </a:extLst>
          </p:cNvPr>
          <p:cNvSpPr>
            <a:spLocks xmlns:a="http://schemas.openxmlformats.org/drawingml/2006/main" noGrp="1"/>
          </p:cNvSpPr>
          <p:nvPr/>
        </p:nvSpPr>
        <p:spPr>
          <a:xfrm xmlns:a="http://schemas.openxmlformats.org/drawingml/2006/main">
            <a:off x="6767513" y="1819275"/>
            <a:ext cx="1852613" cy="1619250"/>
          </a:xfrm>
          <a:prstGeom xmlns:a="http://schemas.openxmlformats.org/drawingml/2006/main" prst="roundRect">
            <a:avLst>
              <a:gd name="adj" fmla="val 4706"/>
            </a:avLst>
          </a:prstGeom>
          <a:solidFill xmlns:a="http://schemas.openxmlformats.org/drawingml/2006/main">
            <a:srgbClr val="EDF6FC"/>
          </a:solidFill>
          <a:ln xmlns:a="http://schemas.openxmlformats.org/drawingml/2006/main" w="9525">
            <a:solidFill>
              <a:srgbClr val="A9CDDF"/>
            </a:solidFill>
          </a:ln>
        </p:spPr>
      </p:sp>
      <p:sp>
        <p:nvSpPr>
          <p:cNvPr id="20" name="4">
            <a:extLst xmlns:a="http://schemas.openxmlformats.org/drawingml/2006/main">
              <a:ext uri="{FF2B5EF4-FFF2-40B4-BE49-F238E27FC236}">
                <a16:creationId xmlns:a16="http://schemas.microsoft.com/office/drawing/2014/main" id="{51F65CC1-4CAA-4A5E-8213-559142CD9AF0}"/>
              </a:ext>
            </a:extLst>
          </p:cNvPr>
          <p:cNvSpPr>
            <a:spLocks xmlns:a="http://schemas.openxmlformats.org/drawingml/2006/main" noGrp="1"/>
          </p:cNvSpPr>
          <p:nvPr/>
        </p:nvSpPr>
        <p:spPr>
          <a:xfrm xmlns:a="http://schemas.openxmlformats.org/drawingml/2006/main">
            <a:off x="6900863" y="1971675"/>
            <a:ext cx="15859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00539F"/>
                </a:solidFill>
                <a:latin typeface="Arial"/>
                <a:ea typeface="Arial"/>
                <a:cs typeface="Arial"/>
              </a:defRPr>
            </a:defPPr>
          </a:lstStyle>
          <a:p xmlns:a="http://schemas.openxmlformats.org/drawingml/2006/main">
            <a:pPr>
              <a:defRPr sz="1800" b="1">
                <a:solidFill>
                  <a:srgbClr val="00539F"/>
                </a:solidFill>
                <a:latin typeface="Arial"/>
                <a:ea typeface="Arial"/>
                <a:cs typeface="Arial"/>
              </a:defRPr>
            </a:pPr>
            <a:r>
              <a:rPr sz="1800" b="1">
                <a:solidFill>
                  <a:srgbClr val="00539F"/>
                </a:solidFill>
                <a:latin typeface="Arial"/>
                <a:ea typeface="Arial"/>
                <a:cs typeface="Arial"/>
              </a:rPr>
              <a:t>4</a:t>
            </a:r>
          </a:p>
        </p:txBody>
      </p:sp>
      <p:sp>
        <p:nvSpPr>
          <p:cNvPr id="21" name="Measure and replan">
            <a:extLst xmlns:a="http://schemas.openxmlformats.org/drawingml/2006/main">
              <a:ext uri="{FF2B5EF4-FFF2-40B4-BE49-F238E27FC236}">
                <a16:creationId xmlns:a16="http://schemas.microsoft.com/office/drawing/2014/main" id="{C4B9DB87-2CEF-4769-94E1-3ADF89E53E1D}"/>
              </a:ext>
            </a:extLst>
          </p:cNvPr>
          <p:cNvSpPr>
            <a:spLocks xmlns:a="http://schemas.openxmlformats.org/drawingml/2006/main" noGrp="1"/>
          </p:cNvSpPr>
          <p:nvPr/>
        </p:nvSpPr>
        <p:spPr>
          <a:xfrm xmlns:a="http://schemas.openxmlformats.org/drawingml/2006/main">
            <a:off x="6900863" y="2362200"/>
            <a:ext cx="1585913"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Measure and replan</a:t>
            </a:r>
          </a:p>
        </p:txBody>
      </p:sp>
      <p:sp>
        <p:nvSpPr>
          <p:cNvPr id="22" name="Use the latest situation">
            <a:extLst xmlns:a="http://schemas.openxmlformats.org/drawingml/2006/main">
              <a:ext uri="{FF2B5EF4-FFF2-40B4-BE49-F238E27FC236}">
                <a16:creationId xmlns:a16="http://schemas.microsoft.com/office/drawing/2014/main" id="{7BDC1F6F-C8BE-4810-B3A3-8588FD55B6FE}"/>
              </a:ext>
            </a:extLst>
          </p:cNvPr>
          <p:cNvSpPr>
            <a:spLocks xmlns:a="http://schemas.openxmlformats.org/drawingml/2006/main" noGrp="1"/>
          </p:cNvSpPr>
          <p:nvPr/>
        </p:nvSpPr>
        <p:spPr>
          <a:xfrm xmlns:a="http://schemas.openxmlformats.org/drawingml/2006/main">
            <a:off x="6900863" y="2952750"/>
            <a:ext cx="15859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Use the latest situation</a:t>
            </a:r>
          </a:p>
        </p:txBody>
      </p:sp>
      <p:sp>
        <p:nvSpPr>
          <p:cNvPr id="23" name="Future actions are a plan. The next measurement can change that ">
            <a:extLst xmlns:a="http://schemas.openxmlformats.org/drawingml/2006/main">
              <a:ext uri="{FF2B5EF4-FFF2-40B4-BE49-F238E27FC236}">
                <a16:creationId xmlns:a16="http://schemas.microsoft.com/office/drawing/2014/main" id="{881E0684-DE83-48ED-969E-804701A07EC3}"/>
              </a:ext>
            </a:extLst>
          </p:cNvPr>
          <p:cNvSpPr>
            <a:spLocks xmlns:a="http://schemas.openxmlformats.org/drawingml/2006/main" noGrp="1"/>
          </p:cNvSpPr>
          <p:nvPr/>
        </p:nvSpPr>
        <p:spPr>
          <a:xfrm xmlns:a="http://schemas.openxmlformats.org/drawingml/2006/main">
            <a:off x="619125" y="38862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Future actions are a plan. The next measurement can change that plan.</a:t>
            </a:r>
          </a:p>
        </p:txBody>
      </p:sp>
    </p:spTree>
    <p:extLst>
      <p:ext uri="{BB962C8B-B14F-4D97-AF65-F5344CB8AC3E}">
        <p14:creationId xmlns:p14="http://schemas.microsoft.com/office/powerpoint/2010/main" val="10175872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6F6B72D-6E13-4DD1-BD77-2E1E5BF5F6CD}"/>
              </a:ext>
            </a:extLst>
          </p:cNvPr>
          <p:cNvPicPr>
            <a:picLocks xmlns:a="http://schemas.openxmlformats.org/drawingml/2006/main" noChangeAspect="1"/>
          </p:cNvPicPr>
          <p:nvPr/>
        </p:nvPicPr>
        <p:blipFill>
          <a:blip xmlns:r="http://schemas.openxmlformats.org/officeDocument/2006/relationships" xmlns:a="http://schemas.openxmlformats.org/drawingml/2006/main" r:embed="R587358e77d1a4f5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green path is a prediction">
            <a:extLst xmlns:a="http://schemas.openxmlformats.org/drawingml/2006/main">
              <a:ext uri="{FF2B5EF4-FFF2-40B4-BE49-F238E27FC236}">
                <a16:creationId xmlns:a16="http://schemas.microsoft.com/office/drawing/2014/main" id="{45B96108-D0DF-463D-8409-467AC401553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green path is a prediction</a:t>
            </a:r>
          </a:p>
        </p:txBody>
      </p:sp>
      <p:sp>
        <p:nvSpPr>
          <p:cNvPr id="3" name="23">
            <a:extLst xmlns:a="http://schemas.openxmlformats.org/drawingml/2006/main">
              <a:ext uri="{FF2B5EF4-FFF2-40B4-BE49-F238E27FC236}">
                <a16:creationId xmlns:a16="http://schemas.microsoft.com/office/drawing/2014/main" id="{F359163C-E2E8-431D-852D-B83C64D9CA2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23</a:t>
            </a:r>
          </a:p>
        </p:txBody>
      </p:sp>
      <p:pic>
        <p:nvPicPr>
          <p:cNvPr id="4" name="">
            <a:extLst xmlns:a="http://schemas.openxmlformats.org/drawingml/2006/main">
              <a:ext uri="{FF2B5EF4-FFF2-40B4-BE49-F238E27FC236}">
                <a16:creationId xmlns:a16="http://schemas.microsoft.com/office/drawing/2014/main" id="{3DEF713B-6DFA-42D5-B062-4D70C2784894}"/>
              </a:ext>
            </a:extLst>
          </p:cNvPr>
          <p:cNvPicPr>
            <a:picLocks xmlns:a="http://schemas.openxmlformats.org/drawingml/2006/main" noChangeAspect="1"/>
          </p:cNvPicPr>
          <p:nvPr/>
        </p:nvPicPr>
        <p:blipFill>
          <a:blip xmlns:r="http://schemas.openxmlformats.org/officeDocument/2006/relationships" xmlns:a="http://schemas.openxmlformats.org/drawingml/2006/main" r:embed="R9e54f2f1061f4630"/>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It shows where the current plan expects to go.&#10;&#10;Longer preview c">
            <a:extLst xmlns:a="http://schemas.openxmlformats.org/drawingml/2006/main">
              <a:ext uri="{FF2B5EF4-FFF2-40B4-BE49-F238E27FC236}">
                <a16:creationId xmlns:a16="http://schemas.microsoft.com/office/drawing/2014/main" id="{F1932C8E-664F-4399-AF0F-35319CE6B23C}"/>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It shows where the current plan expects to go.</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Longer preview considers more of the upcoming path.</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It changes when the vehicle state changes.</a:t>
            </a:r>
          </a:p>
        </p:txBody>
      </p:sp>
      <p:sp>
        <p:nvSpPr>
          <p:cNvPr id="6" name="Open interactive demonstration">
            <a:extLst xmlns:a="http://schemas.openxmlformats.org/drawingml/2006/main">
              <a:ext uri="{FF2B5EF4-FFF2-40B4-BE49-F238E27FC236}">
                <a16:creationId xmlns:a16="http://schemas.microsoft.com/office/drawing/2014/main" id="{064A7F39-7102-4C1B-B623-411E61ABBAEB}"/>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e72ab764e1064dc5"/>
              </a:rPr>
              <a:t>Open interactive demonstration</a:t>
            </a:r>
          </a:p>
        </p:txBody>
      </p:sp>
    </p:spTree>
    <p:extLst>
      <p:ext uri="{BB962C8B-B14F-4D97-AF65-F5344CB8AC3E}">
        <p14:creationId xmlns:p14="http://schemas.microsoft.com/office/powerpoint/2010/main" val="133296298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17C399F-A16D-42D1-9FBB-2C04457F1652}"/>
              </a:ext>
            </a:extLst>
          </p:cNvPr>
          <p:cNvPicPr>
            <a:picLocks xmlns:a="http://schemas.openxmlformats.org/drawingml/2006/main" noChangeAspect="1"/>
          </p:cNvPicPr>
          <p:nvPr/>
        </p:nvPicPr>
        <p:blipFill>
          <a:blip xmlns:r="http://schemas.openxmlformats.org/officeDocument/2006/relationships" xmlns:a="http://schemas.openxmlformats.org/drawingml/2006/main" r:embed="R13c5794bee6a41f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Only the first planned action is used">
            <a:extLst xmlns:a="http://schemas.openxmlformats.org/drawingml/2006/main">
              <a:ext uri="{FF2B5EF4-FFF2-40B4-BE49-F238E27FC236}">
                <a16:creationId xmlns:a16="http://schemas.microsoft.com/office/drawing/2014/main" id="{BE7CEABF-3A01-4405-ABB0-FB7384B48B1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Only the first planned action is used</a:t>
            </a:r>
          </a:p>
        </p:txBody>
      </p:sp>
      <p:sp>
        <p:nvSpPr>
          <p:cNvPr id="3" name="24">
            <a:extLst xmlns:a="http://schemas.openxmlformats.org/drawingml/2006/main">
              <a:ext uri="{FF2B5EF4-FFF2-40B4-BE49-F238E27FC236}">
                <a16:creationId xmlns:a16="http://schemas.microsoft.com/office/drawing/2014/main" id="{59AC690F-131F-464C-A97A-218FE4F3F1C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24</a:t>
            </a:r>
          </a:p>
        </p:txBody>
      </p:sp>
      <p:pic>
        <p:nvPicPr>
          <p:cNvPr id="4" name="">
            <a:extLst xmlns:a="http://schemas.openxmlformats.org/drawingml/2006/main">
              <a:ext uri="{FF2B5EF4-FFF2-40B4-BE49-F238E27FC236}">
                <a16:creationId xmlns:a16="http://schemas.microsoft.com/office/drawing/2014/main" id="{EC623D74-775D-4695-AE3D-489CF6D7EC8F}"/>
              </a:ext>
            </a:extLst>
          </p:cNvPr>
          <p:cNvPicPr>
            <a:picLocks xmlns:a="http://schemas.openxmlformats.org/drawingml/2006/main" noChangeAspect="1"/>
          </p:cNvPicPr>
          <p:nvPr/>
        </p:nvPicPr>
        <p:blipFill>
          <a:blip xmlns:r="http://schemas.openxmlformats.org/officeDocument/2006/relationships" xmlns:a="http://schemas.openxmlformats.org/drawingml/2006/main" r:embed="Rc2a598b5b006473c"/>
          <a:stretch xmlns:a="http://schemas.openxmlformats.org/drawingml/2006/main"/>
        </p:blipFill>
        <p:spPr>
          <a:xfrm xmlns:a="http://schemas.openxmlformats.org/drawingml/2006/main">
            <a:off x="495300" y="1942148"/>
            <a:ext cx="5524500" cy="1878330"/>
          </a:xfrm>
          <a:prstGeom xmlns:a="http://schemas.openxmlformats.org/drawingml/2006/main" prst="rect">
            <a:avLst/>
          </a:prstGeom>
        </p:spPr>
      </p:pic>
      <p:sp>
        <p:nvSpPr>
          <p:cNvPr id="5" name="The orange point marks the next steering request.&#10;&#10;Later points ">
            <a:extLst xmlns:a="http://schemas.openxmlformats.org/drawingml/2006/main">
              <a:ext uri="{FF2B5EF4-FFF2-40B4-BE49-F238E27FC236}">
                <a16:creationId xmlns:a16="http://schemas.microsoft.com/office/drawing/2014/main" id="{E928569C-F036-42FC-857D-7C559382A54F}"/>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orange point marks the next steering request.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Later points are provisional choices.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Measure again before trusting the rest.</a:t>
            </a:r>
          </a:p>
        </p:txBody>
      </p:sp>
      <p:sp>
        <p:nvSpPr>
          <p:cNvPr id="6" name="Open interactive demonstration">
            <a:extLst xmlns:a="http://schemas.openxmlformats.org/drawingml/2006/main">
              <a:ext uri="{FF2B5EF4-FFF2-40B4-BE49-F238E27FC236}">
                <a16:creationId xmlns:a16="http://schemas.microsoft.com/office/drawing/2014/main" id="{89FFD5D4-4823-41E5-92D8-D495A5743545}"/>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110442c584a44b40"/>
              </a:rPr>
              <a:t>Open interactive demonstration</a:t>
            </a:r>
          </a:p>
        </p:txBody>
      </p:sp>
    </p:spTree>
    <p:extLst>
      <p:ext uri="{BB962C8B-B14F-4D97-AF65-F5344CB8AC3E}">
        <p14:creationId xmlns:p14="http://schemas.microsoft.com/office/powerpoint/2010/main" val="76504569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91580CF-E9BA-45AF-8378-6A28C77CCF45}"/>
              </a:ext>
            </a:extLst>
          </p:cNvPr>
          <p:cNvPicPr>
            <a:picLocks xmlns:a="http://schemas.openxmlformats.org/drawingml/2006/main" noChangeAspect="1"/>
          </p:cNvPicPr>
          <p:nvPr/>
        </p:nvPicPr>
        <p:blipFill>
          <a:blip xmlns:r="http://schemas.openxmlformats.org/officeDocument/2006/relationships" xmlns:a="http://schemas.openxmlformats.org/drawingml/2006/main" r:embed="R6eb74427e00a46ed"/>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preference is different from a limit">
            <a:extLst xmlns:a="http://schemas.openxmlformats.org/drawingml/2006/main">
              <a:ext uri="{FF2B5EF4-FFF2-40B4-BE49-F238E27FC236}">
                <a16:creationId xmlns:a16="http://schemas.microsoft.com/office/drawing/2014/main" id="{0D12867C-5E82-4EAC-A74D-E338E473240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preference is different from a limit</a:t>
            </a:r>
          </a:p>
        </p:txBody>
      </p:sp>
      <p:sp>
        <p:nvSpPr>
          <p:cNvPr id="3" name="25">
            <a:extLst xmlns:a="http://schemas.openxmlformats.org/drawingml/2006/main">
              <a:ext uri="{FF2B5EF4-FFF2-40B4-BE49-F238E27FC236}">
                <a16:creationId xmlns:a16="http://schemas.microsoft.com/office/drawing/2014/main" id="{FDC529BA-ABB1-426D-B6C1-088D27130EA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25</a:t>
            </a:r>
          </a:p>
        </p:txBody>
      </p:sp>
      <p:graphicFrame>
        <p:nvGraphicFramePr>
          <p:cNvPr id="4" name="">
            <a:extLst xmlns:a="http://schemas.openxmlformats.org/drawingml/2006/main">
              <a:ext uri="{FF2B5EF4-FFF2-40B4-BE49-F238E27FC236}">
                <a16:creationId xmlns:a16="http://schemas.microsoft.com/office/drawing/2014/main" id="{19FB56E0-1875-4289-9C0D-F972FBA27CD8}"/>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609600">
                <a:tc>
                  <a:txBody>
                    <a:bodyPr lIns="114300" tIns="76200" rIns="114300" bIns="76200">
                      <a:noAutofit/>
                    </a:bodyPr>
                    <a:lstStyle/>
                    <a:p>
                      <a:r>
                        <a:rPr sz="1425" b="1">
                          <a:solidFill>
                            <a:srgbClr val="FFFFFF"/>
                          </a:solidFill>
                          <a:latin typeface="Arial"/>
                          <a:ea typeface="Arial"/>
                          <a:cs typeface="Arial"/>
                        </a:rPr>
                        <a:t>Design choice</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Meaning</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Example</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609600">
                <a:tc>
                  <a:txBody>
                    <a:bodyPr lIns="114300" tIns="76200" rIns="114300" bIns="76200">
                      <a:noAutofit/>
                    </a:bodyPr>
                    <a:lstStyle/>
                    <a:p>
                      <a:r>
                        <a:rPr sz="1425" b="0">
                          <a:solidFill>
                            <a:srgbClr val="17324D"/>
                          </a:solidFill>
                          <a:latin typeface="Arial"/>
                          <a:ea typeface="Arial"/>
                          <a:cs typeface="Arial"/>
                        </a:rPr>
                        <a:t>Tracking preference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Try harder to follow the path</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Accept stronger corrections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Steering preference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Discourage large commands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Accept some tracking error</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609600">
                <a:tc>
                  <a:txBody>
                    <a:bodyPr lIns="114300" tIns="76200" rIns="114300" bIns="76200">
                      <a:noAutofit/>
                    </a:bodyPr>
                    <a:lstStyle/>
                    <a:p>
                      <a:r>
                        <a:rPr sz="1425" b="0">
                          <a:solidFill>
                            <a:srgbClr val="17324D"/>
                          </a:solidFill>
                          <a:latin typeface="Arial"/>
                          <a:ea typeface="Arial"/>
                          <a:cs typeface="Arial"/>
                        </a:rPr>
                        <a:t>Physical limit</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Stay within allowed inputs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Limited angle or turning rate</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Preview length</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Consider more of what is ahead</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See farther into a lane change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17237496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1CCAA4F-6F23-4FA9-B130-486E827C6EFE}"/>
              </a:ext>
            </a:extLst>
          </p:cNvPr>
          <p:cNvPicPr>
            <a:picLocks xmlns:a="http://schemas.openxmlformats.org/drawingml/2006/main" noChangeAspect="1"/>
          </p:cNvPicPr>
          <p:nvPr/>
        </p:nvPicPr>
        <p:blipFill>
          <a:blip xmlns:r="http://schemas.openxmlformats.org/officeDocument/2006/relationships" xmlns:a="http://schemas.openxmlformats.org/drawingml/2006/main" r:embed="Rb08567ace6104de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atch: short and long preview">
            <a:extLst xmlns:a="http://schemas.openxmlformats.org/drawingml/2006/main">
              <a:ext uri="{FF2B5EF4-FFF2-40B4-BE49-F238E27FC236}">
                <a16:creationId xmlns:a16="http://schemas.microsoft.com/office/drawing/2014/main" id="{80F78976-3D4D-4794-95C6-FFE38A7DFAD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Watch: short and long preview</a:t>
            </a:r>
          </a:p>
        </p:txBody>
      </p:sp>
      <p:sp>
        <p:nvSpPr>
          <p:cNvPr id="3" name="26">
            <a:extLst xmlns:a="http://schemas.openxmlformats.org/drawingml/2006/main">
              <a:ext uri="{FF2B5EF4-FFF2-40B4-BE49-F238E27FC236}">
                <a16:creationId xmlns:a16="http://schemas.microsoft.com/office/drawing/2014/main" id="{08EE7585-4F96-47A6-B794-4D9027E29ED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26</a:t>
            </a:r>
          </a:p>
        </p:txBody>
      </p:sp>
      <p:pic>
        <p:nvPicPr>
          <p:cNvPr id="4" name="">
            <a:extLst xmlns:a="http://schemas.openxmlformats.org/drawingml/2006/main">
              <a:ext uri="{FF2B5EF4-FFF2-40B4-BE49-F238E27FC236}">
                <a16:creationId xmlns:a16="http://schemas.microsoft.com/office/drawing/2014/main" id="{C454DB7F-9CFF-42B9-9BC6-EE6F0C6F952A}"/>
              </a:ext>
            </a:extLst>
          </p:cNvPr>
          <p:cNvPicPr>
            <a:picLocks xmlns:a="http://schemas.openxmlformats.org/drawingml/2006/main" noChangeAspect="1"/>
          </p:cNvPicPr>
          <p:nvPr/>
        </p:nvPicPr>
        <p:blipFill>
          <a:blip xmlns:r="http://schemas.openxmlformats.org/officeDocument/2006/relationships" xmlns:a="http://schemas.openxmlformats.org/drawingml/2006/main" r:embed="Rf1e6e5bf51f04313"/>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Compare how far the green prediction reaches.&#10;&#10;Watch when steeri">
            <a:extLst xmlns:a="http://schemas.openxmlformats.org/drawingml/2006/main">
              <a:ext uri="{FF2B5EF4-FFF2-40B4-BE49-F238E27FC236}">
                <a16:creationId xmlns:a16="http://schemas.microsoft.com/office/drawing/2014/main" id="{E4C8EE69-C580-4E36-A8EB-C0A24F728D86}"/>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Compare how far the green prediction reaches.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Watch when steering begins and how the path is followed.</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Tighten the limits and see what changes.</a:t>
            </a:r>
          </a:p>
        </p:txBody>
      </p:sp>
      <p:sp>
        <p:nvSpPr>
          <p:cNvPr id="6" name="Open interactive demonstration">
            <a:extLst xmlns:a="http://schemas.openxmlformats.org/drawingml/2006/main">
              <a:ext uri="{FF2B5EF4-FFF2-40B4-BE49-F238E27FC236}">
                <a16:creationId xmlns:a16="http://schemas.microsoft.com/office/drawing/2014/main" id="{69C51C51-9B24-4CA1-B5AA-E531E274CC52}"/>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149ce3704358404c"/>
              </a:rPr>
              <a:t>Open interactive demonstration</a:t>
            </a:r>
          </a:p>
        </p:txBody>
      </p:sp>
    </p:spTree>
    <p:extLst>
      <p:ext uri="{BB962C8B-B14F-4D97-AF65-F5344CB8AC3E}">
        <p14:creationId xmlns:p14="http://schemas.microsoft.com/office/powerpoint/2010/main" val="58440238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791B9F4-4DAC-493E-A052-1FE81C2F7BC8}"/>
              </a:ext>
            </a:extLst>
          </p:cNvPr>
          <p:cNvPicPr>
            <a:picLocks xmlns:a="http://schemas.openxmlformats.org/drawingml/2006/main" noChangeAspect="1"/>
          </p:cNvPicPr>
          <p:nvPr/>
        </p:nvPicPr>
        <p:blipFill>
          <a:blip xmlns:r="http://schemas.openxmlformats.org/officeDocument/2006/relationships" xmlns:a="http://schemas.openxmlformats.org/drawingml/2006/main" r:embed="R9d074537e1d7490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rediction and execution can disagree">
            <a:extLst xmlns:a="http://schemas.openxmlformats.org/drawingml/2006/main">
              <a:ext uri="{FF2B5EF4-FFF2-40B4-BE49-F238E27FC236}">
                <a16:creationId xmlns:a16="http://schemas.microsoft.com/office/drawing/2014/main" id="{6CE7BE26-14FF-4B69-A081-9F98163877A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Prediction and execution can disagree</a:t>
            </a:r>
          </a:p>
        </p:txBody>
      </p:sp>
      <p:sp>
        <p:nvSpPr>
          <p:cNvPr id="3" name="27">
            <a:extLst xmlns:a="http://schemas.openxmlformats.org/drawingml/2006/main">
              <a:ext uri="{FF2B5EF4-FFF2-40B4-BE49-F238E27FC236}">
                <a16:creationId xmlns:a16="http://schemas.microsoft.com/office/drawing/2014/main" id="{449CAFEA-B13F-4DD2-B3E2-CA2F88593CA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27</a:t>
            </a:r>
          </a:p>
        </p:txBody>
      </p:sp>
      <p:pic>
        <p:nvPicPr>
          <p:cNvPr id="4" name="">
            <a:extLst xmlns:a="http://schemas.openxmlformats.org/drawingml/2006/main">
              <a:ext uri="{FF2B5EF4-FFF2-40B4-BE49-F238E27FC236}">
                <a16:creationId xmlns:a16="http://schemas.microsoft.com/office/drawing/2014/main" id="{C960F47E-2A8B-413C-8E82-485626BCC7AB}"/>
              </a:ext>
            </a:extLst>
          </p:cNvPr>
          <p:cNvPicPr>
            <a:picLocks xmlns:a="http://schemas.openxmlformats.org/drawingml/2006/main" noChangeAspect="1"/>
          </p:cNvPicPr>
          <p:nvPr/>
        </p:nvPicPr>
        <p:blipFill>
          <a:blip xmlns:r="http://schemas.openxmlformats.org/officeDocument/2006/relationships" xmlns:a="http://schemas.openxmlformats.org/drawingml/2006/main" r:embed="R5321180cc4f64248"/>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The controller requests a steering action.&#10;&#10;The actuator needs t">
            <a:extLst xmlns:a="http://schemas.openxmlformats.org/drawingml/2006/main">
              <a:ext uri="{FF2B5EF4-FFF2-40B4-BE49-F238E27FC236}">
                <a16:creationId xmlns:a16="http://schemas.microsoft.com/office/drawing/2014/main" id="{366B1D30-FC43-4F58-9B05-A24F8A67EC39}"/>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controller requests a steering action.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actuator needs time to carry it out.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Delay or a biased response changes the actual motion.</a:t>
            </a:r>
          </a:p>
        </p:txBody>
      </p:sp>
      <p:sp>
        <p:nvSpPr>
          <p:cNvPr id="6" name="Open interactive demonstration">
            <a:extLst xmlns:a="http://schemas.openxmlformats.org/drawingml/2006/main">
              <a:ext uri="{FF2B5EF4-FFF2-40B4-BE49-F238E27FC236}">
                <a16:creationId xmlns:a16="http://schemas.microsoft.com/office/drawing/2014/main" id="{D593D202-2DF6-4ACE-877B-B1FFCBDBC3A6}"/>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a003ce2aee643d7"/>
              </a:rPr>
              <a:t>Open interactive demonstration</a:t>
            </a:r>
          </a:p>
        </p:txBody>
      </p:sp>
    </p:spTree>
    <p:extLst>
      <p:ext uri="{BB962C8B-B14F-4D97-AF65-F5344CB8AC3E}">
        <p14:creationId xmlns:p14="http://schemas.microsoft.com/office/powerpoint/2010/main" val="172583840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5CE95A0-9D3A-42B8-8C29-C670BE347935}"/>
              </a:ext>
            </a:extLst>
          </p:cNvPr>
          <p:cNvPicPr>
            <a:picLocks xmlns:a="http://schemas.openxmlformats.org/drawingml/2006/main" noChangeAspect="1"/>
          </p:cNvPicPr>
          <p:nvPr/>
        </p:nvPicPr>
        <p:blipFill>
          <a:blip xmlns:r="http://schemas.openxmlformats.org/officeDocument/2006/relationships" xmlns:a="http://schemas.openxmlformats.org/drawingml/2006/main" r:embed="Rec367070f93b455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hy a predictive controller can struggle">
            <a:extLst xmlns:a="http://schemas.openxmlformats.org/drawingml/2006/main">
              <a:ext uri="{FF2B5EF4-FFF2-40B4-BE49-F238E27FC236}">
                <a16:creationId xmlns:a16="http://schemas.microsoft.com/office/drawing/2014/main" id="{AA0EE775-39B4-412C-B6D5-6E7901A7BBB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Why a predictive controller can struggle</a:t>
            </a:r>
          </a:p>
        </p:txBody>
      </p:sp>
      <p:sp>
        <p:nvSpPr>
          <p:cNvPr id="3" name="28">
            <a:extLst xmlns:a="http://schemas.openxmlformats.org/drawingml/2006/main">
              <a:ext uri="{FF2B5EF4-FFF2-40B4-BE49-F238E27FC236}">
                <a16:creationId xmlns:a16="http://schemas.microsoft.com/office/drawing/2014/main" id="{9B6B7003-D280-4A38-AA0E-EE9F2E7CC8C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28</a:t>
            </a:r>
          </a:p>
        </p:txBody>
      </p:sp>
      <p:graphicFrame>
        <p:nvGraphicFramePr>
          <p:cNvPr id="4" name="">
            <a:extLst xmlns:a="http://schemas.openxmlformats.org/drawingml/2006/main">
              <a:ext uri="{FF2B5EF4-FFF2-40B4-BE49-F238E27FC236}">
                <a16:creationId xmlns:a16="http://schemas.microsoft.com/office/drawing/2014/main" id="{3C344C1A-932E-4786-81FA-D75EFEA2EFD6}"/>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609600">
                <a:tc>
                  <a:txBody>
                    <a:bodyPr lIns="114300" tIns="76200" rIns="114300" bIns="76200">
                      <a:noAutofit/>
                    </a:bodyPr>
                    <a:lstStyle/>
                    <a:p>
                      <a:r>
                        <a:rPr sz="1425" b="1">
                          <a:solidFill>
                            <a:srgbClr val="FFFFFF"/>
                          </a:solidFill>
                          <a:latin typeface="Arial"/>
                          <a:ea typeface="Arial"/>
                          <a:cs typeface="Arial"/>
                        </a:rPr>
                        <a:t>Problem</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What can happen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Possible response</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609600">
                <a:tc>
                  <a:txBody>
                    <a:bodyPr lIns="114300" tIns="76200" rIns="114300" bIns="76200">
                      <a:noAutofit/>
                    </a:bodyPr>
                    <a:lstStyle/>
                    <a:p>
                      <a:r>
                        <a:rPr sz="1425" b="0">
                          <a:solidFill>
                            <a:srgbClr val="17324D"/>
                          </a:solidFill>
                          <a:latin typeface="Arial"/>
                          <a:ea typeface="Arial"/>
                          <a:cs typeface="Arial"/>
                        </a:rPr>
                        <a:t>Poor prediction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Actual motion misses the plan</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Improve the model or estimate</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Impossible request</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Tracking remains poor</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Slow down or replan</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609600">
                <a:tc>
                  <a:txBody>
                    <a:bodyPr lIns="114300" tIns="76200" rIns="114300" bIns="76200">
                      <a:noAutofit/>
                    </a:bodyPr>
                    <a:lstStyle/>
                    <a:p>
                      <a:r>
                        <a:rPr sz="1425" b="0">
                          <a:solidFill>
                            <a:srgbClr val="17324D"/>
                          </a:solidFill>
                          <a:latin typeface="Arial"/>
                          <a:ea typeface="Arial"/>
                          <a:cs typeface="Arial"/>
                        </a:rPr>
                        <a:t>Slow computation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 new command arrives late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Bound the work and use a fallback</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Missing constraints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The plan ignores a real limit</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Represent and test that limit</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81301092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352D7ED-7559-462A-891D-ED22F40F875D}"/>
              </a:ext>
            </a:extLst>
          </p:cNvPr>
          <p:cNvPicPr>
            <a:picLocks xmlns:a="http://schemas.openxmlformats.org/drawingml/2006/main" noChangeAspect="1"/>
          </p:cNvPicPr>
          <p:nvPr/>
        </p:nvPicPr>
        <p:blipFill>
          <a:blip xmlns:r="http://schemas.openxmlformats.org/officeDocument/2006/relationships" xmlns:a="http://schemas.openxmlformats.org/drawingml/2006/main" r:embed="R950df00d424b4e31"/>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Compare under the same conditions">
            <a:extLst xmlns:a="http://schemas.openxmlformats.org/drawingml/2006/main">
              <a:ext uri="{FF2B5EF4-FFF2-40B4-BE49-F238E27FC236}">
                <a16:creationId xmlns:a16="http://schemas.microsoft.com/office/drawing/2014/main" id="{51808E8A-A120-474F-8524-FD4513BE257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Compare under the same conditions</a:t>
            </a:r>
          </a:p>
        </p:txBody>
      </p:sp>
      <p:sp>
        <p:nvSpPr>
          <p:cNvPr id="3" name="29">
            <a:extLst xmlns:a="http://schemas.openxmlformats.org/drawingml/2006/main">
              <a:ext uri="{FF2B5EF4-FFF2-40B4-BE49-F238E27FC236}">
                <a16:creationId xmlns:a16="http://schemas.microsoft.com/office/drawing/2014/main" id="{AF2C36A2-D615-43E3-ADBD-73A82987913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29</a:t>
            </a:r>
          </a:p>
        </p:txBody>
      </p:sp>
      <p:pic>
        <p:nvPicPr>
          <p:cNvPr id="4" name="">
            <a:extLst xmlns:a="http://schemas.openxmlformats.org/drawingml/2006/main">
              <a:ext uri="{FF2B5EF4-FFF2-40B4-BE49-F238E27FC236}">
                <a16:creationId xmlns:a16="http://schemas.microsoft.com/office/drawing/2014/main" id="{2D6478FB-4123-4556-ACFE-8241081DF2AA}"/>
              </a:ext>
            </a:extLst>
          </p:cNvPr>
          <p:cNvPicPr>
            <a:picLocks xmlns:a="http://schemas.openxmlformats.org/drawingml/2006/main" noChangeAspect="1"/>
          </p:cNvPicPr>
          <p:nvPr/>
        </p:nvPicPr>
        <p:blipFill>
          <a:blip xmlns:r="http://schemas.openxmlformats.org/officeDocument/2006/relationships" xmlns:a="http://schemas.openxmlformats.org/drawingml/2006/main" r:embed="R5fab5d4d0aec46de"/>
          <a:stretch xmlns:a="http://schemas.openxmlformats.org/drawingml/2006/main"/>
        </p:blipFill>
        <p:spPr>
          <a:xfrm xmlns:a="http://schemas.openxmlformats.org/drawingml/2006/main">
            <a:off x="495300" y="1500188"/>
            <a:ext cx="5524500" cy="2762250"/>
          </a:xfrm>
          <a:prstGeom xmlns:a="http://schemas.openxmlformats.org/drawingml/2006/main" prst="rect">
            <a:avLst/>
          </a:prstGeom>
        </p:spPr>
      </p:pic>
      <p:sp>
        <p:nvSpPr>
          <p:cNvPr id="5" name="Each colored vehicle follows the same path.&#10;&#10;All receive the sam">
            <a:extLst xmlns:a="http://schemas.openxmlformats.org/drawingml/2006/main">
              <a:ext uri="{FF2B5EF4-FFF2-40B4-BE49-F238E27FC236}">
                <a16:creationId xmlns:a16="http://schemas.microsoft.com/office/drawing/2014/main" id="{C7F01776-5A02-4F7A-A5D2-79EC99920051}"/>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Each colored vehicle follows the same path.</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All receive the same speed and actuator conditions.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Change one condition and watch the comparison change.</a:t>
            </a:r>
          </a:p>
        </p:txBody>
      </p:sp>
      <p:sp>
        <p:nvSpPr>
          <p:cNvPr id="6" name="Open interactive demonstration">
            <a:extLst xmlns:a="http://schemas.openxmlformats.org/drawingml/2006/main">
              <a:ext uri="{FF2B5EF4-FFF2-40B4-BE49-F238E27FC236}">
                <a16:creationId xmlns:a16="http://schemas.microsoft.com/office/drawing/2014/main" id="{B513FDE0-A122-40C7-9BBB-138AA16F617F}"/>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e29789e0fcfb4f43"/>
              </a:rPr>
              <a:t>Open interactive demonstration</a:t>
            </a:r>
          </a:p>
        </p:txBody>
      </p:sp>
    </p:spTree>
    <p:extLst>
      <p:ext uri="{BB962C8B-B14F-4D97-AF65-F5344CB8AC3E}">
        <p14:creationId xmlns:p14="http://schemas.microsoft.com/office/powerpoint/2010/main" val="98800610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DE13622-9F7C-4CC9-A58E-CC6ADE4C7D96}"/>
              </a:ext>
            </a:extLst>
          </p:cNvPr>
          <p:cNvPicPr>
            <a:picLocks xmlns:a="http://schemas.openxmlformats.org/drawingml/2006/main" noChangeAspect="1"/>
          </p:cNvPicPr>
          <p:nvPr/>
        </p:nvPicPr>
        <p:blipFill>
          <a:blip xmlns:r="http://schemas.openxmlformats.org/officeDocument/2006/relationships" xmlns:a="http://schemas.openxmlformats.org/drawingml/2006/main" r:embed="R19a68bfbf67e4ffc"/>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ead the shape of the response">
            <a:extLst xmlns:a="http://schemas.openxmlformats.org/drawingml/2006/main">
              <a:ext uri="{FF2B5EF4-FFF2-40B4-BE49-F238E27FC236}">
                <a16:creationId xmlns:a16="http://schemas.microsoft.com/office/drawing/2014/main" id="{3CDA61FD-8C81-4E26-B5CD-B8F8E7F1861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Read the shape of the response</a:t>
            </a:r>
          </a:p>
        </p:txBody>
      </p:sp>
      <p:sp>
        <p:nvSpPr>
          <p:cNvPr id="3" name="30">
            <a:extLst xmlns:a="http://schemas.openxmlformats.org/drawingml/2006/main">
              <a:ext uri="{FF2B5EF4-FFF2-40B4-BE49-F238E27FC236}">
                <a16:creationId xmlns:a16="http://schemas.microsoft.com/office/drawing/2014/main" id="{3A787B78-3CE5-4F63-8AF0-0347D79A0BC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30</a:t>
            </a:r>
          </a:p>
        </p:txBody>
      </p:sp>
      <p:pic>
        <p:nvPicPr>
          <p:cNvPr id="4" name="">
            <a:extLst xmlns:a="http://schemas.openxmlformats.org/drawingml/2006/main">
              <a:ext uri="{FF2B5EF4-FFF2-40B4-BE49-F238E27FC236}">
                <a16:creationId xmlns:a16="http://schemas.microsoft.com/office/drawing/2014/main" id="{C594B440-63CB-4024-A3F6-DE6E7994850F}"/>
              </a:ext>
            </a:extLst>
          </p:cNvPr>
          <p:cNvPicPr>
            <a:picLocks xmlns:a="http://schemas.openxmlformats.org/drawingml/2006/main" noChangeAspect="1"/>
          </p:cNvPicPr>
          <p:nvPr/>
        </p:nvPicPr>
        <p:blipFill>
          <a:blip xmlns:r="http://schemas.openxmlformats.org/officeDocument/2006/relationships" xmlns:a="http://schemas.openxmlformats.org/drawingml/2006/main" r:embed="R0048ca6197564b18"/>
          <a:stretch xmlns:a="http://schemas.openxmlformats.org/drawingml/2006/main"/>
        </p:blipFill>
        <p:spPr>
          <a:xfrm xmlns:a="http://schemas.openxmlformats.org/drawingml/2006/main">
            <a:off x="495300" y="1942148"/>
            <a:ext cx="5524500" cy="1878330"/>
          </a:xfrm>
          <a:prstGeom xmlns:a="http://schemas.openxmlformats.org/drawingml/2006/main" prst="rect">
            <a:avLst/>
          </a:prstGeom>
        </p:spPr>
      </p:pic>
      <p:sp>
        <p:nvSpPr>
          <p:cNvPr id="5" name="A brief startup correction can settle down.&#10;&#10;Repeated swings sug">
            <a:extLst xmlns:a="http://schemas.openxmlformats.org/drawingml/2006/main">
              <a:ext uri="{FF2B5EF4-FFF2-40B4-BE49-F238E27FC236}">
                <a16:creationId xmlns:a16="http://schemas.microsoft.com/office/drawing/2014/main" id="{6A7C378D-578F-4F42-A388-3C27BC9FEF0D}"/>
              </a:ext>
            </a:extLst>
          </p:cNvPr>
          <p:cNvSpPr>
            <a:spLocks xmlns:a="http://schemas.openxmlformats.org/drawingml/2006/main" noGrp="1"/>
          </p:cNvSpPr>
          <p:nvPr/>
        </p:nvSpPr>
        <p:spPr>
          <a:xfrm xmlns:a="http://schemas.openxmlformats.org/drawingml/2006/main">
            <a:off x="6286500" y="1476375"/>
            <a:ext cx="2362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brief startup correction can settle down.</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Repeated swings suggest continuing trouble.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small typical error can still hide a large miss.</a:t>
            </a:r>
          </a:p>
        </p:txBody>
      </p:sp>
      <p:sp>
        <p:nvSpPr>
          <p:cNvPr id="6" name="Open interactive demonstration">
            <a:extLst xmlns:a="http://schemas.openxmlformats.org/drawingml/2006/main">
              <a:ext uri="{FF2B5EF4-FFF2-40B4-BE49-F238E27FC236}">
                <a16:creationId xmlns:a16="http://schemas.microsoft.com/office/drawing/2014/main" id="{5B581D0D-B1B3-4895-AE6B-776C5085A6CB}"/>
              </a:ext>
            </a:extLst>
          </p:cNvPr>
          <p:cNvSpPr>
            <a:spLocks xmlns:a="http://schemas.openxmlformats.org/drawingml/2006/main" noGrp="1"/>
          </p:cNvSpPr>
          <p:nvPr/>
        </p:nvSpPr>
        <p:spPr>
          <a:xfrm xmlns:a="http://schemas.openxmlformats.org/drawingml/2006/main">
            <a:off x="523875" y="45434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e98affee4ae04b2c"/>
              </a:rPr>
              <a:t>Open interactive demonstration</a:t>
            </a:r>
          </a:p>
        </p:txBody>
      </p:sp>
    </p:spTree>
    <p:extLst>
      <p:ext uri="{BB962C8B-B14F-4D97-AF65-F5344CB8AC3E}">
        <p14:creationId xmlns:p14="http://schemas.microsoft.com/office/powerpoint/2010/main" val="11535737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87656D8-DF41-47A0-A4BF-9FFE2C806DB9}"/>
              </a:ext>
            </a:extLst>
          </p:cNvPr>
          <p:cNvPicPr>
            <a:picLocks xmlns:a="http://schemas.openxmlformats.org/drawingml/2006/main" noChangeAspect="1"/>
          </p:cNvPicPr>
          <p:nvPr/>
        </p:nvPicPr>
        <p:blipFill>
          <a:blip xmlns:r="http://schemas.openxmlformats.org/officeDocument/2006/relationships" xmlns:a="http://schemas.openxmlformats.org/drawingml/2006/main" r:embed="R57096a74a10e4d7d"/>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Choose for the situation">
            <a:extLst xmlns:a="http://schemas.openxmlformats.org/drawingml/2006/main">
              <a:ext uri="{FF2B5EF4-FFF2-40B4-BE49-F238E27FC236}">
                <a16:creationId xmlns:a16="http://schemas.microsoft.com/office/drawing/2014/main" id="{964CBC63-B081-49A6-9068-E8AE2820C38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Choose for the situation</a:t>
            </a:r>
          </a:p>
        </p:txBody>
      </p:sp>
      <p:sp>
        <p:nvSpPr>
          <p:cNvPr id="3" name="31">
            <a:extLst xmlns:a="http://schemas.openxmlformats.org/drawingml/2006/main">
              <a:ext uri="{FF2B5EF4-FFF2-40B4-BE49-F238E27FC236}">
                <a16:creationId xmlns:a16="http://schemas.microsoft.com/office/drawing/2014/main" id="{4E038988-CD8E-44D3-A26F-4BFC2D66C98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31</a:t>
            </a:r>
          </a:p>
        </p:txBody>
      </p:sp>
      <p:graphicFrame>
        <p:nvGraphicFramePr>
          <p:cNvPr id="4" name="">
            <a:extLst xmlns:a="http://schemas.openxmlformats.org/drawingml/2006/main">
              <a:ext uri="{FF2B5EF4-FFF2-40B4-BE49-F238E27FC236}">
                <a16:creationId xmlns:a16="http://schemas.microsoft.com/office/drawing/2014/main" id="{DDBA68AA-E5C0-4966-972B-31D4609C7AEB}"/>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609600">
                <a:tc>
                  <a:txBody>
                    <a:bodyPr lIns="114300" tIns="76200" rIns="114300" bIns="76200">
                      <a:noAutofit/>
                    </a:bodyPr>
                    <a:lstStyle/>
                    <a:p>
                      <a:r>
                        <a:rPr sz="1425" b="1">
                          <a:solidFill>
                            <a:srgbClr val="FFFFFF"/>
                          </a:solidFill>
                          <a:latin typeface="Arial"/>
                          <a:ea typeface="Arial"/>
                          <a:cs typeface="Arial"/>
                        </a:rPr>
                        <a:t>Need</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Useful starting point</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What still matters</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609600">
                <a:tc>
                  <a:txBody>
                    <a:bodyPr lIns="114300" tIns="76200" rIns="114300" bIns="76200">
                      <a:noAutofit/>
                    </a:bodyPr>
                    <a:lstStyle/>
                    <a:p>
                      <a:r>
                        <a:rPr sz="1425" b="0">
                          <a:solidFill>
                            <a:srgbClr val="17324D"/>
                          </a:solidFill>
                          <a:latin typeface="Arial"/>
                          <a:ea typeface="Arial"/>
                          <a:cs typeface="Arial"/>
                        </a:rPr>
                        <a:t>Hold a speed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PI/PID with anti-windup</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Limits and disturbance response</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Follow a simple path</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Pure Pursuit or Stanley</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Speed, geometry, and delay</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609600">
                <a:tc>
                  <a:txBody>
                    <a:bodyPr lIns="114300" tIns="76200" rIns="114300" bIns="76200">
                      <a:noAutofit/>
                    </a:bodyPr>
                    <a:lstStyle/>
                    <a:p>
                      <a:r>
                        <a:rPr sz="1425" b="0">
                          <a:solidFill>
                            <a:srgbClr val="17324D"/>
                          </a:solidFill>
                          <a:latin typeface="Arial"/>
                          <a:ea typeface="Arial"/>
                          <a:cs typeface="Arial"/>
                        </a:rPr>
                        <a:t>Use a reliable local model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LQR</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Tracking/steering tradeoff</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Plan under input limits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MPC</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Prediction quality and compute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99654618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3628BC3-63CC-443A-B482-F22BBDEE0372}"/>
              </a:ext>
            </a:extLst>
          </p:cNvPr>
          <p:cNvPicPr>
            <a:picLocks xmlns:a="http://schemas.openxmlformats.org/drawingml/2006/main" noChangeAspect="1"/>
          </p:cNvPicPr>
          <p:nvPr/>
        </p:nvPicPr>
        <p:blipFill>
          <a:blip xmlns:r="http://schemas.openxmlformats.org/officeDocument/2006/relationships" xmlns:a="http://schemas.openxmlformats.org/drawingml/2006/main" r:embed="Rde3542739da540a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Other ways to improve control">
            <a:extLst xmlns:a="http://schemas.openxmlformats.org/drawingml/2006/main">
              <a:ext uri="{FF2B5EF4-FFF2-40B4-BE49-F238E27FC236}">
                <a16:creationId xmlns:a16="http://schemas.microsoft.com/office/drawing/2014/main" id="{641A5B77-9144-4C2E-AD59-B145E7F432E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Other ways to improve control</a:t>
            </a:r>
          </a:p>
        </p:txBody>
      </p:sp>
      <p:sp>
        <p:nvSpPr>
          <p:cNvPr id="3" name="32">
            <a:extLst xmlns:a="http://schemas.openxmlformats.org/drawingml/2006/main">
              <a:ext uri="{FF2B5EF4-FFF2-40B4-BE49-F238E27FC236}">
                <a16:creationId xmlns:a16="http://schemas.microsoft.com/office/drawing/2014/main" id="{ABCB06EC-99FE-458F-A70D-F8EEFA74821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32</a:t>
            </a:r>
          </a:p>
        </p:txBody>
      </p:sp>
      <p:graphicFrame>
        <p:nvGraphicFramePr>
          <p:cNvPr id="4" name="">
            <a:extLst xmlns:a="http://schemas.openxmlformats.org/drawingml/2006/main">
              <a:ext uri="{FF2B5EF4-FFF2-40B4-BE49-F238E27FC236}">
                <a16:creationId xmlns:a16="http://schemas.microsoft.com/office/drawing/2014/main" id="{EB0DA9C5-B915-44A2-BAF8-B403BF721B9C}"/>
              </a:ext>
            </a:extLst>
          </p:cNvPr>
          <p:cNvGraphicFramePr/>
          <p:nvPr/>
        </p:nvGraphicFramePr>
        <p:xfrm>
          <a:off xmlns:a="http://schemas.openxmlformats.org/drawingml/2006/main" x="523875" y="1457325"/>
          <a:ext xmlns:a="http://schemas.openxmlformats.org/drawingml/2006/main" cx="8096250" cy="3048000"/>
        </p:xfrm>
        <a:graphic xmlns:a="http://schemas.openxmlformats.org/drawingml/2006/main">
          <a:graphicData uri="http://schemas.openxmlformats.org/drawingml/2006/table">
            <a:tbl>
              <a:tblPr/>
              <a:tblGrid>
                <a:gridCol w="1762125"/>
                <a:gridCol w="3000375"/>
                <a:gridCol w="3333750"/>
              </a:tblGrid>
              <a:tr h="609600">
                <a:tc>
                  <a:txBody>
                    <a:bodyPr lIns="114300" tIns="76200" rIns="114300" bIns="76200">
                      <a:noAutofit/>
                    </a:bodyPr>
                    <a:lstStyle/>
                    <a:p>
                      <a:r>
                        <a:rPr sz="1425" b="1">
                          <a:solidFill>
                            <a:srgbClr val="FFFFFF"/>
                          </a:solidFill>
                          <a:latin typeface="Arial"/>
                          <a:ea typeface="Arial"/>
                          <a:cs typeface="Arial"/>
                        </a:rPr>
                        <a:t>Approach</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Core idea</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Question to ask</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609600">
                <a:tc>
                  <a:txBody>
                    <a:bodyPr lIns="114300" tIns="76200" rIns="114300" bIns="76200">
                      <a:noAutofit/>
                    </a:bodyPr>
                    <a:lstStyle/>
                    <a:p>
                      <a:r>
                        <a:rPr sz="1425" b="0">
                          <a:solidFill>
                            <a:srgbClr val="17324D"/>
                          </a:solidFill>
                          <a:latin typeface="Arial"/>
                          <a:ea typeface="Arial"/>
                          <a:cs typeface="Arial"/>
                        </a:rPr>
                        <a:t>Gain scheduling</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Change response with conditions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Does it transition smoothly?</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Adaptive control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Adjust as the vehicle changes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Can it learn the right change?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609600">
                <a:tc>
                  <a:txBody>
                    <a:bodyPr lIns="114300" tIns="76200" rIns="114300" bIns="76200">
                      <a:noAutofit/>
                    </a:bodyPr>
                    <a:lstStyle/>
                    <a:p>
                      <a:r>
                        <a:rPr sz="1425" b="0">
                          <a:solidFill>
                            <a:srgbClr val="17324D"/>
                          </a:solidFill>
                          <a:latin typeface="Arial"/>
                          <a:ea typeface="Arial"/>
                          <a:cs typeface="Arial"/>
                        </a:rPr>
                        <a:t>Robust control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Allow for modeled uncertainty</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What uncertainty is covered?</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609600">
                <a:tc>
                  <a:txBody>
                    <a:bodyPr lIns="114300" tIns="76200" rIns="114300" bIns="76200">
                      <a:noAutofit/>
                    </a:bodyPr>
                    <a:lstStyle/>
                    <a:p>
                      <a:r>
                        <a:rPr sz="1425" b="0">
                          <a:solidFill>
                            <a:srgbClr val="17324D"/>
                          </a:solidFill>
                          <a:latin typeface="Arial"/>
                          <a:ea typeface="Arial"/>
                          <a:cs typeface="Arial"/>
                        </a:rPr>
                        <a:t>Learning-based control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Learn a policy or a model</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What happens in new situations?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104211085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E41AB72-5E53-4341-9C57-F24E53FCE6AE}"/>
              </a:ext>
            </a:extLst>
          </p:cNvPr>
          <p:cNvPicPr>
            <a:picLocks xmlns:a="http://schemas.openxmlformats.org/drawingml/2006/main" noChangeAspect="1"/>
          </p:cNvPicPr>
          <p:nvPr/>
        </p:nvPicPr>
        <p:blipFill>
          <a:blip xmlns:r="http://schemas.openxmlformats.org/officeDocument/2006/relationships" xmlns:a="http://schemas.openxmlformats.org/drawingml/2006/main" r:embed="Re6ccef2f688c43a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Control depends on the whole vehicle stack">
            <a:extLst xmlns:a="http://schemas.openxmlformats.org/drawingml/2006/main">
              <a:ext uri="{FF2B5EF4-FFF2-40B4-BE49-F238E27FC236}">
                <a16:creationId xmlns:a16="http://schemas.microsoft.com/office/drawing/2014/main" id="{B29E90DE-9972-4185-AF29-C1262E5511C6}"/>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Control depends on the whole vehicle stack</a:t>
            </a:r>
          </a:p>
        </p:txBody>
      </p:sp>
      <p:sp>
        <p:nvSpPr>
          <p:cNvPr id="3" name="33">
            <a:extLst xmlns:a="http://schemas.openxmlformats.org/drawingml/2006/main">
              <a:ext uri="{FF2B5EF4-FFF2-40B4-BE49-F238E27FC236}">
                <a16:creationId xmlns:a16="http://schemas.microsoft.com/office/drawing/2014/main" id="{4254A408-2F4C-469D-9F44-1BCDC7CADBB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33</a:t>
            </a:r>
          </a:p>
        </p:txBody>
      </p:sp>
      <p:sp>
        <p:nvSpPr>
          <p:cNvPr id="4" name="A fresh, trustworthy state estimate.">
            <a:extLst xmlns:a="http://schemas.openxmlformats.org/drawingml/2006/main">
              <a:ext uri="{FF2B5EF4-FFF2-40B4-BE49-F238E27FC236}">
                <a16:creationId xmlns:a16="http://schemas.microsoft.com/office/drawing/2014/main" id="{5B0E6A92-C36E-447F-96E8-1D203B031AD2}"/>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fresh, trustworthy state estimate.</a:t>
            </a:r>
          </a:p>
        </p:txBody>
      </p:sp>
      <p:sp>
        <p:nvSpPr>
          <p:cNvPr id="5" name="A feasible path and speed request.">
            <a:extLst xmlns:a="http://schemas.openxmlformats.org/drawingml/2006/main">
              <a:ext uri="{FF2B5EF4-FFF2-40B4-BE49-F238E27FC236}">
                <a16:creationId xmlns:a16="http://schemas.microsoft.com/office/drawing/2014/main" id="{EA6140A5-FAC4-4AD0-9DF1-B428A924F877}"/>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feasible path and speed request.</a:t>
            </a:r>
          </a:p>
        </p:txBody>
      </p:sp>
      <p:sp>
        <p:nvSpPr>
          <p:cNvPr id="6" name="An actuator that responds as expected.">
            <a:extLst xmlns:a="http://schemas.openxmlformats.org/drawingml/2006/main">
              <a:ext uri="{FF2B5EF4-FFF2-40B4-BE49-F238E27FC236}">
                <a16:creationId xmlns:a16="http://schemas.microsoft.com/office/drawing/2014/main" id="{E7F8645E-4BDC-461E-AE08-1394C0211DCD}"/>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An actuator that responds as expected.</a:t>
            </a:r>
          </a:p>
        </p:txBody>
      </p:sp>
    </p:spTree>
    <p:extLst>
      <p:ext uri="{BB962C8B-B14F-4D97-AF65-F5344CB8AC3E}">
        <p14:creationId xmlns:p14="http://schemas.microsoft.com/office/powerpoint/2010/main" val="201779404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58501AB-BA4E-4F10-BE47-EF47B68457BA}"/>
              </a:ext>
            </a:extLst>
          </p:cNvPr>
          <p:cNvPicPr>
            <a:picLocks xmlns:a="http://schemas.openxmlformats.org/drawingml/2006/main" noChangeAspect="1"/>
          </p:cNvPicPr>
          <p:nvPr/>
        </p:nvPicPr>
        <p:blipFill>
          <a:blip xmlns:r="http://schemas.openxmlformats.org/officeDocument/2006/relationships" xmlns:a="http://schemas.openxmlformats.org/drawingml/2006/main" r:embed="R63fe333f14ce4259"/>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Explain the idea in your own words">
            <a:extLst xmlns:a="http://schemas.openxmlformats.org/drawingml/2006/main">
              <a:ext uri="{FF2B5EF4-FFF2-40B4-BE49-F238E27FC236}">
                <a16:creationId xmlns:a16="http://schemas.microsoft.com/office/drawing/2014/main" id="{8E421402-68F1-4AA1-B90B-81F3CDD0904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Explain the idea in your own words</a:t>
            </a:r>
          </a:p>
        </p:txBody>
      </p:sp>
      <p:sp>
        <p:nvSpPr>
          <p:cNvPr id="3" name="34">
            <a:extLst xmlns:a="http://schemas.openxmlformats.org/drawingml/2006/main">
              <a:ext uri="{FF2B5EF4-FFF2-40B4-BE49-F238E27FC236}">
                <a16:creationId xmlns:a16="http://schemas.microsoft.com/office/drawing/2014/main" id="{E583C26F-A579-4AFD-A072-6613EF9A252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34</a:t>
            </a:r>
          </a:p>
        </p:txBody>
      </p:sp>
      <p:sp>
        <p:nvSpPr>
          <p:cNvPr id="4" name="Why can remembering a speed shortfall help—and sometimes hurt?">
            <a:extLst xmlns:a="http://schemas.openxmlformats.org/drawingml/2006/main">
              <a:ext uri="{FF2B5EF4-FFF2-40B4-BE49-F238E27FC236}">
                <a16:creationId xmlns:a16="http://schemas.microsoft.com/office/drawing/2014/main" id="{FF39AE1C-530D-46D8-82E4-BDF25F9F9E87}"/>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Why can remembering a speed shortfall help—and sometimes hurt?</a:t>
            </a:r>
          </a:p>
        </p:txBody>
      </p:sp>
      <p:sp>
        <p:nvSpPr>
          <p:cNvPr id="5" name="How does aiming farther ahead change steering behavior?">
            <a:extLst xmlns:a="http://schemas.openxmlformats.org/drawingml/2006/main">
              <a:ext uri="{FF2B5EF4-FFF2-40B4-BE49-F238E27FC236}">
                <a16:creationId xmlns:a16="http://schemas.microsoft.com/office/drawing/2014/main" id="{23315B9D-C22F-4174-AE1B-4205F2BFDE02}"/>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How does aiming farther ahead change steering behavior?</a:t>
            </a:r>
          </a:p>
        </p:txBody>
      </p:sp>
      <p:sp>
        <p:nvSpPr>
          <p:cNvPr id="6" name="Why does MPC keep changing a plan it just made?">
            <a:extLst xmlns:a="http://schemas.openxmlformats.org/drawingml/2006/main">
              <a:ext uri="{FF2B5EF4-FFF2-40B4-BE49-F238E27FC236}">
                <a16:creationId xmlns:a16="http://schemas.microsoft.com/office/drawing/2014/main" id="{FDC2D171-34C1-47AD-902B-0EEEAB5A13A4}"/>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Why does MPC keep changing a plan it just made?</a:t>
            </a:r>
          </a:p>
        </p:txBody>
      </p:sp>
    </p:spTree>
    <p:extLst>
      <p:ext uri="{BB962C8B-B14F-4D97-AF65-F5344CB8AC3E}">
        <p14:creationId xmlns:p14="http://schemas.microsoft.com/office/powerpoint/2010/main" val="210144984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0177F0B-2AB8-401E-8750-776C7EEDA091}"/>
              </a:ext>
            </a:extLst>
          </p:cNvPr>
          <p:cNvPicPr>
            <a:picLocks xmlns:a="http://schemas.openxmlformats.org/drawingml/2006/main" noChangeAspect="1"/>
          </p:cNvPicPr>
          <p:nvPr/>
        </p:nvPicPr>
        <p:blipFill>
          <a:blip xmlns:r="http://schemas.openxmlformats.org/officeDocument/2006/relationships" xmlns:a="http://schemas.openxmlformats.org/drawingml/2006/main" r:embed="R75b7c1cb52c34a61"/>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Explore again after class">
            <a:extLst xmlns:a="http://schemas.openxmlformats.org/drawingml/2006/main">
              <a:ext uri="{FF2B5EF4-FFF2-40B4-BE49-F238E27FC236}">
                <a16:creationId xmlns:a16="http://schemas.microsoft.com/office/drawing/2014/main" id="{CD14A8B6-A87E-478F-B18D-11202ACE746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Explore again after class</a:t>
            </a:r>
          </a:p>
        </p:txBody>
      </p:sp>
      <p:sp>
        <p:nvSpPr>
          <p:cNvPr id="3" name="35">
            <a:extLst xmlns:a="http://schemas.openxmlformats.org/drawingml/2006/main">
              <a:ext uri="{FF2B5EF4-FFF2-40B4-BE49-F238E27FC236}">
                <a16:creationId xmlns:a16="http://schemas.microsoft.com/office/drawing/2014/main" id="{DA875D2B-8966-4C9A-82FE-EF018E47D6E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35</a:t>
            </a:r>
          </a:p>
        </p:txBody>
      </p:sp>
      <p:sp>
        <p:nvSpPr>
          <p:cNvPr id="4" name="Extract Lecture8_Control.zip and open START_HERE.html.">
            <a:extLst xmlns:a="http://schemas.openxmlformats.org/drawingml/2006/main">
              <a:ext uri="{FF2B5EF4-FFF2-40B4-BE49-F238E27FC236}">
                <a16:creationId xmlns:a16="http://schemas.microsoft.com/office/drawing/2014/main" id="{CFF8FA12-D355-4326-95EF-D7143F74C5C2}"/>
              </a:ext>
            </a:extLst>
          </p:cNvPr>
          <p:cNvSpPr>
            <a:spLocks xmlns:a="http://schemas.openxmlformats.org/drawingml/2006/main" noGrp="1"/>
          </p:cNvSpPr>
          <p:nvPr/>
        </p:nvSpPr>
        <p:spPr>
          <a:xfrm xmlns:a="http://schemas.openxmlformats.org/drawingml/2006/main">
            <a:off x="619125" y="14382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Extract Lecture8_Control.zip and open START_HERE.html.</a:t>
            </a:r>
          </a:p>
        </p:txBody>
      </p:sp>
      <p:sp>
        <p:nvSpPr>
          <p:cNvPr id="5" name="Replay the named cases and compare what you see.">
            <a:extLst xmlns:a="http://schemas.openxmlformats.org/drawingml/2006/main">
              <a:ext uri="{FF2B5EF4-FFF2-40B4-BE49-F238E27FC236}">
                <a16:creationId xmlns:a16="http://schemas.microsoft.com/office/drawing/2014/main" id="{C6399E82-F057-4353-B486-19F015B932FA}"/>
              </a:ext>
            </a:extLst>
          </p:cNvPr>
          <p:cNvSpPr>
            <a:spLocks xmlns:a="http://schemas.openxmlformats.org/drawingml/2006/main" noGrp="1"/>
          </p:cNvSpPr>
          <p:nvPr/>
        </p:nvSpPr>
        <p:spPr>
          <a:xfrm xmlns:a="http://schemas.openxmlformats.org/drawingml/2006/main">
            <a:off x="619125" y="237172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Replay the named cases and compare what you see.</a:t>
            </a:r>
          </a:p>
        </p:txBody>
      </p:sp>
      <p:sp>
        <p:nvSpPr>
          <p:cNvPr id="6" name="Use the concept guide or open optional details when curious.">
            <a:extLst xmlns:a="http://schemas.openxmlformats.org/drawingml/2006/main">
              <a:ext uri="{FF2B5EF4-FFF2-40B4-BE49-F238E27FC236}">
                <a16:creationId xmlns:a16="http://schemas.microsoft.com/office/drawing/2014/main" id="{71643BBB-B904-4199-A1C9-2356A6B1223E}"/>
              </a:ext>
            </a:extLst>
          </p:cNvPr>
          <p:cNvSpPr>
            <a:spLocks xmlns:a="http://schemas.openxmlformats.org/drawingml/2006/main" noGrp="1"/>
          </p:cNvSpPr>
          <p:nvPr/>
        </p:nvSpPr>
        <p:spPr>
          <a:xfrm xmlns:a="http://schemas.openxmlformats.org/drawingml/2006/main">
            <a:off x="619125" y="3305175"/>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Use the concept guide or open optional details when curious.</a:t>
            </a:r>
          </a:p>
        </p:txBody>
      </p:sp>
      <p:sp>
        <p:nvSpPr>
          <p:cNvPr id="7" name="Open interactive demonstration">
            <a:extLst xmlns:a="http://schemas.openxmlformats.org/drawingml/2006/main">
              <a:ext uri="{FF2B5EF4-FFF2-40B4-BE49-F238E27FC236}">
                <a16:creationId xmlns:a16="http://schemas.microsoft.com/office/drawing/2014/main" id="{FC8C88C6-76E9-4244-B841-7A04FFBA0707}"/>
              </a:ext>
            </a:extLst>
          </p:cNvPr>
          <p:cNvSpPr>
            <a:spLocks xmlns:a="http://schemas.openxmlformats.org/drawingml/2006/main" noGrp="1"/>
          </p:cNvSpPr>
          <p:nvPr/>
        </p:nvSpPr>
        <p:spPr>
          <a:xfrm xmlns:a="http://schemas.openxmlformats.org/drawingml/2006/main">
            <a:off x="619125" y="454342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573aac08266945ea"/>
              </a:rPr>
              <a:t>Open interactive demonstration</a:t>
            </a:r>
          </a:p>
        </p:txBody>
      </p:sp>
    </p:spTree>
    <p:extLst>
      <p:ext uri="{BB962C8B-B14F-4D97-AF65-F5344CB8AC3E}">
        <p14:creationId xmlns:p14="http://schemas.microsoft.com/office/powerpoint/2010/main" val="1600132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2026-10-13T05:08:55.5630000Z</dcterms:created>
  <dcterms:modified xsi:type="dcterms:W3CDTF">2026-10-13T05:08:55.5630000Z</dcterms:modified>
</coreProperties>
</file>