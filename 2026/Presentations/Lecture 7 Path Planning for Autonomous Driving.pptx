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9d7128d0424499" /><Relationship Type="http://schemas.openxmlformats.org/officeDocument/2006/relationships/extended-properties" Target="/docProps/app.xml" Id="R82423bd10e3e499d" /><Relationship Type="http://schemas.openxmlformats.org/officeDocument/2006/relationships/officeDocument" Target="/ppt/presentation.xml" Id="R803dca7f197a43ad" /></Relationships>
</file>

<file path=ppt/presentation.xml><?xml version="1.0" encoding="utf-8"?>
<p:presentation xmlns:p="http://schemas.openxmlformats.org/presentationml/2006/main">
  <p:sldMasterIdLst>
    <p:sldMasterId xmlns:r="http://schemas.openxmlformats.org/officeDocument/2006/relationships" id="2147483648" r:id="Rd69ca38d259a46f7"/>
  </p:sldMasterIdLst>
  <p:notesMasterIdLst>
    <p:notesMasterId xmlns:r="http://schemas.openxmlformats.org/officeDocument/2006/relationships" r:id="R7e37220ed0ff4ac7"/>
  </p:notesMasterIdLst>
  <p:sldIdLst>
    <p:sldId xmlns:r="http://schemas.openxmlformats.org/officeDocument/2006/relationships" id="256" r:id="R1294e1eb447142ff"/>
    <p:sldId xmlns:r="http://schemas.openxmlformats.org/officeDocument/2006/relationships" id="257" r:id="R13bc970cb3f442b7"/>
    <p:sldId xmlns:r="http://schemas.openxmlformats.org/officeDocument/2006/relationships" id="258" r:id="R24fc24ab8b91461d"/>
    <p:sldId xmlns:r="http://schemas.openxmlformats.org/officeDocument/2006/relationships" id="259" r:id="R2e2f749f484b46dd"/>
    <p:sldId xmlns:r="http://schemas.openxmlformats.org/officeDocument/2006/relationships" id="260" r:id="Ra82390d10bfd4662"/>
    <p:sldId xmlns:r="http://schemas.openxmlformats.org/officeDocument/2006/relationships" id="261" r:id="R86e0c47923e94446"/>
    <p:sldId xmlns:r="http://schemas.openxmlformats.org/officeDocument/2006/relationships" id="262" r:id="R4be49042f0bf41b2"/>
    <p:sldId xmlns:r="http://schemas.openxmlformats.org/officeDocument/2006/relationships" id="263" r:id="Rf6f12686c0944c14"/>
    <p:sldId xmlns:r="http://schemas.openxmlformats.org/officeDocument/2006/relationships" id="264" r:id="R37e30cf1cdad4947"/>
    <p:sldId xmlns:r="http://schemas.openxmlformats.org/officeDocument/2006/relationships" id="265" r:id="R4bb72d54da424c67"/>
    <p:sldId xmlns:r="http://schemas.openxmlformats.org/officeDocument/2006/relationships" id="266" r:id="Re5ea7a6a717b4630"/>
    <p:sldId xmlns:r="http://schemas.openxmlformats.org/officeDocument/2006/relationships" id="267" r:id="R1d54f6a2c5a5474c"/>
    <p:sldId xmlns:r="http://schemas.openxmlformats.org/officeDocument/2006/relationships" id="268" r:id="Rbc3a8f3be20c4f55"/>
    <p:sldId xmlns:r="http://schemas.openxmlformats.org/officeDocument/2006/relationships" id="269" r:id="R5ca4f947282e4395"/>
    <p:sldId xmlns:r="http://schemas.openxmlformats.org/officeDocument/2006/relationships" id="270" r:id="Rb494231f370e4a1c"/>
    <p:sldId xmlns:r="http://schemas.openxmlformats.org/officeDocument/2006/relationships" id="271" r:id="R338d1f83c12e4e66"/>
    <p:sldId xmlns:r="http://schemas.openxmlformats.org/officeDocument/2006/relationships" id="272" r:id="Rc9b79fbbccf24991"/>
    <p:sldId xmlns:r="http://schemas.openxmlformats.org/officeDocument/2006/relationships" id="273" r:id="R8734ffc9ca604d0b"/>
    <p:sldId xmlns:r="http://schemas.openxmlformats.org/officeDocument/2006/relationships" id="274" r:id="Rb940ef15b3d141f5"/>
    <p:sldId xmlns:r="http://schemas.openxmlformats.org/officeDocument/2006/relationships" id="275" r:id="Ree5a18ea87dd4008"/>
    <p:sldId xmlns:r="http://schemas.openxmlformats.org/officeDocument/2006/relationships" id="276" r:id="R523c974c90a84d4b"/>
    <p:sldId xmlns:r="http://schemas.openxmlformats.org/officeDocument/2006/relationships" id="277" r:id="R6f2e760c40304e70"/>
    <p:sldId xmlns:r="http://schemas.openxmlformats.org/officeDocument/2006/relationships" id="278" r:id="R3ef8933c22854a72"/>
    <p:sldId xmlns:r="http://schemas.openxmlformats.org/officeDocument/2006/relationships" id="279" r:id="R48dbf22faee34006"/>
    <p:sldId xmlns:r="http://schemas.openxmlformats.org/officeDocument/2006/relationships" id="280" r:id="R4c80893934ef4845"/>
    <p:sldId xmlns:r="http://schemas.openxmlformats.org/officeDocument/2006/relationships" id="281" r:id="R40d7c1b7b5864d21"/>
    <p:sldId xmlns:r="http://schemas.openxmlformats.org/officeDocument/2006/relationships" id="282" r:id="Rd11ed7aa25bc456d"/>
    <p:sldId xmlns:r="http://schemas.openxmlformats.org/officeDocument/2006/relationships" id="283" r:id="R7ecb923685eb4c7e"/>
    <p:sldId xmlns:r="http://schemas.openxmlformats.org/officeDocument/2006/relationships" id="284" r:id="R6c37ed54db314716"/>
    <p:sldId xmlns:r="http://schemas.openxmlformats.org/officeDocument/2006/relationships" id="285" r:id="R0b32ea5d6c02436d"/>
    <p:sldId xmlns:r="http://schemas.openxmlformats.org/officeDocument/2006/relationships" id="286" r:id="R215170dd00e3451c"/>
    <p:sldId xmlns:r="http://schemas.openxmlformats.org/officeDocument/2006/relationships" id="287" r:id="Rfa30ead72e9842ae"/>
    <p:sldId xmlns:r="http://schemas.openxmlformats.org/officeDocument/2006/relationships" id="288" r:id="R75572afc808b4e59"/>
    <p:sldId xmlns:r="http://schemas.openxmlformats.org/officeDocument/2006/relationships" id="289" r:id="Re7618bc42abc4e11"/>
    <p:sldId xmlns:r="http://schemas.openxmlformats.org/officeDocument/2006/relationships" id="290" r:id="Rb97c4486c4d34c17"/>
    <p:sldId xmlns:r="http://schemas.openxmlformats.org/officeDocument/2006/relationships" id="291" r:id="R34a86f2d07e34d0b"/>
    <p:sldId xmlns:r="http://schemas.openxmlformats.org/officeDocument/2006/relationships" id="292" r:id="R54124fa997744e14"/>
    <p:sldId xmlns:r="http://schemas.openxmlformats.org/officeDocument/2006/relationships" id="293" r:id="R8ebc50f637714692"/>
    <p:sldId xmlns:r="http://schemas.openxmlformats.org/officeDocument/2006/relationships" id="294" r:id="R87b3bcf1faf44779"/>
    <p:sldId xmlns:r="http://schemas.openxmlformats.org/officeDocument/2006/relationships" id="295" r:id="Rd1599322813c4375"/>
    <p:sldId xmlns:r="http://schemas.openxmlformats.org/officeDocument/2006/relationships" id="296" r:id="R269dc7df34db452c"/>
    <p:sldId xmlns:r="http://schemas.openxmlformats.org/officeDocument/2006/relationships" id="297" r:id="R5a8979a6107c4e5f"/>
    <p:sldId xmlns:r="http://schemas.openxmlformats.org/officeDocument/2006/relationships" id="298" r:id="R7f622cb6cdfb4b87"/>
    <p:sldId xmlns:r="http://schemas.openxmlformats.org/officeDocument/2006/relationships" id="299" r:id="R74520e7dd5914eec"/>
    <p:sldId xmlns:r="http://schemas.openxmlformats.org/officeDocument/2006/relationships" id="300" r:id="R1f6b5c7f12404c82"/>
    <p:sldId xmlns:r="http://schemas.openxmlformats.org/officeDocument/2006/relationships" id="301" r:id="R0f86191db1d24e51"/>
    <p:sldId xmlns:r="http://schemas.openxmlformats.org/officeDocument/2006/relationships" id="302" r:id="R5380fb3de2194086"/>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7e3428ce7c48ee" /><Relationship Type="http://schemas.openxmlformats.org/officeDocument/2006/relationships/slideMaster" Target="/ppt/slideMasters/slideMaster1.xml" Id="Rd69ca38d259a46f7" /><Relationship Type="http://schemas.openxmlformats.org/officeDocument/2006/relationships/notesMaster" Target="/ppt/notesMasters/notesMaster1.xml" Id="R7e37220ed0ff4ac7" /><Relationship Type="http://schemas.openxmlformats.org/officeDocument/2006/relationships/presProps" Target="/ppt/presProps.xml" Id="R84ea03ca9abe41d1" /><Relationship Type="http://schemas.openxmlformats.org/officeDocument/2006/relationships/tableStyles" Target="/ppt/tableStyles.xml" Id="R6d1194ed98414aed" /><Relationship Type="http://schemas.openxmlformats.org/officeDocument/2006/relationships/slide" Target="/ppt/slides/slide1.xml" Id="R1294e1eb447142ff" /><Relationship Type="http://schemas.openxmlformats.org/officeDocument/2006/relationships/slide" Target="/ppt/slides/slide2.xml" Id="R13bc970cb3f442b7" /><Relationship Type="http://schemas.openxmlformats.org/officeDocument/2006/relationships/slide" Target="/ppt/slides/slide3.xml" Id="R24fc24ab8b91461d" /><Relationship Type="http://schemas.openxmlformats.org/officeDocument/2006/relationships/slide" Target="/ppt/slides/slide4.xml" Id="R2e2f749f484b46dd" /><Relationship Type="http://schemas.openxmlformats.org/officeDocument/2006/relationships/slide" Target="/ppt/slides/slide5.xml" Id="Ra82390d10bfd4662" /><Relationship Type="http://schemas.openxmlformats.org/officeDocument/2006/relationships/slide" Target="/ppt/slides/slide6.xml" Id="R86e0c47923e94446" /><Relationship Type="http://schemas.openxmlformats.org/officeDocument/2006/relationships/slide" Target="/ppt/slides/slide7.xml" Id="R4be49042f0bf41b2" /><Relationship Type="http://schemas.openxmlformats.org/officeDocument/2006/relationships/slide" Target="/ppt/slides/slide8.xml" Id="Rf6f12686c0944c14" /><Relationship Type="http://schemas.openxmlformats.org/officeDocument/2006/relationships/slide" Target="/ppt/slides/slide9.xml" Id="R37e30cf1cdad4947" /><Relationship Type="http://schemas.openxmlformats.org/officeDocument/2006/relationships/slide" Target="/ppt/slides/slide10.xml" Id="R4bb72d54da424c67" /><Relationship Type="http://schemas.openxmlformats.org/officeDocument/2006/relationships/slide" Target="/ppt/slides/slide11.xml" Id="Re5ea7a6a717b4630" /><Relationship Type="http://schemas.openxmlformats.org/officeDocument/2006/relationships/slide" Target="/ppt/slides/slide12.xml" Id="R1d54f6a2c5a5474c" /><Relationship Type="http://schemas.openxmlformats.org/officeDocument/2006/relationships/slide" Target="/ppt/slides/slide13.xml" Id="Rbc3a8f3be20c4f55" /><Relationship Type="http://schemas.openxmlformats.org/officeDocument/2006/relationships/slide" Target="/ppt/slides/slide14.xml" Id="R5ca4f947282e4395" /><Relationship Type="http://schemas.openxmlformats.org/officeDocument/2006/relationships/slide" Target="/ppt/slides/slide15.xml" Id="Rb494231f370e4a1c" /><Relationship Type="http://schemas.openxmlformats.org/officeDocument/2006/relationships/slide" Target="/ppt/slides/slide16.xml" Id="R338d1f83c12e4e66" /><Relationship Type="http://schemas.openxmlformats.org/officeDocument/2006/relationships/slide" Target="/ppt/slides/slide17.xml" Id="Rc9b79fbbccf24991" /><Relationship Type="http://schemas.openxmlformats.org/officeDocument/2006/relationships/slide" Target="/ppt/slides/slide18.xml" Id="R8734ffc9ca604d0b" /><Relationship Type="http://schemas.openxmlformats.org/officeDocument/2006/relationships/slide" Target="/ppt/slides/slide19.xml" Id="Rb940ef15b3d141f5" /><Relationship Type="http://schemas.openxmlformats.org/officeDocument/2006/relationships/slide" Target="/ppt/slides/slide20.xml" Id="Ree5a18ea87dd4008" /><Relationship Type="http://schemas.openxmlformats.org/officeDocument/2006/relationships/slide" Target="/ppt/slides/slide21.xml" Id="R523c974c90a84d4b" /><Relationship Type="http://schemas.openxmlformats.org/officeDocument/2006/relationships/slide" Target="/ppt/slides/slide22.xml" Id="R6f2e760c40304e70" /><Relationship Type="http://schemas.openxmlformats.org/officeDocument/2006/relationships/slide" Target="/ppt/slides/slide23.xml" Id="R3ef8933c22854a72" /><Relationship Type="http://schemas.openxmlformats.org/officeDocument/2006/relationships/slide" Target="/ppt/slides/slide24.xml" Id="R48dbf22faee34006" /><Relationship Type="http://schemas.openxmlformats.org/officeDocument/2006/relationships/slide" Target="/ppt/slides/slide25.xml" Id="R4c80893934ef4845" /><Relationship Type="http://schemas.openxmlformats.org/officeDocument/2006/relationships/slide" Target="/ppt/slides/slide26.xml" Id="R40d7c1b7b5864d21" /><Relationship Type="http://schemas.openxmlformats.org/officeDocument/2006/relationships/slide" Target="/ppt/slides/slide27.xml" Id="Rd11ed7aa25bc456d" /><Relationship Type="http://schemas.openxmlformats.org/officeDocument/2006/relationships/slide" Target="/ppt/slides/slide28.xml" Id="R7ecb923685eb4c7e" /><Relationship Type="http://schemas.openxmlformats.org/officeDocument/2006/relationships/slide" Target="/ppt/slides/slide29.xml" Id="R6c37ed54db314716" /><Relationship Type="http://schemas.openxmlformats.org/officeDocument/2006/relationships/slide" Target="/ppt/slides/slide30.xml" Id="R0b32ea5d6c02436d" /><Relationship Type="http://schemas.openxmlformats.org/officeDocument/2006/relationships/slide" Target="/ppt/slides/slide31.xml" Id="R215170dd00e3451c" /><Relationship Type="http://schemas.openxmlformats.org/officeDocument/2006/relationships/slide" Target="/ppt/slides/slide32.xml" Id="Rfa30ead72e9842ae" /><Relationship Type="http://schemas.openxmlformats.org/officeDocument/2006/relationships/slide" Target="/ppt/slides/slide33.xml" Id="R75572afc808b4e59" /><Relationship Type="http://schemas.openxmlformats.org/officeDocument/2006/relationships/slide" Target="/ppt/slides/slide34.xml" Id="Re7618bc42abc4e11" /><Relationship Type="http://schemas.openxmlformats.org/officeDocument/2006/relationships/slide" Target="/ppt/slides/slide35.xml" Id="Rb97c4486c4d34c17" /><Relationship Type="http://schemas.openxmlformats.org/officeDocument/2006/relationships/slide" Target="/ppt/slides/slide36.xml" Id="R34a86f2d07e34d0b" /><Relationship Type="http://schemas.openxmlformats.org/officeDocument/2006/relationships/slide" Target="/ppt/slides/slide37.xml" Id="R54124fa997744e14" /><Relationship Type="http://schemas.openxmlformats.org/officeDocument/2006/relationships/slide" Target="/ppt/slides/slide38.xml" Id="R8ebc50f637714692" /><Relationship Type="http://schemas.openxmlformats.org/officeDocument/2006/relationships/slide" Target="/ppt/slides/slide39.xml" Id="R87b3bcf1faf44779" /><Relationship Type="http://schemas.openxmlformats.org/officeDocument/2006/relationships/slide" Target="/ppt/slides/slide40.xml" Id="Rd1599322813c4375" /><Relationship Type="http://schemas.openxmlformats.org/officeDocument/2006/relationships/slide" Target="/ppt/slides/slide41.xml" Id="R269dc7df34db452c" /><Relationship Type="http://schemas.openxmlformats.org/officeDocument/2006/relationships/slide" Target="/ppt/slides/slide42.xml" Id="R5a8979a6107c4e5f" /><Relationship Type="http://schemas.openxmlformats.org/officeDocument/2006/relationships/slide" Target="/ppt/slides/slide43.xml" Id="R7f622cb6cdfb4b87" /><Relationship Type="http://schemas.openxmlformats.org/officeDocument/2006/relationships/slide" Target="/ppt/slides/slide44.xml" Id="R74520e7dd5914eec" /><Relationship Type="http://schemas.openxmlformats.org/officeDocument/2006/relationships/slide" Target="/ppt/slides/slide45.xml" Id="R1f6b5c7f12404c82" /><Relationship Type="http://schemas.openxmlformats.org/officeDocument/2006/relationships/slide" Target="/ppt/slides/slide46.xml" Id="R0f86191db1d24e51" /><Relationship Type="http://schemas.openxmlformats.org/officeDocument/2006/relationships/slide" Target="/ppt/slides/slide47.xml" Id="R5380fb3de21940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5dd4e47a89345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fb9fa0d3a240f0" /><Relationship Type="http://schemas.openxmlformats.org/officeDocument/2006/relationships/notesMaster" Target="/ppt/notesMasters/notesMaster1.xml" Id="R6e39474e486541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82dcd89aa24a3d" /><Relationship Type="http://schemas.openxmlformats.org/officeDocument/2006/relationships/notesMaster" Target="/ppt/notesMasters/notesMaster1.xml" Id="R6a1c33416f7349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dc4713cf314499" /><Relationship Type="http://schemas.openxmlformats.org/officeDocument/2006/relationships/notesMaster" Target="/ppt/notesMasters/notesMaster1.xml" Id="R1cbb115422994f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54632600bc4bc4" /><Relationship Type="http://schemas.openxmlformats.org/officeDocument/2006/relationships/notesMaster" Target="/ppt/notesMasters/notesMaster1.xml" Id="Ra7c38d43c2184f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72ef67caba45f6" /><Relationship Type="http://schemas.openxmlformats.org/officeDocument/2006/relationships/notesMaster" Target="/ppt/notesMasters/notesMaster1.xml" Id="R42569f65365849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dcd3bb9589a460e" /><Relationship Type="http://schemas.openxmlformats.org/officeDocument/2006/relationships/notesMaster" Target="/ppt/notesMasters/notesMaster1.xml" Id="R1faa5d47ef3040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8394927eae4759" /><Relationship Type="http://schemas.openxmlformats.org/officeDocument/2006/relationships/notesMaster" Target="/ppt/notesMasters/notesMaster1.xml" Id="Rc3ef4aa6f97246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3fcef6d0f0460f" /><Relationship Type="http://schemas.openxmlformats.org/officeDocument/2006/relationships/notesMaster" Target="/ppt/notesMasters/notesMaster1.xml" Id="R7793d8a36b1847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b0e988eec28424b" /><Relationship Type="http://schemas.openxmlformats.org/officeDocument/2006/relationships/notesMaster" Target="/ppt/notesMasters/notesMaster1.xml" Id="R6993a894a6bf44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d26d68ee5ba413d" /><Relationship Type="http://schemas.openxmlformats.org/officeDocument/2006/relationships/notesMaster" Target="/ppt/notesMasters/notesMaster1.xml" Id="Rb6d5bb3153a84b9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398ccd78b6b4bb0" /><Relationship Type="http://schemas.openxmlformats.org/officeDocument/2006/relationships/notesMaster" Target="/ppt/notesMasters/notesMaster1.xml" Id="R081dfaee18f9453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d2b971c88154fc7" /><Relationship Type="http://schemas.openxmlformats.org/officeDocument/2006/relationships/notesMaster" Target="/ppt/notesMasters/notesMaster1.xml" Id="R94de9d02d3be4ed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53ac2cda9294082" /><Relationship Type="http://schemas.openxmlformats.org/officeDocument/2006/relationships/notesMaster" Target="/ppt/notesMasters/notesMaster1.xml" Id="R476717c9324342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82f59f945ba43c1" /><Relationship Type="http://schemas.openxmlformats.org/officeDocument/2006/relationships/notesMaster" Target="/ppt/notesMasters/notesMaster1.xml" Id="R3006f34323404a4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c11d82cd11c4d28" /><Relationship Type="http://schemas.openxmlformats.org/officeDocument/2006/relationships/notesMaster" Target="/ppt/notesMasters/notesMaster1.xml" Id="Rbb5e0f58d6f04c8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e46ac0d7f624210" /><Relationship Type="http://schemas.openxmlformats.org/officeDocument/2006/relationships/notesMaster" Target="/ppt/notesMasters/notesMaster1.xml" Id="R696c4f04a4884f8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3accc72747f421f" /><Relationship Type="http://schemas.openxmlformats.org/officeDocument/2006/relationships/notesMaster" Target="/ppt/notesMasters/notesMaster1.xml" Id="Rc8a2f6cfe8b44f4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c791177defa4085" /><Relationship Type="http://schemas.openxmlformats.org/officeDocument/2006/relationships/notesMaster" Target="/ppt/notesMasters/notesMaster1.xml" Id="Rc5414e2ece804e4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123e50cf8784a0b" /><Relationship Type="http://schemas.openxmlformats.org/officeDocument/2006/relationships/notesMaster" Target="/ppt/notesMasters/notesMaster1.xml" Id="Rf93bb984fae24a2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617386c656e4774" /><Relationship Type="http://schemas.openxmlformats.org/officeDocument/2006/relationships/notesMaster" Target="/ppt/notesMasters/notesMaster1.xml" Id="R82d1adf6cd5b4e8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04658490d98465e" /><Relationship Type="http://schemas.openxmlformats.org/officeDocument/2006/relationships/notesMaster" Target="/ppt/notesMasters/notesMaster1.xml" Id="R8120b1cf083a4df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6ef816fdb344fcb" /><Relationship Type="http://schemas.openxmlformats.org/officeDocument/2006/relationships/notesMaster" Target="/ppt/notesMasters/notesMaster1.xml" Id="R2261de3024bb445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67d0e1f7be54982" /><Relationship Type="http://schemas.openxmlformats.org/officeDocument/2006/relationships/notesMaster" Target="/ppt/notesMasters/notesMaster1.xml" Id="R29ef5f33d77d401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2e7e8ed197c4c9b" /><Relationship Type="http://schemas.openxmlformats.org/officeDocument/2006/relationships/notesMaster" Target="/ppt/notesMasters/notesMaster1.xml" Id="Rc363f281b804496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67dcd6e420b4962" /><Relationship Type="http://schemas.openxmlformats.org/officeDocument/2006/relationships/notesMaster" Target="/ppt/notesMasters/notesMaster1.xml" Id="Rc1d3ede777864f1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62b223df4e449cf" /><Relationship Type="http://schemas.openxmlformats.org/officeDocument/2006/relationships/notesMaster" Target="/ppt/notesMasters/notesMaster1.xml" Id="R6d4336ac4cf04ff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53975914b484229" /><Relationship Type="http://schemas.openxmlformats.org/officeDocument/2006/relationships/notesMaster" Target="/ppt/notesMasters/notesMaster1.xml" Id="Ra2b1817bc32447e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f1bd68e965c402a" /><Relationship Type="http://schemas.openxmlformats.org/officeDocument/2006/relationships/notesMaster" Target="/ppt/notesMasters/notesMaster1.xml" Id="Rbaac527a16874b9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09d928b001f4a16" /><Relationship Type="http://schemas.openxmlformats.org/officeDocument/2006/relationships/notesMaster" Target="/ppt/notesMasters/notesMaster1.xml" Id="R2054dc17e00841a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9709ba73ddf463e" /><Relationship Type="http://schemas.openxmlformats.org/officeDocument/2006/relationships/notesMaster" Target="/ppt/notesMasters/notesMaster1.xml" Id="Ree332ff5a37e4ce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f04ec15651f43ec" /><Relationship Type="http://schemas.openxmlformats.org/officeDocument/2006/relationships/notesMaster" Target="/ppt/notesMasters/notesMaster1.xml" Id="Ra7ac19e3e60c451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a3a8b991879458e" /><Relationship Type="http://schemas.openxmlformats.org/officeDocument/2006/relationships/notesMaster" Target="/ppt/notesMasters/notesMaster1.xml" Id="Ree547d32c44f424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f367ce9dbba40d1" /><Relationship Type="http://schemas.openxmlformats.org/officeDocument/2006/relationships/notesMaster" Target="/ppt/notesMasters/notesMaster1.xml" Id="R9ea9b1e634fd406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974f18de98b4f8c" /><Relationship Type="http://schemas.openxmlformats.org/officeDocument/2006/relationships/notesMaster" Target="/ppt/notesMasters/notesMaster1.xml" Id="Rd95fd72898c44ab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bd605f8ab96402b" /><Relationship Type="http://schemas.openxmlformats.org/officeDocument/2006/relationships/notesMaster" Target="/ppt/notesMasters/notesMaster1.xml" Id="R8fc51fae9afb4bf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14c930cbf414e69" /><Relationship Type="http://schemas.openxmlformats.org/officeDocument/2006/relationships/notesMaster" Target="/ppt/notesMasters/notesMaster1.xml" Id="Rd1ebcc8c65e2495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5455efd231a472e" /><Relationship Type="http://schemas.openxmlformats.org/officeDocument/2006/relationships/notesMaster" Target="/ppt/notesMasters/notesMaster1.xml" Id="R3a872405c6e84d8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d56fc3467814680" /><Relationship Type="http://schemas.openxmlformats.org/officeDocument/2006/relationships/notesMaster" Target="/ppt/notesMasters/notesMaster1.xml" Id="R3db8d2147bcb4ef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389e8c0022f4e5c" /><Relationship Type="http://schemas.openxmlformats.org/officeDocument/2006/relationships/notesMaster" Target="/ppt/notesMasters/notesMaster1.xml" Id="R26cb18cc2d124e5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6f227e0c3f84586" /><Relationship Type="http://schemas.openxmlformats.org/officeDocument/2006/relationships/notesMaster" Target="/ppt/notesMasters/notesMaster1.xml" Id="R526098617b134ab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2f5d2ade1a6469a" /><Relationship Type="http://schemas.openxmlformats.org/officeDocument/2006/relationships/notesMaster" Target="/ppt/notesMasters/notesMaster1.xml" Id="R54fe783e8662439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27206c332f149ef" /><Relationship Type="http://schemas.openxmlformats.org/officeDocument/2006/relationships/notesMaster" Target="/ppt/notesMasters/notesMaster1.xml" Id="R5c2449039af2420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509c02804ed4b5d" /><Relationship Type="http://schemas.openxmlformats.org/officeDocument/2006/relationships/notesMaster" Target="/ppt/notesMasters/notesMaster1.xml" Id="Ra23efca90502498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f4c938c9d444038" /><Relationship Type="http://schemas.openxmlformats.org/officeDocument/2006/relationships/notesMaster" Target="/ppt/notesMasters/notesMaster1.xml" Id="Rb3cd1533509e4be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cbdcfba25e84d26" /><Relationship Type="http://schemas.openxmlformats.org/officeDocument/2006/relationships/notesMaster" Target="/ppt/notesMasters/notesMaster1.xml" Id="Rfc8ba364563b4a7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f1622d6f6984658" /><Relationship Type="http://schemas.openxmlformats.org/officeDocument/2006/relationships/notesMaster" Target="/ppt/notesMasters/notesMaster1.xml" Id="R5aa1aef0c6934aa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5612c2181ed4b3d" /><Relationship Type="http://schemas.openxmlformats.org/officeDocument/2006/relationships/notesMaster" Target="/ppt/notesMasters/notesMaster1.xml" Id="R82d1c6e44d0348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pacing: 90–105 minutes including 20 minutes of interactive exploration. Begin with the mapping lecture: knowing the map does not tell us which motion to execute. Use a warehouse doorway and a vehicle encountering a road closure as recurring examples.</a:t>
            </a:r>
          </a:p>
          <a:p xmlns:a="http://schemas.openxmlformats.org/drawingml/2006/main">
            <a:r>
              <a:t/>
            </a:r>
          </a:p>
          <a:p xmlns:a="http://schemas.openxmlformats.org/drawingml/2006/main">
            <a:r>
              <a:t>[Sources]</a:t>
            </a:r>
          </a:p>
          <a:p xmlns:a="http://schemas.openxmlformats.org/drawingml/2006/main">
            <a:r>
              <a:t>https://lavalle.pl/planning/ch2.pdf</a:t>
            </a:r>
          </a:p>
          <a:p xmlns:a="http://schemas.openxmlformats.org/drawingml/2006/main">
            <a:r>
              <a:t>https://docs.nav2.org/jazzy/getting_started/navigation_concepts/navigation_servers/</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should connect an algorithm choice to an assumption. Ask whether the challenge comes from the search, the map, the representation of the robot, or the execution model. These causes can produce similar visible symptoms.</a:t>
            </a:r>
          </a:p>
          <a:p xmlns:a="http://schemas.openxmlformats.org/drawingml/2006/main">
            <a:r>
              <a:t/>
            </a:r>
          </a:p>
          <a:p xmlns:a="http://schemas.openxmlformats.org/drawingml/2006/main">
            <a:r>
              <a:t>[Sources]</a:t>
            </a:r>
          </a:p>
          <a:p xmlns:a="http://schemas.openxmlformats.org/drawingml/2006/main">
            <a:r>
              <a:t>https://lavalle.pl/planning/ch2.pdf</a:t>
            </a:r>
          </a:p>
          <a:p xmlns:a="http://schemas.openxmlformats.org/drawingml/2006/main">
            <a:r>
              <a:t>https://lavalle.pl/planning/ch4.pdf</a:t>
            </a:r>
          </a:p>
          <a:p xmlns:a="http://schemas.openxmlformats.org/drawingml/2006/main">
            <a:r>
              <a:t>https://docs.nav2.org/jazzy/getting_started/navigation_concepts/navigation_servers/</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explicitly to Lectures 4–6. A localization error moves the robot footprint relative to every mapped obstacle. A planner may search correctly yet collide because its input geometry or timing is wrong. The demo uses exact synthetic states so that algorithm behavior is visible.</a:t>
            </a:r>
          </a:p>
          <a:p xmlns:a="http://schemas.openxmlformats.org/drawingml/2006/main">
            <a:r>
              <a:t/>
            </a:r>
          </a:p>
          <a:p xmlns:a="http://schemas.openxmlformats.org/drawingml/2006/main">
            <a:r>
              <a:t>[Sources]</a:t>
            </a:r>
          </a:p>
          <a:p xmlns:a="http://schemas.openxmlformats.org/drawingml/2006/main">
            <a:r>
              <a:t>https://docs.nav2.org/jazzy/getting_started/navigation_concepts/navigation_servers/</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path is a sequence or continuous curve of configurations. A trajectory adds time, which defines speed and acceleration. A controller produces inputs using the current state. In some systems the local planner and controller share one optimization loop. A lane-center path alone cannot say whether crossing traffic is safe at a particular time.</a:t>
            </a:r>
          </a:p>
          <a:p xmlns:a="http://schemas.openxmlformats.org/drawingml/2006/main">
            <a:r>
              <a:t/>
            </a:r>
          </a:p>
          <a:p xmlns:a="http://schemas.openxmlformats.org/drawingml/2006/main">
            <a:r>
              <a:t>[Sources]</a:t>
            </a:r>
          </a:p>
          <a:p xmlns:a="http://schemas.openxmlformats.org/drawingml/2006/main">
            <a:r>
              <a:t>https://lavalle.pl/planning/ch13.pdf</a:t>
            </a:r>
          </a:p>
          <a:p xmlns:a="http://schemas.openxmlformats.org/drawingml/2006/main">
            <a:r>
              <a:t>https://docs.nav2.org/jazzy/getting_started/navigation_concepts/navigation_servers/</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Global and local describe scope and function rather than one mandatory algorithm. A global map can include live updates. A global plan can respect vehicle constraints. Local planners can reason predictively and need not be simple reflexes. Rates depend on the system, so the table uses relative horizons rather than fixed frequencies.</a:t>
            </a:r>
          </a:p>
          <a:p xmlns:a="http://schemas.openxmlformats.org/drawingml/2006/main">
            <a:r>
              <a:t/>
            </a:r>
          </a:p>
          <a:p xmlns:a="http://schemas.openxmlformats.org/drawingml/2006/main">
            <a:r>
              <a:t>[Sources]</a:t>
            </a:r>
          </a:p>
          <a:p xmlns:a="http://schemas.openxmlformats.org/drawingml/2006/main">
            <a:r>
              <a:t>https://docs.nav2.org/jazzy/getting_started/navigation_concepts/navigation_servers/</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four-neighbor grid uses unit moves and a terrain entry cost of 1 or 6. The state count and connectivity change the optimization problem. A continuous shortest path may cut between these cells, but that path is outside this graph. Start and goal markers refer to cell centers.</a:t>
            </a:r>
          </a:p>
          <a:p xmlns:a="http://schemas.openxmlformats.org/drawingml/2006/main">
            <a:r>
              <a:t>Visualization key: Dark navy: obstacles · Green S: start · Purple G: goal</a:t>
            </a:r>
          </a:p>
          <a:p xmlns:a="http://schemas.openxmlformats.org/drawingml/2006/main">
            <a:r>
              <a:t/>
            </a:r>
          </a:p>
          <a:p xmlns:a="http://schemas.openxmlformats.org/drawingml/2006/main">
            <a:r>
              <a:t>[Sources]</a:t>
            </a:r>
          </a:p>
          <a:p xmlns:a="http://schemas.openxmlformats.org/drawingml/2006/main">
            <a:r>
              <a:t>https://lavalle.pl/planning/ch2.pdf</a:t>
            </a:r>
          </a:p>
          <a:p xmlns:a="http://schemas.openxmlformats.org/drawingml/2006/main">
            <a:r>
              <a:t/>
            </a:r>
          </a:p>
          <a:p xmlns:a="http://schemas.openxmlformats.org/drawingml/2006/main">
            <a:r>
              <a:t>[Visuals]</a:t>
            </a:r>
          </a:p>
          <a:p xmlns:a="http://schemas.openxmlformats.org/drawingml/2006/main">
            <a:r>
              <a:t>Actual screenshots or animations computed by the companion synthetic Path Planning demo. Synthetic scenes and expansion counts are teaching evidence, not performance benchmarks.</a:t>
            </a:r>
          </a:p>
          <a:p xmlns:a="http://schemas.openxmlformats.org/drawingml/2006/main">
            <a:r>
              <a:t/>
            </a:r>
          </a:p>
          <a:p xmlns:a="http://schemas.openxmlformats.org/drawingml/2006/main">
            <a:r>
              <a:t>[Companion demo]</a:t>
            </a:r>
          </a:p>
          <a:p xmlns:a="http://schemas.openxmlformats.org/drawingml/2006/main">
            <a:r>
              <a:t>Open ../Labs/PathPlanning/index.html#search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BFS treats every edge equally. Dijkstra uses a priority queue ordered by accumulated cost. On this demo, a weighted priority implementation with unit costs gives BFS-equivalent shortest-edge behavior. Both can explore broadly because neither uses the goal direction. Nonnegative costs are essential for Dijkstra’s settled-distance argument.</a:t>
            </a:r>
          </a:p>
          <a:p xmlns:a="http://schemas.openxmlformats.org/drawingml/2006/main">
            <a:r>
              <a:t/>
            </a:r>
          </a:p>
          <a:p xmlns:a="http://schemas.openxmlformats.org/drawingml/2006/main">
            <a:r>
              <a:t>[Sources]</a:t>
            </a:r>
          </a:p>
          <a:p xmlns:a="http://schemas.openxmlformats.org/drawingml/2006/main">
            <a:r>
              <a:t>https://lavalle.pl/planning/ch2.pdf</a:t>
            </a:r>
          </a:p>
          <a:p xmlns:a="http://schemas.openxmlformats.org/drawingml/2006/main">
            <a:r>
              <a:t/>
            </a:r>
          </a:p>
          <a:p xmlns:a="http://schemas.openxmlformats.org/drawingml/2006/main">
            <a:r>
              <a:t>[Visuals]</a:t>
            </a:r>
          </a:p>
          <a:p xmlns:a="http://schemas.openxmlformats.org/drawingml/2006/main">
            <a:r>
              <a:t>Editable course text, equations, or comparison table.</a:t>
            </a:r>
          </a:p>
          <a:p xmlns:a="http://schemas.openxmlformats.org/drawingml/2006/main">
            <a:r>
              <a:t/>
            </a:r>
          </a:p>
          <a:p xmlns:a="http://schemas.openxmlformats.org/drawingml/2006/main">
            <a:r>
              <a:t>[Companion demo]</a:t>
            </a:r>
          </a:p>
          <a:p xmlns:a="http://schemas.openxmlformats.org/drawingml/2006/main">
            <a:r>
              <a:t>Open ../Labs/PathPlanning/index.html#dijkstra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screenshots use the same start, goal and terrain. Yellow cells cost 6 on entry. The blue paths are computed results. Ask students to count steps separately from total cost. The objective function, rather than the algorithm name alone, defines what counts as a good route.</a:t>
            </a:r>
          </a:p>
          <a:p xmlns:a="http://schemas.openxmlformats.org/drawingml/2006/main">
            <a:r>
              <a:t>Visualization key: Yellow: terrain cost 6 · Cyan overlay: expanded cells · Blue: route</a:t>
            </a:r>
          </a:p>
          <a:p xmlns:a="http://schemas.openxmlformats.org/drawingml/2006/main">
            <a:r>
              <a:t/>
            </a:r>
          </a:p>
          <a:p xmlns:a="http://schemas.openxmlformats.org/drawingml/2006/main">
            <a:r>
              <a:t>[Sources]</a:t>
            </a:r>
          </a:p>
          <a:p xmlns:a="http://schemas.openxmlformats.org/drawingml/2006/main">
            <a:r>
              <a:t>https://lavalle.pl/planning/ch2.pdf</a:t>
            </a:r>
          </a:p>
          <a:p xmlns:a="http://schemas.openxmlformats.org/drawingml/2006/main">
            <a:r>
              <a:t/>
            </a:r>
          </a:p>
          <a:p xmlns:a="http://schemas.openxmlformats.org/drawingml/2006/main">
            <a:r>
              <a:t>[Visuals]</a:t>
            </a:r>
          </a:p>
          <a:p xmlns:a="http://schemas.openxmlformats.org/drawingml/2006/main">
            <a:r>
              <a:t>Actual screenshots or animations computed by the companion synthetic Path Planning demo. Synthetic scenes and expansion counts are teaching evidence, not performance benchmarks.</a:t>
            </a:r>
          </a:p>
          <a:p xmlns:a="http://schemas.openxmlformats.org/drawingml/2006/main">
            <a:r>
              <a:t/>
            </a:r>
          </a:p>
          <a:p xmlns:a="http://schemas.openxmlformats.org/drawingml/2006/main">
            <a:r>
              <a:t>[Companion demo]</a:t>
            </a:r>
          </a:p>
          <a:p xmlns:a="http://schemas.openxmlformats.org/drawingml/2006/main">
            <a:r>
              <a:t>Open ../Labs/PathPlanning/index.html#terrain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animation shows actual expansion order on the two-wall map. The heuristic points toward the goal, while the accumulated cost prevents greedy commitment to an expensive route. A* still searches around walls because a straight-line estimate cannot predict the detour.</a:t>
            </a:r>
          </a:p>
          <a:p xmlns:a="http://schemas.openxmlformats.org/drawingml/2006/main">
            <a:r>
              <a:t>Visualization key: Cyan: expanded cells · Blue: final route · Dark navy: obstacles</a:t>
            </a:r>
          </a:p>
          <a:p xmlns:a="http://schemas.openxmlformats.org/drawingml/2006/main">
            <a:r>
              <a:t/>
            </a:r>
          </a:p>
          <a:p xmlns:a="http://schemas.openxmlformats.org/drawingml/2006/main">
            <a:r>
              <a:t>[Sources]</a:t>
            </a:r>
          </a:p>
          <a:p xmlns:a="http://schemas.openxmlformats.org/drawingml/2006/main">
            <a:r>
              <a:t>https://lavalle.pl/planning/ch2.pdf</a:t>
            </a:r>
          </a:p>
          <a:p xmlns:a="http://schemas.openxmlformats.org/drawingml/2006/main">
            <a:r>
              <a:t/>
            </a:r>
          </a:p>
          <a:p xmlns:a="http://schemas.openxmlformats.org/drawingml/2006/main">
            <a:r>
              <a:t>[Visuals]</a:t>
            </a:r>
          </a:p>
          <a:p xmlns:a="http://schemas.openxmlformats.org/drawingml/2006/main">
            <a:r>
              <a:t>Actual screenshots or animations computed by the companion synthetic Path Planning demo. Synthetic scenes and expansion counts are teaching evidence, not performance benchmarks.</a:t>
            </a:r>
          </a:p>
          <a:p xmlns:a="http://schemas.openxmlformats.org/drawingml/2006/main">
            <a:r>
              <a:t/>
            </a:r>
          </a:p>
          <a:p xmlns:a="http://schemas.openxmlformats.org/drawingml/2006/main">
            <a:r>
              <a:t>[Companion demo]</a:t>
            </a:r>
          </a:p>
          <a:p xmlns:a="http://schemas.openxmlformats.org/drawingml/2006/main">
            <a:r>
              <a:t>Open ../Labs/PathPlanning/index.html#astar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worked arithmetic example, not a result from the rendered map. Candidate A has g=6 and h=11. Candidate B has g=9 and h=8. A consistent Manhattan heuristic with four-neighbor moves satisfies the unit-cost lower bound. Keep heuristic units compatible with edge costs.</a:t>
            </a:r>
          </a:p>
          <a:p xmlns:a="http://schemas.openxmlformats.org/drawingml/2006/main">
            <a:r>
              <a:t/>
            </a:r>
          </a:p>
          <a:p xmlns:a="http://schemas.openxmlformats.org/drawingml/2006/main">
            <a:r>
              <a:t>[Sources]</a:t>
            </a:r>
          </a:p>
          <a:p xmlns:a="http://schemas.openxmlformats.org/drawingml/2006/main">
            <a:r>
              <a:t>https://lavalle.pl/planning/ch2.pdf</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Admissibility means h never exceeds the true remaining optimal cost. Consistency means h(u) is at most c(u,v)+h(v). For graph search without reopening, consistency provides the standard guarantee. With admissible but inconsistent heuristics, improved states must reopen. If the minimum move cost is lower than one, rescale Manhattan distance. Manhattan can overestimate when diagonal moves are allowed. The any-angle demo on slide 43 uses Euclidean distance for its eight-neighbor A* reference, which is also admissible. Octile distance here is a valid tighter grid heuristic, not a claim about that implementation.</a:t>
            </a:r>
          </a:p>
          <a:p xmlns:a="http://schemas.openxmlformats.org/drawingml/2006/main">
            <a:r>
              <a:t/>
            </a:r>
          </a:p>
          <a:p xmlns:a="http://schemas.openxmlformats.org/drawingml/2006/main">
            <a:r>
              <a:t>[Sources]</a:t>
            </a:r>
          </a:p>
          <a:p xmlns:a="http://schemas.openxmlformats.org/drawingml/2006/main">
            <a:r>
              <a:t>https://lavalle.pl/planning/ch2.pdf</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parent links to reconstruct a route only after the goal is selected for expansion. Discovering the goal as a neighbor is not the general optimal stopping condition. A robust implementation handles stale queue entries and reopens improved states when required.</a:t>
            </a:r>
          </a:p>
          <a:p xmlns:a="http://schemas.openxmlformats.org/drawingml/2006/main">
            <a:r>
              <a:t/>
            </a:r>
          </a:p>
          <a:p xmlns:a="http://schemas.openxmlformats.org/drawingml/2006/main">
            <a:r>
              <a:t>[Sources]</a:t>
            </a:r>
          </a:p>
          <a:p xmlns:a="http://schemas.openxmlformats.org/drawingml/2006/main">
            <a:r>
              <a:t>https://lavalle.pl/planning/ch2.pdf</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screenshots show actual expanded cells on the same two-wall map. Cyan indicates processed states. Both algorithms use the same costs and return the same minimum route cost. Expansion savings depend on the heuristic and scene. Compare work counts rather than assuming a fixed speedup.</a:t>
            </a:r>
          </a:p>
          <a:p xmlns:a="http://schemas.openxmlformats.org/drawingml/2006/main">
            <a:r>
              <a:t>Visualization key: Cyan: expanded cells · Blue: minimum-cost route · Dark navy: obstacles</a:t>
            </a:r>
          </a:p>
          <a:p xmlns:a="http://schemas.openxmlformats.org/drawingml/2006/main">
            <a:r>
              <a:t/>
            </a:r>
          </a:p>
          <a:p xmlns:a="http://schemas.openxmlformats.org/drawingml/2006/main">
            <a:r>
              <a:t>[Sources]</a:t>
            </a:r>
          </a:p>
          <a:p xmlns:a="http://schemas.openxmlformats.org/drawingml/2006/main">
            <a:r>
              <a:t>https://lavalle.pl/planning/ch2.pdf</a:t>
            </a:r>
          </a:p>
          <a:p xmlns:a="http://schemas.openxmlformats.org/drawingml/2006/main">
            <a:r>
              <a:t/>
            </a:r>
          </a:p>
          <a:p xmlns:a="http://schemas.openxmlformats.org/drawingml/2006/main">
            <a:r>
              <a:t>[Visuals]</a:t>
            </a:r>
          </a:p>
          <a:p xmlns:a="http://schemas.openxmlformats.org/drawingml/2006/main">
            <a:r>
              <a:t>Actual screenshots or animations computed by the companion synthetic Path Planning demo. Synthetic scenes and expansion counts are teaching evidence, not performance benchmarks.</a:t>
            </a:r>
          </a:p>
          <a:p xmlns:a="http://schemas.openxmlformats.org/drawingml/2006/main">
            <a:r>
              <a:t/>
            </a:r>
          </a:p>
          <a:p xmlns:a="http://schemas.openxmlformats.org/drawingml/2006/main">
            <a:r>
              <a:t>[Companion demo]</a:t>
            </a:r>
          </a:p>
          <a:p xmlns:a="http://schemas.openxmlformats.org/drawingml/2006/main">
            <a:r>
              <a:t>Open ../Labs/PathPlanning/index.html#dijkstra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finite demo graph has positive costs and a consistent heuristic. Its shortest path does not claim continuous shortest length, feasible vehicle dynamics, or safety against future obstacle motion. Weighted A* uses f=g+w h for w&gt;1 and can expand fewer states at the expense of exact optimality. A* failure to find a path on a graph does not prove that no physical path exists.</a:t>
            </a:r>
          </a:p>
          <a:p xmlns:a="http://schemas.openxmlformats.org/drawingml/2006/main">
            <a:r>
              <a:t>Visualization key: Pictured: Weighted A*, w = 2 · Cyan: expanded cells · Blue: route</a:t>
            </a:r>
          </a:p>
          <a:p xmlns:a="http://schemas.openxmlformats.org/drawingml/2006/main">
            <a:r>
              <a:t/>
            </a:r>
          </a:p>
          <a:p xmlns:a="http://schemas.openxmlformats.org/drawingml/2006/main">
            <a:r>
              <a:t>[Sources]</a:t>
            </a:r>
          </a:p>
          <a:p xmlns:a="http://schemas.openxmlformats.org/drawingml/2006/main">
            <a:r>
              <a:t>https://lavalle.pl/planning/ch2.pdf</a:t>
            </a:r>
          </a:p>
          <a:p xmlns:a="http://schemas.openxmlformats.org/drawingml/2006/main">
            <a:r>
              <a:t/>
            </a:r>
          </a:p>
          <a:p xmlns:a="http://schemas.openxmlformats.org/drawingml/2006/main">
            <a:r>
              <a:t>[Visuals]</a:t>
            </a:r>
          </a:p>
          <a:p xmlns:a="http://schemas.openxmlformats.org/drawingml/2006/main">
            <a:r>
              <a:t>Actual screenshots or animations computed by the companion synthetic Path Planning demo. Synthetic scenes and expansion counts are teaching evidence, not performance benchmarks.</a:t>
            </a:r>
          </a:p>
          <a:p xmlns:a="http://schemas.openxmlformats.org/drawingml/2006/main">
            <a:r>
              <a:t/>
            </a:r>
          </a:p>
          <a:p xmlns:a="http://schemas.openxmlformats.org/drawingml/2006/main">
            <a:r>
              <a:t>[Companion demo]</a:t>
            </a:r>
          </a:p>
          <a:p xmlns:a="http://schemas.openxmlformats.org/drawingml/2006/main">
            <a:r>
              <a:t>Open ../Labs/PathPlanning/index.html#weighted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originated with Stentz in 1994. Present the road-closure example: the destination remains the same while the robot advances and its knowledge changes. A robot must still detect the blockage and stop safely. Incremental graph search addresses recomputation after changes, not perception or collision prediction.</a:t>
            </a:r>
          </a:p>
          <a:p xmlns:a="http://schemas.openxmlformats.org/drawingml/2006/main">
            <a:r>
              <a:t>Visualization key: Cyan: initial D* Lite expansions · Blue: initial route</a:t>
            </a:r>
          </a:p>
          <a:p xmlns:a="http://schemas.openxmlformats.org/drawingml/2006/main">
            <a:r>
              <a:t/>
            </a:r>
          </a:p>
          <a:p xmlns:a="http://schemas.openxmlformats.org/drawingml/2006/main">
            <a:r>
              <a:t>[Sources]</a:t>
            </a:r>
          </a:p>
          <a:p xmlns:a="http://schemas.openxmlformats.org/drawingml/2006/main">
            <a:r>
              <a:t>https://publications.ri.cmu.edu/the-d-algorithm-for-real-time-planning-of-optimal-traverses</a:t>
            </a:r>
          </a:p>
          <a:p xmlns:a="http://schemas.openxmlformats.org/drawingml/2006/main">
            <a:r>
              <a:t/>
            </a:r>
          </a:p>
          <a:p xmlns:a="http://schemas.openxmlformats.org/drawingml/2006/main">
            <a:r>
              <a:t>[Visuals]</a:t>
            </a:r>
          </a:p>
          <a:p xmlns:a="http://schemas.openxmlformats.org/drawingml/2006/main">
            <a:r>
              <a:t>Actual screenshots or animations computed by the companion synthetic Path Planning demo. Synthetic scenes and expansion counts are teaching evidence, not performance benchmarks.</a:t>
            </a:r>
          </a:p>
          <a:p xmlns:a="http://schemas.openxmlformats.org/drawingml/2006/main">
            <a:r>
              <a:t/>
            </a:r>
          </a:p>
          <a:p xmlns:a="http://schemas.openxmlformats.org/drawingml/2006/main">
            <a:r>
              <a:t>[Companion demo]</a:t>
            </a:r>
          </a:p>
          <a:p xmlns:a="http://schemas.openxmlformats.org/drawingml/2006/main">
            <a:r>
              <a:t>Open ../Labs/PathPlanning/index.html#replan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Lite is algorithmically distinct from D*. It builds on Lifelong Planning A* and produces a similar replanning behavior. The demo implements D* Lite, so name it accurately when explaining the code. Both belong to incremental graph search. Neither automatically reasons about the time at which a moving object will intersect the robot.</a:t>
            </a:r>
          </a:p>
          <a:p xmlns:a="http://schemas.openxmlformats.org/drawingml/2006/main">
            <a:r>
              <a:t/>
            </a:r>
          </a:p>
          <a:p xmlns:a="http://schemas.openxmlformats.org/drawingml/2006/main">
            <a:r>
              <a:t>[Sources]</a:t>
            </a:r>
          </a:p>
          <a:p xmlns:a="http://schemas.openxmlformats.org/drawingml/2006/main">
            <a:r>
              <a:t>https://publications.ri.cmu.edu/the-d-algorithm-for-real-time-planning-of-optimal-traverses</a:t>
            </a:r>
          </a:p>
          <a:p xmlns:a="http://schemas.openxmlformats.org/drawingml/2006/main">
            <a:r>
              <a:t>https://idm-lab.org/bib/abstracts/papers/aaai02b.pdf</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Lite initializes rhs(goal)=0, searches backward, and processes inconsistent states by a two-part priority key. The start-dependent heuristic and km adjustment allow the start to move while retaining estimates. This slide shows the local consistency relation rather than the full algorithm. The engine updates both endpoints affected by a cell/cost edit.</a:t>
            </a:r>
          </a:p>
          <a:p xmlns:a="http://schemas.openxmlformats.org/drawingml/2006/main">
            <a:r>
              <a:t/>
            </a:r>
          </a:p>
          <a:p xmlns:a="http://schemas.openxmlformats.org/drawingml/2006/main">
            <a:r>
              <a:t>[Sources]</a:t>
            </a:r>
          </a:p>
          <a:p xmlns:a="http://schemas.openxmlformats.org/drawingml/2006/main">
            <a:r>
              <a:t>https://idm-lab.org/bib/abstracts/papers/aaai02b.pdf</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after screenshot comes from a real click on the route, followed by D* Lite repair. Earlier g and rhs arrays remain in memory. Both final costs agree with the same graph optimum. Initial search and latest repair counts are distinct, and cumulative D* work remains visible. Some map changes can make repair more expensive than a new search.</a:t>
            </a:r>
          </a:p>
          <a:p xmlns:a="http://schemas.openxmlformats.org/drawingml/2006/main">
            <a:r>
              <a:t>Visualization key: Cyan: latest repair expansions · Blue: repaired route · Dark navy: blocked cells</a:t>
            </a:r>
          </a:p>
          <a:p xmlns:a="http://schemas.openxmlformats.org/drawingml/2006/main">
            <a:r>
              <a:t/>
            </a:r>
          </a:p>
          <a:p xmlns:a="http://schemas.openxmlformats.org/drawingml/2006/main">
            <a:r>
              <a:t>[Sources]</a:t>
            </a:r>
          </a:p>
          <a:p xmlns:a="http://schemas.openxmlformats.org/drawingml/2006/main">
            <a:r>
              <a:t>https://idm-lab.org/bib/abstracts/papers/aaai02b.pdf</a:t>
            </a:r>
          </a:p>
          <a:p xmlns:a="http://schemas.openxmlformats.org/drawingml/2006/main">
            <a:r>
              <a:t/>
            </a:r>
          </a:p>
          <a:p xmlns:a="http://schemas.openxmlformats.org/drawingml/2006/main">
            <a:r>
              <a:t>[Visuals]</a:t>
            </a:r>
          </a:p>
          <a:p xmlns:a="http://schemas.openxmlformats.org/drawingml/2006/main">
            <a:r>
              <a:t>Actual screenshots or animations computed by the companion synthetic Path Planning demo. Synthetic scenes and expansion counts are teaching evidence, not performance benchmarks.</a:t>
            </a:r>
          </a:p>
          <a:p xmlns:a="http://schemas.openxmlformats.org/drawingml/2006/main">
            <a:r>
              <a:t/>
            </a:r>
          </a:p>
          <a:p xmlns:a="http://schemas.openxmlformats.org/drawingml/2006/main">
            <a:r>
              <a:t>[Companion demo]</a:t>
            </a:r>
          </a:p>
          <a:p xmlns:a="http://schemas.openxmlformats.org/drawingml/2006/main">
            <a:r>
              <a:t>Open ../Labs/PathPlanning/index.html#replan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Small localized changes often let incremental search reuse much of its earlier computation. Changed goals, major remapping and altered state spaces can reduce that benefit or require reinitialization. Fast replanning also depends on how many sensor changes reach the costmap. Repeatedly flipping occupancy from noisy observations can create excessive work.</a:t>
            </a:r>
          </a:p>
          <a:p xmlns:a="http://schemas.openxmlformats.org/drawingml/2006/main">
            <a:r>
              <a:t/>
            </a:r>
          </a:p>
          <a:p xmlns:a="http://schemas.openxmlformats.org/drawingml/2006/main">
            <a:r>
              <a:t>[Sources]</a:t>
            </a:r>
          </a:p>
          <a:p xmlns:a="http://schemas.openxmlformats.org/drawingml/2006/main">
            <a:r>
              <a:t>https://publications.ri.cmu.edu/the-d-algorithm-for-real-time-planning-of-optimal-traverses</a:t>
            </a:r>
          </a:p>
          <a:p xmlns:a="http://schemas.openxmlformats.org/drawingml/2006/main">
            <a:r>
              <a:t>https://idm-lab.org/bib/abstracts/papers/aaai02b.pdf</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families, not a ranking. Graph search needs a useful discretization. Sampling methods become attractive as configuration dimension grows. Optimization can encode smoothness and dynamics, but often needs a good initial guess. Many deployed systems combine a coarse global search with local optimization.</a:t>
            </a:r>
          </a:p>
          <a:p xmlns:a="http://schemas.openxmlformats.org/drawingml/2006/main">
            <a:r>
              <a:t/>
            </a:r>
          </a:p>
          <a:p xmlns:a="http://schemas.openxmlformats.org/drawingml/2006/main">
            <a:r>
              <a:t>[Sources]</a:t>
            </a:r>
          </a:p>
          <a:p xmlns:a="http://schemas.openxmlformats.org/drawingml/2006/main">
            <a:r>
              <a:t>https://lavalle.pl/planning/ch2.pdf</a:t>
            </a:r>
          </a:p>
          <a:p xmlns:a="http://schemas.openxmlformats.org/drawingml/2006/main">
            <a:r>
              <a:t>https://lavalle.pl/planning/ch5.pdf</a:t>
            </a:r>
          </a:p>
          <a:p xmlns:a="http://schemas.openxmlformats.org/drawingml/2006/main">
            <a:r>
              <a:t>https://docs.nav2.org/rolling/configuration_and_development/configuration_guide/controller_plugins/mppi_controller/configuring_mppic/</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PRM samples free configurations and connects nearby samples to form a roadmap, often for repeated queries in a largely static environment. RRT incrementally extends toward random samples. The animation is the actual seeded RRT implementation in this demo. Narrow passages receive relatively few random samples. The left image is the fixed-k PRM after 300 attempts; the right animation is seeded basic RRT. Pale cyan dots and edges are retained roadmap/tree connections. Orange is the attempted RRT sample; blue is the returned route. Neither method optimizes terrain cost.</a:t>
            </a:r>
          </a:p>
          <a:p xmlns:a="http://schemas.openxmlformats.org/drawingml/2006/main">
            <a:r>
              <a:t>Visualization key: Pale cyan: connections · Blue: route · Orange: attempted RRT sample</a:t>
            </a:r>
          </a:p>
          <a:p xmlns:a="http://schemas.openxmlformats.org/drawingml/2006/main">
            <a:r>
              <a:t/>
            </a:r>
          </a:p>
          <a:p xmlns:a="http://schemas.openxmlformats.org/drawingml/2006/main">
            <a:r>
              <a:t>[Sources]</a:t>
            </a:r>
          </a:p>
          <a:p xmlns:a="http://schemas.openxmlformats.org/drawingml/2006/main">
            <a:r>
              <a:t>https://lavalle.pl/planning/ch5.pdf</a:t>
            </a:r>
          </a:p>
          <a:p xmlns:a="http://schemas.openxmlformats.org/drawingml/2006/main">
            <a:r>
              <a:t/>
            </a:r>
          </a:p>
          <a:p xmlns:a="http://schemas.openxmlformats.org/drawingml/2006/main">
            <a:r>
              <a:t>[Visuals]</a:t>
            </a:r>
          </a:p>
          <a:p xmlns:a="http://schemas.openxmlformats.org/drawingml/2006/main">
            <a:r>
              <a:t>Actual screenshots or animations computed by the companion synthetic Path Planning demo. Synthetic scenes and expansion counts are teaching evidence, not performance benchmarks.</a:t>
            </a:r>
          </a:p>
          <a:p xmlns:a="http://schemas.openxmlformats.org/drawingml/2006/main">
            <a:r>
              <a:t/>
            </a:r>
          </a:p>
          <a:p xmlns:a="http://schemas.openxmlformats.org/drawingml/2006/main">
            <a:r>
              <a:t>[Companion demo]</a:t>
            </a:r>
          </a:p>
          <a:p xmlns:a="http://schemas.openxmlformats.org/drawingml/2006/main">
            <a:r>
              <a:t>Open ../Labs/PathPlanning/index.html#sampling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Probabilistic completeness is an asymptotic property under assumptions, not a finite-time success guarantee. RRT* asymptotic optimality also requires its prescribed connection strategy and regularity assumptions. The demo offers basic RRT, RRT* and Informed RRT*. Basic RRT stops at its first solution; the star variants choose lower-cost parents, rewire neighbors and propagate descendant costs. All use exact segment-to-rectangle clearance for a radius-0.2 disk. Informed RRT* samples the path-length improvement ellipse only after a solution exists. The displayed finite runs do not certify optimality.</a:t>
            </a:r>
          </a:p>
          <a:p xmlns:a="http://schemas.openxmlformats.org/drawingml/2006/main">
            <a:r>
              <a:t>Visualization key: Cyan: tree · Magenta: latest rewires · Blue: best route; Dashed green: improvement ellipse · Orange: attempted sample</a:t>
            </a:r>
          </a:p>
          <a:p xmlns:a="http://schemas.openxmlformats.org/drawingml/2006/main">
            <a:r>
              <a:t/>
            </a:r>
          </a:p>
          <a:p xmlns:a="http://schemas.openxmlformats.org/drawingml/2006/main">
            <a:r>
              <a:t>[Sources]</a:t>
            </a:r>
          </a:p>
          <a:p xmlns:a="http://schemas.openxmlformats.org/drawingml/2006/main">
            <a:r>
              <a:t>https://lavalle.pl/planning/ch5.pdf</a:t>
            </a:r>
          </a:p>
          <a:p xmlns:a="http://schemas.openxmlformats.org/drawingml/2006/main">
            <a:r>
              <a:t>https://arxiv.org/abs/1105.1186</a:t>
            </a:r>
          </a:p>
          <a:p xmlns:a="http://schemas.openxmlformats.org/drawingml/2006/main">
            <a:r>
              <a:t>https://arxiv.org/abs/1404.2334</a:t>
            </a:r>
          </a:p>
          <a:p xmlns:a="http://schemas.openxmlformats.org/drawingml/2006/main">
            <a:r>
              <a:t/>
            </a:r>
          </a:p>
          <a:p xmlns:a="http://schemas.openxmlformats.org/drawingml/2006/main">
            <a:r>
              <a:t>[Visuals]</a:t>
            </a:r>
          </a:p>
          <a:p xmlns:a="http://schemas.openxmlformats.org/drawingml/2006/main">
            <a:r>
              <a:t>Actual screenshots or animations computed by the companion synthetic Path Planning demo. Synthetic scenes and expansion counts are teaching evidence, not performance benchmarks.</a:t>
            </a:r>
          </a:p>
          <a:p xmlns:a="http://schemas.openxmlformats.org/drawingml/2006/main">
            <a:r>
              <a:t/>
            </a:r>
          </a:p>
          <a:p xmlns:a="http://schemas.openxmlformats.org/drawingml/2006/main">
            <a:r>
              <a:t>[Companion demo]</a:t>
            </a:r>
          </a:p>
          <a:p xmlns:a="http://schemas.openxmlformats.org/drawingml/2006/main">
            <a:r>
              <a:t>Open ../Labs/PathPlanning/index.html#rrtstar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planar rigid body, q=(x,y,theta). An arm needs joint angles. An obstacle can block different configurations at different orientations. The pictured green rectangle is the last clear pose; the next translation is rejected, so the robot does not enter the wall. Configuration-space planning accounts for the entire robot body, including attached tools and loads. The exact geometry changes when the robot rotates.</a:t>
            </a:r>
          </a:p>
          <a:p xmlns:a="http://schemas.openxmlformats.org/drawingml/2006/main">
            <a:r>
              <a:t>Visualization key: Green rectangle: last clear pose · Pale blue: center path · Dark navy: walls</a:t>
            </a:r>
          </a:p>
          <a:p xmlns:a="http://schemas.openxmlformats.org/drawingml/2006/main">
            <a:r>
              <a:t/>
            </a:r>
          </a:p>
          <a:p xmlns:a="http://schemas.openxmlformats.org/drawingml/2006/main">
            <a:r>
              <a:t>[Sources]</a:t>
            </a:r>
          </a:p>
          <a:p xmlns:a="http://schemas.openxmlformats.org/drawingml/2006/main">
            <a:r>
              <a:t>https://lavalle.pl/planning/ch4.pdf</a:t>
            </a:r>
          </a:p>
          <a:p xmlns:a="http://schemas.openxmlformats.org/drawingml/2006/main">
            <a:r>
              <a:t/>
            </a:r>
          </a:p>
          <a:p xmlns:a="http://schemas.openxmlformats.org/drawingml/2006/main">
            <a:r>
              <a:t>[Visuals]</a:t>
            </a:r>
          </a:p>
          <a:p xmlns:a="http://schemas.openxmlformats.org/drawingml/2006/main">
            <a:r>
              <a:t>Actual screenshots or animations computed by the companion synthetic Path Planning demo. Synthetic scenes and expansion counts are teaching evidence, not performance benchmarks.</a:t>
            </a:r>
          </a:p>
          <a:p xmlns:a="http://schemas.openxmlformats.org/drawingml/2006/main">
            <a:r>
              <a:t/>
            </a:r>
          </a:p>
          <a:p xmlns:a="http://schemas.openxmlformats.org/drawingml/2006/main">
            <a:r>
              <a:t>[Companion demo]</a:t>
            </a:r>
          </a:p>
          <a:p xmlns:a="http://schemas.openxmlformats.org/drawingml/2006/main">
            <a:r>
              <a:t>Open ../Labs/PathPlanning/index.html#footprint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translation at fixed orientation, the configuration obstacle is O ⊕ (−R), where the negative reflects the robot footprint about the reference point. For a symmetric disk this reflection has no visible effect. An orientation-dependent footprint needs a different expansion at each theta or direct footprint checking. Inflation does not compensate for arbitrarily wrong localization.</a:t>
            </a:r>
          </a:p>
          <a:p xmlns:a="http://schemas.openxmlformats.org/drawingml/2006/main">
            <a:r>
              <a:t/>
            </a:r>
          </a:p>
          <a:p xmlns:a="http://schemas.openxmlformats.org/drawingml/2006/main">
            <a:r>
              <a:t>[Sources]</a:t>
            </a:r>
          </a:p>
          <a:p xmlns:a="http://schemas.openxmlformats.org/drawingml/2006/main">
            <a:r>
              <a:t>https://lavalle.pl/planning/ch4.pdf</a:t>
            </a:r>
          </a:p>
          <a:p xmlns:a="http://schemas.openxmlformats.org/drawingml/2006/main">
            <a:r>
              <a:t>https://github.com/ros-navigation/docs.nav2.org/blob/rolling/docs/configuration_and_development/tuning_guide.md</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Orange cells show conservative forbidden occupancy. The obstacle cells are unit squares, and any grid cell that intersects their Minkowski expansion is excluded. This whole-cell representation can reject a physically feasible route near a tight threshold. Using finer grid cells or checking continuous geometry can distinguish a grid artifact from actual collision.</a:t>
            </a:r>
          </a:p>
          <a:p xmlns:a="http://schemas.openxmlformats.org/drawingml/2006/main">
            <a:r>
              <a:t>Visualization key: Dark navy: obstacles · Orange: excluded cells · Blue: center route</a:t>
            </a:r>
          </a:p>
          <a:p xmlns:a="http://schemas.openxmlformats.org/drawingml/2006/main">
            <a:r>
              <a:t/>
            </a:r>
          </a:p>
          <a:p xmlns:a="http://schemas.openxmlformats.org/drawingml/2006/main">
            <a:r>
              <a:t>[Sources]</a:t>
            </a:r>
          </a:p>
          <a:p xmlns:a="http://schemas.openxmlformats.org/drawingml/2006/main">
            <a:r>
              <a:t>https://lavalle.pl/planning/ch4.pdf</a:t>
            </a:r>
          </a:p>
          <a:p xmlns:a="http://schemas.openxmlformats.org/drawingml/2006/main">
            <a:r>
              <a:t/>
            </a:r>
          </a:p>
          <a:p xmlns:a="http://schemas.openxmlformats.org/drawingml/2006/main">
            <a:r>
              <a:t>[Visuals]</a:t>
            </a:r>
          </a:p>
          <a:p xmlns:a="http://schemas.openxmlformats.org/drawingml/2006/main">
            <a:r>
              <a:t>Actual screenshots or animations computed by the companion synthetic Path Planning demo. Synthetic scenes and expansion counts are teaching evidence, not performance benchmarks.</a:t>
            </a:r>
          </a:p>
          <a:p xmlns:a="http://schemas.openxmlformats.org/drawingml/2006/main">
            <a:r>
              <a:t/>
            </a:r>
          </a:p>
          <a:p xmlns:a="http://schemas.openxmlformats.org/drawingml/2006/main">
            <a:r>
              <a:t>[Companion demo]</a:t>
            </a:r>
          </a:p>
          <a:p xmlns:a="http://schemas.openxmlformats.org/drawingml/2006/main">
            <a:r>
              <a:t>Open ../Labs/PathPlanning/index.html#clearance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 constraints exclude collisions. A soft cost encourages wider clearance among feasible paths. Nav2 inflation includes lethal/inscribed behavior and a graded cost region, with footprint handling varying by plugin. A simple radius threshold is not a complete account of the Nav2 inflation layer. Large cost penalties can discourage progress through otherwise feasible narrow passages.</a:t>
            </a:r>
          </a:p>
          <a:p xmlns:a="http://schemas.openxmlformats.org/drawingml/2006/main">
            <a:r>
              <a:t/>
            </a:r>
          </a:p>
          <a:p xmlns:a="http://schemas.openxmlformats.org/drawingml/2006/main">
            <a:r>
              <a:t>[Sources]</a:t>
            </a:r>
          </a:p>
          <a:p xmlns:a="http://schemas.openxmlformats.org/drawingml/2006/main">
            <a:r>
              <a:t>https://github.com/ros-navigation/docs.nav2.org/blob/rolling/docs/configuration_and_development/tuning_guide.md</a:t>
            </a:r>
          </a:p>
          <a:p xmlns:a="http://schemas.openxmlformats.org/drawingml/2006/main">
            <a:r>
              <a:t>https://docs.nav2.org/rolling/configuration_and_development/configuration_guide/controller_plugins/mppi_controller/configuring_mppic/</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bicycle-model turning-radius relation, with wheelbase L and steering delta. A 90-degree grid corner has a direction discontinuity. Smoothing might still violate obstacles or turning radius. A differential-drive robot and an Ackermann vehicle have different allowed transitions. Reverse maneuvers also change the search.</a:t>
            </a:r>
          </a:p>
          <a:p xmlns:a="http://schemas.openxmlformats.org/drawingml/2006/main">
            <a:r>
              <a:t/>
            </a:r>
          </a:p>
          <a:p xmlns:a="http://schemas.openxmlformats.org/drawingml/2006/main">
            <a:r>
              <a:t>[Sources]</a:t>
            </a:r>
          </a:p>
          <a:p xmlns:a="http://schemas.openxmlformats.org/drawingml/2006/main">
            <a:r>
              <a:t>https://lavalle.pl/planning/ch13.pdf</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Hybrid A* propagates continuous vehicle motions while using discretized search bookkeeping. State lattices connect states through predefined feasible motion primitives. Both can include reverse driving and heading. Their exact guarantees depend on discretization, primitive coverage, costs and implementation. Nav2 lists Smac Hybrid-A* and lattice planners for relevant robot kinematics.</a:t>
            </a:r>
          </a:p>
          <a:p xmlns:a="http://schemas.openxmlformats.org/drawingml/2006/main">
            <a:r>
              <a:t/>
            </a:r>
          </a:p>
          <a:p xmlns:a="http://schemas.openxmlformats.org/drawingml/2006/main">
            <a:r>
              <a:t>[Sources]</a:t>
            </a:r>
          </a:p>
          <a:p xmlns:a="http://schemas.openxmlformats.org/drawingml/2006/main">
            <a:r>
              <a:t>https://docs.nav2.org/rolling/configuration_and_development/navigation_plugins/</a:t>
            </a:r>
          </a:p>
          <a:p xmlns:a="http://schemas.openxmlformats.org/drawingml/2006/main">
            <a:r>
              <a:t>https://lavalle.pl/planning/ch13.pdf</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open-scene screenshot. The short blue-gray strokes indicate net force direction, and the executed blue trace bends around the obstacle. The physical robot still needs a motion controller and collision checks. A potential gradient in x/y alone does not automatically satisfy car kinematics.</a:t>
            </a:r>
          </a:p>
          <a:p xmlns:a="http://schemas.openxmlformats.org/drawingml/2006/main">
            <a:r>
              <a:t>Visualization key: Blue-gray strokes: net force · Blue: executed trace · Green: robot</a:t>
            </a:r>
          </a:p>
          <a:p xmlns:a="http://schemas.openxmlformats.org/drawingml/2006/main">
            <a:r>
              <a:t/>
            </a:r>
          </a:p>
          <a:p xmlns:a="http://schemas.openxmlformats.org/drawingml/2006/main">
            <a:r>
              <a:t>[Sources]</a:t>
            </a:r>
          </a:p>
          <a:p xmlns:a="http://schemas.openxmlformats.org/drawingml/2006/main">
            <a:r>
              <a:t>https://lavalle.pl/planning/ch8.pdf</a:t>
            </a:r>
          </a:p>
          <a:p xmlns:a="http://schemas.openxmlformats.org/drawingml/2006/main">
            <a:r>
              <a:t/>
            </a:r>
          </a:p>
          <a:p xmlns:a="http://schemas.openxmlformats.org/drawingml/2006/main">
            <a:r>
              <a:t>[Visuals]</a:t>
            </a:r>
          </a:p>
          <a:p xmlns:a="http://schemas.openxmlformats.org/drawingml/2006/main">
            <a:r>
              <a:t>Actual screenshots or animations computed by the companion synthetic Path Planning demo. Synthetic scenes and expansion counts are teaching evidence, not performance benchmarks.</a:t>
            </a:r>
          </a:p>
          <a:p xmlns:a="http://schemas.openxmlformats.org/drawingml/2006/main">
            <a:r>
              <a:t/>
            </a:r>
          </a:p>
          <a:p xmlns:a="http://schemas.openxmlformats.org/drawingml/2006/main">
            <a:r>
              <a:t>[Companion demo]</a:t>
            </a:r>
          </a:p>
          <a:p xmlns:a="http://schemas.openxmlformats.org/drawingml/2006/main">
            <a:r>
              <a:t>Open ../Labs/PathPlanning/index.html#field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common elementary potential construction. d is clearance to an obstacle, d0 is its influence range, and eta sets repulsion strength. Apply repulsion only when d&lt;d0. The demo sums circular obstacle contributions and caps integration steps. Discuss units and gain tuning without suggesting this construction has a general global convergence guarantee.</a:t>
            </a:r>
          </a:p>
          <a:p xmlns:a="http://schemas.openxmlformats.org/drawingml/2006/main">
            <a:r>
              <a:t/>
            </a:r>
          </a:p>
          <a:p xmlns:a="http://schemas.openxmlformats.org/drawingml/2006/main">
            <a:r>
              <a:t>[Sources]</a:t>
            </a:r>
          </a:p>
          <a:p xmlns:a="http://schemas.openxmlformats.org/drawingml/2006/main">
            <a:r>
              <a:t>https://lavalle.pl/planning/ch8.pdf</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animation computes the robot’s motion and net force in the U-shaped scene. The symmetric start makes the competing forces particularly clear. Here force magnitude approaches zero while distance to the goal stays large. An asymmetric perturbation may change this particular outcome but does not give the general method a completeness guarantee.</a:t>
            </a:r>
          </a:p>
          <a:p xmlns:a="http://schemas.openxmlformats.org/drawingml/2006/main">
            <a:r>
              <a:t>Visualization key: Blue-gray strokes: net force · Blue: executed trace · Purple: goal</a:t>
            </a:r>
          </a:p>
          <a:p xmlns:a="http://schemas.openxmlformats.org/drawingml/2006/main">
            <a:r>
              <a:t/>
            </a:r>
          </a:p>
          <a:p xmlns:a="http://schemas.openxmlformats.org/drawingml/2006/main">
            <a:r>
              <a:t>[Sources]</a:t>
            </a:r>
          </a:p>
          <a:p xmlns:a="http://schemas.openxmlformats.org/drawingml/2006/main">
            <a:r>
              <a:t>https://lavalle.pl/planning/ch8.pdf</a:t>
            </a:r>
          </a:p>
          <a:p xmlns:a="http://schemas.openxmlformats.org/drawingml/2006/main">
            <a:r>
              <a:t/>
            </a:r>
          </a:p>
          <a:p xmlns:a="http://schemas.openxmlformats.org/drawingml/2006/main">
            <a:r>
              <a:t>[Visuals]</a:t>
            </a:r>
          </a:p>
          <a:p xmlns:a="http://schemas.openxmlformats.org/drawingml/2006/main">
            <a:r>
              <a:t>Actual screenshots or animations computed by the companion synthetic Path Planning demo. Synthetic scenes and expansion counts are teaching evidence, not performance benchmarks.</a:t>
            </a:r>
          </a:p>
          <a:p xmlns:a="http://schemas.openxmlformats.org/drawingml/2006/main">
            <a:r>
              <a:t/>
            </a:r>
          </a:p>
          <a:p xmlns:a="http://schemas.openxmlformats.org/drawingml/2006/main">
            <a:r>
              <a:t>[Companion demo]</a:t>
            </a:r>
          </a:p>
          <a:p xmlns:a="http://schemas.openxmlformats.org/drawingml/2006/main">
            <a:r>
              <a:t>Open ../Labs/PathPlanning/index.html#trap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short controller that only descends a scalar potential cannot see that temporarily moving away from the goal may enable eventual progress. Random perturbations, wall-following or changing intermediate goals can help individual scenes. Each response needs explicit safety and progress checks. Specialized navigation functions have stronger properties under restrictive construction assumptions.</a:t>
            </a:r>
          </a:p>
          <a:p xmlns:a="http://schemas.openxmlformats.org/drawingml/2006/main">
            <a:r>
              <a:t/>
            </a:r>
          </a:p>
          <a:p xmlns:a="http://schemas.openxmlformats.org/drawingml/2006/main">
            <a:r>
              <a:t>[Sources]</a:t>
            </a:r>
          </a:p>
          <a:p xmlns:a="http://schemas.openxmlformats.org/drawingml/2006/main">
            <a:r>
              <a:t>https://lavalle.pl/planning/ch8.pdf</a:t>
            </a:r>
          </a:p>
          <a:p xmlns:a="http://schemas.openxmlformats.org/drawingml/2006/main">
            <a:r>
              <a:t>https://docs.nav2.org/jazzy/getting_started/navigation_concepts/navigation_servers/</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robot repeatedly closes this loop. Routes, local trajectories and commands should use consistent frames and timestamps. A local planner can stop even while the global route remains visible, because nearby sensed geometry differs from the global map. Stopping can be a valid action, but indefinite stopping requires a progress/recovery policy.</a:t>
            </a:r>
          </a:p>
          <a:p xmlns:a="http://schemas.openxmlformats.org/drawingml/2006/main">
            <a:r>
              <a:t/>
            </a:r>
          </a:p>
          <a:p xmlns:a="http://schemas.openxmlformats.org/drawingml/2006/main">
            <a:r>
              <a:t>[Sources]</a:t>
            </a:r>
          </a:p>
          <a:p xmlns:a="http://schemas.openxmlformats.org/drawingml/2006/main">
            <a:r>
              <a:t>https://docs.nav2.org/jazzy/getting_started/navigation_concepts/navigation_servers/</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shows unicycle rollouts from the previous decision pose, followed by 0.1 second of execution. The robot marker and solid red obstacle are at the current time; the thin red outline is the obstacle at planning time. Orange marks the chosen candidate. Cyan/pale red mark predictions that pass/fail the configured discrete checks. The controller executes only the first 0.1 second, then samples again. It uses an ideal sinusoidal obstacle model. This is DWA-like sampling, without the acceleration-reachable dynamic window or full Nav2 implementation.</a:t>
            </a:r>
          </a:p>
          <a:p xmlns:a="http://schemas.openxmlformats.org/drawingml/2006/main">
            <a:r>
              <a:t>Visualization key: Blue: global route · Cyan / pale red: accepted / rejected predictions; Orange: chosen prediction · Green: executed motion · Solid red: obstacle now A thin red outline marks the obstacle at planning time. A cyan rollout passed the configured discrete checks; it is not a safety certificate.</a:t>
            </a:r>
          </a:p>
          <a:p xmlns:a="http://schemas.openxmlformats.org/drawingml/2006/main">
            <a:r>
              <a:t/>
            </a:r>
          </a:p>
          <a:p xmlns:a="http://schemas.openxmlformats.org/drawingml/2006/main">
            <a:r>
              <a:t>[Sources]</a:t>
            </a:r>
          </a:p>
          <a:p xmlns:a="http://schemas.openxmlformats.org/drawingml/2006/main">
            <a:r>
              <a:t>https://docs.nav2.org/jazzy/getting_started/navigation_concepts/navigation_servers/</a:t>
            </a:r>
          </a:p>
          <a:p xmlns:a="http://schemas.openxmlformats.org/drawingml/2006/main">
            <a:r>
              <a:t>https://docs.nav2.org/rolling/configuration_and_development/configuration_guide/controller_plugins/mppi_controller/configuring_mppic/</a:t>
            </a:r>
          </a:p>
          <a:p xmlns:a="http://schemas.openxmlformats.org/drawingml/2006/main">
            <a:r>
              <a:t/>
            </a:r>
          </a:p>
          <a:p xmlns:a="http://schemas.openxmlformats.org/drawingml/2006/main">
            <a:r>
              <a:t>[Visuals]</a:t>
            </a:r>
          </a:p>
          <a:p xmlns:a="http://schemas.openxmlformats.org/drawingml/2006/main">
            <a:r>
              <a:t>Actual screenshots or animations computed by the companion synthetic Path Planning demo. Synthetic scenes and expansion counts are teaching evidence, not performance benchmarks.</a:t>
            </a:r>
          </a:p>
          <a:p xmlns:a="http://schemas.openxmlformats.org/drawingml/2006/main">
            <a:r>
              <a:t/>
            </a:r>
          </a:p>
          <a:p xmlns:a="http://schemas.openxmlformats.org/drawingml/2006/main">
            <a:r>
              <a:t>[Companion demo]</a:t>
            </a:r>
          </a:p>
          <a:p xmlns:a="http://schemas.openxmlformats.org/drawingml/2006/main">
            <a:r>
              <a:t>Open ../Labs/PathPlanning/index.html#local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two screenshots use the same initial route and 30 seconds of simulated control. The moving scene predicts the sinusoidal obstacle and progresses after it clears. The stationary scene stops under the demo’s discrete collision model. This is not a continuous-time or vehicle-dynamics safety guarantee. Use Update global map and replan to run A* with the current obstacle occupancy. A route built from a snapshot of a moving object can become stale, so local prediction remains necessary.</a:t>
            </a:r>
          </a:p>
          <a:p xmlns:a="http://schemas.openxmlformats.org/drawingml/2006/main">
            <a:r>
              <a:t>Visualization key: Blue: global route · Green: executed motion · Cyan / pale red: predictions; Solid red: obstacle now · Thin red outline: obstacle at planning time</a:t>
            </a:r>
          </a:p>
          <a:p xmlns:a="http://schemas.openxmlformats.org/drawingml/2006/main">
            <a:r>
              <a:t/>
            </a:r>
          </a:p>
          <a:p xmlns:a="http://schemas.openxmlformats.org/drawingml/2006/main">
            <a:r>
              <a:t>[Sources]</a:t>
            </a:r>
          </a:p>
          <a:p xmlns:a="http://schemas.openxmlformats.org/drawingml/2006/main">
            <a:r>
              <a:t>https://docs.nav2.org/jazzy/getting_started/navigation_concepts/navigation_servers/</a:t>
            </a:r>
          </a:p>
          <a:p xmlns:a="http://schemas.openxmlformats.org/drawingml/2006/main">
            <a:r>
              <a:t>https://docs.nav2.org/rolling/configuration_and_development/configuration_guide/controller_plugins/mppi_controller/configuring_mppic/</a:t>
            </a:r>
          </a:p>
          <a:p xmlns:a="http://schemas.openxmlformats.org/drawingml/2006/main">
            <a:r>
              <a:t/>
            </a:r>
          </a:p>
          <a:p xmlns:a="http://schemas.openxmlformats.org/drawingml/2006/main">
            <a:r>
              <a:t>[Visuals]</a:t>
            </a:r>
          </a:p>
          <a:p xmlns:a="http://schemas.openxmlformats.org/drawingml/2006/main">
            <a:r>
              <a:t>Actual screenshots or animations computed by the companion synthetic Path Planning demo. Synthetic scenes and expansion counts are teaching evidence, not performance benchmarks.</a:t>
            </a:r>
          </a:p>
          <a:p xmlns:a="http://schemas.openxmlformats.org/drawingml/2006/main">
            <a:r>
              <a:t/>
            </a:r>
          </a:p>
          <a:p xmlns:a="http://schemas.openxmlformats.org/drawingml/2006/main">
            <a:r>
              <a:t>[Companion demo]</a:t>
            </a:r>
          </a:p>
          <a:p xmlns:a="http://schemas.openxmlformats.org/drawingml/2006/main">
            <a:r>
              <a:t>Open ../Labs/PathPlanning/index.html#local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DWA constrains sampled velocities by the robot’s dynamic reachability and braking feasibility. The demo uses only a simplified bounded sample set. MPC repeatedly solves a finite-horizon control problem. MPPI uses sampled control sequences with weighted updates to improve a sequence. A pure path follower needs its own collision handling when the scene changes. The working sequence optimizer is labeled MPPI-style; see slide 44 for its visualization and omitted importance-sampling terms. MPC, Hybrid A* and state lattices remain conceptual coverage, not implemented demos.</a:t>
            </a:r>
          </a:p>
          <a:p xmlns:a="http://schemas.openxmlformats.org/drawingml/2006/main">
            <a:r>
              <a:t/>
            </a:r>
          </a:p>
          <a:p xmlns:a="http://schemas.openxmlformats.org/drawingml/2006/main">
            <a:r>
              <a:t>[Sources]</a:t>
            </a:r>
          </a:p>
          <a:p xmlns:a="http://schemas.openxmlformats.org/drawingml/2006/main">
            <a:r>
              <a:t>https://docs.nav2.org/jazzy/getting_started/navigation_concepts/navigation_servers/</a:t>
            </a:r>
          </a:p>
          <a:p xmlns:a="http://schemas.openxmlformats.org/drawingml/2006/main">
            <a:r>
              <a:t>https://docs.nav2.org/rolling/configuration_and_development/configuration_guide/controller_plugins/mppi_controller/configuring_mppic/</a:t>
            </a:r>
          </a:p>
          <a:p xmlns:a="http://schemas.openxmlformats.org/drawingml/2006/main">
            <a:r>
              <a:t>https://docs.nav2.org/rolling/configuration_and_development/navigation_plugins/</a:t>
            </a:r>
          </a:p>
          <a:p xmlns:a="http://schemas.openxmlformats.org/drawingml/2006/main">
            <a:r>
              <a:t/>
            </a:r>
          </a:p>
          <a:p xmlns:a="http://schemas.openxmlformats.org/drawingml/2006/main">
            <a:r>
              <a:t>[Visuals]</a:t>
            </a:r>
          </a:p>
          <a:p xmlns:a="http://schemas.openxmlformats.org/drawingml/2006/main">
            <a:r>
              <a:t>Editable course text, equations, or comparison table.</a:t>
            </a:r>
          </a:p>
          <a:p xmlns:a="http://schemas.openxmlformats.org/drawingml/2006/main">
            <a:r>
              <a:t/>
            </a:r>
          </a:p>
          <a:p xmlns:a="http://schemas.openxmlformats.org/drawingml/2006/main">
            <a:r>
              <a:t>[Companion demo]</a:t>
            </a:r>
          </a:p>
          <a:p xmlns:a="http://schemas.openxmlformats.org/drawingml/2006/main">
            <a:r>
              <a:t>Open ../Labs/PathPlanning/index.html#mppi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Reaction time includes sensing, communication and control latency. The simple distance relation assumes constant speed during reaction and constant braking deceleration afterward on a suitable surface. The demo does not model this braking envelope, so it must not claim hardware safety. The execution guard catches sampled collisions and supports teaching the distinction between planning and safety enforcement.</a:t>
            </a:r>
          </a:p>
          <a:p xmlns:a="http://schemas.openxmlformats.org/drawingml/2006/main">
            <a:r>
              <a:t/>
            </a:r>
          </a:p>
          <a:p xmlns:a="http://schemas.openxmlformats.org/drawingml/2006/main">
            <a:r>
              <a:t>[Sources]</a:t>
            </a:r>
          </a:p>
          <a:p xmlns:a="http://schemas.openxmlformats.org/drawingml/2006/main">
            <a:r>
              <a:t>https://lavalle.pl/planning/ch13.pdf</a:t>
            </a:r>
          </a:p>
          <a:p xmlns:a="http://schemas.openxmlformats.org/drawingml/2006/main">
            <a:r>
              <a:t>https://docs.nav2.org/rolling/configuration_and_development/configuration_guide/controller_plugins/mppi_controller/configuring_mppic/</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qualitative fit examples, not empirical rankings. Indoor geometry can be known while people move unpredictably. Outdoor terrain adds traversal costs and larger maps. A road vehicle requires kinematics, rules and actor prediction. Rapidly changing scenes can invalidate a graph path immediately after computation. Name the missing evidence before switching algorithms.</a:t>
            </a:r>
          </a:p>
          <a:p xmlns:a="http://schemas.openxmlformats.org/drawingml/2006/main">
            <a:r>
              <a:t/>
            </a:r>
          </a:p>
          <a:p xmlns:a="http://schemas.openxmlformats.org/drawingml/2006/main">
            <a:r>
              <a:t>[Sources]</a:t>
            </a:r>
          </a:p>
          <a:p xmlns:a="http://schemas.openxmlformats.org/drawingml/2006/main">
            <a:r>
              <a:t>https://docs.nav2.org/jazzy/getting_started/navigation_concepts/navigation_servers/</a:t>
            </a:r>
          </a:p>
          <a:p xmlns:a="http://schemas.openxmlformats.org/drawingml/2006/main">
            <a:r>
              <a:t>https://lavalle.pl/planning/ch5.pdf</a:t>
            </a:r>
          </a:p>
          <a:p xmlns:a="http://schemas.openxmlformats.org/drawingml/2006/main">
            <a:r>
              <a:t>https://lavalle.pl/planning/ch13.pdf</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University of Delaware reference is Gregory S. Chirikjian’s Robot Imagination work, documented in his 2024 seminar. Affordance means a possible useful interaction, such as sitting on an object or using a tool. Physical simulation can test whether a candidate interaction works before execution. This extends planning from finding free-space routes to choosing useful actions with objects. Avoid asserting a current faculty appointment from the historical seminar.</a:t>
            </a:r>
          </a:p>
          <a:p xmlns:a="http://schemas.openxmlformats.org/drawingml/2006/main">
            <a:r>
              <a:t/>
            </a:r>
          </a:p>
          <a:p xmlns:a="http://schemas.openxmlformats.org/drawingml/2006/main">
            <a:r>
              <a:t>[Sources]</a:t>
            </a:r>
          </a:p>
          <a:p xmlns:a="http://schemas.openxmlformats.org/drawingml/2006/main">
            <a:r>
              <a:t>https://ame.nd.edu/events/from-state-estimation-to-affordance-learning-and-robot-imagination/</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PRIMP represents both end-effector position and orientation in six-dimensional workspace and guides optimization-based motion planning. RAIL generates and evaluates simulated interactions to infer object functionality and functional poses. These examples show how task reasoning, geometry and motion planning connect. Neither establishes an unconditional navigation or safety guarantee.</a:t>
            </a:r>
          </a:p>
          <a:p xmlns:a="http://schemas.openxmlformats.org/drawingml/2006/main">
            <a:r>
              <a:t/>
            </a:r>
          </a:p>
          <a:p xmlns:a="http://schemas.openxmlformats.org/drawingml/2006/main">
            <a:r>
              <a:t>[Sources]</a:t>
            </a:r>
          </a:p>
          <a:p xmlns:a="http://schemas.openxmlformats.org/drawingml/2006/main">
            <a:r>
              <a:t>https://arxiv.org/abs/2305.15761</a:t>
            </a:r>
          </a:p>
          <a:p xmlns:a="http://schemas.openxmlformats.org/drawingml/2006/main">
            <a:r>
              <a:t>https://arxiv.org/abs/2403.19369</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 tests seven fixed orientations, each with sampled translation poses through the door. It illustrates evaluating candidate actions, but omits physical contact, object affordance inference, learned motion distributions and language models. A collision-free center line alone is insufficient. Ask why a rectangle with its short side across the doorway fits while the rotated version collides.</a:t>
            </a:r>
          </a:p>
          <a:p xmlns:a="http://schemas.openxmlformats.org/drawingml/2006/main">
            <a:r>
              <a:t>Visualization key: Green / red labels: candidate fits / collides · Green rectangle: clear pose</a:t>
            </a:r>
          </a:p>
          <a:p xmlns:a="http://schemas.openxmlformats.org/drawingml/2006/main">
            <a:r>
              <a:t/>
            </a:r>
          </a:p>
          <a:p xmlns:a="http://schemas.openxmlformats.org/drawingml/2006/main">
            <a:r>
              <a:t>[Sources]</a:t>
            </a:r>
          </a:p>
          <a:p xmlns:a="http://schemas.openxmlformats.org/drawingml/2006/main">
            <a:r>
              <a:t>https://lavalle.pl/planning/ch4.pdf</a:t>
            </a:r>
          </a:p>
          <a:p xmlns:a="http://schemas.openxmlformats.org/drawingml/2006/main">
            <a:r>
              <a:t>https://ame.nd.edu/events/from-state-estimation-to-affordance-learning-and-robot-imagination/</a:t>
            </a:r>
          </a:p>
          <a:p xmlns:a="http://schemas.openxmlformats.org/drawingml/2006/main">
            <a:r>
              <a:t>https://arxiv.org/abs/2305.15761</a:t>
            </a:r>
          </a:p>
          <a:p xmlns:a="http://schemas.openxmlformats.org/drawingml/2006/main">
            <a:r>
              <a:t/>
            </a:r>
          </a:p>
          <a:p xmlns:a="http://schemas.openxmlformats.org/drawingml/2006/main">
            <a:r>
              <a:t>[Visuals]</a:t>
            </a:r>
          </a:p>
          <a:p xmlns:a="http://schemas.openxmlformats.org/drawingml/2006/main">
            <a:r>
              <a:t>Actual screenshots or animations computed by the companion synthetic Path Planning demo. Synthetic scenes and expansion counts are teaching evidence, not performance benchmarks.</a:t>
            </a:r>
          </a:p>
          <a:p xmlns:a="http://schemas.openxmlformats.org/drawingml/2006/main">
            <a:r>
              <a:t/>
            </a:r>
          </a:p>
          <a:p xmlns:a="http://schemas.openxmlformats.org/drawingml/2006/main">
            <a:r>
              <a:t>[Companion demo]</a:t>
            </a:r>
          </a:p>
          <a:p xmlns:a="http://schemas.openxmlformats.org/drawingml/2006/main">
            <a:r>
              <a:t>Open ../Labs/PathPlanning/index.html#imagination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state the model before the name of an algorithm. A known grid can support A*. Localized cost updates can justify D* Lite. Higher-dimensional configuration spaces can favor sampling. A car requires allowed steering motions. Dynamic obstacles require temporal prediction and feedback in addition to whichever global method is selected.</a:t>
            </a:r>
          </a:p>
          <a:p xmlns:a="http://schemas.openxmlformats.org/drawingml/2006/main">
            <a:r>
              <a:t/>
            </a:r>
          </a:p>
          <a:p xmlns:a="http://schemas.openxmlformats.org/drawingml/2006/main">
            <a:r>
              <a:t>[Sources]</a:t>
            </a:r>
          </a:p>
          <a:p xmlns:a="http://schemas.openxmlformats.org/drawingml/2006/main">
            <a:r>
              <a:t>https://lavalle.pl/planning/ch2.pdf</a:t>
            </a:r>
          </a:p>
          <a:p xmlns:a="http://schemas.openxmlformats.org/drawingml/2006/main">
            <a:r>
              <a:t>https://idm-lab.org/bib/abstracts/papers/aaai02b.pdf</a:t>
            </a:r>
          </a:p>
          <a:p xmlns:a="http://schemas.openxmlformats.org/drawingml/2006/main">
            <a:r>
              <a:t>https://lavalle.pl/planning/ch5.pdf</a:t>
            </a:r>
          </a:p>
          <a:p xmlns:a="http://schemas.openxmlformats.org/drawingml/2006/main">
            <a:r>
              <a:t>https://lavalle.pl/planning/ch13.pdf</a:t>
            </a:r>
          </a:p>
          <a:p xmlns:a="http://schemas.openxmlformats.org/drawingml/2006/main">
            <a:r>
              <a:t>https://docs.nav2.org/jazzy/getting_started/navigation_concepts/navigation_servers/</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routes use uniform Euclidean distance cost and a radius-0.2 circular footprint on the same cell-center map. The demo uses a Euclidean lower bound for both searches; octile distance on slide 11 is another valid grid heuristic. The thick dashed gray route is the eight-neighbor A* reference, visible beside the thinner blue Theta* route where they overlap. Cyan marks expanded states. Basic Theta* does not guarantee the globally shortest continuous route. The reference is computed before playback; the selected route appears when its search completes. Show dashed gray A* reference controls visibility.</a:t>
            </a:r>
          </a:p>
          <a:p xmlns:a="http://schemas.openxmlformats.org/drawingml/2006/main">
            <a:r>
              <a:t>Visualization key: Dashed gray: eight-neighbor A* reference · Blue: Theta* route; Cyan: expanded cells · Dark navy: obstacles</a:t>
            </a:r>
          </a:p>
          <a:p xmlns:a="http://schemas.openxmlformats.org/drawingml/2006/main">
            <a:r>
              <a:t/>
            </a:r>
          </a:p>
          <a:p xmlns:a="http://schemas.openxmlformats.org/drawingml/2006/main">
            <a:r>
              <a:t>[Sources]</a:t>
            </a:r>
          </a:p>
          <a:p xmlns:a="http://schemas.openxmlformats.org/drawingml/2006/main">
            <a:r>
              <a:t>https://arxiv.org/abs/1401.3843</a:t>
            </a:r>
          </a:p>
          <a:p xmlns:a="http://schemas.openxmlformats.org/drawingml/2006/main">
            <a:r>
              <a:t/>
            </a:r>
          </a:p>
          <a:p xmlns:a="http://schemas.openxmlformats.org/drawingml/2006/main">
            <a:r>
              <a:t>[Visuals]</a:t>
            </a:r>
          </a:p>
          <a:p xmlns:a="http://schemas.openxmlformats.org/drawingml/2006/main">
            <a:r>
              <a:t>Actual screenshots or animations computed by the companion synthetic Path Planning demo. Synthetic scenes and expansion counts are teaching evidence, not performance benchmarks.</a:t>
            </a:r>
          </a:p>
          <a:p xmlns:a="http://schemas.openxmlformats.org/drawingml/2006/main">
            <a:r>
              <a:t/>
            </a:r>
          </a:p>
          <a:p xmlns:a="http://schemas.openxmlformats.org/drawingml/2006/main">
            <a:r>
              <a:t>[Companion demo]</a:t>
            </a:r>
          </a:p>
          <a:p xmlns:a="http://schemas.openxmlformats.org/drawingml/2006/main">
            <a:r>
              <a:t>Open ../Labs/PathPlanning/index.html#anyangle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teaching controller uses clipped, correlated Gaussian perturbations, exponential cost weights, a shifted warm start and discrete unicycle rollouts. A weighted proposal is checked again; if invalid, a valid sampled sequence or stop candidate is considered. If no candidate passes, the display reports no valid sequence. It omits formal importance-sampling corrections, acceleration limits and production Nav2 behavior. Candidate curves start at the last decision pose, while the green robot and solid red obstacle are at the current execution time. The red outline shows the obstacle at planning time. Cyan and pale red are predictions, not executed trajectories. Compare the same scene with constant-velocity sampling on slide 34.</a:t>
            </a:r>
          </a:p>
          <a:p xmlns:a="http://schemas.openxmlformats.org/drawingml/2006/main">
            <a:r>
              <a:t>Visualization key: Cyan / pale red: accepted / rejected predictions · Orange: chosen prediction; Blue: global route · Green: executed motion · Solid red: obstacle now A thin red outline marks the obstacle at planning time. A cyan rollout passed the configured discrete checks; it is not a safety certificate.</a:t>
            </a:r>
          </a:p>
          <a:p xmlns:a="http://schemas.openxmlformats.org/drawingml/2006/main">
            <a:r>
              <a:t/>
            </a:r>
          </a:p>
          <a:p xmlns:a="http://schemas.openxmlformats.org/drawingml/2006/main">
            <a:r>
              <a:t>[Sources]</a:t>
            </a:r>
          </a:p>
          <a:p xmlns:a="http://schemas.openxmlformats.org/drawingml/2006/main">
            <a:r>
              <a:t>https://arxiv.org/abs/1509.01149</a:t>
            </a:r>
          </a:p>
          <a:p xmlns:a="http://schemas.openxmlformats.org/drawingml/2006/main">
            <a:r>
              <a:t>https://docs.nav2.org/rolling/configuration_and_development/configuration_guide/controller_plugins/mppi_controller/configuring_mppic/</a:t>
            </a:r>
          </a:p>
          <a:p xmlns:a="http://schemas.openxmlformats.org/drawingml/2006/main">
            <a:r>
              <a:t/>
            </a:r>
          </a:p>
          <a:p xmlns:a="http://schemas.openxmlformats.org/drawingml/2006/main">
            <a:r>
              <a:t>[Visuals]</a:t>
            </a:r>
          </a:p>
          <a:p xmlns:a="http://schemas.openxmlformats.org/drawingml/2006/main">
            <a:r>
              <a:t>Actual screenshots or animations computed by the companion synthetic Path Planning demo. Synthetic scenes and expansion counts are teaching evidence, not performance benchmarks.</a:t>
            </a:r>
          </a:p>
          <a:p xmlns:a="http://schemas.openxmlformats.org/drawingml/2006/main">
            <a:r>
              <a:t/>
            </a:r>
          </a:p>
          <a:p xmlns:a="http://schemas.openxmlformats.org/drawingml/2006/main">
            <a:r>
              <a:t>[Companion demo]</a:t>
            </a:r>
          </a:p>
          <a:p xmlns:a="http://schemas.openxmlformats.org/drawingml/2006/main">
            <a:r>
              <a:t>Open ../Labs/PathPlanning/index.html#mppi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offline package or open the companion HTML page. Students should submit a brief table of settings, observations and explanations, with one screenshot for a failure case. They should distinguish modeled infeasibility from missing representation, poor tuning and execution-model error. The README contains exact starting settings and interpretation questions.</a:t>
            </a:r>
          </a:p>
          <a:p xmlns:a="http://schemas.openxmlformats.org/drawingml/2006/main">
            <a:r>
              <a:t/>
            </a:r>
          </a:p>
          <a:p xmlns:a="http://schemas.openxmlformats.org/drawingml/2006/main">
            <a:r>
              <a:t>[Sources]</a:t>
            </a:r>
          </a:p>
          <a:p xmlns:a="http://schemas.openxmlformats.org/drawingml/2006/main">
            <a:r>
              <a:t>https://lavalle.pl/planning/ch2.pdf</a:t>
            </a:r>
          </a:p>
          <a:p xmlns:a="http://schemas.openxmlformats.org/drawingml/2006/main">
            <a:r>
              <a:t>https://idm-lab.org/bib/abstracts/papers/aaai02b.pdf</a:t>
            </a:r>
          </a:p>
          <a:p xmlns:a="http://schemas.openxmlformats.org/drawingml/2006/main">
            <a:r>
              <a:t>https://lavalle.pl/planning/ch4.pdf</a:t>
            </a:r>
          </a:p>
          <a:p xmlns:a="http://schemas.openxmlformats.org/drawingml/2006/main">
            <a:r>
              <a:t>https://docs.nav2.org/jazzy/getting_started/navigation_concepts/navigation_servers/</a:t>
            </a:r>
          </a:p>
          <a:p xmlns:a="http://schemas.openxmlformats.org/drawingml/2006/main">
            <a:r>
              <a:t/>
            </a:r>
          </a:p>
          <a:p xmlns:a="http://schemas.openxmlformats.org/drawingml/2006/main">
            <a:r>
              <a:t>[Visuals]</a:t>
            </a:r>
          </a:p>
          <a:p xmlns:a="http://schemas.openxmlformats.org/drawingml/2006/main">
            <a:r>
              <a:t>Editable course text, equations, or comparison table.</a:t>
            </a:r>
          </a:p>
          <a:p xmlns:a="http://schemas.openxmlformats.org/drawingml/2006/main">
            <a:r>
              <a:t/>
            </a:r>
          </a:p>
          <a:p xmlns:a="http://schemas.openxmlformats.org/drawingml/2006/main">
            <a:r>
              <a:t>[Companion demo]</a:t>
            </a:r>
          </a:p>
          <a:p xmlns:a="http://schemas.openxmlformats.org/drawingml/2006/main">
            <a:r>
              <a:t>Open ../Labs/PathPlanning/index.html#search relative to this presentation. Extract the offline package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answers: graph optimality is relative to representation and cost; large changes can invalidate extensive prior search; local geometry, prediction and horizon can differ from the global model; and simulated geometry, contact, dynamics and uncertainty must correspond to the real situation. Use these questions to assess reasoning rather than memorized names.</a:t>
            </a:r>
          </a:p>
          <a:p xmlns:a="http://schemas.openxmlformats.org/drawingml/2006/main">
            <a:r>
              <a:t/>
            </a:r>
          </a:p>
          <a:p xmlns:a="http://schemas.openxmlformats.org/drawingml/2006/main">
            <a:r>
              <a:t>[Sources]</a:t>
            </a:r>
          </a:p>
          <a:p xmlns:a="http://schemas.openxmlformats.org/drawingml/2006/main">
            <a:r>
              <a:t>https://lavalle.pl/planning/ch2.pdf</a:t>
            </a:r>
          </a:p>
          <a:p xmlns:a="http://schemas.openxmlformats.org/drawingml/2006/main">
            <a:r>
              <a:t>https://idm-lab.org/bib/abstracts/papers/aaai02b.pdf</a:t>
            </a:r>
          </a:p>
          <a:p xmlns:a="http://schemas.openxmlformats.org/drawingml/2006/main">
            <a:r>
              <a:t>https://docs.nav2.org/jazzy/getting_started/navigation_concepts/navigation_servers/</a:t>
            </a:r>
          </a:p>
          <a:p xmlns:a="http://schemas.openxmlformats.org/drawingml/2006/main">
            <a:r>
              <a:t>https://ame.nd.edu/events/from-state-estimation-to-affordance-learning-and-robot-imagination/</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on this slide and in the speaker notes link to primary research and official documentation. Course screenshots are actual synthetic-demo computations. The demo is self-contained and requires no ROS installation. The slides remain editable, with sources and teaching explanations in their notes.</a:t>
            </a:r>
          </a:p>
          <a:p xmlns:a="http://schemas.openxmlformats.org/drawingml/2006/main">
            <a:r>
              <a:t/>
            </a:r>
          </a:p>
          <a:p xmlns:a="http://schemas.openxmlformats.org/drawingml/2006/main">
            <a:r>
              <a:t>[Sources]</a:t>
            </a:r>
          </a:p>
          <a:p xmlns:a="http://schemas.openxmlformats.org/drawingml/2006/main">
            <a:r>
              <a:t>https://lavalle.pl/planning/ch2.pdf</a:t>
            </a:r>
          </a:p>
          <a:p xmlns:a="http://schemas.openxmlformats.org/drawingml/2006/main">
            <a:r>
              <a:t>https://lavalle.pl/planning/ch4.pdf</a:t>
            </a:r>
          </a:p>
          <a:p xmlns:a="http://schemas.openxmlformats.org/drawingml/2006/main">
            <a:r>
              <a:t>https://lavalle.pl/planning/ch5.pdf</a:t>
            </a:r>
          </a:p>
          <a:p xmlns:a="http://schemas.openxmlformats.org/drawingml/2006/main">
            <a:r>
              <a:t>https://lavalle.pl/planning/ch8.pdf</a:t>
            </a:r>
          </a:p>
          <a:p xmlns:a="http://schemas.openxmlformats.org/drawingml/2006/main">
            <a:r>
              <a:t>https://publications.ri.cmu.edu/the-d-algorithm-for-real-time-planning-of-optimal-traverses</a:t>
            </a:r>
          </a:p>
          <a:p xmlns:a="http://schemas.openxmlformats.org/drawingml/2006/main">
            <a:r>
              <a:t>https://idm-lab.org/bib/abstracts/papers/aaai02b.pdf</a:t>
            </a:r>
          </a:p>
          <a:p xmlns:a="http://schemas.openxmlformats.org/drawingml/2006/main">
            <a:r>
              <a:t>https://docs.nav2.org/jazzy/getting_started/navigation_concepts/navigation_servers/</a:t>
            </a:r>
          </a:p>
          <a:p xmlns:a="http://schemas.openxmlformats.org/drawingml/2006/main">
            <a:r>
              <a:t>https://arxiv.org/abs/2305.15761</a:t>
            </a:r>
          </a:p>
          <a:p xmlns:a="http://schemas.openxmlformats.org/drawingml/2006/main">
            <a:r>
              <a:t>https://arxiv.org/abs/2403.19369</a:t>
            </a:r>
          </a:p>
          <a:p xmlns:a="http://schemas.openxmlformats.org/drawingml/2006/main">
            <a:r>
              <a:t/>
            </a:r>
          </a:p>
          <a:p xmlns:a="http://schemas.openxmlformats.org/drawingml/2006/main">
            <a:r>
              <a:t>[Visuals]</a:t>
            </a:r>
          </a:p>
          <a:p xmlns:a="http://schemas.openxmlformats.org/drawingml/2006/main">
            <a:r>
              <a:t>Editable course text, equations, or comparison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576db0e7c54e3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e7778a91124dc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52e95680de9409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1c37a57d774d4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07610a15db4c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3485f8e709c40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ED1B13-B47D-4EE1-B00D-40B383549CAE}"/>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gn="ctr">
              <a:lnSpc>
                <a:spcPct val="110000"/>
              </a:lnSpc>
              <a:spcBef>
                <a:spcPts val="0"/>
              </a:spcBef>
              <a:spcAft>
                <a:spcPts val="0"/>
              </a:spcAft>
              <a:buNone/>
              <a:defRPr sz="3600" b="1">
                <a:solidFill>
                  <a:schemeClr val="tx1"/>
                </a:solidFill>
                <a:latin typeface="+mj-lt"/>
                <a:ea typeface="+mj-lt"/>
                <a:cs typeface="+mj-lt"/>
              </a:defRPr>
            </a:lvl1pPr>
            <a:lvl2pPr marL="0" indent="0" algn="ctr">
              <a:lnSpc>
                <a:spcPct val="110000"/>
              </a:lnSpc>
              <a:spcBef>
                <a:spcPts val="0"/>
              </a:spcBef>
              <a:spcAft>
                <a:spcPts val="0"/>
              </a:spcAft>
              <a:buNone/>
              <a:defRPr sz="3600" b="1">
                <a:solidFill>
                  <a:schemeClr val="tx1"/>
                </a:solidFill>
                <a:latin typeface="+mj-lt"/>
                <a:ea typeface="+mj-lt"/>
                <a:cs typeface="+mj-lt"/>
              </a:defRPr>
            </a:lvl2pPr>
            <a:lvl3pPr marL="0" indent="0" algn="ctr">
              <a:lnSpc>
                <a:spcPct val="110000"/>
              </a:lnSpc>
              <a:spcBef>
                <a:spcPts val="0"/>
              </a:spcBef>
              <a:spcAft>
                <a:spcPts val="0"/>
              </a:spcAft>
              <a:buNone/>
              <a:defRPr sz="3600" b="1">
                <a:solidFill>
                  <a:schemeClr val="tx1"/>
                </a:solidFill>
                <a:latin typeface="+mj-lt"/>
                <a:ea typeface="+mj-lt"/>
                <a:cs typeface="+mj-lt"/>
              </a:defRPr>
            </a:lvl3pPr>
            <a:lvl4pPr marL="0" indent="0" algn="ctr">
              <a:lnSpc>
                <a:spcPct val="110000"/>
              </a:lnSpc>
              <a:spcBef>
                <a:spcPts val="0"/>
              </a:spcBef>
              <a:spcAft>
                <a:spcPts val="0"/>
              </a:spcAft>
              <a:buNone/>
              <a:defRPr sz="3600" b="1">
                <a:solidFill>
                  <a:schemeClr val="tx1"/>
                </a:solidFill>
                <a:latin typeface="+mj-lt"/>
                <a:ea typeface="+mj-lt"/>
                <a:cs typeface="+mj-lt"/>
              </a:defRPr>
            </a:lvl4pPr>
            <a:lvl5pPr marL="0" indent="0" algn="ctr">
              <a:lnSpc>
                <a:spcPct val="110000"/>
              </a:lnSpc>
              <a:spcBef>
                <a:spcPts val="0"/>
              </a:spcBef>
              <a:spcAft>
                <a:spcPts val="0"/>
              </a:spcAft>
              <a:buNone/>
              <a:defRPr sz="3600" b="1">
                <a:solidFill>
                  <a:schemeClr val="tx1"/>
                </a:solidFill>
                <a:latin typeface="+mj-lt"/>
                <a:ea typeface="+mj-lt"/>
                <a:cs typeface="+mj-lt"/>
              </a:defRPr>
            </a:lvl5pPr>
            <a:lvl6pPr marL="0" indent="0" algn="ctr">
              <a:lnSpc>
                <a:spcPct val="110000"/>
              </a:lnSpc>
              <a:spcBef>
                <a:spcPts val="0"/>
              </a:spcBef>
              <a:spcAft>
                <a:spcPts val="0"/>
              </a:spcAft>
              <a:buNone/>
              <a:defRPr sz="3600" b="1">
                <a:solidFill>
                  <a:schemeClr val="tx1"/>
                </a:solidFill>
                <a:latin typeface="+mj-lt"/>
                <a:ea typeface="+mj-lt"/>
                <a:cs typeface="+mj-lt"/>
              </a:defRPr>
            </a:lvl6pPr>
            <a:lvl7pPr marL="0" indent="0" algn="ctr">
              <a:lnSpc>
                <a:spcPct val="110000"/>
              </a:lnSpc>
              <a:spcBef>
                <a:spcPts val="0"/>
              </a:spcBef>
              <a:spcAft>
                <a:spcPts val="0"/>
              </a:spcAft>
              <a:buNone/>
              <a:defRPr sz="3600" b="1">
                <a:solidFill>
                  <a:schemeClr val="tx1"/>
                </a:solidFill>
                <a:latin typeface="+mj-lt"/>
                <a:ea typeface="+mj-lt"/>
                <a:cs typeface="+mj-lt"/>
              </a:defRPr>
            </a:lvl7pPr>
            <a:lvl8pPr marL="0" indent="0" algn="ctr">
              <a:lnSpc>
                <a:spcPct val="110000"/>
              </a:lnSpc>
              <a:spcBef>
                <a:spcPts val="0"/>
              </a:spcBef>
              <a:spcAft>
                <a:spcPts val="0"/>
              </a:spcAft>
              <a:buNone/>
              <a:defRPr sz="3600" b="1">
                <a:solidFill>
                  <a:schemeClr val="tx1"/>
                </a:solidFill>
                <a:latin typeface="+mj-lt"/>
                <a:ea typeface="+mj-lt"/>
                <a:cs typeface="+mj-lt"/>
              </a:defRPr>
            </a:lvl8pPr>
            <a:lvl9pPr marL="0" indent="0" algn="ctr">
              <a:lnSpc>
                <a:spcPct val="110000"/>
              </a:lnSpc>
              <a:spcBef>
                <a:spcPts val="0"/>
              </a:spcBef>
              <a:spcAft>
                <a:spcPts val="0"/>
              </a:spcAft>
              <a:buNone/>
              <a:defRPr sz="36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31015F0-4D4B-482E-B183-B600A34482D7}"/>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gn="ctr">
              <a:lnSpc>
                <a:spcPct val="110000"/>
              </a:lnSpc>
              <a:spcBef>
                <a:spcPts val="0"/>
              </a:spcBef>
              <a:spcAft>
                <a:spcPts val="0"/>
              </a:spcAft>
              <a:buNone/>
              <a:defRPr sz="1575" b="0">
                <a:solidFill>
                  <a:schemeClr val="tx1"/>
                </a:solidFill>
                <a:latin typeface="+mn-lt"/>
                <a:ea typeface="+mn-lt"/>
                <a:cs typeface="+mn-lt"/>
              </a:defRPr>
            </a:lvl1pPr>
            <a:lvl2pPr marL="0" indent="0" algn="ctr">
              <a:lnSpc>
                <a:spcPct val="110000"/>
              </a:lnSpc>
              <a:spcBef>
                <a:spcPts val="0"/>
              </a:spcBef>
              <a:spcAft>
                <a:spcPts val="0"/>
              </a:spcAft>
              <a:buNone/>
              <a:defRPr sz="1575" b="0">
                <a:solidFill>
                  <a:schemeClr val="tx1"/>
                </a:solidFill>
                <a:latin typeface="+mn-lt"/>
                <a:ea typeface="+mn-lt"/>
                <a:cs typeface="+mn-lt"/>
              </a:defRPr>
            </a:lvl2pPr>
            <a:lvl3pPr marL="0" indent="0" algn="ctr">
              <a:lnSpc>
                <a:spcPct val="110000"/>
              </a:lnSpc>
              <a:spcBef>
                <a:spcPts val="0"/>
              </a:spcBef>
              <a:spcAft>
                <a:spcPts val="0"/>
              </a:spcAft>
              <a:buNone/>
              <a:defRPr sz="1575" b="0">
                <a:solidFill>
                  <a:schemeClr val="tx1"/>
                </a:solidFill>
                <a:latin typeface="+mn-lt"/>
                <a:ea typeface="+mn-lt"/>
                <a:cs typeface="+mn-lt"/>
              </a:defRPr>
            </a:lvl3pPr>
            <a:lvl4pPr marL="0" indent="0" algn="ctr">
              <a:lnSpc>
                <a:spcPct val="110000"/>
              </a:lnSpc>
              <a:spcBef>
                <a:spcPts val="0"/>
              </a:spcBef>
              <a:spcAft>
                <a:spcPts val="0"/>
              </a:spcAft>
              <a:buNone/>
              <a:defRPr sz="1575" b="0">
                <a:solidFill>
                  <a:schemeClr val="tx1"/>
                </a:solidFill>
                <a:latin typeface="+mn-lt"/>
                <a:ea typeface="+mn-lt"/>
                <a:cs typeface="+mn-lt"/>
              </a:defRPr>
            </a:lvl4pPr>
            <a:lvl5pPr marL="0" indent="0" algn="ctr">
              <a:lnSpc>
                <a:spcPct val="110000"/>
              </a:lnSpc>
              <a:spcBef>
                <a:spcPts val="0"/>
              </a:spcBef>
              <a:spcAft>
                <a:spcPts val="0"/>
              </a:spcAft>
              <a:buNone/>
              <a:defRPr sz="1575" b="0">
                <a:solidFill>
                  <a:schemeClr val="tx1"/>
                </a:solidFill>
                <a:latin typeface="+mn-lt"/>
                <a:ea typeface="+mn-lt"/>
                <a:cs typeface="+mn-lt"/>
              </a:defRPr>
            </a:lvl5pPr>
            <a:lvl6pPr marL="0" indent="0" algn="ctr">
              <a:lnSpc>
                <a:spcPct val="110000"/>
              </a:lnSpc>
              <a:spcBef>
                <a:spcPts val="0"/>
              </a:spcBef>
              <a:spcAft>
                <a:spcPts val="0"/>
              </a:spcAft>
              <a:buNone/>
              <a:defRPr sz="1575" b="0">
                <a:solidFill>
                  <a:schemeClr val="tx1"/>
                </a:solidFill>
                <a:latin typeface="+mn-lt"/>
                <a:ea typeface="+mn-lt"/>
                <a:cs typeface="+mn-lt"/>
              </a:defRPr>
            </a:lvl6pPr>
            <a:lvl7pPr marL="0" indent="0" algn="ctr">
              <a:lnSpc>
                <a:spcPct val="110000"/>
              </a:lnSpc>
              <a:spcBef>
                <a:spcPts val="0"/>
              </a:spcBef>
              <a:spcAft>
                <a:spcPts val="0"/>
              </a:spcAft>
              <a:buNone/>
              <a:defRPr sz="1575" b="0">
                <a:solidFill>
                  <a:schemeClr val="tx1"/>
                </a:solidFill>
                <a:latin typeface="+mn-lt"/>
                <a:ea typeface="+mn-lt"/>
                <a:cs typeface="+mn-lt"/>
              </a:defRPr>
            </a:lvl7pPr>
            <a:lvl8pPr marL="0" indent="0" algn="ctr">
              <a:lnSpc>
                <a:spcPct val="110000"/>
              </a:lnSpc>
              <a:spcBef>
                <a:spcPts val="0"/>
              </a:spcBef>
              <a:spcAft>
                <a:spcPts val="0"/>
              </a:spcAft>
              <a:buNone/>
              <a:defRPr sz="1575" b="0">
                <a:solidFill>
                  <a:schemeClr val="tx1"/>
                </a:solidFill>
                <a:latin typeface="+mn-lt"/>
                <a:ea typeface="+mn-lt"/>
                <a:cs typeface="+mn-lt"/>
              </a:defRPr>
            </a:lvl8pPr>
            <a:lvl9pPr marL="0" indent="0" algn="ctr">
              <a:lnSpc>
                <a:spcPct val="110000"/>
              </a:lnSpc>
              <a:spcBef>
                <a:spcPts val="0"/>
              </a:spcBef>
              <a:spcAft>
                <a:spcPts val="0"/>
              </a:spcAft>
              <a:buNone/>
              <a:defRPr sz="157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CF82FAE-E446-477D-80B4-D8E06A7BB726}"/>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gn="ctr">
              <a:lnSpc>
                <a:spcPct val="110000"/>
              </a:lnSpc>
              <a:spcBef>
                <a:spcPts val="0"/>
              </a:spcBef>
              <a:spcAft>
                <a:spcPts val="0"/>
              </a:spcAft>
              <a:buNone/>
              <a:defRPr sz="3150" b="1">
                <a:solidFill>
                  <a:schemeClr val="tx1"/>
                </a:solidFill>
                <a:latin typeface="+mj-lt"/>
                <a:ea typeface="+mj-lt"/>
                <a:cs typeface="+mj-lt"/>
              </a:defRPr>
            </a:lvl1pPr>
            <a:lvl2pPr marL="0" indent="0" algn="ctr">
              <a:lnSpc>
                <a:spcPct val="110000"/>
              </a:lnSpc>
              <a:spcBef>
                <a:spcPts val="0"/>
              </a:spcBef>
              <a:spcAft>
                <a:spcPts val="0"/>
              </a:spcAft>
              <a:buNone/>
              <a:defRPr sz="3150" b="1">
                <a:solidFill>
                  <a:schemeClr val="tx1"/>
                </a:solidFill>
                <a:latin typeface="+mj-lt"/>
                <a:ea typeface="+mj-lt"/>
                <a:cs typeface="+mj-lt"/>
              </a:defRPr>
            </a:lvl2pPr>
            <a:lvl3pPr marL="0" indent="0" algn="ctr">
              <a:lnSpc>
                <a:spcPct val="110000"/>
              </a:lnSpc>
              <a:spcBef>
                <a:spcPts val="0"/>
              </a:spcBef>
              <a:spcAft>
                <a:spcPts val="0"/>
              </a:spcAft>
              <a:buNone/>
              <a:defRPr sz="3150" b="1">
                <a:solidFill>
                  <a:schemeClr val="tx1"/>
                </a:solidFill>
                <a:latin typeface="+mj-lt"/>
                <a:ea typeface="+mj-lt"/>
                <a:cs typeface="+mj-lt"/>
              </a:defRPr>
            </a:lvl3pPr>
            <a:lvl4pPr marL="0" indent="0" algn="ctr">
              <a:lnSpc>
                <a:spcPct val="110000"/>
              </a:lnSpc>
              <a:spcBef>
                <a:spcPts val="0"/>
              </a:spcBef>
              <a:spcAft>
                <a:spcPts val="0"/>
              </a:spcAft>
              <a:buNone/>
              <a:defRPr sz="3150" b="1">
                <a:solidFill>
                  <a:schemeClr val="tx1"/>
                </a:solidFill>
                <a:latin typeface="+mj-lt"/>
                <a:ea typeface="+mj-lt"/>
                <a:cs typeface="+mj-lt"/>
              </a:defRPr>
            </a:lvl4pPr>
            <a:lvl5pPr marL="0" indent="0" algn="ctr">
              <a:lnSpc>
                <a:spcPct val="110000"/>
              </a:lnSpc>
              <a:spcBef>
                <a:spcPts val="0"/>
              </a:spcBef>
              <a:spcAft>
                <a:spcPts val="0"/>
              </a:spcAft>
              <a:buNone/>
              <a:defRPr sz="3150" b="1">
                <a:solidFill>
                  <a:schemeClr val="tx1"/>
                </a:solidFill>
                <a:latin typeface="+mj-lt"/>
                <a:ea typeface="+mj-lt"/>
                <a:cs typeface="+mj-lt"/>
              </a:defRPr>
            </a:lvl5pPr>
            <a:lvl6pPr marL="0" indent="0" algn="ctr">
              <a:lnSpc>
                <a:spcPct val="110000"/>
              </a:lnSpc>
              <a:spcBef>
                <a:spcPts val="0"/>
              </a:spcBef>
              <a:spcAft>
                <a:spcPts val="0"/>
              </a:spcAft>
              <a:buNone/>
              <a:defRPr sz="3150" b="1">
                <a:solidFill>
                  <a:schemeClr val="tx1"/>
                </a:solidFill>
                <a:latin typeface="+mj-lt"/>
                <a:ea typeface="+mj-lt"/>
                <a:cs typeface="+mj-lt"/>
              </a:defRPr>
            </a:lvl6pPr>
            <a:lvl7pPr marL="0" indent="0" algn="ctr">
              <a:lnSpc>
                <a:spcPct val="110000"/>
              </a:lnSpc>
              <a:spcBef>
                <a:spcPts val="0"/>
              </a:spcBef>
              <a:spcAft>
                <a:spcPts val="0"/>
              </a:spcAft>
              <a:buNone/>
              <a:defRPr sz="3150" b="1">
                <a:solidFill>
                  <a:schemeClr val="tx1"/>
                </a:solidFill>
                <a:latin typeface="+mj-lt"/>
                <a:ea typeface="+mj-lt"/>
                <a:cs typeface="+mj-lt"/>
              </a:defRPr>
            </a:lvl7pPr>
            <a:lvl8pPr marL="0" indent="0" algn="ctr">
              <a:lnSpc>
                <a:spcPct val="110000"/>
              </a:lnSpc>
              <a:spcBef>
                <a:spcPts val="0"/>
              </a:spcBef>
              <a:spcAft>
                <a:spcPts val="0"/>
              </a:spcAft>
              <a:buNone/>
              <a:defRPr sz="3150" b="1">
                <a:solidFill>
                  <a:schemeClr val="tx1"/>
                </a:solidFill>
                <a:latin typeface="+mj-lt"/>
                <a:ea typeface="+mj-lt"/>
                <a:cs typeface="+mj-lt"/>
              </a:defRPr>
            </a:lvl8pPr>
            <a:lvl9pPr marL="0" indent="0" algn="ctr">
              <a:lnSpc>
                <a:spcPct val="110000"/>
              </a:lnSpc>
              <a:spcBef>
                <a:spcPts val="0"/>
              </a:spcBef>
              <a:spcAft>
                <a:spcPts val="0"/>
              </a:spcAft>
              <a:buNone/>
              <a:defRPr sz="31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8B8D51-653C-4AEB-ACFE-31AE3B1853C1}"/>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FED45A0-3C4A-472C-87BA-EC7058C3D226}"/>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035EA3E-CDA8-44DF-A871-4774EFF0347D}"/>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505A23-4EC7-42C4-930D-6BFE6929B1A8}"/>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BC795B3-0D7D-47AB-97DD-16FB0A1E112A}"/>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D49B0B-C5DF-4588-B8F1-07F7E1C1E31F}"/>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49A5B8-9398-43B6-B939-22AB00FA0AF7}"/>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f1e752f5814170" /><Relationship Type="http://schemas.openxmlformats.org/officeDocument/2006/relationships/slideLayout" Target="/ppt/slideLayouts/slideLayout1.xml" Id="R279ea54c0cb54a15" /><Relationship Type="http://schemas.openxmlformats.org/officeDocument/2006/relationships/slideLayout" Target="/ppt/slideLayouts/slideLayout2.xml" Id="R680c1d9398f34f47" /><Relationship Type="http://schemas.openxmlformats.org/officeDocument/2006/relationships/slideLayout" Target="/ppt/slideLayouts/slideLayout3.xml" Id="R46c7a49906d64644" /><Relationship Type="http://schemas.openxmlformats.org/officeDocument/2006/relationships/slideLayout" Target="/ppt/slideLayouts/slideLayout4.xml" Id="R8584c341b07845a3" /><Relationship Type="http://schemas.openxmlformats.org/officeDocument/2006/relationships/slideLayout" Target="/ppt/slideLayouts/slideLayout5.xml" Id="Rd8cb9bca292c485f" /><Relationship Type="http://schemas.openxmlformats.org/officeDocument/2006/relationships/slideLayout" Target="/ppt/slideLayouts/slideLayout6.xml" Id="R900f1937391f43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9ea54c0cb54a15"/>
    <p:sldLayoutId xmlns:r="http://schemas.openxmlformats.org/officeDocument/2006/relationships" id="2147483650" r:id="R680c1d9398f34f47"/>
    <p:sldLayoutId xmlns:r="http://schemas.openxmlformats.org/officeDocument/2006/relationships" id="2147483651" r:id="R46c7a49906d64644"/>
    <p:sldLayoutId xmlns:r="http://schemas.openxmlformats.org/officeDocument/2006/relationships" id="2147483652" r:id="R8584c341b07845a3"/>
    <p:sldLayoutId xmlns:r="http://schemas.openxmlformats.org/officeDocument/2006/relationships" id="2147483653" r:id="Rd8cb9bca292c485f"/>
    <p:sldLayoutId xmlns:r="http://schemas.openxmlformats.org/officeDocument/2006/relationships" id="2147483654" r:id="R900f1937391f43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989239d616b4bd8" /><Relationship Type="http://schemas.openxmlformats.org/officeDocument/2006/relationships/image" Target="/ppt/media/image.jpeg" Id="R4c9e7da4846f43b9" /><Relationship Type="http://schemas.openxmlformats.org/officeDocument/2006/relationships/notesSlide" Target="/ppt/notesSlides/notesSlide1.xml" Id="R39972cdcf19a40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0bc073436d74b30" /><Relationship Type="http://schemas.openxmlformats.org/officeDocument/2006/relationships/image" Target="/ppt/media/image.png" Id="R05da94ec41404fd7" /><Relationship Type="http://schemas.openxmlformats.org/officeDocument/2006/relationships/notesSlide" Target="/ppt/notesSlides/notesSlide2.xml" Id="R8d9c7a616deb43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f4fe2823cb44fb8" /><Relationship Type="http://schemas.openxmlformats.org/officeDocument/2006/relationships/image" Target="/ppt/media/image2.png" Id="R85c879af1a0541c2" /><Relationship Type="http://schemas.openxmlformats.org/officeDocument/2006/relationships/notesSlide" Target="/ppt/notesSlides/notesSlide3.xml" Id="Rcccfc340832c40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caee2040bbd4b61" /><Relationship Type="http://schemas.openxmlformats.org/officeDocument/2006/relationships/image" Target="/ppt/media/image3.png" Id="R5e44581d924c4e42" /><Relationship Type="http://schemas.openxmlformats.org/officeDocument/2006/relationships/notesSlide" Target="/ppt/notesSlides/notesSlide4.xml" Id="R9d2a1298c1fc4e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62ea2a1e03a4e67" /><Relationship Type="http://schemas.openxmlformats.org/officeDocument/2006/relationships/image" Target="/ppt/media/image4.png" Id="R911b123150264eb0" /><Relationship Type="http://schemas.openxmlformats.org/officeDocument/2006/relationships/notesSlide" Target="/ppt/notesSlides/notesSlide5.xml" Id="R7532652a2c9a46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d81284102ef48c5" /><Relationship Type="http://schemas.openxmlformats.org/officeDocument/2006/relationships/image" Target="/ppt/media/image5.png" Id="R02becbc409c746ea" /><Relationship Type="http://schemas.openxmlformats.org/officeDocument/2006/relationships/image" Target="/ppt/media/image6.png" Id="R09af901dcaca4814" /><Relationship Type="http://schemas.openxmlformats.org/officeDocument/2006/relationships/hyperlink" Target="../Labs/PathPlanning/index.html#search" TargetMode="External" Id="R28ded8ee9c4e43ed" /><Relationship Type="http://schemas.openxmlformats.org/officeDocument/2006/relationships/notesSlide" Target="/ppt/notesSlides/notesSlide6.xml" Id="R3bff5874f92541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5bd56d452924fcf" /><Relationship Type="http://schemas.openxmlformats.org/officeDocument/2006/relationships/image" Target="/ppt/media/image7.png" Id="Ra138c6a2bc334a6f" /><Relationship Type="http://schemas.openxmlformats.org/officeDocument/2006/relationships/hyperlink" Target="../Labs/PathPlanning/index.html#dijkstra" TargetMode="External" Id="R92e68d0a51ad4b1b" /><Relationship Type="http://schemas.openxmlformats.org/officeDocument/2006/relationships/notesSlide" Target="/ppt/notesSlides/notesSlide7.xml" Id="Rb272adbada0943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04f57a276464c86" /><Relationship Type="http://schemas.openxmlformats.org/officeDocument/2006/relationships/image" Target="/ppt/media/image8.png" Id="R4bbeb210389e45ef" /><Relationship Type="http://schemas.openxmlformats.org/officeDocument/2006/relationships/image" Target="/ppt/media/image9.png" Id="Raa0e1277c3584311" /><Relationship Type="http://schemas.openxmlformats.org/officeDocument/2006/relationships/image" Target="/ppt/media/image10.png" Id="R5dab3c77a3954910" /><Relationship Type="http://schemas.openxmlformats.org/officeDocument/2006/relationships/hyperlink" Target="../Labs/PathPlanning/index.html#terrain" TargetMode="External" Id="R80a84e209fb248ef" /><Relationship Type="http://schemas.openxmlformats.org/officeDocument/2006/relationships/notesSlide" Target="/ppt/notesSlides/notesSlide8.xml" Id="R4ddaee07fe1342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63b54dc3470410b" /><Relationship Type="http://schemas.openxmlformats.org/officeDocument/2006/relationships/image" Target="/ppt/media/image11.png" Id="Rd5a3cf86125f4882" /><Relationship Type="http://schemas.openxmlformats.org/officeDocument/2006/relationships/image" Target="/ppt/media/image.gif" Id="R68171fb72aed4c53" /><Relationship Type="http://schemas.openxmlformats.org/officeDocument/2006/relationships/hyperlink" Target="../Labs/PathPlanning/index.html#astar" TargetMode="External" Id="R01a7bb1000504ed7" /><Relationship Type="http://schemas.openxmlformats.org/officeDocument/2006/relationships/notesSlide" Target="/ppt/notesSlides/notesSlide9.xml" Id="Rd257c20a052041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d6ec5d49483433c" /><Relationship Type="http://schemas.openxmlformats.org/officeDocument/2006/relationships/image" Target="/ppt/media/image12.png" Id="R67c11ba0603e4493" /><Relationship Type="http://schemas.openxmlformats.org/officeDocument/2006/relationships/notesSlide" Target="/ppt/notesSlides/notesSlide10.xml" Id="R0c35ba092db042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51686eba3414b23" /><Relationship Type="http://schemas.openxmlformats.org/officeDocument/2006/relationships/image" Target="/ppt/media/image13.png" Id="R70b51e9e30774a98" /><Relationship Type="http://schemas.openxmlformats.org/officeDocument/2006/relationships/notesSlide" Target="/ppt/notesSlides/notesSlide11.xml" Id="Rdeadc10edf08415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47ef3a78c2a4692" /><Relationship Type="http://schemas.openxmlformats.org/officeDocument/2006/relationships/image" Target="/ppt/media/image14.png" Id="Rba0d6ee7e34d4d9b" /><Relationship Type="http://schemas.openxmlformats.org/officeDocument/2006/relationships/notesSlide" Target="/ppt/notesSlides/notesSlide12.xml" Id="R74413a4184224f1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e78433caafd459a" /><Relationship Type="http://schemas.openxmlformats.org/officeDocument/2006/relationships/image" Target="/ppt/media/image15.png" Id="R3a35d35433184920" /><Relationship Type="http://schemas.openxmlformats.org/officeDocument/2006/relationships/image" Target="/ppt/media/image16.png" Id="Rfb56141075294cbc" /><Relationship Type="http://schemas.openxmlformats.org/officeDocument/2006/relationships/image" Target="/ppt/media/image17.png" Id="R69c9d44caaf744ab" /><Relationship Type="http://schemas.openxmlformats.org/officeDocument/2006/relationships/hyperlink" Target="../Labs/PathPlanning/index.html#dijkstra" TargetMode="External" Id="R8b64bb083c4541d6" /><Relationship Type="http://schemas.openxmlformats.org/officeDocument/2006/relationships/notesSlide" Target="/ppt/notesSlides/notesSlide13.xml" Id="R072b8aa7e484468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2d373e4f60d4e96" /><Relationship Type="http://schemas.openxmlformats.org/officeDocument/2006/relationships/image" Target="/ppt/media/image18.png" Id="Rae92a3a4ca744f38" /><Relationship Type="http://schemas.openxmlformats.org/officeDocument/2006/relationships/image" Target="/ppt/media/image19.png" Id="R2c3be130b5fa4930" /><Relationship Type="http://schemas.openxmlformats.org/officeDocument/2006/relationships/hyperlink" Target="../Labs/PathPlanning/index.html#weighted" TargetMode="External" Id="R4699dc1b889a4594" /><Relationship Type="http://schemas.openxmlformats.org/officeDocument/2006/relationships/notesSlide" Target="/ppt/notesSlides/notesSlide14.xml" Id="R430dd05876c0409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e2c71dd5f06456f" /><Relationship Type="http://schemas.openxmlformats.org/officeDocument/2006/relationships/image" Target="/ppt/media/image20.png" Id="Rdfa81f647b9c4393" /><Relationship Type="http://schemas.openxmlformats.org/officeDocument/2006/relationships/image" Target="/ppt/media/image21.png" Id="Ra70487ce38844a2e" /><Relationship Type="http://schemas.openxmlformats.org/officeDocument/2006/relationships/hyperlink" Target="../Labs/PathPlanning/index.html#replan" TargetMode="External" Id="R42bb028abd0d418b" /><Relationship Type="http://schemas.openxmlformats.org/officeDocument/2006/relationships/notesSlide" Target="/ppt/notesSlides/notesSlide15.xml" Id="Rd38980ee1ec64c2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4b1f9e2eb6c4d6a" /><Relationship Type="http://schemas.openxmlformats.org/officeDocument/2006/relationships/image" Target="/ppt/media/image22.png" Id="Rc8b42fe9196f4774" /><Relationship Type="http://schemas.openxmlformats.org/officeDocument/2006/relationships/notesSlide" Target="/ppt/notesSlides/notesSlide16.xml" Id="Rd6ba2233f27a415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00eb6b3e87d40a6" /><Relationship Type="http://schemas.openxmlformats.org/officeDocument/2006/relationships/image" Target="/ppt/media/image23.png" Id="Rffa85477aacb40a9" /><Relationship Type="http://schemas.openxmlformats.org/officeDocument/2006/relationships/notesSlide" Target="/ppt/notesSlides/notesSlide17.xml" Id="Rf592a79ea7fa435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4f19fea6cfd4859" /><Relationship Type="http://schemas.openxmlformats.org/officeDocument/2006/relationships/image" Target="/ppt/media/image24.png" Id="Rb3dc4f25a9da4fda" /><Relationship Type="http://schemas.openxmlformats.org/officeDocument/2006/relationships/image" Target="/ppt/media/image25.png" Id="Rf4d69ba3b547438e" /><Relationship Type="http://schemas.openxmlformats.org/officeDocument/2006/relationships/hyperlink" Target="../Labs/PathPlanning/index.html#replan" TargetMode="External" Id="R93073e4facf0437d" /><Relationship Type="http://schemas.openxmlformats.org/officeDocument/2006/relationships/notesSlide" Target="/ppt/notesSlides/notesSlide18.xml" Id="R05d8bad5c3f6451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146082752c14424" /><Relationship Type="http://schemas.openxmlformats.org/officeDocument/2006/relationships/image" Target="/ppt/media/image26.png" Id="R89dda17768de47ef" /><Relationship Type="http://schemas.openxmlformats.org/officeDocument/2006/relationships/notesSlide" Target="/ppt/notesSlides/notesSlide19.xml" Id="R644c92e2f05748d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9d02c76b26f42d8" /><Relationship Type="http://schemas.openxmlformats.org/officeDocument/2006/relationships/image" Target="/ppt/media/image27.png" Id="R255e0f8bcc1a4b34" /><Relationship Type="http://schemas.openxmlformats.org/officeDocument/2006/relationships/notesSlide" Target="/ppt/notesSlides/notesSlide20.xml" Id="R936117d2e5614f2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ec76966a2714919" /><Relationship Type="http://schemas.openxmlformats.org/officeDocument/2006/relationships/image" Target="/ppt/media/image28.png" Id="R922e60f1557b4456" /><Relationship Type="http://schemas.openxmlformats.org/officeDocument/2006/relationships/image" Target="/ppt/media/image29.png" Id="R0946a8f61ae84c1c" /><Relationship Type="http://schemas.openxmlformats.org/officeDocument/2006/relationships/image" Target="/ppt/media/image2.gif" Id="Ra62104ea9f1b45f9" /><Relationship Type="http://schemas.openxmlformats.org/officeDocument/2006/relationships/hyperlink" Target="../Labs/PathPlanning/index.html#roadmap" TargetMode="External" Id="Raf667956e42643ff" /><Relationship Type="http://schemas.openxmlformats.org/officeDocument/2006/relationships/hyperlink" Target="../Labs/PathPlanning/index.html#sampling" TargetMode="External" Id="R61c8054e2c9b48ad" /><Relationship Type="http://schemas.openxmlformats.org/officeDocument/2006/relationships/notesSlide" Target="/ppt/notesSlides/notesSlide21.xml" Id="R99fab046ed7f408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efc23879e7c453b" /><Relationship Type="http://schemas.openxmlformats.org/officeDocument/2006/relationships/image" Target="/ppt/media/image30.png" Id="R110c0dfd57ba4159" /><Relationship Type="http://schemas.openxmlformats.org/officeDocument/2006/relationships/image" Target="/ppt/media/image31.png" Id="R41133ccbec414d87" /><Relationship Type="http://schemas.openxmlformats.org/officeDocument/2006/relationships/image" Target="/ppt/media/image32.png" Id="R9be6863c5f9d4995" /><Relationship Type="http://schemas.openxmlformats.org/officeDocument/2006/relationships/hyperlink" Target="../Labs/PathPlanning/index.html#rrtstar" TargetMode="External" Id="Rc1d4bce4257c4cd9" /><Relationship Type="http://schemas.openxmlformats.org/officeDocument/2006/relationships/hyperlink" Target="../Labs/PathPlanning/index.html#informed" TargetMode="External" Id="R5a53f2d5da824890" /><Relationship Type="http://schemas.openxmlformats.org/officeDocument/2006/relationships/notesSlide" Target="/ppt/notesSlides/notesSlide22.xml" Id="Rd83dddd2f3cd4be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9129f16d01643c1" /><Relationship Type="http://schemas.openxmlformats.org/officeDocument/2006/relationships/image" Target="/ppt/media/image33.png" Id="Ra30a99cf52ec4d08" /><Relationship Type="http://schemas.openxmlformats.org/officeDocument/2006/relationships/image" Target="/ppt/media/image34.png" Id="Rbbf6977f26e44afe" /><Relationship Type="http://schemas.openxmlformats.org/officeDocument/2006/relationships/hyperlink" Target="../Labs/PathPlanning/index.html#footprint" TargetMode="External" Id="R0affbadfb78b470c" /><Relationship Type="http://schemas.openxmlformats.org/officeDocument/2006/relationships/notesSlide" Target="/ppt/notesSlides/notesSlide23.xml" Id="R9ff2c441a8374fc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111417e38064caa" /><Relationship Type="http://schemas.openxmlformats.org/officeDocument/2006/relationships/image" Target="/ppt/media/image35.png" Id="Re13cf3caf702407b" /><Relationship Type="http://schemas.openxmlformats.org/officeDocument/2006/relationships/notesSlide" Target="/ppt/notesSlides/notesSlide24.xml" Id="R5f80f1a575414a3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6e61e3786c34677" /><Relationship Type="http://schemas.openxmlformats.org/officeDocument/2006/relationships/image" Target="/ppt/media/image36.png" Id="R956b409494cc4c59" /><Relationship Type="http://schemas.openxmlformats.org/officeDocument/2006/relationships/image" Target="/ppt/media/image37.png" Id="R34ddc361b7b34e15" /><Relationship Type="http://schemas.openxmlformats.org/officeDocument/2006/relationships/image" Target="/ppt/media/image38.png" Id="R46716d788e33445d" /><Relationship Type="http://schemas.openxmlformats.org/officeDocument/2006/relationships/hyperlink" Target="../Labs/PathPlanning/index.html#clearance" TargetMode="External" Id="R48f959e2be7048bd" /><Relationship Type="http://schemas.openxmlformats.org/officeDocument/2006/relationships/notesSlide" Target="/ppt/notesSlides/notesSlide25.xml" Id="R3db3391d3c50443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93955cba1cc47e5" /><Relationship Type="http://schemas.openxmlformats.org/officeDocument/2006/relationships/image" Target="/ppt/media/image39.png" Id="R6818e4bdee744366" /><Relationship Type="http://schemas.openxmlformats.org/officeDocument/2006/relationships/notesSlide" Target="/ppt/notesSlides/notesSlide26.xml" Id="Rc5b518075aaa4eb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8da5d890f6948be" /><Relationship Type="http://schemas.openxmlformats.org/officeDocument/2006/relationships/image" Target="/ppt/media/image40.png" Id="Rd4ec5d043cb94a79" /><Relationship Type="http://schemas.openxmlformats.org/officeDocument/2006/relationships/notesSlide" Target="/ppt/notesSlides/notesSlide27.xml" Id="R40c08e03188e4c5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07edb4033a74e72" /><Relationship Type="http://schemas.openxmlformats.org/officeDocument/2006/relationships/image" Target="/ppt/media/image41.png" Id="R9b152b8fc2f744a8" /><Relationship Type="http://schemas.openxmlformats.org/officeDocument/2006/relationships/notesSlide" Target="/ppt/notesSlides/notesSlide28.xml" Id="R78ad61f2680e41b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b080bd7beb84419" /><Relationship Type="http://schemas.openxmlformats.org/officeDocument/2006/relationships/image" Target="/ppt/media/image42.png" Id="R09df4f62e2d34641" /><Relationship Type="http://schemas.openxmlformats.org/officeDocument/2006/relationships/image" Target="/ppt/media/image43.png" Id="R25abf6d5f5014aa9" /><Relationship Type="http://schemas.openxmlformats.org/officeDocument/2006/relationships/hyperlink" Target="../Labs/PathPlanning/index.html#field" TargetMode="External" Id="Rd6c4e922312a4ac6" /><Relationship Type="http://schemas.openxmlformats.org/officeDocument/2006/relationships/notesSlide" Target="/ppt/notesSlides/notesSlide29.xml" Id="Rb40a6c952ab2460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c04fb0eec3f495b" /><Relationship Type="http://schemas.openxmlformats.org/officeDocument/2006/relationships/image" Target="/ppt/media/image44.png" Id="Re860f93de7c045b5" /><Relationship Type="http://schemas.openxmlformats.org/officeDocument/2006/relationships/notesSlide" Target="/ppt/notesSlides/notesSlide30.xml" Id="Rd8548b3b38e74f3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f95dfc9842b4b49" /><Relationship Type="http://schemas.openxmlformats.org/officeDocument/2006/relationships/image" Target="/ppt/media/image45.png" Id="R47f073ff98ce42e1" /><Relationship Type="http://schemas.openxmlformats.org/officeDocument/2006/relationships/image" Target="/ppt/media/image3.gif" Id="Rdd9ee9d9b7dd42d7" /><Relationship Type="http://schemas.openxmlformats.org/officeDocument/2006/relationships/hyperlink" Target="../Labs/PathPlanning/index.html#trap" TargetMode="External" Id="Rb06740f079014d69" /><Relationship Type="http://schemas.openxmlformats.org/officeDocument/2006/relationships/notesSlide" Target="/ppt/notesSlides/notesSlide31.xml" Id="Rb29fb60dffaa4ff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76737d0388d4739" /><Relationship Type="http://schemas.openxmlformats.org/officeDocument/2006/relationships/image" Target="/ppt/media/image46.png" Id="R56d5b14fa7194fbb" /><Relationship Type="http://schemas.openxmlformats.org/officeDocument/2006/relationships/notesSlide" Target="/ppt/notesSlides/notesSlide32.xml" Id="R53ca42a2b90543d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da19352f405b4096" /><Relationship Type="http://schemas.openxmlformats.org/officeDocument/2006/relationships/image" Target="/ppt/media/image47.png" Id="R2a8c12c46f734855" /><Relationship Type="http://schemas.openxmlformats.org/officeDocument/2006/relationships/notesSlide" Target="/ppt/notesSlides/notesSlide33.xml" Id="R0dfe8f29dae04a6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65be001b6b04b52" /><Relationship Type="http://schemas.openxmlformats.org/officeDocument/2006/relationships/image" Target="/ppt/media/image48.png" Id="R79f641d556264993" /><Relationship Type="http://schemas.openxmlformats.org/officeDocument/2006/relationships/image" Target="/ppt/media/image49.png" Id="R2757e808794a45ae" /><Relationship Type="http://schemas.openxmlformats.org/officeDocument/2006/relationships/hyperlink" Target="../Labs/PathPlanning/index.html#local" TargetMode="External" Id="R4343d67ec11d4c40" /><Relationship Type="http://schemas.openxmlformats.org/officeDocument/2006/relationships/notesSlide" Target="/ppt/notesSlides/notesSlide34.xml" Id="R821cd62de4d7469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ffe7693b1f242b0" /><Relationship Type="http://schemas.openxmlformats.org/officeDocument/2006/relationships/image" Target="/ppt/media/image50.png" Id="Rd557d9ad611e41b6" /><Relationship Type="http://schemas.openxmlformats.org/officeDocument/2006/relationships/image" Target="/ppt/media/image51.png" Id="Rb8b31366ecdd4b7f" /><Relationship Type="http://schemas.openxmlformats.org/officeDocument/2006/relationships/image" Target="/ppt/media/image52.png" Id="R8a1dff40ddef4c32" /><Relationship Type="http://schemas.openxmlformats.org/officeDocument/2006/relationships/hyperlink" Target="../Labs/PathPlanning/index.html#local" TargetMode="External" Id="Rd9997f03024d493c" /><Relationship Type="http://schemas.openxmlformats.org/officeDocument/2006/relationships/notesSlide" Target="/ppt/notesSlides/notesSlide35.xml" Id="R10c56d2561604e9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80575e6771ba46b4" /><Relationship Type="http://schemas.openxmlformats.org/officeDocument/2006/relationships/image" Target="/ppt/media/image53.png" Id="R0e82957aaaab4501" /><Relationship Type="http://schemas.openxmlformats.org/officeDocument/2006/relationships/hyperlink" Target="../Labs/PathPlanning/index.html#mppi" TargetMode="External" Id="R718c8c30a6a64f41" /><Relationship Type="http://schemas.openxmlformats.org/officeDocument/2006/relationships/notesSlide" Target="/ppt/notesSlides/notesSlide36.xml" Id="Ra24ec93354ad4ea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35308669d9344575" /><Relationship Type="http://schemas.openxmlformats.org/officeDocument/2006/relationships/image" Target="/ppt/media/image54.png" Id="Ra9464bfb1da847da" /><Relationship Type="http://schemas.openxmlformats.org/officeDocument/2006/relationships/notesSlide" Target="/ppt/notesSlides/notesSlide37.xml" Id="Re5a3fc0f4e3c4f9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a3178f2127f4fa1" /><Relationship Type="http://schemas.openxmlformats.org/officeDocument/2006/relationships/image" Target="/ppt/media/image55.png" Id="Rf11b238816ba48c7" /><Relationship Type="http://schemas.openxmlformats.org/officeDocument/2006/relationships/notesSlide" Target="/ppt/notesSlides/notesSlide38.xml" Id="Redf4c95ceab74b5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76f1beb981ce4b74" /><Relationship Type="http://schemas.openxmlformats.org/officeDocument/2006/relationships/image" Target="/ppt/media/image56.png" Id="R679185f8ed214716" /><Relationship Type="http://schemas.openxmlformats.org/officeDocument/2006/relationships/notesSlide" Target="/ppt/notesSlides/notesSlide39.xml" Id="Rdbe775e4d845443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b54d1694bc9245a2" /><Relationship Type="http://schemas.openxmlformats.org/officeDocument/2006/relationships/image" Target="/ppt/media/image57.png" Id="Rca51f884124a4c75" /><Relationship Type="http://schemas.openxmlformats.org/officeDocument/2006/relationships/notesSlide" Target="/ppt/notesSlides/notesSlide40.xml" Id="Rf9193cc02bd8401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3c34b9e28005418d" /><Relationship Type="http://schemas.openxmlformats.org/officeDocument/2006/relationships/image" Target="/ppt/media/image58.png" Id="Rdb1e2e4fc22647a8" /><Relationship Type="http://schemas.openxmlformats.org/officeDocument/2006/relationships/image" Target="/ppt/media/image59.png" Id="R40f2b0ee055642e4" /><Relationship Type="http://schemas.openxmlformats.org/officeDocument/2006/relationships/hyperlink" Target="../Labs/PathPlanning/index.html#imagination" TargetMode="External" Id="R92273218e0bf49e1" /><Relationship Type="http://schemas.openxmlformats.org/officeDocument/2006/relationships/notesSlide" Target="/ppt/notesSlides/notesSlide41.xml" Id="R583f4275d602449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f939da5fa3d7448e" /><Relationship Type="http://schemas.openxmlformats.org/officeDocument/2006/relationships/image" Target="/ppt/media/image60.png" Id="Rc7ba2f518a414b34" /><Relationship Type="http://schemas.openxmlformats.org/officeDocument/2006/relationships/notesSlide" Target="/ppt/notesSlides/notesSlide42.xml" Id="Rd50adf8cb65a44e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9cb94b9947544dd9" /><Relationship Type="http://schemas.openxmlformats.org/officeDocument/2006/relationships/image" Target="/ppt/media/image61.png" Id="Rd67d1ad840294555" /><Relationship Type="http://schemas.openxmlformats.org/officeDocument/2006/relationships/image" Target="/ppt/media/image62.png" Id="Rf1496e940b7d433c" /><Relationship Type="http://schemas.openxmlformats.org/officeDocument/2006/relationships/hyperlink" Target="../Labs/PathPlanning/index.html#anyangle" TargetMode="External" Id="R5b29585f79994a4a" /><Relationship Type="http://schemas.openxmlformats.org/officeDocument/2006/relationships/notesSlide" Target="/ppt/notesSlides/notesSlide43.xml" Id="Ra92e56d13f15492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43f079db2fa640d3" /><Relationship Type="http://schemas.openxmlformats.org/officeDocument/2006/relationships/image" Target="/ppt/media/image63.png" Id="R6edc07c99d8e4c65" /><Relationship Type="http://schemas.openxmlformats.org/officeDocument/2006/relationships/image" Target="/ppt/media/image64.png" Id="R96a1fe69b4194507" /><Relationship Type="http://schemas.openxmlformats.org/officeDocument/2006/relationships/hyperlink" Target="../Labs/PathPlanning/index.html#mppi" TargetMode="External" Id="Rc77a73b32e4c414f" /><Relationship Type="http://schemas.openxmlformats.org/officeDocument/2006/relationships/notesSlide" Target="/ppt/notesSlides/notesSlide44.xml" Id="R31a52bd952fe4cb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bf83d41d06fe45bb" /><Relationship Type="http://schemas.openxmlformats.org/officeDocument/2006/relationships/image" Target="/ppt/media/image65.png" Id="Rc2f639f86b9d4efd" /><Relationship Type="http://schemas.openxmlformats.org/officeDocument/2006/relationships/hyperlink" Target="../Labs/PathPlanning/index.html#search" TargetMode="External" Id="Ra84a43b37d0547a0" /><Relationship Type="http://schemas.openxmlformats.org/officeDocument/2006/relationships/notesSlide" Target="/ppt/notesSlides/notesSlide45.xml" Id="Recc3e47b144d4afc"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a9ba22a9d92e46a1" /><Relationship Type="http://schemas.openxmlformats.org/officeDocument/2006/relationships/image" Target="/ppt/media/image66.png" Id="Rab2df61540514270" /><Relationship Type="http://schemas.openxmlformats.org/officeDocument/2006/relationships/notesSlide" Target="/ppt/notesSlides/notesSlide46.xml" Id="Re0856ff67a6147d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c55e77876c924cef" /><Relationship Type="http://schemas.openxmlformats.org/officeDocument/2006/relationships/image" Target="/ppt/media/image67.png" Id="R2599ae5138d84744" /><Relationship Type="http://schemas.openxmlformats.org/officeDocument/2006/relationships/hyperlink" Target="../Labs/PathPlanning/index.html#search" TargetMode="External" Id="Rf8b4e6d2569b480c" /><Relationship Type="http://schemas.openxmlformats.org/officeDocument/2006/relationships/notesSlide" Target="/ppt/notesSlides/notesSlide47.xml" Id="Ra8093396e49c4da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540D33D-4D32-49B7-970E-5C4A9B2E92C8}"/>
              </a:ext>
            </a:extLst>
          </p:cNvPr>
          <p:cNvPicPr>
            <a:picLocks xmlns:a="http://schemas.openxmlformats.org/drawingml/2006/main" noChangeAspect="1"/>
          </p:cNvPicPr>
          <p:nvPr/>
        </p:nvPicPr>
        <p:blipFill>
          <a:blip xmlns:r="http://schemas.openxmlformats.org/officeDocument/2006/relationships" xmlns:a="http://schemas.openxmlformats.org/drawingml/2006/main" r:embed="R4c9e7da4846f43b9"/>
          <a:stretch xmlns:a="http://schemas.openxmlformats.org/drawingml/2006/main"/>
        </p:blipFill>
        <p:spPr>
          <a:xfrm xmlns:a="http://schemas.openxmlformats.org/drawingml/2006/main">
            <a:off x="0" y="0"/>
            <a:ext cx="9144000" cy="5143500"/>
          </a:xfrm>
          <a:prstGeom xmlns:a="http://schemas.openxmlformats.org/drawingml/2006/main" prst="rect">
            <a:avLst/>
          </a:prstGeom>
        </p:spPr>
      </p:pic>
      <p:sp>
        <p:nvSpPr>
          <p:cNvPr id="2" name="LECTURE 7">
            <a:extLst xmlns:a="http://schemas.openxmlformats.org/drawingml/2006/main">
              <a:ext uri="{FF2B5EF4-FFF2-40B4-BE49-F238E27FC236}">
                <a16:creationId xmlns:a16="http://schemas.microsoft.com/office/drawing/2014/main" id="{C4C854F5-5A9A-47C8-8C24-2617B664E0E3}"/>
              </a:ext>
            </a:extLst>
          </p:cNvPr>
          <p:cNvSpPr>
            <a:spLocks xmlns:a="http://schemas.openxmlformats.org/drawingml/2006/main" noGrp="1"/>
          </p:cNvSpPr>
          <p:nvPr/>
        </p:nvSpPr>
        <p:spPr>
          <a:xfrm xmlns:a="http://schemas.openxmlformats.org/drawingml/2006/main">
            <a:off x="619125" y="90487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1">
                <a:solidFill>
                  <a:srgbClr val="FFFFFF"/>
                </a:solidFill>
                <a:latin typeface="Arial"/>
                <a:ea typeface="Arial"/>
                <a:cs typeface="Arial"/>
              </a:defRPr>
            </a:defPPr>
            <a:lvl1pPr>
              <a:defRPr sz="1725" b="1">
                <a:solidFill>
                  <a:srgbClr val="FFFFFF"/>
                </a:solidFill>
                <a:latin typeface="Arial"/>
                <a:ea typeface="Arial"/>
                <a:cs typeface="Arial"/>
              </a:defRPr>
            </a:lvl1pPr>
            <a:lvl2pPr>
              <a:defRPr sz="1725" b="1">
                <a:solidFill>
                  <a:srgbClr val="FFFFFF"/>
                </a:solidFill>
                <a:latin typeface="Arial"/>
                <a:ea typeface="Arial"/>
                <a:cs typeface="Arial"/>
              </a:defRPr>
            </a:lvl2pPr>
            <a:lvl3pPr>
              <a:defRPr sz="1725" b="1">
                <a:solidFill>
                  <a:srgbClr val="FFFFFF"/>
                </a:solidFill>
                <a:latin typeface="Arial"/>
                <a:ea typeface="Arial"/>
                <a:cs typeface="Arial"/>
              </a:defRPr>
            </a:lvl3pPr>
            <a:lvl4pPr>
              <a:defRPr sz="1725" b="1">
                <a:solidFill>
                  <a:srgbClr val="FFFFFF"/>
                </a:solidFill>
                <a:latin typeface="Arial"/>
                <a:ea typeface="Arial"/>
                <a:cs typeface="Arial"/>
              </a:defRPr>
            </a:lvl4pPr>
            <a:lvl5pPr>
              <a:defRPr sz="1725" b="1">
                <a:solidFill>
                  <a:srgbClr val="FFFFFF"/>
                </a:solidFill>
                <a:latin typeface="Arial"/>
                <a:ea typeface="Arial"/>
                <a:cs typeface="Arial"/>
              </a:defRPr>
            </a:lvl5pPr>
            <a:lvl6pPr>
              <a:defRPr sz="1725" b="1">
                <a:solidFill>
                  <a:srgbClr val="FFFFFF"/>
                </a:solidFill>
                <a:latin typeface="Arial"/>
                <a:ea typeface="Arial"/>
                <a:cs typeface="Arial"/>
              </a:defRPr>
            </a:lvl6pPr>
            <a:lvl7pPr>
              <a:defRPr sz="1725" b="1">
                <a:solidFill>
                  <a:srgbClr val="FFFFFF"/>
                </a:solidFill>
                <a:latin typeface="Arial"/>
                <a:ea typeface="Arial"/>
                <a:cs typeface="Arial"/>
              </a:defRPr>
            </a:lvl7pPr>
            <a:lvl8pPr>
              <a:defRPr sz="1725" b="1">
                <a:solidFill>
                  <a:srgbClr val="FFFFFF"/>
                </a:solidFill>
                <a:latin typeface="Arial"/>
                <a:ea typeface="Arial"/>
                <a:cs typeface="Arial"/>
              </a:defRPr>
            </a:lvl8pPr>
            <a:lvl9pPr>
              <a:defRPr sz="1725" b="1">
                <a:solidFill>
                  <a:srgbClr val="FFFFFF"/>
                </a:solidFill>
                <a:latin typeface="Arial"/>
                <a:ea typeface="Arial"/>
                <a:cs typeface="Arial"/>
              </a:defRPr>
            </a:lvl9pPr>
          </a:lstStyle>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LECTURE 7</a:t>
            </a:r>
          </a:p>
        </p:txBody>
      </p:sp>
      <p:sp>
        <p:nvSpPr>
          <p:cNvPr id="3" name="Path planning">
            <a:extLst xmlns:a="http://schemas.openxmlformats.org/drawingml/2006/main">
              <a:ext uri="{FF2B5EF4-FFF2-40B4-BE49-F238E27FC236}">
                <a16:creationId xmlns:a16="http://schemas.microsoft.com/office/drawing/2014/main" id="{E98DBFA4-D86E-4D90-9CD8-24BC2767FBB3}"/>
              </a:ext>
            </a:extLst>
          </p:cNvPr>
          <p:cNvSpPr>
            <a:spLocks xmlns:a="http://schemas.openxmlformats.org/drawingml/2006/main" noGrp="1"/>
          </p:cNvSpPr>
          <p:nvPr/>
        </p:nvSpPr>
        <p:spPr>
          <a:xfrm xmlns:a="http://schemas.openxmlformats.org/drawingml/2006/main">
            <a:off x="619125" y="1524000"/>
            <a:ext cx="771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900" b="1">
                <a:solidFill>
                  <a:srgbClr val="FFFFFF"/>
                </a:solidFill>
                <a:latin typeface="Arial"/>
                <a:ea typeface="Arial"/>
                <a:cs typeface="Arial"/>
              </a:defRPr>
            </a:defPPr>
            <a:lvl1pPr>
              <a:defRPr sz="3900" b="1">
                <a:solidFill>
                  <a:srgbClr val="FFFFFF"/>
                </a:solidFill>
                <a:latin typeface="Arial"/>
                <a:ea typeface="Arial"/>
                <a:cs typeface="Arial"/>
              </a:defRPr>
            </a:lvl1pPr>
            <a:lvl2pPr>
              <a:defRPr sz="3900" b="1">
                <a:solidFill>
                  <a:srgbClr val="FFFFFF"/>
                </a:solidFill>
                <a:latin typeface="Arial"/>
                <a:ea typeface="Arial"/>
                <a:cs typeface="Arial"/>
              </a:defRPr>
            </a:lvl2pPr>
            <a:lvl3pPr>
              <a:defRPr sz="3900" b="1">
                <a:solidFill>
                  <a:srgbClr val="FFFFFF"/>
                </a:solidFill>
                <a:latin typeface="Arial"/>
                <a:ea typeface="Arial"/>
                <a:cs typeface="Arial"/>
              </a:defRPr>
            </a:lvl3pPr>
            <a:lvl4pPr>
              <a:defRPr sz="3900" b="1">
                <a:solidFill>
                  <a:srgbClr val="FFFFFF"/>
                </a:solidFill>
                <a:latin typeface="Arial"/>
                <a:ea typeface="Arial"/>
                <a:cs typeface="Arial"/>
              </a:defRPr>
            </a:lvl4pPr>
            <a:lvl5pPr>
              <a:defRPr sz="3900" b="1">
                <a:solidFill>
                  <a:srgbClr val="FFFFFF"/>
                </a:solidFill>
                <a:latin typeface="Arial"/>
                <a:ea typeface="Arial"/>
                <a:cs typeface="Arial"/>
              </a:defRPr>
            </a:lvl5pPr>
            <a:lvl6pPr>
              <a:defRPr sz="3900" b="1">
                <a:solidFill>
                  <a:srgbClr val="FFFFFF"/>
                </a:solidFill>
                <a:latin typeface="Arial"/>
                <a:ea typeface="Arial"/>
                <a:cs typeface="Arial"/>
              </a:defRPr>
            </a:lvl6pPr>
            <a:lvl7pPr>
              <a:defRPr sz="3900" b="1">
                <a:solidFill>
                  <a:srgbClr val="FFFFFF"/>
                </a:solidFill>
                <a:latin typeface="Arial"/>
                <a:ea typeface="Arial"/>
                <a:cs typeface="Arial"/>
              </a:defRPr>
            </a:lvl7pPr>
            <a:lvl8pPr>
              <a:defRPr sz="3900" b="1">
                <a:solidFill>
                  <a:srgbClr val="FFFFFF"/>
                </a:solidFill>
                <a:latin typeface="Arial"/>
                <a:ea typeface="Arial"/>
                <a:cs typeface="Arial"/>
              </a:defRPr>
            </a:lvl8pPr>
            <a:lvl9pPr>
              <a:defRPr sz="3900" b="1">
                <a:solidFill>
                  <a:srgbClr val="FFFFFF"/>
                </a:solidFill>
                <a:latin typeface="Arial"/>
                <a:ea typeface="Arial"/>
                <a:cs typeface="Arial"/>
              </a:defRPr>
            </a:lvl9pPr>
          </a:lstStyle>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Path planning</a:t>
            </a:r>
          </a:p>
        </p:txBody>
      </p:sp>
      <p:sp>
        <p:nvSpPr>
          <p:cNvPr id="4" name="for autonomous driving">
            <a:extLst xmlns:a="http://schemas.openxmlformats.org/drawingml/2006/main">
              <a:ext uri="{FF2B5EF4-FFF2-40B4-BE49-F238E27FC236}">
                <a16:creationId xmlns:a16="http://schemas.microsoft.com/office/drawing/2014/main" id="{152E26EA-AA80-47E7-A270-52618B34085B}"/>
              </a:ext>
            </a:extLst>
          </p:cNvPr>
          <p:cNvSpPr>
            <a:spLocks xmlns:a="http://schemas.openxmlformats.org/drawingml/2006/main" noGrp="1"/>
          </p:cNvSpPr>
          <p:nvPr/>
        </p:nvSpPr>
        <p:spPr>
          <a:xfrm xmlns:a="http://schemas.openxmlformats.org/drawingml/2006/main">
            <a:off x="619125" y="2333625"/>
            <a:ext cx="771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775" b="0">
                <a:solidFill>
                  <a:srgbClr val="FFFFFF"/>
                </a:solidFill>
                <a:latin typeface="Arial"/>
                <a:ea typeface="Arial"/>
                <a:cs typeface="Arial"/>
              </a:defRPr>
            </a:defPPr>
            <a:lvl1pPr>
              <a:defRPr sz="2775" b="0">
                <a:solidFill>
                  <a:srgbClr val="FFFFFF"/>
                </a:solidFill>
                <a:latin typeface="Arial"/>
                <a:ea typeface="Arial"/>
                <a:cs typeface="Arial"/>
              </a:defRPr>
            </a:lvl1pPr>
            <a:lvl2pPr>
              <a:defRPr sz="2775" b="0">
                <a:solidFill>
                  <a:srgbClr val="FFFFFF"/>
                </a:solidFill>
                <a:latin typeface="Arial"/>
                <a:ea typeface="Arial"/>
                <a:cs typeface="Arial"/>
              </a:defRPr>
            </a:lvl2pPr>
            <a:lvl3pPr>
              <a:defRPr sz="2775" b="0">
                <a:solidFill>
                  <a:srgbClr val="FFFFFF"/>
                </a:solidFill>
                <a:latin typeface="Arial"/>
                <a:ea typeface="Arial"/>
                <a:cs typeface="Arial"/>
              </a:defRPr>
            </a:lvl3pPr>
            <a:lvl4pPr>
              <a:defRPr sz="2775" b="0">
                <a:solidFill>
                  <a:srgbClr val="FFFFFF"/>
                </a:solidFill>
                <a:latin typeface="Arial"/>
                <a:ea typeface="Arial"/>
                <a:cs typeface="Arial"/>
              </a:defRPr>
            </a:lvl4pPr>
            <a:lvl5pPr>
              <a:defRPr sz="2775" b="0">
                <a:solidFill>
                  <a:srgbClr val="FFFFFF"/>
                </a:solidFill>
                <a:latin typeface="Arial"/>
                <a:ea typeface="Arial"/>
                <a:cs typeface="Arial"/>
              </a:defRPr>
            </a:lvl5pPr>
            <a:lvl6pPr>
              <a:defRPr sz="2775" b="0">
                <a:solidFill>
                  <a:srgbClr val="FFFFFF"/>
                </a:solidFill>
                <a:latin typeface="Arial"/>
                <a:ea typeface="Arial"/>
                <a:cs typeface="Arial"/>
              </a:defRPr>
            </a:lvl6pPr>
            <a:lvl7pPr>
              <a:defRPr sz="2775" b="0">
                <a:solidFill>
                  <a:srgbClr val="FFFFFF"/>
                </a:solidFill>
                <a:latin typeface="Arial"/>
                <a:ea typeface="Arial"/>
                <a:cs typeface="Arial"/>
              </a:defRPr>
            </a:lvl7pPr>
            <a:lvl8pPr>
              <a:defRPr sz="2775" b="0">
                <a:solidFill>
                  <a:srgbClr val="FFFFFF"/>
                </a:solidFill>
                <a:latin typeface="Arial"/>
                <a:ea typeface="Arial"/>
                <a:cs typeface="Arial"/>
              </a:defRPr>
            </a:lvl8pPr>
            <a:lvl9pPr>
              <a:defRPr sz="2775" b="0">
                <a:solidFill>
                  <a:srgbClr val="FFFFFF"/>
                </a:solidFill>
                <a:latin typeface="Arial"/>
                <a:ea typeface="Arial"/>
                <a:cs typeface="Arial"/>
              </a:defRPr>
            </a:lvl9pPr>
          </a:lstStyle>
          <a:p xmlns:a="http://schemas.openxmlformats.org/drawingml/2006/main">
            <a:pPr>
              <a:defRPr sz="2775" b="0">
                <a:solidFill>
                  <a:srgbClr val="FFFFFF"/>
                </a:solidFill>
                <a:latin typeface="Arial"/>
                <a:ea typeface="Arial"/>
                <a:cs typeface="Arial"/>
              </a:defRPr>
            </a:pPr>
            <a:r>
              <a:rPr sz="2775" b="0">
                <a:solidFill>
                  <a:srgbClr val="FFFFFF"/>
                </a:solidFill>
                <a:latin typeface="Arial"/>
                <a:ea typeface="Arial"/>
                <a:cs typeface="Arial"/>
              </a:rPr>
              <a:t>for autonomous driving</a:t>
            </a:r>
          </a:p>
        </p:txBody>
      </p:sp>
      <p:sp>
        <p:nvSpPr>
          <p:cNvPr id="5" name="Search, robot geometry, and navigation">
            <a:extLst xmlns:a="http://schemas.openxmlformats.org/drawingml/2006/main">
              <a:ext uri="{FF2B5EF4-FFF2-40B4-BE49-F238E27FC236}">
                <a16:creationId xmlns:a16="http://schemas.microsoft.com/office/drawing/2014/main" id="{765820F9-9308-40FB-9F6C-48C165251B77}"/>
              </a:ext>
            </a:extLst>
          </p:cNvPr>
          <p:cNvSpPr>
            <a:spLocks xmlns:a="http://schemas.openxmlformats.org/drawingml/2006/main" noGrp="1"/>
          </p:cNvSpPr>
          <p:nvPr/>
        </p:nvSpPr>
        <p:spPr>
          <a:xfrm xmlns:a="http://schemas.openxmlformats.org/drawingml/2006/main">
            <a:off x="619125" y="3143250"/>
            <a:ext cx="771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FFFFFF"/>
                </a:solidFill>
                <a:latin typeface="Arial"/>
                <a:ea typeface="Arial"/>
                <a:cs typeface="Arial"/>
              </a:defRPr>
            </a:defPPr>
            <a:lvl1pPr>
              <a:defRPr sz="1950" b="0">
                <a:solidFill>
                  <a:srgbClr val="FFFFFF"/>
                </a:solidFill>
                <a:latin typeface="Arial"/>
                <a:ea typeface="Arial"/>
                <a:cs typeface="Arial"/>
              </a:defRPr>
            </a:lvl1pPr>
            <a:lvl2pPr>
              <a:defRPr sz="1950" b="0">
                <a:solidFill>
                  <a:srgbClr val="FFFFFF"/>
                </a:solidFill>
                <a:latin typeface="Arial"/>
                <a:ea typeface="Arial"/>
                <a:cs typeface="Arial"/>
              </a:defRPr>
            </a:lvl2pPr>
            <a:lvl3pPr>
              <a:defRPr sz="1950" b="0">
                <a:solidFill>
                  <a:srgbClr val="FFFFFF"/>
                </a:solidFill>
                <a:latin typeface="Arial"/>
                <a:ea typeface="Arial"/>
                <a:cs typeface="Arial"/>
              </a:defRPr>
            </a:lvl3pPr>
            <a:lvl4pPr>
              <a:defRPr sz="1950" b="0">
                <a:solidFill>
                  <a:srgbClr val="FFFFFF"/>
                </a:solidFill>
                <a:latin typeface="Arial"/>
                <a:ea typeface="Arial"/>
                <a:cs typeface="Arial"/>
              </a:defRPr>
            </a:lvl4pPr>
            <a:lvl5pPr>
              <a:defRPr sz="1950" b="0">
                <a:solidFill>
                  <a:srgbClr val="FFFFFF"/>
                </a:solidFill>
                <a:latin typeface="Arial"/>
                <a:ea typeface="Arial"/>
                <a:cs typeface="Arial"/>
              </a:defRPr>
            </a:lvl5pPr>
            <a:lvl6pPr>
              <a:defRPr sz="1950" b="0">
                <a:solidFill>
                  <a:srgbClr val="FFFFFF"/>
                </a:solidFill>
                <a:latin typeface="Arial"/>
                <a:ea typeface="Arial"/>
                <a:cs typeface="Arial"/>
              </a:defRPr>
            </a:lvl6pPr>
            <a:lvl7pPr>
              <a:defRPr sz="1950" b="0">
                <a:solidFill>
                  <a:srgbClr val="FFFFFF"/>
                </a:solidFill>
                <a:latin typeface="Arial"/>
                <a:ea typeface="Arial"/>
                <a:cs typeface="Arial"/>
              </a:defRPr>
            </a:lvl7pPr>
            <a:lvl8pPr>
              <a:defRPr sz="1950" b="0">
                <a:solidFill>
                  <a:srgbClr val="FFFFFF"/>
                </a:solidFill>
                <a:latin typeface="Arial"/>
                <a:ea typeface="Arial"/>
                <a:cs typeface="Arial"/>
              </a:defRPr>
            </a:lvl8pPr>
            <a:lvl9pPr>
              <a:defRPr sz="1950" b="0">
                <a:solidFill>
                  <a:srgbClr val="FFFFFF"/>
                </a:solidFill>
                <a:latin typeface="Arial"/>
                <a:ea typeface="Arial"/>
                <a:cs typeface="Arial"/>
              </a:defRPr>
            </a:lvl9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Search, robot geometry, and navigation</a:t>
            </a:r>
          </a:p>
        </p:txBody>
      </p:sp>
      <p:sp>
        <p:nvSpPr>
          <p:cNvPr id="6" name="Introduction to Autonomous Driving · Fall 2026">
            <a:extLst xmlns:a="http://schemas.openxmlformats.org/drawingml/2006/main">
              <a:ext uri="{FF2B5EF4-FFF2-40B4-BE49-F238E27FC236}">
                <a16:creationId xmlns:a16="http://schemas.microsoft.com/office/drawing/2014/main" id="{03C5D66B-4DE9-46A5-BA57-425A04C9AB72}"/>
              </a:ext>
            </a:extLst>
          </p:cNvPr>
          <p:cNvSpPr>
            <a:spLocks xmlns:a="http://schemas.openxmlformats.org/drawingml/2006/main" noGrp="1"/>
          </p:cNvSpPr>
          <p:nvPr/>
        </p:nvSpPr>
        <p:spPr>
          <a:xfrm xmlns:a="http://schemas.openxmlformats.org/drawingml/2006/main">
            <a:off x="619125" y="4000500"/>
            <a:ext cx="7715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FFFFFF"/>
                </a:solidFill>
                <a:latin typeface="Arial"/>
                <a:ea typeface="Arial"/>
                <a:cs typeface="Arial"/>
              </a:defRPr>
            </a:defPPr>
            <a:lvl1pPr>
              <a:defRPr sz="1650" b="0">
                <a:solidFill>
                  <a:srgbClr val="FFFFFF"/>
                </a:solidFill>
                <a:latin typeface="Arial"/>
                <a:ea typeface="Arial"/>
                <a:cs typeface="Arial"/>
              </a:defRPr>
            </a:lvl1pPr>
            <a:lvl2pPr>
              <a:defRPr sz="1650" b="0">
                <a:solidFill>
                  <a:srgbClr val="FFFFFF"/>
                </a:solidFill>
                <a:latin typeface="Arial"/>
                <a:ea typeface="Arial"/>
                <a:cs typeface="Arial"/>
              </a:defRPr>
            </a:lvl2pPr>
            <a:lvl3pPr>
              <a:defRPr sz="1650" b="0">
                <a:solidFill>
                  <a:srgbClr val="FFFFFF"/>
                </a:solidFill>
                <a:latin typeface="Arial"/>
                <a:ea typeface="Arial"/>
                <a:cs typeface="Arial"/>
              </a:defRPr>
            </a:lvl3pPr>
            <a:lvl4pPr>
              <a:defRPr sz="1650" b="0">
                <a:solidFill>
                  <a:srgbClr val="FFFFFF"/>
                </a:solidFill>
                <a:latin typeface="Arial"/>
                <a:ea typeface="Arial"/>
                <a:cs typeface="Arial"/>
              </a:defRPr>
            </a:lvl4pPr>
            <a:lvl5pPr>
              <a:defRPr sz="1650" b="0">
                <a:solidFill>
                  <a:srgbClr val="FFFFFF"/>
                </a:solidFill>
                <a:latin typeface="Arial"/>
                <a:ea typeface="Arial"/>
                <a:cs typeface="Arial"/>
              </a:defRPr>
            </a:lvl5pPr>
            <a:lvl6pPr>
              <a:defRPr sz="1650" b="0">
                <a:solidFill>
                  <a:srgbClr val="FFFFFF"/>
                </a:solidFill>
                <a:latin typeface="Arial"/>
                <a:ea typeface="Arial"/>
                <a:cs typeface="Arial"/>
              </a:defRPr>
            </a:lvl6pPr>
            <a:lvl7pPr>
              <a:defRPr sz="1650" b="0">
                <a:solidFill>
                  <a:srgbClr val="FFFFFF"/>
                </a:solidFill>
                <a:latin typeface="Arial"/>
                <a:ea typeface="Arial"/>
                <a:cs typeface="Arial"/>
              </a:defRPr>
            </a:lvl7pPr>
            <a:lvl8pPr>
              <a:defRPr sz="1650" b="0">
                <a:solidFill>
                  <a:srgbClr val="FFFFFF"/>
                </a:solidFill>
                <a:latin typeface="Arial"/>
                <a:ea typeface="Arial"/>
                <a:cs typeface="Arial"/>
              </a:defRPr>
            </a:lvl8pPr>
            <a:lvl9pPr>
              <a:defRPr sz="1650" b="0">
                <a:solidFill>
                  <a:srgbClr val="FFFFFF"/>
                </a:solidFill>
                <a:latin typeface="Arial"/>
                <a:ea typeface="Arial"/>
                <a:cs typeface="Arial"/>
              </a:defRPr>
            </a:lvl9pPr>
          </a:lstStyle>
          <a:p xmlns:a="http://schemas.openxmlformats.org/drawingml/2006/main">
            <a:pPr>
              <a:defRPr sz="1650" b="0">
                <a:solidFill>
                  <a:srgbClr val="FFFFFF"/>
                </a:solidFill>
                <a:latin typeface="Arial"/>
                <a:ea typeface="Arial"/>
                <a:cs typeface="Arial"/>
              </a:defRPr>
            </a:pPr>
            <a:r>
              <a:rPr sz="1650" b="0">
                <a:solidFill>
                  <a:srgbClr val="FFFFFF"/>
                </a:solidFill>
                <a:latin typeface="Arial"/>
                <a:ea typeface="Arial"/>
                <a:cs typeface="Arial"/>
              </a:rPr>
              <a:t>Introduction to Autonomous Driving · Fall 2026</a:t>
            </a:r>
          </a:p>
        </p:txBody>
      </p:sp>
      <p:sp>
        <p:nvSpPr>
          <p:cNvPr id="7" name="1">
            <a:extLst xmlns:a="http://schemas.openxmlformats.org/drawingml/2006/main">
              <a:ext uri="{FF2B5EF4-FFF2-40B4-BE49-F238E27FC236}">
                <a16:creationId xmlns:a16="http://schemas.microsoft.com/office/drawing/2014/main" id="{015DAA54-B410-4FB8-B133-883E1D148C63}"/>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FFFFFF"/>
                </a:solidFill>
                <a:latin typeface="Arial"/>
                <a:ea typeface="Arial"/>
                <a:cs typeface="Arial"/>
              </a:defRPr>
            </a:defPPr>
            <a:lvl1pPr>
              <a:defRPr sz="1200" b="0">
                <a:solidFill>
                  <a:srgbClr val="FFFFFF"/>
                </a:solidFill>
                <a:latin typeface="Arial"/>
                <a:ea typeface="Arial"/>
                <a:cs typeface="Arial"/>
              </a:defRPr>
            </a:lvl1pPr>
            <a:lvl2pPr>
              <a:defRPr sz="1200" b="0">
                <a:solidFill>
                  <a:srgbClr val="FFFFFF"/>
                </a:solidFill>
                <a:latin typeface="Arial"/>
                <a:ea typeface="Arial"/>
                <a:cs typeface="Arial"/>
              </a:defRPr>
            </a:lvl2pPr>
            <a:lvl3pPr>
              <a:defRPr sz="1200" b="0">
                <a:solidFill>
                  <a:srgbClr val="FFFFFF"/>
                </a:solidFill>
                <a:latin typeface="Arial"/>
                <a:ea typeface="Arial"/>
                <a:cs typeface="Arial"/>
              </a:defRPr>
            </a:lvl3pPr>
            <a:lvl4pPr>
              <a:defRPr sz="1200" b="0">
                <a:solidFill>
                  <a:srgbClr val="FFFFFF"/>
                </a:solidFill>
                <a:latin typeface="Arial"/>
                <a:ea typeface="Arial"/>
                <a:cs typeface="Arial"/>
              </a:defRPr>
            </a:lvl4pPr>
            <a:lvl5pPr>
              <a:defRPr sz="1200" b="0">
                <a:solidFill>
                  <a:srgbClr val="FFFFFF"/>
                </a:solidFill>
                <a:latin typeface="Arial"/>
                <a:ea typeface="Arial"/>
                <a:cs typeface="Arial"/>
              </a:defRPr>
            </a:lvl5pPr>
            <a:lvl6pPr>
              <a:defRPr sz="1200" b="0">
                <a:solidFill>
                  <a:srgbClr val="FFFFFF"/>
                </a:solidFill>
                <a:latin typeface="Arial"/>
                <a:ea typeface="Arial"/>
                <a:cs typeface="Arial"/>
              </a:defRPr>
            </a:lvl6pPr>
            <a:lvl7pPr>
              <a:defRPr sz="1200" b="0">
                <a:solidFill>
                  <a:srgbClr val="FFFFFF"/>
                </a:solidFill>
                <a:latin typeface="Arial"/>
                <a:ea typeface="Arial"/>
                <a:cs typeface="Arial"/>
              </a:defRPr>
            </a:lvl7pPr>
            <a:lvl8pPr>
              <a:defRPr sz="1200" b="0">
                <a:solidFill>
                  <a:srgbClr val="FFFFFF"/>
                </a:solidFill>
                <a:latin typeface="Arial"/>
                <a:ea typeface="Arial"/>
                <a:cs typeface="Arial"/>
              </a:defRPr>
            </a:lvl8pPr>
            <a:lvl9pPr>
              <a:defRPr sz="1200" b="0">
                <a:solidFill>
                  <a:srgbClr val="FFFFFF"/>
                </a:solidFill>
                <a:latin typeface="Arial"/>
                <a:ea typeface="Arial"/>
                <a:cs typeface="Arial"/>
              </a:defRPr>
            </a:lvl9pPr>
          </a:lstStyle>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1</a:t>
            </a:r>
          </a:p>
        </p:txBody>
      </p:sp>
    </p:spTree>
    <p:extLst>
      <p:ext uri="{BB962C8B-B14F-4D97-AF65-F5344CB8AC3E}">
        <p14:creationId xmlns:p14="http://schemas.microsoft.com/office/powerpoint/2010/main" val="18454015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2A9A4F76-6C1A-4AB4-8530-800A77EBD3BC}"/>
              </a:ext>
            </a:extLst>
          </p:cNvPr>
          <p:cNvPicPr>
            <a:picLocks xmlns:a="http://schemas.openxmlformats.org/drawingml/2006/main" noChangeAspect="1"/>
          </p:cNvPicPr>
          <p:nvPr/>
        </p:nvPicPr>
        <p:blipFill>
          <a:blip xmlns:r="http://schemas.openxmlformats.org/officeDocument/2006/relationships" xmlns:a="http://schemas.openxmlformats.org/drawingml/2006/main" r:embed="R05da94ec41404fd7"/>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Learning goals">
            <a:extLst xmlns:a="http://schemas.openxmlformats.org/drawingml/2006/main">
              <a:ext uri="{FF2B5EF4-FFF2-40B4-BE49-F238E27FC236}">
                <a16:creationId xmlns:a16="http://schemas.microsoft.com/office/drawing/2014/main" id="{12D2DFAF-12C0-4B96-8674-2E1E2DB256C8}"/>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Learning goals</a:t>
            </a:r>
          </a:p>
        </p:txBody>
      </p:sp>
      <p:sp>
        <p:nvSpPr>
          <p:cNvPr id="3" name="2">
            <a:extLst xmlns:a="http://schemas.openxmlformats.org/drawingml/2006/main">
              <a:ext uri="{FF2B5EF4-FFF2-40B4-BE49-F238E27FC236}">
                <a16:creationId xmlns:a16="http://schemas.microsoft.com/office/drawing/2014/main" id="{BC146D1C-3C3E-4E14-80D1-20E46F8DCEE9}"/>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a:t>
            </a:r>
          </a:p>
        </p:txBody>
      </p:sp>
      <p:sp>
        <p:nvSpPr>
          <p:cNvPr id="4" name="Explain A* search and distinguish D* from D* Lite replanning.">
            <a:extLst xmlns:a="http://schemas.openxmlformats.org/drawingml/2006/main">
              <a:ext uri="{FF2B5EF4-FFF2-40B4-BE49-F238E27FC236}">
                <a16:creationId xmlns:a16="http://schemas.microsoft.com/office/drawing/2014/main" id="{1AD40ED0-B5B5-4AF0-93C6-15E9A4065CC7}"/>
              </a:ext>
            </a:extLst>
          </p:cNvPr>
          <p:cNvSpPr>
            <a:spLocks xmlns:a="http://schemas.openxmlformats.org/drawingml/2006/main" noGrp="1"/>
          </p:cNvSpPr>
          <p:nvPr/>
        </p:nvSpPr>
        <p:spPr>
          <a:xfrm xmlns:a="http://schemas.openxmlformats.org/drawingml/2006/main">
            <a:off x="619125" y="1438275"/>
            <a:ext cx="7905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Explain A* search and distinguish D* from D* Lite replanning.</a:t>
            </a:r>
          </a:p>
        </p:txBody>
      </p:sp>
      <p:sp>
        <p:nvSpPr>
          <p:cNvPr id="5" name="Predict when an algorithm succeeds, slows down, or returns an un">
            <a:extLst xmlns:a="http://schemas.openxmlformats.org/drawingml/2006/main">
              <a:ext uri="{FF2B5EF4-FFF2-40B4-BE49-F238E27FC236}">
                <a16:creationId xmlns:a16="http://schemas.microsoft.com/office/drawing/2014/main" id="{EE6D8828-EDA1-4DB2-B701-5030782BE314}"/>
              </a:ext>
            </a:extLst>
          </p:cNvPr>
          <p:cNvSpPr>
            <a:spLocks xmlns:a="http://schemas.openxmlformats.org/drawingml/2006/main" noGrp="1"/>
          </p:cNvSpPr>
          <p:nvPr/>
        </p:nvSpPr>
        <p:spPr>
          <a:xfrm xmlns:a="http://schemas.openxmlformats.org/drawingml/2006/main">
            <a:off x="619125" y="2381250"/>
            <a:ext cx="7905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Predict when an algorithm succeeds, slows down, or returns an unusable path.</a:t>
            </a:r>
          </a:p>
        </p:txBody>
      </p:sp>
      <p:sp>
        <p:nvSpPr>
          <p:cNvPr id="6" name="Connect obstacle clearance and vehicle motion to global and loca">
            <a:extLst xmlns:a="http://schemas.openxmlformats.org/drawingml/2006/main">
              <a:ext uri="{FF2B5EF4-FFF2-40B4-BE49-F238E27FC236}">
                <a16:creationId xmlns:a16="http://schemas.microsoft.com/office/drawing/2014/main" id="{6F78D6D6-86AE-4E43-9237-E25027B4B74F}"/>
              </a:ext>
            </a:extLst>
          </p:cNvPr>
          <p:cNvSpPr>
            <a:spLocks xmlns:a="http://schemas.openxmlformats.org/drawingml/2006/main" noGrp="1"/>
          </p:cNvSpPr>
          <p:nvPr/>
        </p:nvSpPr>
        <p:spPr>
          <a:xfrm xmlns:a="http://schemas.openxmlformats.org/drawingml/2006/main">
            <a:off x="619125" y="3324225"/>
            <a:ext cx="7905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Connect obstacle clearance and vehicle motion to global and local planning.</a:t>
            </a:r>
          </a:p>
        </p:txBody>
      </p:sp>
    </p:spTree>
    <p:extLst>
      <p:ext uri="{BB962C8B-B14F-4D97-AF65-F5344CB8AC3E}">
        <p14:creationId xmlns:p14="http://schemas.microsoft.com/office/powerpoint/2010/main" val="91408913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C2C62A0-5BB3-4B31-AC97-6FA49E93B620}"/>
              </a:ext>
            </a:extLst>
          </p:cNvPr>
          <p:cNvPicPr>
            <a:picLocks xmlns:a="http://schemas.openxmlformats.org/drawingml/2006/main" noChangeAspect="1"/>
          </p:cNvPicPr>
          <p:nvPr/>
        </p:nvPicPr>
        <p:blipFill>
          <a:blip xmlns:r="http://schemas.openxmlformats.org/officeDocument/2006/relationships" xmlns:a="http://schemas.openxmlformats.org/drawingml/2006/main" r:embed="R85c879af1a0541c2"/>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Planning in the autonomy stack">
            <a:extLst xmlns:a="http://schemas.openxmlformats.org/drawingml/2006/main">
              <a:ext uri="{FF2B5EF4-FFF2-40B4-BE49-F238E27FC236}">
                <a16:creationId xmlns:a16="http://schemas.microsoft.com/office/drawing/2014/main" id="{AB092D6B-FB6D-41F7-8BED-66FDB5A87D8E}"/>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Planning in the autonomy stack</a:t>
            </a:r>
          </a:p>
        </p:txBody>
      </p:sp>
      <p:sp>
        <p:nvSpPr>
          <p:cNvPr id="3" name="3">
            <a:extLst xmlns:a="http://schemas.openxmlformats.org/drawingml/2006/main">
              <a:ext uri="{FF2B5EF4-FFF2-40B4-BE49-F238E27FC236}">
                <a16:creationId xmlns:a16="http://schemas.microsoft.com/office/drawing/2014/main" id="{E31620AF-D775-410C-9D3A-AE96AAA63235}"/>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a:t>
            </a:r>
          </a:p>
        </p:txBody>
      </p:sp>
      <p:sp>
        <p:nvSpPr>
          <p:cNvPr id="4" name="Perception estimates nearby objects and free space.">
            <a:extLst xmlns:a="http://schemas.openxmlformats.org/drawingml/2006/main">
              <a:ext uri="{FF2B5EF4-FFF2-40B4-BE49-F238E27FC236}">
                <a16:creationId xmlns:a16="http://schemas.microsoft.com/office/drawing/2014/main" id="{12E99EE1-82E9-483D-8DD5-3CEC19632362}"/>
              </a:ext>
            </a:extLst>
          </p:cNvPr>
          <p:cNvSpPr>
            <a:spLocks xmlns:a="http://schemas.openxmlformats.org/drawingml/2006/main" noGrp="1"/>
          </p:cNvSpPr>
          <p:nvPr/>
        </p:nvSpPr>
        <p:spPr>
          <a:xfrm xmlns:a="http://schemas.openxmlformats.org/drawingml/2006/main">
            <a:off x="619125" y="1438275"/>
            <a:ext cx="7905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Perception estimates nearby objects and free space.</a:t>
            </a:r>
          </a:p>
        </p:txBody>
      </p:sp>
      <p:sp>
        <p:nvSpPr>
          <p:cNvPr id="5" name="Localization and mapping place the robot in an environment.">
            <a:extLst xmlns:a="http://schemas.openxmlformats.org/drawingml/2006/main">
              <a:ext uri="{FF2B5EF4-FFF2-40B4-BE49-F238E27FC236}">
                <a16:creationId xmlns:a16="http://schemas.microsoft.com/office/drawing/2014/main" id="{ED58FF14-12E1-4B48-A292-1930C8B1F494}"/>
              </a:ext>
            </a:extLst>
          </p:cNvPr>
          <p:cNvSpPr>
            <a:spLocks xmlns:a="http://schemas.openxmlformats.org/drawingml/2006/main" noGrp="1"/>
          </p:cNvSpPr>
          <p:nvPr/>
        </p:nvSpPr>
        <p:spPr>
          <a:xfrm xmlns:a="http://schemas.openxmlformats.org/drawingml/2006/main">
            <a:off x="619125" y="2381250"/>
            <a:ext cx="7905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Localization and mapping place the robot in an environment.</a:t>
            </a:r>
          </a:p>
        </p:txBody>
      </p:sp>
      <p:sp>
        <p:nvSpPr>
          <p:cNvPr id="6" name="Planning chooses a route and motion. Control tracks that motion.">
            <a:extLst xmlns:a="http://schemas.openxmlformats.org/drawingml/2006/main">
              <a:ext uri="{FF2B5EF4-FFF2-40B4-BE49-F238E27FC236}">
                <a16:creationId xmlns:a16="http://schemas.microsoft.com/office/drawing/2014/main" id="{1CA48847-6BDD-4613-BFEC-A5FAE27475B6}"/>
              </a:ext>
            </a:extLst>
          </p:cNvPr>
          <p:cNvSpPr>
            <a:spLocks xmlns:a="http://schemas.openxmlformats.org/drawingml/2006/main" noGrp="1"/>
          </p:cNvSpPr>
          <p:nvPr/>
        </p:nvSpPr>
        <p:spPr>
          <a:xfrm xmlns:a="http://schemas.openxmlformats.org/drawingml/2006/main">
            <a:off x="619125" y="3324225"/>
            <a:ext cx="7905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Planning chooses a route and motion. Control tracks that motion.</a:t>
            </a:r>
          </a:p>
        </p:txBody>
      </p:sp>
    </p:spTree>
    <p:extLst>
      <p:ext uri="{BB962C8B-B14F-4D97-AF65-F5344CB8AC3E}">
        <p14:creationId xmlns:p14="http://schemas.microsoft.com/office/powerpoint/2010/main" val="180866833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DE389D3F-1AE3-4BC5-B97B-9920EA181907}"/>
              </a:ext>
            </a:extLst>
          </p:cNvPr>
          <p:cNvPicPr>
            <a:picLocks xmlns:a="http://schemas.openxmlformats.org/drawingml/2006/main" noChangeAspect="1"/>
          </p:cNvPicPr>
          <p:nvPr/>
        </p:nvPicPr>
        <p:blipFill>
          <a:blip xmlns:r="http://schemas.openxmlformats.org/officeDocument/2006/relationships" xmlns:a="http://schemas.openxmlformats.org/drawingml/2006/main" r:embed="R5e44581d924c4e42"/>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Path, trajectory, and control">
            <a:extLst xmlns:a="http://schemas.openxmlformats.org/drawingml/2006/main">
              <a:ext uri="{FF2B5EF4-FFF2-40B4-BE49-F238E27FC236}">
                <a16:creationId xmlns:a16="http://schemas.microsoft.com/office/drawing/2014/main" id="{83A01550-4486-4E12-839F-F1BF2B9C3220}"/>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Path, trajectory, and control</a:t>
            </a:r>
          </a:p>
        </p:txBody>
      </p:sp>
      <p:sp>
        <p:nvSpPr>
          <p:cNvPr id="3" name="4">
            <a:extLst xmlns:a="http://schemas.openxmlformats.org/drawingml/2006/main">
              <a:ext uri="{FF2B5EF4-FFF2-40B4-BE49-F238E27FC236}">
                <a16:creationId xmlns:a16="http://schemas.microsoft.com/office/drawing/2014/main" id="{1BF06063-B0D4-4425-B5CA-C8A06267DD88}"/>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4</a:t>
            </a:r>
          </a:p>
        </p:txBody>
      </p:sp>
      <p:graphicFrame>
        <p:nvGraphicFramePr>
          <p:cNvPr id="4" name="">
            <a:extLst xmlns:a="http://schemas.openxmlformats.org/drawingml/2006/main">
              <a:ext uri="{FF2B5EF4-FFF2-40B4-BE49-F238E27FC236}">
                <a16:creationId xmlns:a16="http://schemas.microsoft.com/office/drawing/2014/main" id="{587A450E-7888-404D-8111-DCCBD06CC823}"/>
              </a:ext>
            </a:extLst>
          </p:cNvPr>
          <p:cNvGraphicFramePr/>
          <p:nvPr/>
        </p:nvGraphicFramePr>
        <p:xfrm>
          <a:off xmlns:a="http://schemas.openxmlformats.org/drawingml/2006/main" x="523875" y="1438275"/>
          <a:ext xmlns:a="http://schemas.openxmlformats.org/drawingml/2006/main" cx="8096250" cy="2857500"/>
        </p:xfrm>
        <a:graphic xmlns:a="http://schemas.openxmlformats.org/drawingml/2006/main">
          <a:graphicData uri="http://schemas.openxmlformats.org/drawingml/2006/table">
            <a:tbl>
              <a:tblPr/>
              <a:tblGrid>
                <a:gridCol w="1952625"/>
                <a:gridCol w="3000375"/>
                <a:gridCol w="3143250"/>
              </a:tblGrid>
              <a:tr h="714375">
                <a:tc>
                  <a:txBody>
                    <a:bodyPr lIns="114300" tIns="76200" rIns="114300" bIns="76200">
                      <a:noAutofit/>
                    </a:bodyPr>
                    <a:lstStyle/>
                    <a:p>
                      <a:r>
                        <a:rPr sz="1425" b="1">
                          <a:solidFill>
                            <a:srgbClr val="FFFFFF"/>
                          </a:solidFill>
                          <a:latin typeface="Arial"/>
                          <a:ea typeface="Arial"/>
                          <a:cs typeface="Arial"/>
                        </a:rPr>
                        <a:t>Object</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Describes</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Example</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714375">
                <a:tc>
                  <a:txBody>
                    <a:bodyPr lIns="114300" tIns="76200" rIns="114300" bIns="76200">
                      <a:noAutofit/>
                    </a:bodyPr>
                    <a:lstStyle/>
                    <a:p>
                      <a:r>
                        <a:rPr sz="1425" b="0">
                          <a:solidFill>
                            <a:srgbClr val="17324D"/>
                          </a:solidFill>
                          <a:latin typeface="Arial"/>
                          <a:ea typeface="Arial"/>
                          <a:cs typeface="Arial"/>
                        </a:rPr>
                        <a:t>Path</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Where the robot can move</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Positions and headings</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714375">
                <a:tc>
                  <a:txBody>
                    <a:bodyPr lIns="114300" tIns="76200" rIns="114300" bIns="76200">
                      <a:noAutofit/>
                    </a:bodyPr>
                    <a:lstStyle/>
                    <a:p>
                      <a:r>
                        <a:rPr sz="1425" b="0">
                          <a:solidFill>
                            <a:srgbClr val="17324D"/>
                          </a:solidFill>
                          <a:latin typeface="Arial"/>
                          <a:ea typeface="Arial"/>
                          <a:cs typeface="Arial"/>
                        </a:rPr>
                        <a:t>Trajectory</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Where and when it moves</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Pose and speed over time</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714375">
                <a:tc>
                  <a:txBody>
                    <a:bodyPr lIns="114300" tIns="76200" rIns="114300" bIns="76200">
                      <a:noAutofit/>
                    </a:bodyPr>
                    <a:lstStyle/>
                    <a:p>
                      <a:r>
                        <a:rPr sz="1425" b="0">
                          <a:solidFill>
                            <a:srgbClr val="17324D"/>
                          </a:solidFill>
                          <a:latin typeface="Arial"/>
                          <a:ea typeface="Arial"/>
                          <a:cs typeface="Arial"/>
                        </a:rPr>
                        <a:t>Control</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Inputs applied now</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Steering, throttle, braking</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bl>
          </a:graphicData>
        </a:graphic>
      </p:graphicFrame>
    </p:spTree>
    <p:extLst>
      <p:ext uri="{BB962C8B-B14F-4D97-AF65-F5344CB8AC3E}">
        <p14:creationId xmlns:p14="http://schemas.microsoft.com/office/powerpoint/2010/main" val="17608615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26B5B548-FAD4-4405-923F-B547A5EFF872}"/>
              </a:ext>
            </a:extLst>
          </p:cNvPr>
          <p:cNvPicPr>
            <a:picLocks xmlns:a="http://schemas.openxmlformats.org/drawingml/2006/main" noChangeAspect="1"/>
          </p:cNvPicPr>
          <p:nvPr/>
        </p:nvPicPr>
        <p:blipFill>
          <a:blip xmlns:r="http://schemas.openxmlformats.org/officeDocument/2006/relationships" xmlns:a="http://schemas.openxmlformats.org/drawingml/2006/main" r:embed="R911b123150264eb0"/>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Global and local planning">
            <a:extLst xmlns:a="http://schemas.openxmlformats.org/drawingml/2006/main">
              <a:ext uri="{FF2B5EF4-FFF2-40B4-BE49-F238E27FC236}">
                <a16:creationId xmlns:a16="http://schemas.microsoft.com/office/drawing/2014/main" id="{56599E01-525A-4732-A398-C6BFFA875392}"/>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Global and local planning</a:t>
            </a:r>
          </a:p>
        </p:txBody>
      </p:sp>
      <p:sp>
        <p:nvSpPr>
          <p:cNvPr id="3" name="5">
            <a:extLst xmlns:a="http://schemas.openxmlformats.org/drawingml/2006/main">
              <a:ext uri="{FF2B5EF4-FFF2-40B4-BE49-F238E27FC236}">
                <a16:creationId xmlns:a16="http://schemas.microsoft.com/office/drawing/2014/main" id="{C7619E5F-381C-44D8-8FE3-894BFEC07658}"/>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0A4F5F0F-A533-405D-B324-D7AF287FD609}"/>
              </a:ext>
            </a:extLst>
          </p:cNvPr>
          <p:cNvGraphicFramePr/>
          <p:nvPr/>
        </p:nvGraphicFramePr>
        <p:xfrm>
          <a:off xmlns:a="http://schemas.openxmlformats.org/drawingml/2006/main" x="523875" y="1438275"/>
          <a:ext xmlns:a="http://schemas.openxmlformats.org/drawingml/2006/main" cx="8096250" cy="3095625"/>
        </p:xfrm>
        <a:graphic xmlns:a="http://schemas.openxmlformats.org/drawingml/2006/main">
          <a:graphicData uri="http://schemas.openxmlformats.org/drawingml/2006/table">
            <a:tbl>
              <a:tblPr/>
              <a:tblGrid>
                <a:gridCol w="1714500"/>
                <a:gridCol w="3190875"/>
                <a:gridCol w="3190875"/>
              </a:tblGrid>
              <a:tr h="515938">
                <a:tc>
                  <a:txBody>
                    <a:bodyPr lIns="114300" tIns="76200" rIns="114300" bIns="76200">
                      <a:noAutofit/>
                    </a:bodyPr>
                    <a:lstStyle/>
                    <a:p>
                      <a:r>
                        <a:rPr sz="1425" b="1">
                          <a:solidFill>
                            <a:srgbClr val="FFFFFF"/>
                          </a:solidFill>
                          <a:latin typeface="Arial"/>
                          <a:ea typeface="Arial"/>
                          <a:cs typeface="Arial"/>
                        </a:rPr>
                        <a:t>Dimension</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Global planning</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Local planning / control</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515938">
                <a:tc>
                  <a:txBody>
                    <a:bodyPr lIns="114300" tIns="76200" rIns="114300" bIns="76200">
                      <a:noAutofit/>
                    </a:bodyPr>
                    <a:lstStyle/>
                    <a:p>
                      <a:r>
                        <a:rPr sz="1425" b="0">
                          <a:solidFill>
                            <a:srgbClr val="17324D"/>
                          </a:solidFill>
                          <a:latin typeface="Arial"/>
                          <a:ea typeface="Arial"/>
                          <a:cs typeface="Arial"/>
                        </a:rPr>
                        <a:t>Question</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Which route reaches the goal?</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Which motion is feasible now?</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515938">
                <a:tc>
                  <a:txBody>
                    <a:bodyPr lIns="114300" tIns="76200" rIns="114300" bIns="76200">
                      <a:noAutofit/>
                    </a:bodyPr>
                    <a:lstStyle/>
                    <a:p>
                      <a:r>
                        <a:rPr sz="1425" b="0">
                          <a:solidFill>
                            <a:srgbClr val="17324D"/>
                          </a:solidFill>
                          <a:latin typeface="Arial"/>
                          <a:ea typeface="Arial"/>
                          <a:cs typeface="Arial"/>
                        </a:rPr>
                        <a:t>Inputs</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Map, start, destination</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State, nearby objects, route</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515938">
                <a:tc>
                  <a:txBody>
                    <a:bodyPr lIns="114300" tIns="76200" rIns="114300" bIns="76200">
                      <a:noAutofit/>
                    </a:bodyPr>
                    <a:lstStyle/>
                    <a:p>
                      <a:r>
                        <a:rPr sz="1425" b="0">
                          <a:solidFill>
                            <a:srgbClr val="17324D"/>
                          </a:solidFill>
                          <a:latin typeface="Arial"/>
                          <a:ea typeface="Arial"/>
                          <a:cs typeface="Arial"/>
                        </a:rPr>
                        <a:t>Output</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Route or reference path</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Short trajectory / command</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515938">
                <a:tc>
                  <a:txBody>
                    <a:bodyPr lIns="114300" tIns="76200" rIns="114300" bIns="76200">
                      <a:noAutofit/>
                    </a:bodyPr>
                    <a:lstStyle/>
                    <a:p>
                      <a:r>
                        <a:rPr sz="1425" b="0">
                          <a:solidFill>
                            <a:srgbClr val="17324D"/>
                          </a:solidFill>
                          <a:latin typeface="Arial"/>
                          <a:ea typeface="Arial"/>
                          <a:cs typeface="Arial"/>
                        </a:rPr>
                        <a:t>Horizon</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Whole task or map region</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Limited distance or time</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515938">
                <a:tc>
                  <a:txBody>
                    <a:bodyPr lIns="114300" tIns="76200" rIns="114300" bIns="76200">
                      <a:noAutofit/>
                    </a:bodyPr>
                    <a:lstStyle/>
                    <a:p>
                      <a:r>
                        <a:rPr sz="1425" b="0">
                          <a:solidFill>
                            <a:srgbClr val="17324D"/>
                          </a:solidFill>
                          <a:latin typeface="Arial"/>
                          <a:ea typeface="Arial"/>
                          <a:cs typeface="Arial"/>
                        </a:rPr>
                        <a:t>Update trigger</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Goal or route/map changes</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New state and observations</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bl>
          </a:graphicData>
        </a:graphic>
      </p:graphicFrame>
    </p:spTree>
    <p:extLst>
      <p:ext uri="{BB962C8B-B14F-4D97-AF65-F5344CB8AC3E}">
        <p14:creationId xmlns:p14="http://schemas.microsoft.com/office/powerpoint/2010/main" val="35552439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9E68AE1-478E-4DE5-87BB-34DAAB3BBBD3}"/>
              </a:ext>
            </a:extLst>
          </p:cNvPr>
          <p:cNvPicPr>
            <a:picLocks xmlns:a="http://schemas.openxmlformats.org/drawingml/2006/main" noChangeAspect="1"/>
          </p:cNvPicPr>
          <p:nvPr/>
        </p:nvPicPr>
        <p:blipFill>
          <a:blip xmlns:r="http://schemas.openxmlformats.org/officeDocument/2006/relationships" xmlns:a="http://schemas.openxmlformats.org/drawingml/2006/main" r:embed="R02becbc409c746ea"/>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A map becomes a search graph">
            <a:extLst xmlns:a="http://schemas.openxmlformats.org/drawingml/2006/main">
              <a:ext uri="{FF2B5EF4-FFF2-40B4-BE49-F238E27FC236}">
                <a16:creationId xmlns:a16="http://schemas.microsoft.com/office/drawing/2014/main" id="{825CE6DF-D26B-4DE4-A831-018F4A93E54F}"/>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 map becomes a search graph</a:t>
            </a:r>
          </a:p>
        </p:txBody>
      </p:sp>
      <p:sp>
        <p:nvSpPr>
          <p:cNvPr id="3" name="6">
            <a:extLst xmlns:a="http://schemas.openxmlformats.org/drawingml/2006/main">
              <a:ext uri="{FF2B5EF4-FFF2-40B4-BE49-F238E27FC236}">
                <a16:creationId xmlns:a16="http://schemas.microsoft.com/office/drawing/2014/main" id="{6E446E10-917E-4811-9399-CD08E41500E6}"/>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6</a:t>
            </a:r>
          </a:p>
        </p:txBody>
      </p:sp>
      <p:pic>
        <p:nvPicPr>
          <p:cNvPr id="4" name="">
            <a:extLst xmlns:a="http://schemas.openxmlformats.org/drawingml/2006/main">
              <a:ext uri="{FF2B5EF4-FFF2-40B4-BE49-F238E27FC236}">
                <a16:creationId xmlns:a16="http://schemas.microsoft.com/office/drawing/2014/main" id="{8231AB1E-0FFB-441A-BF0C-D9CDF78DF237}"/>
              </a:ext>
            </a:extLst>
          </p:cNvPr>
          <p:cNvPicPr>
            <a:picLocks xmlns:a="http://schemas.openxmlformats.org/drawingml/2006/main" noChangeAspect="1"/>
          </p:cNvPicPr>
          <p:nvPr/>
        </p:nvPicPr>
        <p:blipFill>
          <a:blip xmlns:r="http://schemas.openxmlformats.org/officeDocument/2006/relationships" xmlns:a="http://schemas.openxmlformats.org/drawingml/2006/main" r:embed="R09af901dcaca4814"/>
          <a:stretch xmlns:a="http://schemas.openxmlformats.org/drawingml/2006/main"/>
        </p:blipFill>
        <p:spPr>
          <a:xfrm xmlns:a="http://schemas.openxmlformats.org/drawingml/2006/main">
            <a:off x="959353" y="1400175"/>
            <a:ext cx="4358268" cy="2667000"/>
          </a:xfrm>
          <a:prstGeom xmlns:a="http://schemas.openxmlformats.org/drawingml/2006/main" prst="rect">
            <a:avLst/>
          </a:prstGeom>
        </p:spPr>
      </p:pic>
      <p:sp>
        <p:nvSpPr>
          <p:cNvPr id="5" name="Nodes represent candidate robot states.&#10;&#10;Edges represent allowed">
            <a:extLst xmlns:a="http://schemas.openxmlformats.org/drawingml/2006/main">
              <a:ext uri="{FF2B5EF4-FFF2-40B4-BE49-F238E27FC236}">
                <a16:creationId xmlns:a16="http://schemas.microsoft.com/office/drawing/2014/main" id="{3F082795-6A53-415E-B9F1-EE7DACBB7B7B}"/>
              </a:ext>
            </a:extLst>
          </p:cNvPr>
          <p:cNvSpPr>
            <a:spLocks xmlns:a="http://schemas.openxmlformats.org/drawingml/2006/main" noGrp="1"/>
          </p:cNvSpPr>
          <p:nvPr/>
        </p:nvSpPr>
        <p:spPr>
          <a:xfrm xmlns:a="http://schemas.openxmlformats.org/drawingml/2006/main">
            <a:off x="6029325" y="1428750"/>
            <a:ext cx="2619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vl1pPr>
              <a:defRPr sz="1650" b="0">
                <a:solidFill>
                  <a:srgbClr val="17324D"/>
                </a:solidFill>
                <a:latin typeface="Arial"/>
                <a:ea typeface="Arial"/>
                <a:cs typeface="Arial"/>
              </a:defRPr>
            </a:lvl1pPr>
            <a:lvl2pPr>
              <a:defRPr sz="1650" b="0">
                <a:solidFill>
                  <a:srgbClr val="17324D"/>
                </a:solidFill>
                <a:latin typeface="Arial"/>
                <a:ea typeface="Arial"/>
                <a:cs typeface="Arial"/>
              </a:defRPr>
            </a:lvl2pPr>
            <a:lvl3pPr>
              <a:defRPr sz="1650" b="0">
                <a:solidFill>
                  <a:srgbClr val="17324D"/>
                </a:solidFill>
                <a:latin typeface="Arial"/>
                <a:ea typeface="Arial"/>
                <a:cs typeface="Arial"/>
              </a:defRPr>
            </a:lvl3pPr>
            <a:lvl4pPr>
              <a:defRPr sz="1650" b="0">
                <a:solidFill>
                  <a:srgbClr val="17324D"/>
                </a:solidFill>
                <a:latin typeface="Arial"/>
                <a:ea typeface="Arial"/>
                <a:cs typeface="Arial"/>
              </a:defRPr>
            </a:lvl4pPr>
            <a:lvl5pPr>
              <a:defRPr sz="1650" b="0">
                <a:solidFill>
                  <a:srgbClr val="17324D"/>
                </a:solidFill>
                <a:latin typeface="Arial"/>
                <a:ea typeface="Arial"/>
                <a:cs typeface="Arial"/>
              </a:defRPr>
            </a:lvl5pPr>
            <a:lvl6pPr>
              <a:defRPr sz="1650" b="0">
                <a:solidFill>
                  <a:srgbClr val="17324D"/>
                </a:solidFill>
                <a:latin typeface="Arial"/>
                <a:ea typeface="Arial"/>
                <a:cs typeface="Arial"/>
              </a:defRPr>
            </a:lvl6pPr>
            <a:lvl7pPr>
              <a:defRPr sz="1650" b="0">
                <a:solidFill>
                  <a:srgbClr val="17324D"/>
                </a:solidFill>
                <a:latin typeface="Arial"/>
                <a:ea typeface="Arial"/>
                <a:cs typeface="Arial"/>
              </a:defRPr>
            </a:lvl7pPr>
            <a:lvl8pPr>
              <a:defRPr sz="1650" b="0">
                <a:solidFill>
                  <a:srgbClr val="17324D"/>
                </a:solidFill>
                <a:latin typeface="Arial"/>
                <a:ea typeface="Arial"/>
                <a:cs typeface="Arial"/>
              </a:defRPr>
            </a:lvl8pPr>
            <a:lvl9pPr>
              <a:defRPr sz="1650" b="0">
                <a:solidFill>
                  <a:srgbClr val="17324D"/>
                </a:solidFill>
                <a:latin typeface="Arial"/>
                <a:ea typeface="Arial"/>
                <a:cs typeface="Arial"/>
              </a:defRPr>
            </a:lvl9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Nodes represent candidate robot states.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Edges represent allowed transitions.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Costs express distance, terrain, risk, or time.</a:t>
            </a:r>
          </a:p>
        </p:txBody>
      </p:sp>
      <p:sp>
        <p:nvSpPr>
          <p:cNvPr id="6" name="Dark navy: obstacles · Green S: start · Purple G: goal">
            <a:extLst xmlns:a="http://schemas.openxmlformats.org/drawingml/2006/main">
              <a:ext uri="{FF2B5EF4-FFF2-40B4-BE49-F238E27FC236}">
                <a16:creationId xmlns:a16="http://schemas.microsoft.com/office/drawing/2014/main" id="{9BDE63A7-3D45-4579-988A-CAE62B4FE6D4}"/>
              </a:ext>
            </a:extLst>
          </p:cNvPr>
          <p:cNvSpPr>
            <a:spLocks xmlns:a="http://schemas.openxmlformats.org/drawingml/2006/main" noGrp="1"/>
          </p:cNvSpPr>
          <p:nvPr/>
        </p:nvSpPr>
        <p:spPr>
          <a:xfrm xmlns:a="http://schemas.openxmlformats.org/drawingml/2006/main">
            <a:off x="523875" y="417195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17324D"/>
                </a:solidFill>
                <a:latin typeface="Arial"/>
                <a:ea typeface="Arial"/>
                <a:cs typeface="Arial"/>
              </a:defRPr>
            </a:defPPr>
            <a:lvl1pPr>
              <a:defRPr sz="1350" b="0">
                <a:solidFill>
                  <a:srgbClr val="17324D"/>
                </a:solidFill>
                <a:latin typeface="Arial"/>
                <a:ea typeface="Arial"/>
                <a:cs typeface="Arial"/>
              </a:defRPr>
            </a:lvl1pPr>
            <a:lvl2pPr>
              <a:defRPr sz="1350" b="0">
                <a:solidFill>
                  <a:srgbClr val="17324D"/>
                </a:solidFill>
                <a:latin typeface="Arial"/>
                <a:ea typeface="Arial"/>
                <a:cs typeface="Arial"/>
              </a:defRPr>
            </a:lvl2pPr>
            <a:lvl3pPr>
              <a:defRPr sz="1350" b="0">
                <a:solidFill>
                  <a:srgbClr val="17324D"/>
                </a:solidFill>
                <a:latin typeface="Arial"/>
                <a:ea typeface="Arial"/>
                <a:cs typeface="Arial"/>
              </a:defRPr>
            </a:lvl3pPr>
            <a:lvl4pPr>
              <a:defRPr sz="1350" b="0">
                <a:solidFill>
                  <a:srgbClr val="17324D"/>
                </a:solidFill>
                <a:latin typeface="Arial"/>
                <a:ea typeface="Arial"/>
                <a:cs typeface="Arial"/>
              </a:defRPr>
            </a:lvl4pPr>
            <a:lvl5pPr>
              <a:defRPr sz="1350" b="0">
                <a:solidFill>
                  <a:srgbClr val="17324D"/>
                </a:solidFill>
                <a:latin typeface="Arial"/>
                <a:ea typeface="Arial"/>
                <a:cs typeface="Arial"/>
              </a:defRPr>
            </a:lvl5pPr>
            <a:lvl6pPr>
              <a:defRPr sz="1350" b="0">
                <a:solidFill>
                  <a:srgbClr val="17324D"/>
                </a:solidFill>
                <a:latin typeface="Arial"/>
                <a:ea typeface="Arial"/>
                <a:cs typeface="Arial"/>
              </a:defRPr>
            </a:lvl6pPr>
            <a:lvl7pPr>
              <a:defRPr sz="1350" b="0">
                <a:solidFill>
                  <a:srgbClr val="17324D"/>
                </a:solidFill>
                <a:latin typeface="Arial"/>
                <a:ea typeface="Arial"/>
                <a:cs typeface="Arial"/>
              </a:defRPr>
            </a:lvl7pPr>
            <a:lvl8pPr>
              <a:defRPr sz="1350" b="0">
                <a:solidFill>
                  <a:srgbClr val="17324D"/>
                </a:solidFill>
                <a:latin typeface="Arial"/>
                <a:ea typeface="Arial"/>
                <a:cs typeface="Arial"/>
              </a:defRPr>
            </a:lvl8pPr>
            <a:lvl9pPr>
              <a:defRPr sz="1350" b="0">
                <a:solidFill>
                  <a:srgbClr val="17324D"/>
                </a:solidFill>
                <a:latin typeface="Arial"/>
                <a:ea typeface="Arial"/>
                <a:cs typeface="Arial"/>
              </a:defRPr>
            </a:lvl9pPr>
          </a:lstStyle>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Dark navy: obstacles · Green S: start · Purple G: goal</a:t>
            </a:r>
          </a:p>
        </p:txBody>
      </p:sp>
      <p:sp>
        <p:nvSpPr>
          <p:cNvPr id="7" name="Open interactive experiment">
            <a:extLst xmlns:a="http://schemas.openxmlformats.org/drawingml/2006/main">
              <a:ext uri="{FF2B5EF4-FFF2-40B4-BE49-F238E27FC236}">
                <a16:creationId xmlns:a16="http://schemas.microsoft.com/office/drawing/2014/main" id="{0ABA1E21-D738-42B7-B47D-2C8D142C8049}"/>
              </a:ext>
            </a:extLst>
          </p:cNvPr>
          <p:cNvSpPr>
            <a:spLocks xmlns:a="http://schemas.openxmlformats.org/drawingml/2006/main" noGrp="1"/>
          </p:cNvSpPr>
          <p:nvPr/>
        </p:nvSpPr>
        <p:spPr>
          <a:xfrm xmlns:a="http://schemas.openxmlformats.org/drawingml/2006/main">
            <a:off x="523875" y="46291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28ded8ee9c4e43ed"/>
              </a:rPr>
              <a:t>Open interactive experiment</a:t>
            </a:r>
          </a:p>
        </p:txBody>
      </p:sp>
    </p:spTree>
    <p:extLst>
      <p:ext uri="{BB962C8B-B14F-4D97-AF65-F5344CB8AC3E}">
        <p14:creationId xmlns:p14="http://schemas.microsoft.com/office/powerpoint/2010/main" val="69212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ECE95BA5-2686-485E-81E6-79B73496756F}"/>
              </a:ext>
            </a:extLst>
          </p:cNvPr>
          <p:cNvPicPr>
            <a:picLocks xmlns:a="http://schemas.openxmlformats.org/drawingml/2006/main" noChangeAspect="1"/>
          </p:cNvPicPr>
          <p:nvPr/>
        </p:nvPicPr>
        <p:blipFill>
          <a:blip xmlns:r="http://schemas.openxmlformats.org/officeDocument/2006/relationships" xmlns:a="http://schemas.openxmlformats.org/drawingml/2006/main" r:embed="Ra138c6a2bc334a6f"/>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BFS and Dijkstra">
            <a:extLst xmlns:a="http://schemas.openxmlformats.org/drawingml/2006/main">
              <a:ext uri="{FF2B5EF4-FFF2-40B4-BE49-F238E27FC236}">
                <a16:creationId xmlns:a16="http://schemas.microsoft.com/office/drawing/2014/main" id="{BE2B2F56-441F-4008-BF5F-D2AEEBDE79FD}"/>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BFS and Dijkstra</a:t>
            </a:r>
          </a:p>
        </p:txBody>
      </p:sp>
      <p:sp>
        <p:nvSpPr>
          <p:cNvPr id="3" name="7">
            <a:extLst xmlns:a="http://schemas.openxmlformats.org/drawingml/2006/main">
              <a:ext uri="{FF2B5EF4-FFF2-40B4-BE49-F238E27FC236}">
                <a16:creationId xmlns:a16="http://schemas.microsoft.com/office/drawing/2014/main" id="{CBE679C0-5172-4F3F-B1B6-1D5B7891AD78}"/>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7</a:t>
            </a:r>
          </a:p>
        </p:txBody>
      </p:sp>
      <p:graphicFrame>
        <p:nvGraphicFramePr>
          <p:cNvPr id="4" name="">
            <a:extLst xmlns:a="http://schemas.openxmlformats.org/drawingml/2006/main">
              <a:ext uri="{FF2B5EF4-FFF2-40B4-BE49-F238E27FC236}">
                <a16:creationId xmlns:a16="http://schemas.microsoft.com/office/drawing/2014/main" id="{8D0D99FD-8CF2-4DA2-AE88-8C8ED084A8B2}"/>
              </a:ext>
            </a:extLst>
          </p:cNvPr>
          <p:cNvGraphicFramePr/>
          <p:nvPr/>
        </p:nvGraphicFramePr>
        <p:xfrm>
          <a:off xmlns:a="http://schemas.openxmlformats.org/drawingml/2006/main" x="523875" y="1438275"/>
          <a:ext xmlns:a="http://schemas.openxmlformats.org/drawingml/2006/main" cx="8096250" cy="2857500"/>
        </p:xfrm>
        <a:graphic xmlns:a="http://schemas.openxmlformats.org/drawingml/2006/main">
          <a:graphicData uri="http://schemas.openxmlformats.org/drawingml/2006/table">
            <a:tbl>
              <a:tblPr/>
              <a:tblGrid>
                <a:gridCol w="1952625"/>
                <a:gridCol w="3000375"/>
                <a:gridCol w="3143250"/>
              </a:tblGrid>
              <a:tr h="714375">
                <a:tc>
                  <a:txBody>
                    <a:bodyPr lIns="114300" tIns="76200" rIns="114300" bIns="76200">
                      <a:noAutofit/>
                    </a:bodyPr>
                    <a:lstStyle/>
                    <a:p>
                      <a:r>
                        <a:rPr sz="1425" b="1">
                          <a:solidFill>
                            <a:srgbClr val="FFFFFF"/>
                          </a:solidFill>
                          <a:latin typeface="Arial"/>
                          <a:ea typeface="Arial"/>
                          <a:cs typeface="Arial"/>
                        </a:rPr>
                        <a:t>Method</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Next state priority</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Useful when</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714375">
                <a:tc>
                  <a:txBody>
                    <a:bodyPr lIns="114300" tIns="76200" rIns="114300" bIns="76200">
                      <a:noAutofit/>
                    </a:bodyPr>
                    <a:lstStyle/>
                    <a:p>
                      <a:r>
                        <a:rPr sz="1425" b="0">
                          <a:solidFill>
                            <a:srgbClr val="17324D"/>
                          </a:solidFill>
                          <a:latin typeface="Arial"/>
                          <a:ea typeface="Arial"/>
                          <a:cs typeface="Arial"/>
                        </a:rPr>
                        <a:t>Breadth-first search</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Fewest edges from start</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All edges have equal cost</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714375">
                <a:tc>
                  <a:txBody>
                    <a:bodyPr lIns="114300" tIns="76200" rIns="114300" bIns="76200">
                      <a:noAutofit/>
                    </a:bodyPr>
                    <a:lstStyle/>
                    <a:p>
                      <a:r>
                        <a:rPr sz="1425" b="0">
                          <a:solidFill>
                            <a:srgbClr val="17324D"/>
                          </a:solidFill>
                          <a:latin typeface="Arial"/>
                          <a:ea typeface="Arial"/>
                          <a:cs typeface="Arial"/>
                        </a:rPr>
                        <a:t>Dijkstra</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Lowest accumulated cost g</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Nonnegative unequal costs</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714375">
                <a:tc>
                  <a:txBody>
                    <a:bodyPr lIns="114300" tIns="76200" rIns="114300" bIns="76200">
                      <a:noAutofit/>
                    </a:bodyPr>
                    <a:lstStyle/>
                    <a:p>
                      <a:r>
                        <a:rPr sz="1425" b="0">
                          <a:solidFill>
                            <a:srgbClr val="17324D"/>
                          </a:solidFill>
                          <a:latin typeface="Arial"/>
                          <a:ea typeface="Arial"/>
                          <a:cs typeface="Arial"/>
                        </a:rPr>
                        <a:t>Shared limitation</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Search can spread widely</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Large graphs consume memory</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bl>
          </a:graphicData>
        </a:graphic>
      </p:graphicFrame>
      <p:sp>
        <p:nvSpPr>
          <p:cNvPr id="5" name="Compare BFS, Dijkstra and A*">
            <a:extLst xmlns:a="http://schemas.openxmlformats.org/drawingml/2006/main">
              <a:ext uri="{FF2B5EF4-FFF2-40B4-BE49-F238E27FC236}">
                <a16:creationId xmlns:a16="http://schemas.microsoft.com/office/drawing/2014/main" id="{22146A76-18D2-42BA-B24F-7FFA9E73ABB3}"/>
              </a:ext>
            </a:extLst>
          </p:cNvPr>
          <p:cNvSpPr>
            <a:spLocks xmlns:a="http://schemas.openxmlformats.org/drawingml/2006/main" noGrp="1"/>
          </p:cNvSpPr>
          <p:nvPr/>
        </p:nvSpPr>
        <p:spPr>
          <a:xfrm xmlns:a="http://schemas.openxmlformats.org/drawingml/2006/main">
            <a:off x="523875" y="4619625"/>
            <a:ext cx="781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92e68d0a51ad4b1b"/>
              </a:rPr>
              <a:t>Compare BFS, Dijkstra and A*</a:t>
            </a:r>
          </a:p>
        </p:txBody>
      </p:sp>
    </p:spTree>
    <p:extLst>
      <p:ext uri="{BB962C8B-B14F-4D97-AF65-F5344CB8AC3E}">
        <p14:creationId xmlns:p14="http://schemas.microsoft.com/office/powerpoint/2010/main" val="19409760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209B86B-C3DE-48AA-B194-3A31D9D3AB99}"/>
              </a:ext>
            </a:extLst>
          </p:cNvPr>
          <p:cNvPicPr>
            <a:picLocks xmlns:a="http://schemas.openxmlformats.org/drawingml/2006/main" noChangeAspect="1"/>
          </p:cNvPicPr>
          <p:nvPr/>
        </p:nvPicPr>
        <p:blipFill>
          <a:blip xmlns:r="http://schemas.openxmlformats.org/officeDocument/2006/relationships" xmlns:a="http://schemas.openxmlformats.org/drawingml/2006/main" r:embed="R4bbeb210389e45ef"/>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Distance and terrain cost">
            <a:extLst xmlns:a="http://schemas.openxmlformats.org/drawingml/2006/main">
              <a:ext uri="{FF2B5EF4-FFF2-40B4-BE49-F238E27FC236}">
                <a16:creationId xmlns:a16="http://schemas.microsoft.com/office/drawing/2014/main" id="{5640C15A-56F4-428F-BE82-C082FA336FC7}"/>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Distance and terrain cost</a:t>
            </a:r>
          </a:p>
        </p:txBody>
      </p:sp>
      <p:sp>
        <p:nvSpPr>
          <p:cNvPr id="3" name="8">
            <a:extLst xmlns:a="http://schemas.openxmlformats.org/drawingml/2006/main">
              <a:ext uri="{FF2B5EF4-FFF2-40B4-BE49-F238E27FC236}">
                <a16:creationId xmlns:a16="http://schemas.microsoft.com/office/drawing/2014/main" id="{22A5038A-BFC7-4156-BD8B-F295263BA653}"/>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8</a:t>
            </a:r>
          </a:p>
        </p:txBody>
      </p:sp>
      <p:pic>
        <p:nvPicPr>
          <p:cNvPr id="4" name="">
            <a:extLst xmlns:a="http://schemas.openxmlformats.org/drawingml/2006/main">
              <a:ext uri="{FF2B5EF4-FFF2-40B4-BE49-F238E27FC236}">
                <a16:creationId xmlns:a16="http://schemas.microsoft.com/office/drawing/2014/main" id="{B6C26476-42FB-478A-BDB9-AA3964153522}"/>
              </a:ext>
            </a:extLst>
          </p:cNvPr>
          <p:cNvPicPr>
            <a:picLocks xmlns:a="http://schemas.openxmlformats.org/drawingml/2006/main" noChangeAspect="1"/>
          </p:cNvPicPr>
          <p:nvPr/>
        </p:nvPicPr>
        <p:blipFill>
          <a:blip xmlns:r="http://schemas.openxmlformats.org/officeDocument/2006/relationships" xmlns:a="http://schemas.openxmlformats.org/drawingml/2006/main" r:embed="Raa0e1277c3584311"/>
          <a:stretch xmlns:a="http://schemas.openxmlformats.org/drawingml/2006/main"/>
        </p:blipFill>
        <p:spPr>
          <a:xfrm xmlns:a="http://schemas.openxmlformats.org/drawingml/2006/main">
            <a:off x="740511" y="1409700"/>
            <a:ext cx="3424354" cy="2095500"/>
          </a:xfrm>
          <a:prstGeom xmlns:a="http://schemas.openxmlformats.org/drawingml/2006/main" prst="rect">
            <a:avLst/>
          </a:prstGeom>
        </p:spPr>
      </p:pic>
      <p:sp>
        <p:nvSpPr>
          <p:cNvPr id="5" name="BFS: shortest in number of edges">
            <a:extLst xmlns:a="http://schemas.openxmlformats.org/drawingml/2006/main">
              <a:ext uri="{FF2B5EF4-FFF2-40B4-BE49-F238E27FC236}">
                <a16:creationId xmlns:a16="http://schemas.microsoft.com/office/drawing/2014/main" id="{7CC4C385-B3C9-4384-839E-D30548B724AD}"/>
              </a:ext>
            </a:extLst>
          </p:cNvPr>
          <p:cNvSpPr>
            <a:spLocks xmlns:a="http://schemas.openxmlformats.org/drawingml/2006/main" noGrp="1"/>
          </p:cNvSpPr>
          <p:nvPr/>
        </p:nvSpPr>
        <p:spPr>
          <a:xfrm xmlns:a="http://schemas.openxmlformats.org/drawingml/2006/main">
            <a:off x="523875" y="3533775"/>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vl1pPr>
              <a:defRPr sz="1500" b="1">
                <a:solidFill>
                  <a:srgbClr val="00539F"/>
                </a:solidFill>
                <a:latin typeface="Arial"/>
                <a:ea typeface="Arial"/>
                <a:cs typeface="Arial"/>
              </a:defRPr>
            </a:lvl1pPr>
            <a:lvl2pPr>
              <a:defRPr sz="1500" b="1">
                <a:solidFill>
                  <a:srgbClr val="00539F"/>
                </a:solidFill>
                <a:latin typeface="Arial"/>
                <a:ea typeface="Arial"/>
                <a:cs typeface="Arial"/>
              </a:defRPr>
            </a:lvl2pPr>
            <a:lvl3pPr>
              <a:defRPr sz="1500" b="1">
                <a:solidFill>
                  <a:srgbClr val="00539F"/>
                </a:solidFill>
                <a:latin typeface="Arial"/>
                <a:ea typeface="Arial"/>
                <a:cs typeface="Arial"/>
              </a:defRPr>
            </a:lvl3pPr>
            <a:lvl4pPr>
              <a:defRPr sz="1500" b="1">
                <a:solidFill>
                  <a:srgbClr val="00539F"/>
                </a:solidFill>
                <a:latin typeface="Arial"/>
                <a:ea typeface="Arial"/>
                <a:cs typeface="Arial"/>
              </a:defRPr>
            </a:lvl4pPr>
            <a:lvl5pPr>
              <a:defRPr sz="1500" b="1">
                <a:solidFill>
                  <a:srgbClr val="00539F"/>
                </a:solidFill>
                <a:latin typeface="Arial"/>
                <a:ea typeface="Arial"/>
                <a:cs typeface="Arial"/>
              </a:defRPr>
            </a:lvl5pPr>
            <a:lvl6pPr>
              <a:defRPr sz="1500" b="1">
                <a:solidFill>
                  <a:srgbClr val="00539F"/>
                </a:solidFill>
                <a:latin typeface="Arial"/>
                <a:ea typeface="Arial"/>
                <a:cs typeface="Arial"/>
              </a:defRPr>
            </a:lvl6pPr>
            <a:lvl7pPr>
              <a:defRPr sz="1500" b="1">
                <a:solidFill>
                  <a:srgbClr val="00539F"/>
                </a:solidFill>
                <a:latin typeface="Arial"/>
                <a:ea typeface="Arial"/>
                <a:cs typeface="Arial"/>
              </a:defRPr>
            </a:lvl7pPr>
            <a:lvl8pPr>
              <a:defRPr sz="1500" b="1">
                <a:solidFill>
                  <a:srgbClr val="00539F"/>
                </a:solidFill>
                <a:latin typeface="Arial"/>
                <a:ea typeface="Arial"/>
                <a:cs typeface="Arial"/>
              </a:defRPr>
            </a:lvl8pPr>
            <a:lvl9pPr>
              <a:defRPr sz="1500" b="1">
                <a:solidFill>
                  <a:srgbClr val="00539F"/>
                </a:solidFill>
                <a:latin typeface="Arial"/>
                <a:ea typeface="Arial"/>
                <a:cs typeface="Arial"/>
              </a:defRPr>
            </a:lvl9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BFS: shortest in number of edges</a:t>
            </a:r>
          </a:p>
        </p:txBody>
      </p:sp>
      <p:pic>
        <p:nvPicPr>
          <p:cNvPr id="6" name="">
            <a:extLst xmlns:a="http://schemas.openxmlformats.org/drawingml/2006/main">
              <a:ext uri="{FF2B5EF4-FFF2-40B4-BE49-F238E27FC236}">
                <a16:creationId xmlns:a16="http://schemas.microsoft.com/office/drawing/2014/main" id="{433E1787-2E4E-42D5-A74F-9190267B4AB1}"/>
              </a:ext>
            </a:extLst>
          </p:cNvPr>
          <p:cNvPicPr>
            <a:picLocks xmlns:a="http://schemas.openxmlformats.org/drawingml/2006/main" noChangeAspect="1"/>
          </p:cNvPicPr>
          <p:nvPr/>
        </p:nvPicPr>
        <p:blipFill>
          <a:blip xmlns:r="http://schemas.openxmlformats.org/officeDocument/2006/relationships" xmlns:a="http://schemas.openxmlformats.org/drawingml/2006/main" r:embed="R5dab3c77a3954910"/>
          <a:stretch xmlns:a="http://schemas.openxmlformats.org/drawingml/2006/main"/>
        </p:blipFill>
        <p:spPr>
          <a:xfrm xmlns:a="http://schemas.openxmlformats.org/drawingml/2006/main">
            <a:off x="4979136" y="1409700"/>
            <a:ext cx="3424354" cy="2095500"/>
          </a:xfrm>
          <a:prstGeom xmlns:a="http://schemas.openxmlformats.org/drawingml/2006/main" prst="rect">
            <a:avLst/>
          </a:prstGeom>
        </p:spPr>
      </p:pic>
      <p:sp>
        <p:nvSpPr>
          <p:cNvPr id="7" name="A*: lower total terrain cost">
            <a:extLst xmlns:a="http://schemas.openxmlformats.org/drawingml/2006/main">
              <a:ext uri="{FF2B5EF4-FFF2-40B4-BE49-F238E27FC236}">
                <a16:creationId xmlns:a16="http://schemas.microsoft.com/office/drawing/2014/main" id="{C680786F-37FB-406E-B8A8-AAB0DFEC771C}"/>
              </a:ext>
            </a:extLst>
          </p:cNvPr>
          <p:cNvSpPr>
            <a:spLocks xmlns:a="http://schemas.openxmlformats.org/drawingml/2006/main" noGrp="1"/>
          </p:cNvSpPr>
          <p:nvPr/>
        </p:nvSpPr>
        <p:spPr>
          <a:xfrm xmlns:a="http://schemas.openxmlformats.org/drawingml/2006/main">
            <a:off x="4762500" y="3533775"/>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vl1pPr>
              <a:defRPr sz="1500" b="1">
                <a:solidFill>
                  <a:srgbClr val="00539F"/>
                </a:solidFill>
                <a:latin typeface="Arial"/>
                <a:ea typeface="Arial"/>
                <a:cs typeface="Arial"/>
              </a:defRPr>
            </a:lvl1pPr>
            <a:lvl2pPr>
              <a:defRPr sz="1500" b="1">
                <a:solidFill>
                  <a:srgbClr val="00539F"/>
                </a:solidFill>
                <a:latin typeface="Arial"/>
                <a:ea typeface="Arial"/>
                <a:cs typeface="Arial"/>
              </a:defRPr>
            </a:lvl2pPr>
            <a:lvl3pPr>
              <a:defRPr sz="1500" b="1">
                <a:solidFill>
                  <a:srgbClr val="00539F"/>
                </a:solidFill>
                <a:latin typeface="Arial"/>
                <a:ea typeface="Arial"/>
                <a:cs typeface="Arial"/>
              </a:defRPr>
            </a:lvl3pPr>
            <a:lvl4pPr>
              <a:defRPr sz="1500" b="1">
                <a:solidFill>
                  <a:srgbClr val="00539F"/>
                </a:solidFill>
                <a:latin typeface="Arial"/>
                <a:ea typeface="Arial"/>
                <a:cs typeface="Arial"/>
              </a:defRPr>
            </a:lvl4pPr>
            <a:lvl5pPr>
              <a:defRPr sz="1500" b="1">
                <a:solidFill>
                  <a:srgbClr val="00539F"/>
                </a:solidFill>
                <a:latin typeface="Arial"/>
                <a:ea typeface="Arial"/>
                <a:cs typeface="Arial"/>
              </a:defRPr>
            </a:lvl5pPr>
            <a:lvl6pPr>
              <a:defRPr sz="1500" b="1">
                <a:solidFill>
                  <a:srgbClr val="00539F"/>
                </a:solidFill>
                <a:latin typeface="Arial"/>
                <a:ea typeface="Arial"/>
                <a:cs typeface="Arial"/>
              </a:defRPr>
            </a:lvl6pPr>
            <a:lvl7pPr>
              <a:defRPr sz="1500" b="1">
                <a:solidFill>
                  <a:srgbClr val="00539F"/>
                </a:solidFill>
                <a:latin typeface="Arial"/>
                <a:ea typeface="Arial"/>
                <a:cs typeface="Arial"/>
              </a:defRPr>
            </a:lvl7pPr>
            <a:lvl8pPr>
              <a:defRPr sz="1500" b="1">
                <a:solidFill>
                  <a:srgbClr val="00539F"/>
                </a:solidFill>
                <a:latin typeface="Arial"/>
                <a:ea typeface="Arial"/>
                <a:cs typeface="Arial"/>
              </a:defRPr>
            </a:lvl8pPr>
            <a:lvl9pPr>
              <a:defRPr sz="1500" b="1">
                <a:solidFill>
                  <a:srgbClr val="00539F"/>
                </a:solidFill>
                <a:latin typeface="Arial"/>
                <a:ea typeface="Arial"/>
                <a:cs typeface="Arial"/>
              </a:defRPr>
            </a:lvl9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A*: lower total terrain cost</a:t>
            </a:r>
          </a:p>
        </p:txBody>
      </p:sp>
      <p:sp>
        <p:nvSpPr>
          <p:cNvPr id="8" name="BFS crosses rough ground to use fewer steps.&#10;A* takes a longer r">
            <a:extLst xmlns:a="http://schemas.openxmlformats.org/drawingml/2006/main">
              <a:ext uri="{FF2B5EF4-FFF2-40B4-BE49-F238E27FC236}">
                <a16:creationId xmlns:a16="http://schemas.microsoft.com/office/drawing/2014/main" id="{634F4F82-596C-463E-BE9F-49945F8F4AEE}"/>
              </a:ext>
            </a:extLst>
          </p:cNvPr>
          <p:cNvSpPr>
            <a:spLocks xmlns:a="http://schemas.openxmlformats.org/drawingml/2006/main" noGrp="1"/>
          </p:cNvSpPr>
          <p:nvPr/>
        </p:nvSpPr>
        <p:spPr>
          <a:xfrm xmlns:a="http://schemas.openxmlformats.org/drawingml/2006/main">
            <a:off x="523875" y="3876675"/>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0">
                <a:solidFill>
                  <a:srgbClr val="17324D"/>
                </a:solidFill>
                <a:latin typeface="Arial"/>
                <a:ea typeface="Arial"/>
                <a:cs typeface="Arial"/>
              </a:defRPr>
            </a:defPPr>
            <a:lvl1pPr>
              <a:defRPr sz="1500" b="0">
                <a:solidFill>
                  <a:srgbClr val="17324D"/>
                </a:solidFill>
                <a:latin typeface="Arial"/>
                <a:ea typeface="Arial"/>
                <a:cs typeface="Arial"/>
              </a:defRPr>
            </a:lvl1pPr>
            <a:lvl2pPr>
              <a:defRPr sz="1500" b="0">
                <a:solidFill>
                  <a:srgbClr val="17324D"/>
                </a:solidFill>
                <a:latin typeface="Arial"/>
                <a:ea typeface="Arial"/>
                <a:cs typeface="Arial"/>
              </a:defRPr>
            </a:lvl2pPr>
            <a:lvl3pPr>
              <a:defRPr sz="1500" b="0">
                <a:solidFill>
                  <a:srgbClr val="17324D"/>
                </a:solidFill>
                <a:latin typeface="Arial"/>
                <a:ea typeface="Arial"/>
                <a:cs typeface="Arial"/>
              </a:defRPr>
            </a:lvl3pPr>
            <a:lvl4pPr>
              <a:defRPr sz="1500" b="0">
                <a:solidFill>
                  <a:srgbClr val="17324D"/>
                </a:solidFill>
                <a:latin typeface="Arial"/>
                <a:ea typeface="Arial"/>
                <a:cs typeface="Arial"/>
              </a:defRPr>
            </a:lvl4pPr>
            <a:lvl5pPr>
              <a:defRPr sz="1500" b="0">
                <a:solidFill>
                  <a:srgbClr val="17324D"/>
                </a:solidFill>
                <a:latin typeface="Arial"/>
                <a:ea typeface="Arial"/>
                <a:cs typeface="Arial"/>
              </a:defRPr>
            </a:lvl5pPr>
            <a:lvl6pPr>
              <a:defRPr sz="1500" b="0">
                <a:solidFill>
                  <a:srgbClr val="17324D"/>
                </a:solidFill>
                <a:latin typeface="Arial"/>
                <a:ea typeface="Arial"/>
                <a:cs typeface="Arial"/>
              </a:defRPr>
            </a:lvl6pPr>
            <a:lvl7pPr>
              <a:defRPr sz="1500" b="0">
                <a:solidFill>
                  <a:srgbClr val="17324D"/>
                </a:solidFill>
                <a:latin typeface="Arial"/>
                <a:ea typeface="Arial"/>
                <a:cs typeface="Arial"/>
              </a:defRPr>
            </a:lvl7pPr>
            <a:lvl8pPr>
              <a:defRPr sz="1500" b="0">
                <a:solidFill>
                  <a:srgbClr val="17324D"/>
                </a:solidFill>
                <a:latin typeface="Arial"/>
                <a:ea typeface="Arial"/>
                <a:cs typeface="Arial"/>
              </a:defRPr>
            </a:lvl8pPr>
            <a:lvl9pPr>
              <a:defRPr sz="1500" b="0">
                <a:solidFill>
                  <a:srgbClr val="17324D"/>
                </a:solidFill>
                <a:latin typeface="Arial"/>
                <a:ea typeface="Arial"/>
                <a:cs typeface="Arial"/>
              </a:defRPr>
            </a:lvl9pPr>
          </a:lstStyle>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BFS crosses rough ground to use fewer steps.</a:t>
            </a:r>
          </a:p>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A* takes a longer route with lower modeled cost.</a:t>
            </a:r>
          </a:p>
        </p:txBody>
      </p:sp>
      <p:sp>
        <p:nvSpPr>
          <p:cNvPr id="9" name="Yellow: terrain cost 6 · Cyan overlay: expanded cells · Blue: ro">
            <a:extLst xmlns:a="http://schemas.openxmlformats.org/drawingml/2006/main">
              <a:ext uri="{FF2B5EF4-FFF2-40B4-BE49-F238E27FC236}">
                <a16:creationId xmlns:a16="http://schemas.microsoft.com/office/drawing/2014/main" id="{78CB1C6B-B9DD-4E9F-9FC6-FBB9278E0632}"/>
              </a:ext>
            </a:extLst>
          </p:cNvPr>
          <p:cNvSpPr>
            <a:spLocks xmlns:a="http://schemas.openxmlformats.org/drawingml/2006/main" noGrp="1"/>
          </p:cNvSpPr>
          <p:nvPr/>
        </p:nvSpPr>
        <p:spPr>
          <a:xfrm xmlns:a="http://schemas.openxmlformats.org/drawingml/2006/main">
            <a:off x="523875" y="43148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75" b="0">
                <a:solidFill>
                  <a:srgbClr val="17324D"/>
                </a:solidFill>
                <a:latin typeface="Arial"/>
                <a:ea typeface="Arial"/>
                <a:cs typeface="Arial"/>
              </a:defRPr>
            </a:defPPr>
            <a:lvl1pPr>
              <a:defRPr sz="1275" b="0">
                <a:solidFill>
                  <a:srgbClr val="17324D"/>
                </a:solidFill>
                <a:latin typeface="Arial"/>
                <a:ea typeface="Arial"/>
                <a:cs typeface="Arial"/>
              </a:defRPr>
            </a:lvl1pPr>
            <a:lvl2pPr>
              <a:defRPr sz="1275" b="0">
                <a:solidFill>
                  <a:srgbClr val="17324D"/>
                </a:solidFill>
                <a:latin typeface="Arial"/>
                <a:ea typeface="Arial"/>
                <a:cs typeface="Arial"/>
              </a:defRPr>
            </a:lvl2pPr>
            <a:lvl3pPr>
              <a:defRPr sz="1275" b="0">
                <a:solidFill>
                  <a:srgbClr val="17324D"/>
                </a:solidFill>
                <a:latin typeface="Arial"/>
                <a:ea typeface="Arial"/>
                <a:cs typeface="Arial"/>
              </a:defRPr>
            </a:lvl3pPr>
            <a:lvl4pPr>
              <a:defRPr sz="1275" b="0">
                <a:solidFill>
                  <a:srgbClr val="17324D"/>
                </a:solidFill>
                <a:latin typeface="Arial"/>
                <a:ea typeface="Arial"/>
                <a:cs typeface="Arial"/>
              </a:defRPr>
            </a:lvl4pPr>
            <a:lvl5pPr>
              <a:defRPr sz="1275" b="0">
                <a:solidFill>
                  <a:srgbClr val="17324D"/>
                </a:solidFill>
                <a:latin typeface="Arial"/>
                <a:ea typeface="Arial"/>
                <a:cs typeface="Arial"/>
              </a:defRPr>
            </a:lvl5pPr>
            <a:lvl6pPr>
              <a:defRPr sz="1275" b="0">
                <a:solidFill>
                  <a:srgbClr val="17324D"/>
                </a:solidFill>
                <a:latin typeface="Arial"/>
                <a:ea typeface="Arial"/>
                <a:cs typeface="Arial"/>
              </a:defRPr>
            </a:lvl6pPr>
            <a:lvl7pPr>
              <a:defRPr sz="1275" b="0">
                <a:solidFill>
                  <a:srgbClr val="17324D"/>
                </a:solidFill>
                <a:latin typeface="Arial"/>
                <a:ea typeface="Arial"/>
                <a:cs typeface="Arial"/>
              </a:defRPr>
            </a:lvl7pPr>
            <a:lvl8pPr>
              <a:defRPr sz="1275" b="0">
                <a:solidFill>
                  <a:srgbClr val="17324D"/>
                </a:solidFill>
                <a:latin typeface="Arial"/>
                <a:ea typeface="Arial"/>
                <a:cs typeface="Arial"/>
              </a:defRPr>
            </a:lvl8pPr>
            <a:lvl9pPr>
              <a:defRPr sz="1275" b="0">
                <a:solidFill>
                  <a:srgbClr val="17324D"/>
                </a:solidFill>
                <a:latin typeface="Arial"/>
                <a:ea typeface="Arial"/>
                <a:cs typeface="Arial"/>
              </a:defRPr>
            </a:lvl9pPr>
          </a:lstStyle>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Yellow: terrain cost 6 · Cyan overlay: expanded cells · Blue: route</a:t>
            </a:r>
          </a:p>
        </p:txBody>
      </p:sp>
      <p:sp>
        <p:nvSpPr>
          <p:cNvPr id="10" name="Open interactive experiment">
            <a:extLst xmlns:a="http://schemas.openxmlformats.org/drawingml/2006/main">
              <a:ext uri="{FF2B5EF4-FFF2-40B4-BE49-F238E27FC236}">
                <a16:creationId xmlns:a16="http://schemas.microsoft.com/office/drawing/2014/main" id="{8F25CFEC-17C6-47D4-BAC6-7880C6828319}"/>
              </a:ext>
            </a:extLst>
          </p:cNvPr>
          <p:cNvSpPr>
            <a:spLocks xmlns:a="http://schemas.openxmlformats.org/drawingml/2006/main" noGrp="1"/>
          </p:cNvSpPr>
          <p:nvPr/>
        </p:nvSpPr>
        <p:spPr>
          <a:xfrm xmlns:a="http://schemas.openxmlformats.org/drawingml/2006/main">
            <a:off x="523875" y="469582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80a84e209fb248ef"/>
              </a:rPr>
              <a:t>Open interactive experiment</a:t>
            </a:r>
          </a:p>
        </p:txBody>
      </p:sp>
    </p:spTree>
    <p:extLst>
      <p:ext uri="{BB962C8B-B14F-4D97-AF65-F5344CB8AC3E}">
        <p14:creationId xmlns:p14="http://schemas.microsoft.com/office/powerpoint/2010/main" val="5956169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BB35458-5B15-4866-A297-8984DCC00E92}"/>
              </a:ext>
            </a:extLst>
          </p:cNvPr>
          <p:cNvPicPr>
            <a:picLocks xmlns:a="http://schemas.openxmlformats.org/drawingml/2006/main" noChangeAspect="1"/>
          </p:cNvPicPr>
          <p:nvPr/>
        </p:nvPicPr>
        <p:blipFill>
          <a:blip xmlns:r="http://schemas.openxmlformats.org/officeDocument/2006/relationships" xmlns:a="http://schemas.openxmlformats.org/drawingml/2006/main" r:embed="Rd5a3cf86125f4882"/>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A* search">
            <a:extLst xmlns:a="http://schemas.openxmlformats.org/drawingml/2006/main">
              <a:ext uri="{FF2B5EF4-FFF2-40B4-BE49-F238E27FC236}">
                <a16:creationId xmlns:a16="http://schemas.microsoft.com/office/drawing/2014/main" id="{0C9C5846-67CC-4B96-8B91-86EE32A6A0D8}"/>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 search</a:t>
            </a:r>
          </a:p>
        </p:txBody>
      </p:sp>
      <p:sp>
        <p:nvSpPr>
          <p:cNvPr id="3" name="9">
            <a:extLst xmlns:a="http://schemas.openxmlformats.org/drawingml/2006/main">
              <a:ext uri="{FF2B5EF4-FFF2-40B4-BE49-F238E27FC236}">
                <a16:creationId xmlns:a16="http://schemas.microsoft.com/office/drawing/2014/main" id="{5889F700-8FD0-42D4-B018-28ECC20318EE}"/>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9</a:t>
            </a:r>
          </a:p>
        </p:txBody>
      </p:sp>
      <p:pic>
        <p:nvPicPr>
          <p:cNvPr id="4" name="">
            <a:extLst xmlns:a="http://schemas.openxmlformats.org/drawingml/2006/main">
              <a:ext uri="{FF2B5EF4-FFF2-40B4-BE49-F238E27FC236}">
                <a16:creationId xmlns:a16="http://schemas.microsoft.com/office/drawing/2014/main" id="{16F53BED-126F-43BB-BDA9-BBCE1AF1AEE3}"/>
              </a:ext>
            </a:extLst>
          </p:cNvPr>
          <p:cNvPicPr>
            <a:picLocks xmlns:a="http://schemas.openxmlformats.org/drawingml/2006/main" noChangeAspect="1"/>
          </p:cNvPicPr>
          <p:nvPr/>
        </p:nvPicPr>
        <p:blipFill>
          <a:blip xmlns:r="http://schemas.openxmlformats.org/officeDocument/2006/relationships" xmlns:a="http://schemas.openxmlformats.org/drawingml/2006/main" r:embed="R68171fb72aed4c53"/>
          <a:stretch xmlns:a="http://schemas.openxmlformats.org/drawingml/2006/main"/>
        </p:blipFill>
        <p:spPr>
          <a:xfrm xmlns:a="http://schemas.openxmlformats.org/drawingml/2006/main">
            <a:off x="959353" y="1400175"/>
            <a:ext cx="4358268" cy="2667000"/>
          </a:xfrm>
          <a:prstGeom xmlns:a="http://schemas.openxmlformats.org/drawingml/2006/main" prst="rect">
            <a:avLst/>
          </a:prstGeom>
        </p:spPr>
      </p:pic>
      <p:sp>
        <p:nvSpPr>
          <p:cNvPr id="5" name="g measures the cost already spent.&#10;&#10;h estimates the remaining co">
            <a:extLst xmlns:a="http://schemas.openxmlformats.org/drawingml/2006/main">
              <a:ext uri="{FF2B5EF4-FFF2-40B4-BE49-F238E27FC236}">
                <a16:creationId xmlns:a16="http://schemas.microsoft.com/office/drawing/2014/main" id="{C5992A77-550F-44EF-8F20-0DA0E8563821}"/>
              </a:ext>
            </a:extLst>
          </p:cNvPr>
          <p:cNvSpPr>
            <a:spLocks xmlns:a="http://schemas.openxmlformats.org/drawingml/2006/main" noGrp="1"/>
          </p:cNvSpPr>
          <p:nvPr/>
        </p:nvSpPr>
        <p:spPr>
          <a:xfrm xmlns:a="http://schemas.openxmlformats.org/drawingml/2006/main">
            <a:off x="6029325" y="1428750"/>
            <a:ext cx="2619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vl1pPr>
              <a:defRPr sz="1650" b="0">
                <a:solidFill>
                  <a:srgbClr val="17324D"/>
                </a:solidFill>
                <a:latin typeface="Arial"/>
                <a:ea typeface="Arial"/>
                <a:cs typeface="Arial"/>
              </a:defRPr>
            </a:lvl1pPr>
            <a:lvl2pPr>
              <a:defRPr sz="1650" b="0">
                <a:solidFill>
                  <a:srgbClr val="17324D"/>
                </a:solidFill>
                <a:latin typeface="Arial"/>
                <a:ea typeface="Arial"/>
                <a:cs typeface="Arial"/>
              </a:defRPr>
            </a:lvl2pPr>
            <a:lvl3pPr>
              <a:defRPr sz="1650" b="0">
                <a:solidFill>
                  <a:srgbClr val="17324D"/>
                </a:solidFill>
                <a:latin typeface="Arial"/>
                <a:ea typeface="Arial"/>
                <a:cs typeface="Arial"/>
              </a:defRPr>
            </a:lvl3pPr>
            <a:lvl4pPr>
              <a:defRPr sz="1650" b="0">
                <a:solidFill>
                  <a:srgbClr val="17324D"/>
                </a:solidFill>
                <a:latin typeface="Arial"/>
                <a:ea typeface="Arial"/>
                <a:cs typeface="Arial"/>
              </a:defRPr>
            </a:lvl4pPr>
            <a:lvl5pPr>
              <a:defRPr sz="1650" b="0">
                <a:solidFill>
                  <a:srgbClr val="17324D"/>
                </a:solidFill>
                <a:latin typeface="Arial"/>
                <a:ea typeface="Arial"/>
                <a:cs typeface="Arial"/>
              </a:defRPr>
            </a:lvl5pPr>
            <a:lvl6pPr>
              <a:defRPr sz="1650" b="0">
                <a:solidFill>
                  <a:srgbClr val="17324D"/>
                </a:solidFill>
                <a:latin typeface="Arial"/>
                <a:ea typeface="Arial"/>
                <a:cs typeface="Arial"/>
              </a:defRPr>
            </a:lvl6pPr>
            <a:lvl7pPr>
              <a:defRPr sz="1650" b="0">
                <a:solidFill>
                  <a:srgbClr val="17324D"/>
                </a:solidFill>
                <a:latin typeface="Arial"/>
                <a:ea typeface="Arial"/>
                <a:cs typeface="Arial"/>
              </a:defRPr>
            </a:lvl7pPr>
            <a:lvl8pPr>
              <a:defRPr sz="1650" b="0">
                <a:solidFill>
                  <a:srgbClr val="17324D"/>
                </a:solidFill>
                <a:latin typeface="Arial"/>
                <a:ea typeface="Arial"/>
                <a:cs typeface="Arial"/>
              </a:defRPr>
            </a:lvl8pPr>
            <a:lvl9pPr>
              <a:defRPr sz="1650" b="0">
                <a:solidFill>
                  <a:srgbClr val="17324D"/>
                </a:solidFill>
                <a:latin typeface="Arial"/>
                <a:ea typeface="Arial"/>
                <a:cs typeface="Arial"/>
              </a:defRPr>
            </a:lvl9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g measures the cost already spent.</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h estimates the remaining cost.</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 expands the state with the lowest g + h.</a:t>
            </a:r>
          </a:p>
        </p:txBody>
      </p:sp>
      <p:sp>
        <p:nvSpPr>
          <p:cNvPr id="6" name="Cyan: expanded cells · Blue: final route · Dark navy: obstacles">
            <a:extLst xmlns:a="http://schemas.openxmlformats.org/drawingml/2006/main">
              <a:ext uri="{FF2B5EF4-FFF2-40B4-BE49-F238E27FC236}">
                <a16:creationId xmlns:a16="http://schemas.microsoft.com/office/drawing/2014/main" id="{A194EF8D-80A6-4FD0-8679-308919AC9761}"/>
              </a:ext>
            </a:extLst>
          </p:cNvPr>
          <p:cNvSpPr>
            <a:spLocks xmlns:a="http://schemas.openxmlformats.org/drawingml/2006/main" noGrp="1"/>
          </p:cNvSpPr>
          <p:nvPr/>
        </p:nvSpPr>
        <p:spPr>
          <a:xfrm xmlns:a="http://schemas.openxmlformats.org/drawingml/2006/main">
            <a:off x="523875" y="417195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17324D"/>
                </a:solidFill>
                <a:latin typeface="Arial"/>
                <a:ea typeface="Arial"/>
                <a:cs typeface="Arial"/>
              </a:defRPr>
            </a:defPPr>
            <a:lvl1pPr>
              <a:defRPr sz="1350" b="0">
                <a:solidFill>
                  <a:srgbClr val="17324D"/>
                </a:solidFill>
                <a:latin typeface="Arial"/>
                <a:ea typeface="Arial"/>
                <a:cs typeface="Arial"/>
              </a:defRPr>
            </a:lvl1pPr>
            <a:lvl2pPr>
              <a:defRPr sz="1350" b="0">
                <a:solidFill>
                  <a:srgbClr val="17324D"/>
                </a:solidFill>
                <a:latin typeface="Arial"/>
                <a:ea typeface="Arial"/>
                <a:cs typeface="Arial"/>
              </a:defRPr>
            </a:lvl2pPr>
            <a:lvl3pPr>
              <a:defRPr sz="1350" b="0">
                <a:solidFill>
                  <a:srgbClr val="17324D"/>
                </a:solidFill>
                <a:latin typeface="Arial"/>
                <a:ea typeface="Arial"/>
                <a:cs typeface="Arial"/>
              </a:defRPr>
            </a:lvl3pPr>
            <a:lvl4pPr>
              <a:defRPr sz="1350" b="0">
                <a:solidFill>
                  <a:srgbClr val="17324D"/>
                </a:solidFill>
                <a:latin typeface="Arial"/>
                <a:ea typeface="Arial"/>
                <a:cs typeface="Arial"/>
              </a:defRPr>
            </a:lvl4pPr>
            <a:lvl5pPr>
              <a:defRPr sz="1350" b="0">
                <a:solidFill>
                  <a:srgbClr val="17324D"/>
                </a:solidFill>
                <a:latin typeface="Arial"/>
                <a:ea typeface="Arial"/>
                <a:cs typeface="Arial"/>
              </a:defRPr>
            </a:lvl5pPr>
            <a:lvl6pPr>
              <a:defRPr sz="1350" b="0">
                <a:solidFill>
                  <a:srgbClr val="17324D"/>
                </a:solidFill>
                <a:latin typeface="Arial"/>
                <a:ea typeface="Arial"/>
                <a:cs typeface="Arial"/>
              </a:defRPr>
            </a:lvl6pPr>
            <a:lvl7pPr>
              <a:defRPr sz="1350" b="0">
                <a:solidFill>
                  <a:srgbClr val="17324D"/>
                </a:solidFill>
                <a:latin typeface="Arial"/>
                <a:ea typeface="Arial"/>
                <a:cs typeface="Arial"/>
              </a:defRPr>
            </a:lvl7pPr>
            <a:lvl8pPr>
              <a:defRPr sz="1350" b="0">
                <a:solidFill>
                  <a:srgbClr val="17324D"/>
                </a:solidFill>
                <a:latin typeface="Arial"/>
                <a:ea typeface="Arial"/>
                <a:cs typeface="Arial"/>
              </a:defRPr>
            </a:lvl8pPr>
            <a:lvl9pPr>
              <a:defRPr sz="1350" b="0">
                <a:solidFill>
                  <a:srgbClr val="17324D"/>
                </a:solidFill>
                <a:latin typeface="Arial"/>
                <a:ea typeface="Arial"/>
                <a:cs typeface="Arial"/>
              </a:defRPr>
            </a:lvl9pPr>
          </a:lstStyle>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Cyan: expanded cells · Blue: final route · Dark navy: obstacles</a:t>
            </a:r>
          </a:p>
        </p:txBody>
      </p:sp>
      <p:sp>
        <p:nvSpPr>
          <p:cNvPr id="7" name="Open interactive experiment">
            <a:extLst xmlns:a="http://schemas.openxmlformats.org/drawingml/2006/main">
              <a:ext uri="{FF2B5EF4-FFF2-40B4-BE49-F238E27FC236}">
                <a16:creationId xmlns:a16="http://schemas.microsoft.com/office/drawing/2014/main" id="{2994D5C6-5004-4265-AACA-6213DC48B198}"/>
              </a:ext>
            </a:extLst>
          </p:cNvPr>
          <p:cNvSpPr>
            <a:spLocks xmlns:a="http://schemas.openxmlformats.org/drawingml/2006/main" noGrp="1"/>
          </p:cNvSpPr>
          <p:nvPr/>
        </p:nvSpPr>
        <p:spPr>
          <a:xfrm xmlns:a="http://schemas.openxmlformats.org/drawingml/2006/main">
            <a:off x="523875" y="46291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01a7bb1000504ed7"/>
              </a:rPr>
              <a:t>Open interactive experiment</a:t>
            </a:r>
          </a:p>
        </p:txBody>
      </p:sp>
    </p:spTree>
    <p:extLst>
      <p:ext uri="{BB962C8B-B14F-4D97-AF65-F5344CB8AC3E}">
        <p14:creationId xmlns:p14="http://schemas.microsoft.com/office/powerpoint/2010/main" val="199738324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C3E97C1-7BDD-4D88-9FA6-85C9E1C4687E}"/>
              </a:ext>
            </a:extLst>
          </p:cNvPr>
          <p:cNvPicPr>
            <a:picLocks xmlns:a="http://schemas.openxmlformats.org/drawingml/2006/main" noChangeAspect="1"/>
          </p:cNvPicPr>
          <p:nvPr/>
        </p:nvPicPr>
        <p:blipFill>
          <a:blip xmlns:r="http://schemas.openxmlformats.org/officeDocument/2006/relationships" xmlns:a="http://schemas.openxmlformats.org/drawingml/2006/main" r:embed="R67c11ba0603e4493"/>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A* priority calculation">
            <a:extLst xmlns:a="http://schemas.openxmlformats.org/drawingml/2006/main">
              <a:ext uri="{FF2B5EF4-FFF2-40B4-BE49-F238E27FC236}">
                <a16:creationId xmlns:a16="http://schemas.microsoft.com/office/drawing/2014/main" id="{857F96B2-5FA5-4DA7-88BD-493778673F47}"/>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 priority calculation</a:t>
            </a:r>
          </a:p>
        </p:txBody>
      </p:sp>
      <p:sp>
        <p:nvSpPr>
          <p:cNvPr id="3" name="10">
            <a:extLst xmlns:a="http://schemas.openxmlformats.org/drawingml/2006/main">
              <a:ext uri="{FF2B5EF4-FFF2-40B4-BE49-F238E27FC236}">
                <a16:creationId xmlns:a16="http://schemas.microsoft.com/office/drawing/2014/main" id="{6A880DA4-EAF0-4665-BE68-B42E6C4052F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10</a:t>
            </a:r>
          </a:p>
        </p:txBody>
      </p:sp>
      <p:sp>
        <p:nvSpPr>
          <p:cNvPr id="4" name="f(n) = g(n) + h(n)">
            <a:extLst xmlns:a="http://schemas.openxmlformats.org/drawingml/2006/main">
              <a:ext uri="{FF2B5EF4-FFF2-40B4-BE49-F238E27FC236}">
                <a16:creationId xmlns:a16="http://schemas.microsoft.com/office/drawing/2014/main" id="{5442ACB7-3FEF-4F81-8573-04E66DA19573}"/>
              </a:ext>
            </a:extLst>
          </p:cNvPr>
          <p:cNvSpPr>
            <a:spLocks xmlns:a="http://schemas.openxmlformats.org/drawingml/2006/main" noGrp="1"/>
          </p:cNvSpPr>
          <p:nvPr/>
        </p:nvSpPr>
        <p:spPr>
          <a:xfrm xmlns:a="http://schemas.openxmlformats.org/drawingml/2006/main">
            <a:off x="619125" y="1457325"/>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1">
                <a:solidFill>
                  <a:srgbClr val="00539F"/>
                </a:solidFill>
                <a:latin typeface="Arial"/>
                <a:ea typeface="Arial"/>
                <a:cs typeface="Arial"/>
              </a:defRPr>
            </a:defPPr>
            <a:lvl1pPr>
              <a:defRPr sz="2400" b="1">
                <a:solidFill>
                  <a:srgbClr val="00539F"/>
                </a:solidFill>
                <a:latin typeface="Arial"/>
                <a:ea typeface="Arial"/>
                <a:cs typeface="Arial"/>
              </a:defRPr>
            </a:lvl1pPr>
            <a:lvl2pPr>
              <a:defRPr sz="2400" b="1">
                <a:solidFill>
                  <a:srgbClr val="00539F"/>
                </a:solidFill>
                <a:latin typeface="Arial"/>
                <a:ea typeface="Arial"/>
                <a:cs typeface="Arial"/>
              </a:defRPr>
            </a:lvl2pPr>
            <a:lvl3pPr>
              <a:defRPr sz="2400" b="1">
                <a:solidFill>
                  <a:srgbClr val="00539F"/>
                </a:solidFill>
                <a:latin typeface="Arial"/>
                <a:ea typeface="Arial"/>
                <a:cs typeface="Arial"/>
              </a:defRPr>
            </a:lvl3pPr>
            <a:lvl4pPr>
              <a:defRPr sz="2400" b="1">
                <a:solidFill>
                  <a:srgbClr val="00539F"/>
                </a:solidFill>
                <a:latin typeface="Arial"/>
                <a:ea typeface="Arial"/>
                <a:cs typeface="Arial"/>
              </a:defRPr>
            </a:lvl4pPr>
            <a:lvl5pPr>
              <a:defRPr sz="2400" b="1">
                <a:solidFill>
                  <a:srgbClr val="00539F"/>
                </a:solidFill>
                <a:latin typeface="Arial"/>
                <a:ea typeface="Arial"/>
                <a:cs typeface="Arial"/>
              </a:defRPr>
            </a:lvl5pPr>
            <a:lvl6pPr>
              <a:defRPr sz="2400" b="1">
                <a:solidFill>
                  <a:srgbClr val="00539F"/>
                </a:solidFill>
                <a:latin typeface="Arial"/>
                <a:ea typeface="Arial"/>
                <a:cs typeface="Arial"/>
              </a:defRPr>
            </a:lvl6pPr>
            <a:lvl7pPr>
              <a:defRPr sz="2400" b="1">
                <a:solidFill>
                  <a:srgbClr val="00539F"/>
                </a:solidFill>
                <a:latin typeface="Arial"/>
                <a:ea typeface="Arial"/>
                <a:cs typeface="Arial"/>
              </a:defRPr>
            </a:lvl7pPr>
            <a:lvl8pPr>
              <a:defRPr sz="2400" b="1">
                <a:solidFill>
                  <a:srgbClr val="00539F"/>
                </a:solidFill>
                <a:latin typeface="Arial"/>
                <a:ea typeface="Arial"/>
                <a:cs typeface="Arial"/>
              </a:defRPr>
            </a:lvl8pPr>
            <a:lvl9pPr>
              <a:defRPr sz="2400" b="1">
                <a:solidFill>
                  <a:srgbClr val="00539F"/>
                </a:solidFill>
                <a:latin typeface="Arial"/>
                <a:ea typeface="Arial"/>
                <a:cs typeface="Arial"/>
              </a:defRPr>
            </a:lvl9pPr>
          </a:lstStyle>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f(n) = g(n) + h(n)</a:t>
            </a:r>
          </a:p>
        </p:txBody>
      </p:sp>
      <p:sp>
        <p:nvSpPr>
          <p:cNvPr id="5" name="A: 6 + 11 = 17       B: 9 + 8 = 17">
            <a:extLst xmlns:a="http://schemas.openxmlformats.org/drawingml/2006/main">
              <a:ext uri="{FF2B5EF4-FFF2-40B4-BE49-F238E27FC236}">
                <a16:creationId xmlns:a16="http://schemas.microsoft.com/office/drawing/2014/main" id="{8408171D-E028-4E58-921E-E5F44CE7F601}"/>
              </a:ext>
            </a:extLst>
          </p:cNvPr>
          <p:cNvSpPr>
            <a:spLocks xmlns:a="http://schemas.openxmlformats.org/drawingml/2006/main" noGrp="1"/>
          </p:cNvSpPr>
          <p:nvPr/>
        </p:nvSpPr>
        <p:spPr>
          <a:xfrm xmlns:a="http://schemas.openxmlformats.org/drawingml/2006/main">
            <a:off x="619125" y="2047875"/>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0">
                <a:solidFill>
                  <a:srgbClr val="00539F"/>
                </a:solidFill>
                <a:latin typeface="Arial"/>
                <a:ea typeface="Arial"/>
                <a:cs typeface="Arial"/>
              </a:defRPr>
            </a:defPPr>
            <a:lvl1pPr>
              <a:defRPr sz="2400" b="0">
                <a:solidFill>
                  <a:srgbClr val="00539F"/>
                </a:solidFill>
                <a:latin typeface="Arial"/>
                <a:ea typeface="Arial"/>
                <a:cs typeface="Arial"/>
              </a:defRPr>
            </a:lvl1pPr>
            <a:lvl2pPr>
              <a:defRPr sz="2400" b="0">
                <a:solidFill>
                  <a:srgbClr val="00539F"/>
                </a:solidFill>
                <a:latin typeface="Arial"/>
                <a:ea typeface="Arial"/>
                <a:cs typeface="Arial"/>
              </a:defRPr>
            </a:lvl2pPr>
            <a:lvl3pPr>
              <a:defRPr sz="2400" b="0">
                <a:solidFill>
                  <a:srgbClr val="00539F"/>
                </a:solidFill>
                <a:latin typeface="Arial"/>
                <a:ea typeface="Arial"/>
                <a:cs typeface="Arial"/>
              </a:defRPr>
            </a:lvl3pPr>
            <a:lvl4pPr>
              <a:defRPr sz="2400" b="0">
                <a:solidFill>
                  <a:srgbClr val="00539F"/>
                </a:solidFill>
                <a:latin typeface="Arial"/>
                <a:ea typeface="Arial"/>
                <a:cs typeface="Arial"/>
              </a:defRPr>
            </a:lvl4pPr>
            <a:lvl5pPr>
              <a:defRPr sz="2400" b="0">
                <a:solidFill>
                  <a:srgbClr val="00539F"/>
                </a:solidFill>
                <a:latin typeface="Arial"/>
                <a:ea typeface="Arial"/>
                <a:cs typeface="Arial"/>
              </a:defRPr>
            </a:lvl5pPr>
            <a:lvl6pPr>
              <a:defRPr sz="2400" b="0">
                <a:solidFill>
                  <a:srgbClr val="00539F"/>
                </a:solidFill>
                <a:latin typeface="Arial"/>
                <a:ea typeface="Arial"/>
                <a:cs typeface="Arial"/>
              </a:defRPr>
            </a:lvl6pPr>
            <a:lvl7pPr>
              <a:defRPr sz="2400" b="0">
                <a:solidFill>
                  <a:srgbClr val="00539F"/>
                </a:solidFill>
                <a:latin typeface="Arial"/>
                <a:ea typeface="Arial"/>
                <a:cs typeface="Arial"/>
              </a:defRPr>
            </a:lvl7pPr>
            <a:lvl8pPr>
              <a:defRPr sz="2400" b="0">
                <a:solidFill>
                  <a:srgbClr val="00539F"/>
                </a:solidFill>
                <a:latin typeface="Arial"/>
                <a:ea typeface="Arial"/>
                <a:cs typeface="Arial"/>
              </a:defRPr>
            </a:lvl8pPr>
            <a:lvl9pPr>
              <a:defRPr sz="2400" b="0">
                <a:solidFill>
                  <a:srgbClr val="00539F"/>
                </a:solidFill>
                <a:latin typeface="Arial"/>
                <a:ea typeface="Arial"/>
                <a:cs typeface="Arial"/>
              </a:defRPr>
            </a:lvl9pPr>
          </a:lstStyle>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A: 6 + 11 = 17       B: 9 + 8 = 17</a:t>
            </a:r>
          </a:p>
        </p:txBody>
      </p:sp>
      <p:sp>
        <p:nvSpPr>
          <p:cNvPr id="6" name="Both candidates have a priority of 17.&#10;&#10;Tie breaking affects exp">
            <a:extLst xmlns:a="http://schemas.openxmlformats.org/drawingml/2006/main">
              <a:ext uri="{FF2B5EF4-FFF2-40B4-BE49-F238E27FC236}">
                <a16:creationId xmlns:a16="http://schemas.microsoft.com/office/drawing/2014/main" id="{45406F76-3274-40DA-A726-25E41F6EC35F}"/>
              </a:ext>
            </a:extLst>
          </p:cNvPr>
          <p:cNvSpPr>
            <a:spLocks xmlns:a="http://schemas.openxmlformats.org/drawingml/2006/main" noGrp="1"/>
          </p:cNvSpPr>
          <p:nvPr/>
        </p:nvSpPr>
        <p:spPr>
          <a:xfrm xmlns:a="http://schemas.openxmlformats.org/drawingml/2006/main">
            <a:off x="619125" y="3476625"/>
            <a:ext cx="790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17324D"/>
                </a:solidFill>
                <a:latin typeface="Arial"/>
                <a:ea typeface="Arial"/>
                <a:cs typeface="Arial"/>
              </a:defRPr>
            </a:defPPr>
            <a:lvl1pPr>
              <a:defRPr sz="1725" b="0">
                <a:solidFill>
                  <a:srgbClr val="17324D"/>
                </a:solidFill>
                <a:latin typeface="Arial"/>
                <a:ea typeface="Arial"/>
                <a:cs typeface="Arial"/>
              </a:defRPr>
            </a:lvl1pPr>
            <a:lvl2pPr>
              <a:defRPr sz="1725" b="0">
                <a:solidFill>
                  <a:srgbClr val="17324D"/>
                </a:solidFill>
                <a:latin typeface="Arial"/>
                <a:ea typeface="Arial"/>
                <a:cs typeface="Arial"/>
              </a:defRPr>
            </a:lvl2pPr>
            <a:lvl3pPr>
              <a:defRPr sz="1725" b="0">
                <a:solidFill>
                  <a:srgbClr val="17324D"/>
                </a:solidFill>
                <a:latin typeface="Arial"/>
                <a:ea typeface="Arial"/>
                <a:cs typeface="Arial"/>
              </a:defRPr>
            </a:lvl3pPr>
            <a:lvl4pPr>
              <a:defRPr sz="1725" b="0">
                <a:solidFill>
                  <a:srgbClr val="17324D"/>
                </a:solidFill>
                <a:latin typeface="Arial"/>
                <a:ea typeface="Arial"/>
                <a:cs typeface="Arial"/>
              </a:defRPr>
            </a:lvl4pPr>
            <a:lvl5pPr>
              <a:defRPr sz="1725" b="0">
                <a:solidFill>
                  <a:srgbClr val="17324D"/>
                </a:solidFill>
                <a:latin typeface="Arial"/>
                <a:ea typeface="Arial"/>
                <a:cs typeface="Arial"/>
              </a:defRPr>
            </a:lvl5pPr>
            <a:lvl6pPr>
              <a:defRPr sz="1725" b="0">
                <a:solidFill>
                  <a:srgbClr val="17324D"/>
                </a:solidFill>
                <a:latin typeface="Arial"/>
                <a:ea typeface="Arial"/>
                <a:cs typeface="Arial"/>
              </a:defRPr>
            </a:lvl6pPr>
            <a:lvl7pPr>
              <a:defRPr sz="1725" b="0">
                <a:solidFill>
                  <a:srgbClr val="17324D"/>
                </a:solidFill>
                <a:latin typeface="Arial"/>
                <a:ea typeface="Arial"/>
                <a:cs typeface="Arial"/>
              </a:defRPr>
            </a:lvl7pPr>
            <a:lvl8pPr>
              <a:defRPr sz="1725" b="0">
                <a:solidFill>
                  <a:srgbClr val="17324D"/>
                </a:solidFill>
                <a:latin typeface="Arial"/>
                <a:ea typeface="Arial"/>
                <a:cs typeface="Arial"/>
              </a:defRPr>
            </a:lvl8pPr>
            <a:lvl9pPr>
              <a:defRPr sz="1725" b="0">
                <a:solidFill>
                  <a:srgbClr val="17324D"/>
                </a:solidFill>
                <a:latin typeface="Arial"/>
                <a:ea typeface="Arial"/>
                <a:cs typeface="Arial"/>
              </a:defRPr>
            </a:lvl9pPr>
          </a:lstStyle>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Both candidates have a priority of 17.</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Tie breaking affects expansion order, even when the optimal cost is unchanged.</a:t>
            </a:r>
          </a:p>
        </p:txBody>
      </p:sp>
    </p:spTree>
    <p:extLst>
      <p:ext uri="{BB962C8B-B14F-4D97-AF65-F5344CB8AC3E}">
        <p14:creationId xmlns:p14="http://schemas.microsoft.com/office/powerpoint/2010/main" val="214052795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FAFFBE4-73D7-4FD8-A771-C10D9A70974F}"/>
              </a:ext>
            </a:extLst>
          </p:cNvPr>
          <p:cNvPicPr>
            <a:picLocks xmlns:a="http://schemas.openxmlformats.org/drawingml/2006/main" noChangeAspect="1"/>
          </p:cNvPicPr>
          <p:nvPr/>
        </p:nvPicPr>
        <p:blipFill>
          <a:blip xmlns:r="http://schemas.openxmlformats.org/officeDocument/2006/relationships" xmlns:a="http://schemas.openxmlformats.org/drawingml/2006/main" r:embed="R70b51e9e30774a98"/>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Heuristic assumptions">
            <a:extLst xmlns:a="http://schemas.openxmlformats.org/drawingml/2006/main">
              <a:ext uri="{FF2B5EF4-FFF2-40B4-BE49-F238E27FC236}">
                <a16:creationId xmlns:a16="http://schemas.microsoft.com/office/drawing/2014/main" id="{9510D976-D295-4135-BB67-38072A00A3E2}"/>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Heuristic assumptions</a:t>
            </a:r>
          </a:p>
        </p:txBody>
      </p:sp>
      <p:sp>
        <p:nvSpPr>
          <p:cNvPr id="3" name="11">
            <a:extLst xmlns:a="http://schemas.openxmlformats.org/drawingml/2006/main">
              <a:ext uri="{FF2B5EF4-FFF2-40B4-BE49-F238E27FC236}">
                <a16:creationId xmlns:a16="http://schemas.microsoft.com/office/drawing/2014/main" id="{30388AB0-58FA-43A8-A5E5-85A0A1A8A926}"/>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3E7F97AA-5006-4932-9AD0-301A8E10790B}"/>
              </a:ext>
            </a:extLst>
          </p:cNvPr>
          <p:cNvGraphicFramePr/>
          <p:nvPr/>
        </p:nvGraphicFramePr>
        <p:xfrm>
          <a:off xmlns:a="http://schemas.openxmlformats.org/drawingml/2006/main" x="523875" y="1438275"/>
          <a:ext xmlns:a="http://schemas.openxmlformats.org/drawingml/2006/main" cx="8096250" cy="2857500"/>
        </p:xfrm>
        <a:graphic xmlns:a="http://schemas.openxmlformats.org/drawingml/2006/main">
          <a:graphicData uri="http://schemas.openxmlformats.org/drawingml/2006/table">
            <a:tbl>
              <a:tblPr/>
              <a:tblGrid>
                <a:gridCol w="1952625"/>
                <a:gridCol w="3000375"/>
                <a:gridCol w="3143250"/>
              </a:tblGrid>
              <a:tr h="571500">
                <a:tc>
                  <a:txBody>
                    <a:bodyPr lIns="114300" tIns="76200" rIns="114300" bIns="76200">
                      <a:noAutofit/>
                    </a:bodyPr>
                    <a:lstStyle/>
                    <a:p>
                      <a:r>
                        <a:rPr sz="1425" b="1">
                          <a:solidFill>
                            <a:srgbClr val="FFFFFF"/>
                          </a:solidFill>
                          <a:latin typeface="Arial"/>
                          <a:ea typeface="Arial"/>
                          <a:cs typeface="Arial"/>
                        </a:rPr>
                        <a:t>Graph</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Lower-bound heuristic</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Condition</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571500">
                <a:tc>
                  <a:txBody>
                    <a:bodyPr lIns="114300" tIns="76200" rIns="114300" bIns="76200">
                      <a:noAutofit/>
                    </a:bodyPr>
                    <a:lstStyle/>
                    <a:p>
                      <a:r>
                        <a:rPr sz="1425" b="0">
                          <a:solidFill>
                            <a:srgbClr val="17324D"/>
                          </a:solidFill>
                          <a:latin typeface="Arial"/>
                          <a:ea typeface="Arial"/>
                          <a:cs typeface="Arial"/>
                        </a:rPr>
                        <a:t>4-neighbor grid</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Manhattan distance</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Unit minimum step cost</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571500">
                <a:tc>
                  <a:txBody>
                    <a:bodyPr lIns="114300" tIns="76200" rIns="114300" bIns="76200">
                      <a:noAutofit/>
                    </a:bodyPr>
                    <a:lstStyle/>
                    <a:p>
                      <a:r>
                        <a:rPr sz="1425" b="0">
                          <a:solidFill>
                            <a:srgbClr val="17324D"/>
                          </a:solidFill>
                          <a:latin typeface="Arial"/>
                          <a:ea typeface="Arial"/>
                          <a:cs typeface="Arial"/>
                        </a:rPr>
                        <a:t>8-neighbor grid</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Octile distance</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Diagonal cost √2</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571500">
                <a:tc>
                  <a:txBody>
                    <a:bodyPr lIns="114300" tIns="76200" rIns="114300" bIns="76200">
                      <a:noAutofit/>
                    </a:bodyPr>
                    <a:lstStyle/>
                    <a:p>
                      <a:r>
                        <a:rPr sz="1425" b="0">
                          <a:solidFill>
                            <a:srgbClr val="17324D"/>
                          </a:solidFill>
                          <a:latin typeface="Arial"/>
                          <a:ea typeface="Arial"/>
                          <a:cs typeface="Arial"/>
                        </a:rPr>
                        <a:t>Euclidean motion</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Straight-line distance</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Cost ≥ geometric length</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571500">
                <a:tc>
                  <a:txBody>
                    <a:bodyPr lIns="114300" tIns="76200" rIns="114300" bIns="76200">
                      <a:noAutofit/>
                    </a:bodyPr>
                    <a:lstStyle/>
                    <a:p>
                      <a:r>
                        <a:rPr sz="1425" b="0">
                          <a:solidFill>
                            <a:srgbClr val="17324D"/>
                          </a:solidFill>
                          <a:latin typeface="Arial"/>
                          <a:ea typeface="Arial"/>
                          <a:cs typeface="Arial"/>
                        </a:rPr>
                        <a:t>Changed cost model</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Recheck the lower bound</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Match units and transitions</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bl>
          </a:graphicData>
        </a:graphic>
      </p:graphicFrame>
    </p:spTree>
    <p:extLst>
      <p:ext uri="{BB962C8B-B14F-4D97-AF65-F5344CB8AC3E}">
        <p14:creationId xmlns:p14="http://schemas.microsoft.com/office/powerpoint/2010/main" val="164571362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FABE6FE-B572-40B7-B9CB-4AF983D9F288}"/>
              </a:ext>
            </a:extLst>
          </p:cNvPr>
          <p:cNvPicPr>
            <a:picLocks xmlns:a="http://schemas.openxmlformats.org/drawingml/2006/main" noChangeAspect="1"/>
          </p:cNvPicPr>
          <p:nvPr/>
        </p:nvPicPr>
        <p:blipFill>
          <a:blip xmlns:r="http://schemas.openxmlformats.org/officeDocument/2006/relationships" xmlns:a="http://schemas.openxmlformats.org/drawingml/2006/main" r:embed="Rba0d6ee7e34d4d9b"/>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The A* search loop">
            <a:extLst xmlns:a="http://schemas.openxmlformats.org/drawingml/2006/main">
              <a:ext uri="{FF2B5EF4-FFF2-40B4-BE49-F238E27FC236}">
                <a16:creationId xmlns:a16="http://schemas.microsoft.com/office/drawing/2014/main" id="{36C6D318-811A-49B5-AB70-A7C61CD77AA5}"/>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The A* search loop</a:t>
            </a:r>
          </a:p>
        </p:txBody>
      </p:sp>
      <p:sp>
        <p:nvSpPr>
          <p:cNvPr id="3" name="12">
            <a:extLst xmlns:a="http://schemas.openxmlformats.org/drawingml/2006/main">
              <a:ext uri="{FF2B5EF4-FFF2-40B4-BE49-F238E27FC236}">
                <a16:creationId xmlns:a16="http://schemas.microsoft.com/office/drawing/2014/main" id="{E6A1F4C9-AA1B-48D8-AF97-E1040F512D35}"/>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12</a:t>
            </a:r>
          </a:p>
        </p:txBody>
      </p:sp>
      <p:sp>
        <p:nvSpPr>
          <p:cNvPr id="4" name="1">
            <a:extLst xmlns:a="http://schemas.openxmlformats.org/drawingml/2006/main">
              <a:ext uri="{FF2B5EF4-FFF2-40B4-BE49-F238E27FC236}">
                <a16:creationId xmlns:a16="http://schemas.microsoft.com/office/drawing/2014/main" id="{082B85D8-3776-42E2-83D2-4925E06EDD7F}"/>
              </a:ext>
            </a:extLst>
          </p:cNvPr>
          <p:cNvSpPr>
            <a:spLocks xmlns:a="http://schemas.openxmlformats.org/drawingml/2006/main" noGrp="1"/>
          </p:cNvSpPr>
          <p:nvPr/>
        </p:nvSpPr>
        <p:spPr>
          <a:xfrm xmlns:a="http://schemas.openxmlformats.org/drawingml/2006/main">
            <a:off x="523875" y="1438275"/>
            <a:ext cx="333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00539F"/>
                </a:solidFill>
                <a:latin typeface="Arial"/>
                <a:ea typeface="Arial"/>
                <a:cs typeface="Arial"/>
              </a:defRPr>
            </a:defPPr>
            <a:lvl1pPr>
              <a:defRPr sz="2175" b="1">
                <a:solidFill>
                  <a:srgbClr val="00539F"/>
                </a:solidFill>
                <a:latin typeface="Arial"/>
                <a:ea typeface="Arial"/>
                <a:cs typeface="Arial"/>
              </a:defRPr>
            </a:lvl1pPr>
            <a:lvl2pPr>
              <a:defRPr sz="2175" b="1">
                <a:solidFill>
                  <a:srgbClr val="00539F"/>
                </a:solidFill>
                <a:latin typeface="Arial"/>
                <a:ea typeface="Arial"/>
                <a:cs typeface="Arial"/>
              </a:defRPr>
            </a:lvl2pPr>
            <a:lvl3pPr>
              <a:defRPr sz="2175" b="1">
                <a:solidFill>
                  <a:srgbClr val="00539F"/>
                </a:solidFill>
                <a:latin typeface="Arial"/>
                <a:ea typeface="Arial"/>
                <a:cs typeface="Arial"/>
              </a:defRPr>
            </a:lvl3pPr>
            <a:lvl4pPr>
              <a:defRPr sz="2175" b="1">
                <a:solidFill>
                  <a:srgbClr val="00539F"/>
                </a:solidFill>
                <a:latin typeface="Arial"/>
                <a:ea typeface="Arial"/>
                <a:cs typeface="Arial"/>
              </a:defRPr>
            </a:lvl4pPr>
            <a:lvl5pPr>
              <a:defRPr sz="2175" b="1">
                <a:solidFill>
                  <a:srgbClr val="00539F"/>
                </a:solidFill>
                <a:latin typeface="Arial"/>
                <a:ea typeface="Arial"/>
                <a:cs typeface="Arial"/>
              </a:defRPr>
            </a:lvl5pPr>
            <a:lvl6pPr>
              <a:defRPr sz="2175" b="1">
                <a:solidFill>
                  <a:srgbClr val="00539F"/>
                </a:solidFill>
                <a:latin typeface="Arial"/>
                <a:ea typeface="Arial"/>
                <a:cs typeface="Arial"/>
              </a:defRPr>
            </a:lvl6pPr>
            <a:lvl7pPr>
              <a:defRPr sz="2175" b="1">
                <a:solidFill>
                  <a:srgbClr val="00539F"/>
                </a:solidFill>
                <a:latin typeface="Arial"/>
                <a:ea typeface="Arial"/>
                <a:cs typeface="Arial"/>
              </a:defRPr>
            </a:lvl7pPr>
            <a:lvl8pPr>
              <a:defRPr sz="2175" b="1">
                <a:solidFill>
                  <a:srgbClr val="00539F"/>
                </a:solidFill>
                <a:latin typeface="Arial"/>
                <a:ea typeface="Arial"/>
                <a:cs typeface="Arial"/>
              </a:defRPr>
            </a:lvl8pPr>
            <a:lvl9pPr>
              <a:defRPr sz="2175" b="1">
                <a:solidFill>
                  <a:srgbClr val="00539F"/>
                </a:solidFill>
                <a:latin typeface="Arial"/>
                <a:ea typeface="Arial"/>
                <a:cs typeface="Arial"/>
              </a:defRPr>
            </a:lvl9pPr>
          </a:lstStyle>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1</a:t>
            </a:r>
          </a:p>
        </p:txBody>
      </p:sp>
      <p:sp>
        <p:nvSpPr>
          <p:cNvPr id="5" name="Initialize the start with g = 0 and put it in OPEN.">
            <a:extLst xmlns:a="http://schemas.openxmlformats.org/drawingml/2006/main">
              <a:ext uri="{FF2B5EF4-FFF2-40B4-BE49-F238E27FC236}">
                <a16:creationId xmlns:a16="http://schemas.microsoft.com/office/drawing/2014/main" id="{A71EC1BE-BF13-4753-A01C-63F99862F7F1}"/>
              </a:ext>
            </a:extLst>
          </p:cNvPr>
          <p:cNvSpPr>
            <a:spLocks xmlns:a="http://schemas.openxmlformats.org/drawingml/2006/main" noGrp="1"/>
          </p:cNvSpPr>
          <p:nvPr/>
        </p:nvSpPr>
        <p:spPr>
          <a:xfrm xmlns:a="http://schemas.openxmlformats.org/drawingml/2006/main">
            <a:off x="1000125" y="1438275"/>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7324D"/>
                </a:solidFill>
                <a:latin typeface="Arial"/>
                <a:ea typeface="Arial"/>
                <a:cs typeface="Arial"/>
              </a:defRPr>
            </a:defPPr>
            <a:lvl1pPr>
              <a:defRPr sz="1800" b="0">
                <a:solidFill>
                  <a:srgbClr val="17324D"/>
                </a:solidFill>
                <a:latin typeface="Arial"/>
                <a:ea typeface="Arial"/>
                <a:cs typeface="Arial"/>
              </a:defRPr>
            </a:lvl1pPr>
            <a:lvl2pPr>
              <a:defRPr sz="1800" b="0">
                <a:solidFill>
                  <a:srgbClr val="17324D"/>
                </a:solidFill>
                <a:latin typeface="Arial"/>
                <a:ea typeface="Arial"/>
                <a:cs typeface="Arial"/>
              </a:defRPr>
            </a:lvl2pPr>
            <a:lvl3pPr>
              <a:defRPr sz="1800" b="0">
                <a:solidFill>
                  <a:srgbClr val="17324D"/>
                </a:solidFill>
                <a:latin typeface="Arial"/>
                <a:ea typeface="Arial"/>
                <a:cs typeface="Arial"/>
              </a:defRPr>
            </a:lvl3pPr>
            <a:lvl4pPr>
              <a:defRPr sz="1800" b="0">
                <a:solidFill>
                  <a:srgbClr val="17324D"/>
                </a:solidFill>
                <a:latin typeface="Arial"/>
                <a:ea typeface="Arial"/>
                <a:cs typeface="Arial"/>
              </a:defRPr>
            </a:lvl4pPr>
            <a:lvl5pPr>
              <a:defRPr sz="1800" b="0">
                <a:solidFill>
                  <a:srgbClr val="17324D"/>
                </a:solidFill>
                <a:latin typeface="Arial"/>
                <a:ea typeface="Arial"/>
                <a:cs typeface="Arial"/>
              </a:defRPr>
            </a:lvl5pPr>
            <a:lvl6pPr>
              <a:defRPr sz="1800" b="0">
                <a:solidFill>
                  <a:srgbClr val="17324D"/>
                </a:solidFill>
                <a:latin typeface="Arial"/>
                <a:ea typeface="Arial"/>
                <a:cs typeface="Arial"/>
              </a:defRPr>
            </a:lvl6pPr>
            <a:lvl7pPr>
              <a:defRPr sz="1800" b="0">
                <a:solidFill>
                  <a:srgbClr val="17324D"/>
                </a:solidFill>
                <a:latin typeface="Arial"/>
                <a:ea typeface="Arial"/>
                <a:cs typeface="Arial"/>
              </a:defRPr>
            </a:lvl7pPr>
            <a:lvl8pPr>
              <a:defRPr sz="1800" b="0">
                <a:solidFill>
                  <a:srgbClr val="17324D"/>
                </a:solidFill>
                <a:latin typeface="Arial"/>
                <a:ea typeface="Arial"/>
                <a:cs typeface="Arial"/>
              </a:defRPr>
            </a:lvl8pPr>
            <a:lvl9pPr>
              <a:defRPr sz="1800" b="0">
                <a:solidFill>
                  <a:srgbClr val="17324D"/>
                </a:solidFill>
                <a:latin typeface="Arial"/>
                <a:ea typeface="Arial"/>
                <a:cs typeface="Arial"/>
              </a:defRPr>
            </a:lvl9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Initialize the start with g = 0 and put it in OPEN.</a:t>
            </a:r>
          </a:p>
        </p:txBody>
      </p:sp>
      <p:sp>
        <p:nvSpPr>
          <p:cNvPr id="6" name="2">
            <a:extLst xmlns:a="http://schemas.openxmlformats.org/drawingml/2006/main">
              <a:ext uri="{FF2B5EF4-FFF2-40B4-BE49-F238E27FC236}">
                <a16:creationId xmlns:a16="http://schemas.microsoft.com/office/drawing/2014/main" id="{E0B4E7E7-4E93-4CCE-961F-DC35A62471A5}"/>
              </a:ext>
            </a:extLst>
          </p:cNvPr>
          <p:cNvSpPr>
            <a:spLocks xmlns:a="http://schemas.openxmlformats.org/drawingml/2006/main" noGrp="1"/>
          </p:cNvSpPr>
          <p:nvPr/>
        </p:nvSpPr>
        <p:spPr>
          <a:xfrm xmlns:a="http://schemas.openxmlformats.org/drawingml/2006/main">
            <a:off x="523875" y="2152650"/>
            <a:ext cx="333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00539F"/>
                </a:solidFill>
                <a:latin typeface="Arial"/>
                <a:ea typeface="Arial"/>
                <a:cs typeface="Arial"/>
              </a:defRPr>
            </a:defPPr>
            <a:lvl1pPr>
              <a:defRPr sz="2175" b="1">
                <a:solidFill>
                  <a:srgbClr val="00539F"/>
                </a:solidFill>
                <a:latin typeface="Arial"/>
                <a:ea typeface="Arial"/>
                <a:cs typeface="Arial"/>
              </a:defRPr>
            </a:lvl1pPr>
            <a:lvl2pPr>
              <a:defRPr sz="2175" b="1">
                <a:solidFill>
                  <a:srgbClr val="00539F"/>
                </a:solidFill>
                <a:latin typeface="Arial"/>
                <a:ea typeface="Arial"/>
                <a:cs typeface="Arial"/>
              </a:defRPr>
            </a:lvl2pPr>
            <a:lvl3pPr>
              <a:defRPr sz="2175" b="1">
                <a:solidFill>
                  <a:srgbClr val="00539F"/>
                </a:solidFill>
                <a:latin typeface="Arial"/>
                <a:ea typeface="Arial"/>
                <a:cs typeface="Arial"/>
              </a:defRPr>
            </a:lvl3pPr>
            <a:lvl4pPr>
              <a:defRPr sz="2175" b="1">
                <a:solidFill>
                  <a:srgbClr val="00539F"/>
                </a:solidFill>
                <a:latin typeface="Arial"/>
                <a:ea typeface="Arial"/>
                <a:cs typeface="Arial"/>
              </a:defRPr>
            </a:lvl4pPr>
            <a:lvl5pPr>
              <a:defRPr sz="2175" b="1">
                <a:solidFill>
                  <a:srgbClr val="00539F"/>
                </a:solidFill>
                <a:latin typeface="Arial"/>
                <a:ea typeface="Arial"/>
                <a:cs typeface="Arial"/>
              </a:defRPr>
            </a:lvl5pPr>
            <a:lvl6pPr>
              <a:defRPr sz="2175" b="1">
                <a:solidFill>
                  <a:srgbClr val="00539F"/>
                </a:solidFill>
                <a:latin typeface="Arial"/>
                <a:ea typeface="Arial"/>
                <a:cs typeface="Arial"/>
              </a:defRPr>
            </a:lvl6pPr>
            <a:lvl7pPr>
              <a:defRPr sz="2175" b="1">
                <a:solidFill>
                  <a:srgbClr val="00539F"/>
                </a:solidFill>
                <a:latin typeface="Arial"/>
                <a:ea typeface="Arial"/>
                <a:cs typeface="Arial"/>
              </a:defRPr>
            </a:lvl7pPr>
            <a:lvl8pPr>
              <a:defRPr sz="2175" b="1">
                <a:solidFill>
                  <a:srgbClr val="00539F"/>
                </a:solidFill>
                <a:latin typeface="Arial"/>
                <a:ea typeface="Arial"/>
                <a:cs typeface="Arial"/>
              </a:defRPr>
            </a:lvl8pPr>
            <a:lvl9pPr>
              <a:defRPr sz="2175" b="1">
                <a:solidFill>
                  <a:srgbClr val="00539F"/>
                </a:solidFill>
                <a:latin typeface="Arial"/>
                <a:ea typeface="Arial"/>
                <a:cs typeface="Arial"/>
              </a:defRPr>
            </a:lvl9pPr>
          </a:lstStyle>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2</a:t>
            </a:r>
          </a:p>
        </p:txBody>
      </p:sp>
      <p:sp>
        <p:nvSpPr>
          <p:cNvPr id="7" name="Remove the lowest f state and relax its outgoing edges.">
            <a:extLst xmlns:a="http://schemas.openxmlformats.org/drawingml/2006/main">
              <a:ext uri="{FF2B5EF4-FFF2-40B4-BE49-F238E27FC236}">
                <a16:creationId xmlns:a16="http://schemas.microsoft.com/office/drawing/2014/main" id="{E304361B-E7A9-4861-AF3D-A5E0FCBB9384}"/>
              </a:ext>
            </a:extLst>
          </p:cNvPr>
          <p:cNvSpPr>
            <a:spLocks xmlns:a="http://schemas.openxmlformats.org/drawingml/2006/main" noGrp="1"/>
          </p:cNvSpPr>
          <p:nvPr/>
        </p:nvSpPr>
        <p:spPr>
          <a:xfrm xmlns:a="http://schemas.openxmlformats.org/drawingml/2006/main">
            <a:off x="1000125" y="2152650"/>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7324D"/>
                </a:solidFill>
                <a:latin typeface="Arial"/>
                <a:ea typeface="Arial"/>
                <a:cs typeface="Arial"/>
              </a:defRPr>
            </a:defPPr>
            <a:lvl1pPr>
              <a:defRPr sz="1800" b="0">
                <a:solidFill>
                  <a:srgbClr val="17324D"/>
                </a:solidFill>
                <a:latin typeface="Arial"/>
                <a:ea typeface="Arial"/>
                <a:cs typeface="Arial"/>
              </a:defRPr>
            </a:lvl1pPr>
            <a:lvl2pPr>
              <a:defRPr sz="1800" b="0">
                <a:solidFill>
                  <a:srgbClr val="17324D"/>
                </a:solidFill>
                <a:latin typeface="Arial"/>
                <a:ea typeface="Arial"/>
                <a:cs typeface="Arial"/>
              </a:defRPr>
            </a:lvl2pPr>
            <a:lvl3pPr>
              <a:defRPr sz="1800" b="0">
                <a:solidFill>
                  <a:srgbClr val="17324D"/>
                </a:solidFill>
                <a:latin typeface="Arial"/>
                <a:ea typeface="Arial"/>
                <a:cs typeface="Arial"/>
              </a:defRPr>
            </a:lvl3pPr>
            <a:lvl4pPr>
              <a:defRPr sz="1800" b="0">
                <a:solidFill>
                  <a:srgbClr val="17324D"/>
                </a:solidFill>
                <a:latin typeface="Arial"/>
                <a:ea typeface="Arial"/>
                <a:cs typeface="Arial"/>
              </a:defRPr>
            </a:lvl4pPr>
            <a:lvl5pPr>
              <a:defRPr sz="1800" b="0">
                <a:solidFill>
                  <a:srgbClr val="17324D"/>
                </a:solidFill>
                <a:latin typeface="Arial"/>
                <a:ea typeface="Arial"/>
                <a:cs typeface="Arial"/>
              </a:defRPr>
            </a:lvl5pPr>
            <a:lvl6pPr>
              <a:defRPr sz="1800" b="0">
                <a:solidFill>
                  <a:srgbClr val="17324D"/>
                </a:solidFill>
                <a:latin typeface="Arial"/>
                <a:ea typeface="Arial"/>
                <a:cs typeface="Arial"/>
              </a:defRPr>
            </a:lvl6pPr>
            <a:lvl7pPr>
              <a:defRPr sz="1800" b="0">
                <a:solidFill>
                  <a:srgbClr val="17324D"/>
                </a:solidFill>
                <a:latin typeface="Arial"/>
                <a:ea typeface="Arial"/>
                <a:cs typeface="Arial"/>
              </a:defRPr>
            </a:lvl7pPr>
            <a:lvl8pPr>
              <a:defRPr sz="1800" b="0">
                <a:solidFill>
                  <a:srgbClr val="17324D"/>
                </a:solidFill>
                <a:latin typeface="Arial"/>
                <a:ea typeface="Arial"/>
                <a:cs typeface="Arial"/>
              </a:defRPr>
            </a:lvl8pPr>
            <a:lvl9pPr>
              <a:defRPr sz="1800" b="0">
                <a:solidFill>
                  <a:srgbClr val="17324D"/>
                </a:solidFill>
                <a:latin typeface="Arial"/>
                <a:ea typeface="Arial"/>
                <a:cs typeface="Arial"/>
              </a:defRPr>
            </a:lvl9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Remove the lowest f state and relax its outgoing edges.</a:t>
            </a:r>
          </a:p>
        </p:txBody>
      </p:sp>
      <p:sp>
        <p:nvSpPr>
          <p:cNvPr id="8" name="3">
            <a:extLst xmlns:a="http://schemas.openxmlformats.org/drawingml/2006/main">
              <a:ext uri="{FF2B5EF4-FFF2-40B4-BE49-F238E27FC236}">
                <a16:creationId xmlns:a16="http://schemas.microsoft.com/office/drawing/2014/main" id="{0A7737EC-CE85-444E-82F7-60461D2FEF4D}"/>
              </a:ext>
            </a:extLst>
          </p:cNvPr>
          <p:cNvSpPr>
            <a:spLocks xmlns:a="http://schemas.openxmlformats.org/drawingml/2006/main" noGrp="1"/>
          </p:cNvSpPr>
          <p:nvPr/>
        </p:nvSpPr>
        <p:spPr>
          <a:xfrm xmlns:a="http://schemas.openxmlformats.org/drawingml/2006/main">
            <a:off x="523875" y="2867025"/>
            <a:ext cx="333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00539F"/>
                </a:solidFill>
                <a:latin typeface="Arial"/>
                <a:ea typeface="Arial"/>
                <a:cs typeface="Arial"/>
              </a:defRPr>
            </a:defPPr>
            <a:lvl1pPr>
              <a:defRPr sz="2175" b="1">
                <a:solidFill>
                  <a:srgbClr val="00539F"/>
                </a:solidFill>
                <a:latin typeface="Arial"/>
                <a:ea typeface="Arial"/>
                <a:cs typeface="Arial"/>
              </a:defRPr>
            </a:lvl1pPr>
            <a:lvl2pPr>
              <a:defRPr sz="2175" b="1">
                <a:solidFill>
                  <a:srgbClr val="00539F"/>
                </a:solidFill>
                <a:latin typeface="Arial"/>
                <a:ea typeface="Arial"/>
                <a:cs typeface="Arial"/>
              </a:defRPr>
            </a:lvl2pPr>
            <a:lvl3pPr>
              <a:defRPr sz="2175" b="1">
                <a:solidFill>
                  <a:srgbClr val="00539F"/>
                </a:solidFill>
                <a:latin typeface="Arial"/>
                <a:ea typeface="Arial"/>
                <a:cs typeface="Arial"/>
              </a:defRPr>
            </a:lvl3pPr>
            <a:lvl4pPr>
              <a:defRPr sz="2175" b="1">
                <a:solidFill>
                  <a:srgbClr val="00539F"/>
                </a:solidFill>
                <a:latin typeface="Arial"/>
                <a:ea typeface="Arial"/>
                <a:cs typeface="Arial"/>
              </a:defRPr>
            </a:lvl4pPr>
            <a:lvl5pPr>
              <a:defRPr sz="2175" b="1">
                <a:solidFill>
                  <a:srgbClr val="00539F"/>
                </a:solidFill>
                <a:latin typeface="Arial"/>
                <a:ea typeface="Arial"/>
                <a:cs typeface="Arial"/>
              </a:defRPr>
            </a:lvl5pPr>
            <a:lvl6pPr>
              <a:defRPr sz="2175" b="1">
                <a:solidFill>
                  <a:srgbClr val="00539F"/>
                </a:solidFill>
                <a:latin typeface="Arial"/>
                <a:ea typeface="Arial"/>
                <a:cs typeface="Arial"/>
              </a:defRPr>
            </a:lvl6pPr>
            <a:lvl7pPr>
              <a:defRPr sz="2175" b="1">
                <a:solidFill>
                  <a:srgbClr val="00539F"/>
                </a:solidFill>
                <a:latin typeface="Arial"/>
                <a:ea typeface="Arial"/>
                <a:cs typeface="Arial"/>
              </a:defRPr>
            </a:lvl7pPr>
            <a:lvl8pPr>
              <a:defRPr sz="2175" b="1">
                <a:solidFill>
                  <a:srgbClr val="00539F"/>
                </a:solidFill>
                <a:latin typeface="Arial"/>
                <a:ea typeface="Arial"/>
                <a:cs typeface="Arial"/>
              </a:defRPr>
            </a:lvl8pPr>
            <a:lvl9pPr>
              <a:defRPr sz="2175" b="1">
                <a:solidFill>
                  <a:srgbClr val="00539F"/>
                </a:solidFill>
                <a:latin typeface="Arial"/>
                <a:ea typeface="Arial"/>
                <a:cs typeface="Arial"/>
              </a:defRPr>
            </a:lvl9pPr>
          </a:lstStyle>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3</a:t>
            </a:r>
          </a:p>
        </p:txBody>
      </p:sp>
      <p:sp>
        <p:nvSpPr>
          <p:cNvPr id="9" name="Update a neighbor when the new g improves its route.">
            <a:extLst xmlns:a="http://schemas.openxmlformats.org/drawingml/2006/main">
              <a:ext uri="{FF2B5EF4-FFF2-40B4-BE49-F238E27FC236}">
                <a16:creationId xmlns:a16="http://schemas.microsoft.com/office/drawing/2014/main" id="{84DE6F29-40BF-4D23-BE5A-8A66FCFA8B98}"/>
              </a:ext>
            </a:extLst>
          </p:cNvPr>
          <p:cNvSpPr>
            <a:spLocks xmlns:a="http://schemas.openxmlformats.org/drawingml/2006/main" noGrp="1"/>
          </p:cNvSpPr>
          <p:nvPr/>
        </p:nvSpPr>
        <p:spPr>
          <a:xfrm xmlns:a="http://schemas.openxmlformats.org/drawingml/2006/main">
            <a:off x="1000125" y="2867025"/>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7324D"/>
                </a:solidFill>
                <a:latin typeface="Arial"/>
                <a:ea typeface="Arial"/>
                <a:cs typeface="Arial"/>
              </a:defRPr>
            </a:defPPr>
            <a:lvl1pPr>
              <a:defRPr sz="1800" b="0">
                <a:solidFill>
                  <a:srgbClr val="17324D"/>
                </a:solidFill>
                <a:latin typeface="Arial"/>
                <a:ea typeface="Arial"/>
                <a:cs typeface="Arial"/>
              </a:defRPr>
            </a:lvl1pPr>
            <a:lvl2pPr>
              <a:defRPr sz="1800" b="0">
                <a:solidFill>
                  <a:srgbClr val="17324D"/>
                </a:solidFill>
                <a:latin typeface="Arial"/>
                <a:ea typeface="Arial"/>
                <a:cs typeface="Arial"/>
              </a:defRPr>
            </a:lvl2pPr>
            <a:lvl3pPr>
              <a:defRPr sz="1800" b="0">
                <a:solidFill>
                  <a:srgbClr val="17324D"/>
                </a:solidFill>
                <a:latin typeface="Arial"/>
                <a:ea typeface="Arial"/>
                <a:cs typeface="Arial"/>
              </a:defRPr>
            </a:lvl3pPr>
            <a:lvl4pPr>
              <a:defRPr sz="1800" b="0">
                <a:solidFill>
                  <a:srgbClr val="17324D"/>
                </a:solidFill>
                <a:latin typeface="Arial"/>
                <a:ea typeface="Arial"/>
                <a:cs typeface="Arial"/>
              </a:defRPr>
            </a:lvl4pPr>
            <a:lvl5pPr>
              <a:defRPr sz="1800" b="0">
                <a:solidFill>
                  <a:srgbClr val="17324D"/>
                </a:solidFill>
                <a:latin typeface="Arial"/>
                <a:ea typeface="Arial"/>
                <a:cs typeface="Arial"/>
              </a:defRPr>
            </a:lvl5pPr>
            <a:lvl6pPr>
              <a:defRPr sz="1800" b="0">
                <a:solidFill>
                  <a:srgbClr val="17324D"/>
                </a:solidFill>
                <a:latin typeface="Arial"/>
                <a:ea typeface="Arial"/>
                <a:cs typeface="Arial"/>
              </a:defRPr>
            </a:lvl6pPr>
            <a:lvl7pPr>
              <a:defRPr sz="1800" b="0">
                <a:solidFill>
                  <a:srgbClr val="17324D"/>
                </a:solidFill>
                <a:latin typeface="Arial"/>
                <a:ea typeface="Arial"/>
                <a:cs typeface="Arial"/>
              </a:defRPr>
            </a:lvl7pPr>
            <a:lvl8pPr>
              <a:defRPr sz="1800" b="0">
                <a:solidFill>
                  <a:srgbClr val="17324D"/>
                </a:solidFill>
                <a:latin typeface="Arial"/>
                <a:ea typeface="Arial"/>
                <a:cs typeface="Arial"/>
              </a:defRPr>
            </a:lvl8pPr>
            <a:lvl9pPr>
              <a:defRPr sz="1800" b="0">
                <a:solidFill>
                  <a:srgbClr val="17324D"/>
                </a:solidFill>
                <a:latin typeface="Arial"/>
                <a:ea typeface="Arial"/>
                <a:cs typeface="Arial"/>
              </a:defRPr>
            </a:lvl9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Update a neighbor when the new g improves its route.</a:t>
            </a:r>
          </a:p>
        </p:txBody>
      </p:sp>
      <p:sp>
        <p:nvSpPr>
          <p:cNvPr id="10" name="4">
            <a:extLst xmlns:a="http://schemas.openxmlformats.org/drawingml/2006/main">
              <a:ext uri="{FF2B5EF4-FFF2-40B4-BE49-F238E27FC236}">
                <a16:creationId xmlns:a16="http://schemas.microsoft.com/office/drawing/2014/main" id="{02E5E928-5358-4EAB-8C22-861C058F5C12}"/>
              </a:ext>
            </a:extLst>
          </p:cNvPr>
          <p:cNvSpPr>
            <a:spLocks xmlns:a="http://schemas.openxmlformats.org/drawingml/2006/main" noGrp="1"/>
          </p:cNvSpPr>
          <p:nvPr/>
        </p:nvSpPr>
        <p:spPr>
          <a:xfrm xmlns:a="http://schemas.openxmlformats.org/drawingml/2006/main">
            <a:off x="523875" y="3581400"/>
            <a:ext cx="333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00539F"/>
                </a:solidFill>
                <a:latin typeface="Arial"/>
                <a:ea typeface="Arial"/>
                <a:cs typeface="Arial"/>
              </a:defRPr>
            </a:defPPr>
            <a:lvl1pPr>
              <a:defRPr sz="2175" b="1">
                <a:solidFill>
                  <a:srgbClr val="00539F"/>
                </a:solidFill>
                <a:latin typeface="Arial"/>
                <a:ea typeface="Arial"/>
                <a:cs typeface="Arial"/>
              </a:defRPr>
            </a:lvl1pPr>
            <a:lvl2pPr>
              <a:defRPr sz="2175" b="1">
                <a:solidFill>
                  <a:srgbClr val="00539F"/>
                </a:solidFill>
                <a:latin typeface="Arial"/>
                <a:ea typeface="Arial"/>
                <a:cs typeface="Arial"/>
              </a:defRPr>
            </a:lvl2pPr>
            <a:lvl3pPr>
              <a:defRPr sz="2175" b="1">
                <a:solidFill>
                  <a:srgbClr val="00539F"/>
                </a:solidFill>
                <a:latin typeface="Arial"/>
                <a:ea typeface="Arial"/>
                <a:cs typeface="Arial"/>
              </a:defRPr>
            </a:lvl3pPr>
            <a:lvl4pPr>
              <a:defRPr sz="2175" b="1">
                <a:solidFill>
                  <a:srgbClr val="00539F"/>
                </a:solidFill>
                <a:latin typeface="Arial"/>
                <a:ea typeface="Arial"/>
                <a:cs typeface="Arial"/>
              </a:defRPr>
            </a:lvl4pPr>
            <a:lvl5pPr>
              <a:defRPr sz="2175" b="1">
                <a:solidFill>
                  <a:srgbClr val="00539F"/>
                </a:solidFill>
                <a:latin typeface="Arial"/>
                <a:ea typeface="Arial"/>
                <a:cs typeface="Arial"/>
              </a:defRPr>
            </a:lvl5pPr>
            <a:lvl6pPr>
              <a:defRPr sz="2175" b="1">
                <a:solidFill>
                  <a:srgbClr val="00539F"/>
                </a:solidFill>
                <a:latin typeface="Arial"/>
                <a:ea typeface="Arial"/>
                <a:cs typeface="Arial"/>
              </a:defRPr>
            </a:lvl6pPr>
            <a:lvl7pPr>
              <a:defRPr sz="2175" b="1">
                <a:solidFill>
                  <a:srgbClr val="00539F"/>
                </a:solidFill>
                <a:latin typeface="Arial"/>
                <a:ea typeface="Arial"/>
                <a:cs typeface="Arial"/>
              </a:defRPr>
            </a:lvl7pPr>
            <a:lvl8pPr>
              <a:defRPr sz="2175" b="1">
                <a:solidFill>
                  <a:srgbClr val="00539F"/>
                </a:solidFill>
                <a:latin typeface="Arial"/>
                <a:ea typeface="Arial"/>
                <a:cs typeface="Arial"/>
              </a:defRPr>
            </a:lvl8pPr>
            <a:lvl9pPr>
              <a:defRPr sz="2175" b="1">
                <a:solidFill>
                  <a:srgbClr val="00539F"/>
                </a:solidFill>
                <a:latin typeface="Arial"/>
                <a:ea typeface="Arial"/>
                <a:cs typeface="Arial"/>
              </a:defRPr>
            </a:lvl9pPr>
          </a:lstStyle>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4</a:t>
            </a:r>
          </a:p>
        </p:txBody>
      </p:sp>
      <p:sp>
        <p:nvSpPr>
          <p:cNvPr id="11" name="Stop when the goal leaves OPEN, or OPEN becomes empty.">
            <a:extLst xmlns:a="http://schemas.openxmlformats.org/drawingml/2006/main">
              <a:ext uri="{FF2B5EF4-FFF2-40B4-BE49-F238E27FC236}">
                <a16:creationId xmlns:a16="http://schemas.microsoft.com/office/drawing/2014/main" id="{395A0DBB-372A-41ED-899E-C127DC55EA02}"/>
              </a:ext>
            </a:extLst>
          </p:cNvPr>
          <p:cNvSpPr>
            <a:spLocks xmlns:a="http://schemas.openxmlformats.org/drawingml/2006/main" noGrp="1"/>
          </p:cNvSpPr>
          <p:nvPr/>
        </p:nvSpPr>
        <p:spPr>
          <a:xfrm xmlns:a="http://schemas.openxmlformats.org/drawingml/2006/main">
            <a:off x="1000125" y="3581400"/>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7324D"/>
                </a:solidFill>
                <a:latin typeface="Arial"/>
                <a:ea typeface="Arial"/>
                <a:cs typeface="Arial"/>
              </a:defRPr>
            </a:defPPr>
            <a:lvl1pPr>
              <a:defRPr sz="1800" b="0">
                <a:solidFill>
                  <a:srgbClr val="17324D"/>
                </a:solidFill>
                <a:latin typeface="Arial"/>
                <a:ea typeface="Arial"/>
                <a:cs typeface="Arial"/>
              </a:defRPr>
            </a:lvl1pPr>
            <a:lvl2pPr>
              <a:defRPr sz="1800" b="0">
                <a:solidFill>
                  <a:srgbClr val="17324D"/>
                </a:solidFill>
                <a:latin typeface="Arial"/>
                <a:ea typeface="Arial"/>
                <a:cs typeface="Arial"/>
              </a:defRPr>
            </a:lvl2pPr>
            <a:lvl3pPr>
              <a:defRPr sz="1800" b="0">
                <a:solidFill>
                  <a:srgbClr val="17324D"/>
                </a:solidFill>
                <a:latin typeface="Arial"/>
                <a:ea typeface="Arial"/>
                <a:cs typeface="Arial"/>
              </a:defRPr>
            </a:lvl3pPr>
            <a:lvl4pPr>
              <a:defRPr sz="1800" b="0">
                <a:solidFill>
                  <a:srgbClr val="17324D"/>
                </a:solidFill>
                <a:latin typeface="Arial"/>
                <a:ea typeface="Arial"/>
                <a:cs typeface="Arial"/>
              </a:defRPr>
            </a:lvl4pPr>
            <a:lvl5pPr>
              <a:defRPr sz="1800" b="0">
                <a:solidFill>
                  <a:srgbClr val="17324D"/>
                </a:solidFill>
                <a:latin typeface="Arial"/>
                <a:ea typeface="Arial"/>
                <a:cs typeface="Arial"/>
              </a:defRPr>
            </a:lvl5pPr>
            <a:lvl6pPr>
              <a:defRPr sz="1800" b="0">
                <a:solidFill>
                  <a:srgbClr val="17324D"/>
                </a:solidFill>
                <a:latin typeface="Arial"/>
                <a:ea typeface="Arial"/>
                <a:cs typeface="Arial"/>
              </a:defRPr>
            </a:lvl6pPr>
            <a:lvl7pPr>
              <a:defRPr sz="1800" b="0">
                <a:solidFill>
                  <a:srgbClr val="17324D"/>
                </a:solidFill>
                <a:latin typeface="Arial"/>
                <a:ea typeface="Arial"/>
                <a:cs typeface="Arial"/>
              </a:defRPr>
            </a:lvl7pPr>
            <a:lvl8pPr>
              <a:defRPr sz="1800" b="0">
                <a:solidFill>
                  <a:srgbClr val="17324D"/>
                </a:solidFill>
                <a:latin typeface="Arial"/>
                <a:ea typeface="Arial"/>
                <a:cs typeface="Arial"/>
              </a:defRPr>
            </a:lvl8pPr>
            <a:lvl9pPr>
              <a:defRPr sz="1800" b="0">
                <a:solidFill>
                  <a:srgbClr val="17324D"/>
                </a:solidFill>
                <a:latin typeface="Arial"/>
                <a:ea typeface="Arial"/>
                <a:cs typeface="Arial"/>
              </a:defRPr>
            </a:lvl9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Stop when the goal leaves OPEN, or OPEN becomes empty.</a:t>
            </a:r>
          </a:p>
        </p:txBody>
      </p:sp>
    </p:spTree>
    <p:extLst>
      <p:ext uri="{BB962C8B-B14F-4D97-AF65-F5344CB8AC3E}">
        <p14:creationId xmlns:p14="http://schemas.microsoft.com/office/powerpoint/2010/main" val="138894454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BD2CA6BF-856B-4A9E-8DEC-F185A8CB330B}"/>
              </a:ext>
            </a:extLst>
          </p:cNvPr>
          <p:cNvPicPr>
            <a:picLocks xmlns:a="http://schemas.openxmlformats.org/drawingml/2006/main" noChangeAspect="1"/>
          </p:cNvPicPr>
          <p:nvPr/>
        </p:nvPicPr>
        <p:blipFill>
          <a:blip xmlns:r="http://schemas.openxmlformats.org/officeDocument/2006/relationships" xmlns:a="http://schemas.openxmlformats.org/drawingml/2006/main" r:embed="R3a35d35433184920"/>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Dijkstra and A* on the same graph">
            <a:extLst xmlns:a="http://schemas.openxmlformats.org/drawingml/2006/main">
              <a:ext uri="{FF2B5EF4-FFF2-40B4-BE49-F238E27FC236}">
                <a16:creationId xmlns:a16="http://schemas.microsoft.com/office/drawing/2014/main" id="{BE020CE5-B58B-41B4-A282-92A45D157C61}"/>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Dijkstra and A* on the same graph</a:t>
            </a:r>
          </a:p>
        </p:txBody>
      </p:sp>
      <p:sp>
        <p:nvSpPr>
          <p:cNvPr id="3" name="13">
            <a:extLst xmlns:a="http://schemas.openxmlformats.org/drawingml/2006/main">
              <a:ext uri="{FF2B5EF4-FFF2-40B4-BE49-F238E27FC236}">
                <a16:creationId xmlns:a16="http://schemas.microsoft.com/office/drawing/2014/main" id="{4BB3E766-02AB-4109-AA42-753FD23C3560}"/>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13</a:t>
            </a:r>
          </a:p>
        </p:txBody>
      </p:sp>
      <p:pic>
        <p:nvPicPr>
          <p:cNvPr id="4" name="">
            <a:extLst xmlns:a="http://schemas.openxmlformats.org/drawingml/2006/main">
              <a:ext uri="{FF2B5EF4-FFF2-40B4-BE49-F238E27FC236}">
                <a16:creationId xmlns:a16="http://schemas.microsoft.com/office/drawing/2014/main" id="{A99F8370-3B5B-428D-82A8-809AF481F910}"/>
              </a:ext>
            </a:extLst>
          </p:cNvPr>
          <p:cNvPicPr>
            <a:picLocks xmlns:a="http://schemas.openxmlformats.org/drawingml/2006/main" noChangeAspect="1"/>
          </p:cNvPicPr>
          <p:nvPr/>
        </p:nvPicPr>
        <p:blipFill>
          <a:blip xmlns:r="http://schemas.openxmlformats.org/officeDocument/2006/relationships" xmlns:a="http://schemas.openxmlformats.org/drawingml/2006/main" r:embed="Rfb56141075294cbc"/>
          <a:stretch xmlns:a="http://schemas.openxmlformats.org/drawingml/2006/main"/>
        </p:blipFill>
        <p:spPr>
          <a:xfrm xmlns:a="http://schemas.openxmlformats.org/drawingml/2006/main">
            <a:off x="740511" y="1409700"/>
            <a:ext cx="3424354" cy="2095500"/>
          </a:xfrm>
          <a:prstGeom xmlns:a="http://schemas.openxmlformats.org/drawingml/2006/main" prst="rect">
            <a:avLst/>
          </a:prstGeom>
        </p:spPr>
      </p:pic>
      <p:sp>
        <p:nvSpPr>
          <p:cNvPr id="5" name="Dijkstra: g priority">
            <a:extLst xmlns:a="http://schemas.openxmlformats.org/drawingml/2006/main">
              <a:ext uri="{FF2B5EF4-FFF2-40B4-BE49-F238E27FC236}">
                <a16:creationId xmlns:a16="http://schemas.microsoft.com/office/drawing/2014/main" id="{0DE0B081-7054-416F-A33F-09548608C228}"/>
              </a:ext>
            </a:extLst>
          </p:cNvPr>
          <p:cNvSpPr>
            <a:spLocks xmlns:a="http://schemas.openxmlformats.org/drawingml/2006/main" noGrp="1"/>
          </p:cNvSpPr>
          <p:nvPr/>
        </p:nvSpPr>
        <p:spPr>
          <a:xfrm xmlns:a="http://schemas.openxmlformats.org/drawingml/2006/main">
            <a:off x="523875" y="3533775"/>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vl1pPr>
              <a:defRPr sz="1500" b="1">
                <a:solidFill>
                  <a:srgbClr val="00539F"/>
                </a:solidFill>
                <a:latin typeface="Arial"/>
                <a:ea typeface="Arial"/>
                <a:cs typeface="Arial"/>
              </a:defRPr>
            </a:lvl1pPr>
            <a:lvl2pPr>
              <a:defRPr sz="1500" b="1">
                <a:solidFill>
                  <a:srgbClr val="00539F"/>
                </a:solidFill>
                <a:latin typeface="Arial"/>
                <a:ea typeface="Arial"/>
                <a:cs typeface="Arial"/>
              </a:defRPr>
            </a:lvl2pPr>
            <a:lvl3pPr>
              <a:defRPr sz="1500" b="1">
                <a:solidFill>
                  <a:srgbClr val="00539F"/>
                </a:solidFill>
                <a:latin typeface="Arial"/>
                <a:ea typeface="Arial"/>
                <a:cs typeface="Arial"/>
              </a:defRPr>
            </a:lvl3pPr>
            <a:lvl4pPr>
              <a:defRPr sz="1500" b="1">
                <a:solidFill>
                  <a:srgbClr val="00539F"/>
                </a:solidFill>
                <a:latin typeface="Arial"/>
                <a:ea typeface="Arial"/>
                <a:cs typeface="Arial"/>
              </a:defRPr>
            </a:lvl4pPr>
            <a:lvl5pPr>
              <a:defRPr sz="1500" b="1">
                <a:solidFill>
                  <a:srgbClr val="00539F"/>
                </a:solidFill>
                <a:latin typeface="Arial"/>
                <a:ea typeface="Arial"/>
                <a:cs typeface="Arial"/>
              </a:defRPr>
            </a:lvl5pPr>
            <a:lvl6pPr>
              <a:defRPr sz="1500" b="1">
                <a:solidFill>
                  <a:srgbClr val="00539F"/>
                </a:solidFill>
                <a:latin typeface="Arial"/>
                <a:ea typeface="Arial"/>
                <a:cs typeface="Arial"/>
              </a:defRPr>
            </a:lvl6pPr>
            <a:lvl7pPr>
              <a:defRPr sz="1500" b="1">
                <a:solidFill>
                  <a:srgbClr val="00539F"/>
                </a:solidFill>
                <a:latin typeface="Arial"/>
                <a:ea typeface="Arial"/>
                <a:cs typeface="Arial"/>
              </a:defRPr>
            </a:lvl7pPr>
            <a:lvl8pPr>
              <a:defRPr sz="1500" b="1">
                <a:solidFill>
                  <a:srgbClr val="00539F"/>
                </a:solidFill>
                <a:latin typeface="Arial"/>
                <a:ea typeface="Arial"/>
                <a:cs typeface="Arial"/>
              </a:defRPr>
            </a:lvl8pPr>
            <a:lvl9pPr>
              <a:defRPr sz="1500" b="1">
                <a:solidFill>
                  <a:srgbClr val="00539F"/>
                </a:solidFill>
                <a:latin typeface="Arial"/>
                <a:ea typeface="Arial"/>
                <a:cs typeface="Arial"/>
              </a:defRPr>
            </a:lvl9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Dijkstra: g priority</a:t>
            </a:r>
          </a:p>
        </p:txBody>
      </p:sp>
      <p:pic>
        <p:nvPicPr>
          <p:cNvPr id="6" name="">
            <a:extLst xmlns:a="http://schemas.openxmlformats.org/drawingml/2006/main">
              <a:ext uri="{FF2B5EF4-FFF2-40B4-BE49-F238E27FC236}">
                <a16:creationId xmlns:a16="http://schemas.microsoft.com/office/drawing/2014/main" id="{0AB77AF9-DE8C-4518-B7E9-AA1AF95F01A0}"/>
              </a:ext>
            </a:extLst>
          </p:cNvPr>
          <p:cNvPicPr>
            <a:picLocks xmlns:a="http://schemas.openxmlformats.org/drawingml/2006/main" noChangeAspect="1"/>
          </p:cNvPicPr>
          <p:nvPr/>
        </p:nvPicPr>
        <p:blipFill>
          <a:blip xmlns:r="http://schemas.openxmlformats.org/officeDocument/2006/relationships" xmlns:a="http://schemas.openxmlformats.org/drawingml/2006/main" r:embed="R69c9d44caaf744ab"/>
          <a:stretch xmlns:a="http://schemas.openxmlformats.org/drawingml/2006/main"/>
        </p:blipFill>
        <p:spPr>
          <a:xfrm xmlns:a="http://schemas.openxmlformats.org/drawingml/2006/main">
            <a:off x="4979136" y="1409700"/>
            <a:ext cx="3424354" cy="2095500"/>
          </a:xfrm>
          <a:prstGeom xmlns:a="http://schemas.openxmlformats.org/drawingml/2006/main" prst="rect">
            <a:avLst/>
          </a:prstGeom>
        </p:spPr>
      </p:pic>
      <p:sp>
        <p:nvSpPr>
          <p:cNvPr id="7" name="A*: g + h priority">
            <a:extLst xmlns:a="http://schemas.openxmlformats.org/drawingml/2006/main">
              <a:ext uri="{FF2B5EF4-FFF2-40B4-BE49-F238E27FC236}">
                <a16:creationId xmlns:a16="http://schemas.microsoft.com/office/drawing/2014/main" id="{4CC971D6-7756-481D-BD1B-0F7BEFFDEC3F}"/>
              </a:ext>
            </a:extLst>
          </p:cNvPr>
          <p:cNvSpPr>
            <a:spLocks xmlns:a="http://schemas.openxmlformats.org/drawingml/2006/main" noGrp="1"/>
          </p:cNvSpPr>
          <p:nvPr/>
        </p:nvSpPr>
        <p:spPr>
          <a:xfrm xmlns:a="http://schemas.openxmlformats.org/drawingml/2006/main">
            <a:off x="4762500" y="3533775"/>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vl1pPr>
              <a:defRPr sz="1500" b="1">
                <a:solidFill>
                  <a:srgbClr val="00539F"/>
                </a:solidFill>
                <a:latin typeface="Arial"/>
                <a:ea typeface="Arial"/>
                <a:cs typeface="Arial"/>
              </a:defRPr>
            </a:lvl1pPr>
            <a:lvl2pPr>
              <a:defRPr sz="1500" b="1">
                <a:solidFill>
                  <a:srgbClr val="00539F"/>
                </a:solidFill>
                <a:latin typeface="Arial"/>
                <a:ea typeface="Arial"/>
                <a:cs typeface="Arial"/>
              </a:defRPr>
            </a:lvl2pPr>
            <a:lvl3pPr>
              <a:defRPr sz="1500" b="1">
                <a:solidFill>
                  <a:srgbClr val="00539F"/>
                </a:solidFill>
                <a:latin typeface="Arial"/>
                <a:ea typeface="Arial"/>
                <a:cs typeface="Arial"/>
              </a:defRPr>
            </a:lvl3pPr>
            <a:lvl4pPr>
              <a:defRPr sz="1500" b="1">
                <a:solidFill>
                  <a:srgbClr val="00539F"/>
                </a:solidFill>
                <a:latin typeface="Arial"/>
                <a:ea typeface="Arial"/>
                <a:cs typeface="Arial"/>
              </a:defRPr>
            </a:lvl4pPr>
            <a:lvl5pPr>
              <a:defRPr sz="1500" b="1">
                <a:solidFill>
                  <a:srgbClr val="00539F"/>
                </a:solidFill>
                <a:latin typeface="Arial"/>
                <a:ea typeface="Arial"/>
                <a:cs typeface="Arial"/>
              </a:defRPr>
            </a:lvl5pPr>
            <a:lvl6pPr>
              <a:defRPr sz="1500" b="1">
                <a:solidFill>
                  <a:srgbClr val="00539F"/>
                </a:solidFill>
                <a:latin typeface="Arial"/>
                <a:ea typeface="Arial"/>
                <a:cs typeface="Arial"/>
              </a:defRPr>
            </a:lvl6pPr>
            <a:lvl7pPr>
              <a:defRPr sz="1500" b="1">
                <a:solidFill>
                  <a:srgbClr val="00539F"/>
                </a:solidFill>
                <a:latin typeface="Arial"/>
                <a:ea typeface="Arial"/>
                <a:cs typeface="Arial"/>
              </a:defRPr>
            </a:lvl7pPr>
            <a:lvl8pPr>
              <a:defRPr sz="1500" b="1">
                <a:solidFill>
                  <a:srgbClr val="00539F"/>
                </a:solidFill>
                <a:latin typeface="Arial"/>
                <a:ea typeface="Arial"/>
                <a:cs typeface="Arial"/>
              </a:defRPr>
            </a:lvl8pPr>
            <a:lvl9pPr>
              <a:defRPr sz="1500" b="1">
                <a:solidFill>
                  <a:srgbClr val="00539F"/>
                </a:solidFill>
                <a:latin typeface="Arial"/>
                <a:ea typeface="Arial"/>
                <a:cs typeface="Arial"/>
              </a:defRPr>
            </a:lvl9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A*: g + h priority</a:t>
            </a:r>
          </a:p>
        </p:txBody>
      </p:sp>
      <p:sp>
        <p:nvSpPr>
          <p:cNvPr id="8" name="Dijkstra spreads according to cost from the start.&#10;A* also uses ">
            <a:extLst xmlns:a="http://schemas.openxmlformats.org/drawingml/2006/main">
              <a:ext uri="{FF2B5EF4-FFF2-40B4-BE49-F238E27FC236}">
                <a16:creationId xmlns:a16="http://schemas.microsoft.com/office/drawing/2014/main" id="{FF5436CF-46DE-40DE-B965-57847CE8A5B4}"/>
              </a:ext>
            </a:extLst>
          </p:cNvPr>
          <p:cNvSpPr>
            <a:spLocks xmlns:a="http://schemas.openxmlformats.org/drawingml/2006/main" noGrp="1"/>
          </p:cNvSpPr>
          <p:nvPr/>
        </p:nvSpPr>
        <p:spPr>
          <a:xfrm xmlns:a="http://schemas.openxmlformats.org/drawingml/2006/main">
            <a:off x="523875" y="3876675"/>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0">
                <a:solidFill>
                  <a:srgbClr val="17324D"/>
                </a:solidFill>
                <a:latin typeface="Arial"/>
                <a:ea typeface="Arial"/>
                <a:cs typeface="Arial"/>
              </a:defRPr>
            </a:defPPr>
            <a:lvl1pPr>
              <a:defRPr sz="1500" b="0">
                <a:solidFill>
                  <a:srgbClr val="17324D"/>
                </a:solidFill>
                <a:latin typeface="Arial"/>
                <a:ea typeface="Arial"/>
                <a:cs typeface="Arial"/>
              </a:defRPr>
            </a:lvl1pPr>
            <a:lvl2pPr>
              <a:defRPr sz="1500" b="0">
                <a:solidFill>
                  <a:srgbClr val="17324D"/>
                </a:solidFill>
                <a:latin typeface="Arial"/>
                <a:ea typeface="Arial"/>
                <a:cs typeface="Arial"/>
              </a:defRPr>
            </a:lvl2pPr>
            <a:lvl3pPr>
              <a:defRPr sz="1500" b="0">
                <a:solidFill>
                  <a:srgbClr val="17324D"/>
                </a:solidFill>
                <a:latin typeface="Arial"/>
                <a:ea typeface="Arial"/>
                <a:cs typeface="Arial"/>
              </a:defRPr>
            </a:lvl3pPr>
            <a:lvl4pPr>
              <a:defRPr sz="1500" b="0">
                <a:solidFill>
                  <a:srgbClr val="17324D"/>
                </a:solidFill>
                <a:latin typeface="Arial"/>
                <a:ea typeface="Arial"/>
                <a:cs typeface="Arial"/>
              </a:defRPr>
            </a:lvl4pPr>
            <a:lvl5pPr>
              <a:defRPr sz="1500" b="0">
                <a:solidFill>
                  <a:srgbClr val="17324D"/>
                </a:solidFill>
                <a:latin typeface="Arial"/>
                <a:ea typeface="Arial"/>
                <a:cs typeface="Arial"/>
              </a:defRPr>
            </a:lvl5pPr>
            <a:lvl6pPr>
              <a:defRPr sz="1500" b="0">
                <a:solidFill>
                  <a:srgbClr val="17324D"/>
                </a:solidFill>
                <a:latin typeface="Arial"/>
                <a:ea typeface="Arial"/>
                <a:cs typeface="Arial"/>
              </a:defRPr>
            </a:lvl6pPr>
            <a:lvl7pPr>
              <a:defRPr sz="1500" b="0">
                <a:solidFill>
                  <a:srgbClr val="17324D"/>
                </a:solidFill>
                <a:latin typeface="Arial"/>
                <a:ea typeface="Arial"/>
                <a:cs typeface="Arial"/>
              </a:defRPr>
            </a:lvl7pPr>
            <a:lvl8pPr>
              <a:defRPr sz="1500" b="0">
                <a:solidFill>
                  <a:srgbClr val="17324D"/>
                </a:solidFill>
                <a:latin typeface="Arial"/>
                <a:ea typeface="Arial"/>
                <a:cs typeface="Arial"/>
              </a:defRPr>
            </a:lvl8pPr>
            <a:lvl9pPr>
              <a:defRPr sz="1500" b="0">
                <a:solidFill>
                  <a:srgbClr val="17324D"/>
                </a:solidFill>
                <a:latin typeface="Arial"/>
                <a:ea typeface="Arial"/>
                <a:cs typeface="Arial"/>
              </a:defRPr>
            </a:lvl9pPr>
          </a:lstStyle>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Dijkstra spreads according to cost from the start.</a:t>
            </a:r>
          </a:p>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A* also uses a lower bound on distance to the goal.</a:t>
            </a:r>
          </a:p>
        </p:txBody>
      </p:sp>
      <p:sp>
        <p:nvSpPr>
          <p:cNvPr id="9" name="Cyan: expanded cells · Blue: minimum-cost route · Dark navy: obs">
            <a:extLst xmlns:a="http://schemas.openxmlformats.org/drawingml/2006/main">
              <a:ext uri="{FF2B5EF4-FFF2-40B4-BE49-F238E27FC236}">
                <a16:creationId xmlns:a16="http://schemas.microsoft.com/office/drawing/2014/main" id="{A36BA808-9D2B-4B70-AD06-0D8D6DD8218B}"/>
              </a:ext>
            </a:extLst>
          </p:cNvPr>
          <p:cNvSpPr>
            <a:spLocks xmlns:a="http://schemas.openxmlformats.org/drawingml/2006/main" noGrp="1"/>
          </p:cNvSpPr>
          <p:nvPr/>
        </p:nvSpPr>
        <p:spPr>
          <a:xfrm xmlns:a="http://schemas.openxmlformats.org/drawingml/2006/main">
            <a:off x="523875" y="43148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75" b="0">
                <a:solidFill>
                  <a:srgbClr val="17324D"/>
                </a:solidFill>
                <a:latin typeface="Arial"/>
                <a:ea typeface="Arial"/>
                <a:cs typeface="Arial"/>
              </a:defRPr>
            </a:defPPr>
            <a:lvl1pPr>
              <a:defRPr sz="1275" b="0">
                <a:solidFill>
                  <a:srgbClr val="17324D"/>
                </a:solidFill>
                <a:latin typeface="Arial"/>
                <a:ea typeface="Arial"/>
                <a:cs typeface="Arial"/>
              </a:defRPr>
            </a:lvl1pPr>
            <a:lvl2pPr>
              <a:defRPr sz="1275" b="0">
                <a:solidFill>
                  <a:srgbClr val="17324D"/>
                </a:solidFill>
                <a:latin typeface="Arial"/>
                <a:ea typeface="Arial"/>
                <a:cs typeface="Arial"/>
              </a:defRPr>
            </a:lvl2pPr>
            <a:lvl3pPr>
              <a:defRPr sz="1275" b="0">
                <a:solidFill>
                  <a:srgbClr val="17324D"/>
                </a:solidFill>
                <a:latin typeface="Arial"/>
                <a:ea typeface="Arial"/>
                <a:cs typeface="Arial"/>
              </a:defRPr>
            </a:lvl3pPr>
            <a:lvl4pPr>
              <a:defRPr sz="1275" b="0">
                <a:solidFill>
                  <a:srgbClr val="17324D"/>
                </a:solidFill>
                <a:latin typeface="Arial"/>
                <a:ea typeface="Arial"/>
                <a:cs typeface="Arial"/>
              </a:defRPr>
            </a:lvl4pPr>
            <a:lvl5pPr>
              <a:defRPr sz="1275" b="0">
                <a:solidFill>
                  <a:srgbClr val="17324D"/>
                </a:solidFill>
                <a:latin typeface="Arial"/>
                <a:ea typeface="Arial"/>
                <a:cs typeface="Arial"/>
              </a:defRPr>
            </a:lvl5pPr>
            <a:lvl6pPr>
              <a:defRPr sz="1275" b="0">
                <a:solidFill>
                  <a:srgbClr val="17324D"/>
                </a:solidFill>
                <a:latin typeface="Arial"/>
                <a:ea typeface="Arial"/>
                <a:cs typeface="Arial"/>
              </a:defRPr>
            </a:lvl6pPr>
            <a:lvl7pPr>
              <a:defRPr sz="1275" b="0">
                <a:solidFill>
                  <a:srgbClr val="17324D"/>
                </a:solidFill>
                <a:latin typeface="Arial"/>
                <a:ea typeface="Arial"/>
                <a:cs typeface="Arial"/>
              </a:defRPr>
            </a:lvl7pPr>
            <a:lvl8pPr>
              <a:defRPr sz="1275" b="0">
                <a:solidFill>
                  <a:srgbClr val="17324D"/>
                </a:solidFill>
                <a:latin typeface="Arial"/>
                <a:ea typeface="Arial"/>
                <a:cs typeface="Arial"/>
              </a:defRPr>
            </a:lvl8pPr>
            <a:lvl9pPr>
              <a:defRPr sz="1275" b="0">
                <a:solidFill>
                  <a:srgbClr val="17324D"/>
                </a:solidFill>
                <a:latin typeface="Arial"/>
                <a:ea typeface="Arial"/>
                <a:cs typeface="Arial"/>
              </a:defRPr>
            </a:lvl9pPr>
          </a:lstStyle>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Cyan: expanded cells · Blue: minimum-cost route · Dark navy: obstacles</a:t>
            </a:r>
          </a:p>
        </p:txBody>
      </p:sp>
      <p:sp>
        <p:nvSpPr>
          <p:cNvPr id="10" name="Open interactive experiment">
            <a:extLst xmlns:a="http://schemas.openxmlformats.org/drawingml/2006/main">
              <a:ext uri="{FF2B5EF4-FFF2-40B4-BE49-F238E27FC236}">
                <a16:creationId xmlns:a16="http://schemas.microsoft.com/office/drawing/2014/main" id="{D5DC6348-EE86-45E0-AE4A-D226E5204A8B}"/>
              </a:ext>
            </a:extLst>
          </p:cNvPr>
          <p:cNvSpPr>
            <a:spLocks xmlns:a="http://schemas.openxmlformats.org/drawingml/2006/main" noGrp="1"/>
          </p:cNvSpPr>
          <p:nvPr/>
        </p:nvSpPr>
        <p:spPr>
          <a:xfrm xmlns:a="http://schemas.openxmlformats.org/drawingml/2006/main">
            <a:off x="523875" y="469582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8b64bb083c4541d6"/>
              </a:rPr>
              <a:t>Open interactive experiment</a:t>
            </a:r>
          </a:p>
        </p:txBody>
      </p:sp>
    </p:spTree>
    <p:extLst>
      <p:ext uri="{BB962C8B-B14F-4D97-AF65-F5344CB8AC3E}">
        <p14:creationId xmlns:p14="http://schemas.microsoft.com/office/powerpoint/2010/main" val="125652683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0127AAF-5884-4951-A015-2DCE7CA740F4}"/>
              </a:ext>
            </a:extLst>
          </p:cNvPr>
          <p:cNvPicPr>
            <a:picLocks xmlns:a="http://schemas.openxmlformats.org/drawingml/2006/main" noChangeAspect="1"/>
          </p:cNvPicPr>
          <p:nvPr/>
        </p:nvPicPr>
        <p:blipFill>
          <a:blip xmlns:r="http://schemas.openxmlformats.org/officeDocument/2006/relationships" xmlns:a="http://schemas.openxmlformats.org/drawingml/2006/main" r:embed="Rae92a3a4ca744f38"/>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A* and Weighted A*">
            <a:extLst xmlns:a="http://schemas.openxmlformats.org/drawingml/2006/main">
              <a:ext uri="{FF2B5EF4-FFF2-40B4-BE49-F238E27FC236}">
                <a16:creationId xmlns:a16="http://schemas.microsoft.com/office/drawing/2014/main" id="{D79AAEBC-E0D1-4A4A-B7FB-371634137A87}"/>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 and Weighted A*</a:t>
            </a:r>
          </a:p>
        </p:txBody>
      </p:sp>
      <p:sp>
        <p:nvSpPr>
          <p:cNvPr id="3" name="14">
            <a:extLst xmlns:a="http://schemas.openxmlformats.org/drawingml/2006/main">
              <a:ext uri="{FF2B5EF4-FFF2-40B4-BE49-F238E27FC236}">
                <a16:creationId xmlns:a16="http://schemas.microsoft.com/office/drawing/2014/main" id="{0F8AB693-57BB-442E-B867-A0FF033458E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14</a:t>
            </a:r>
          </a:p>
        </p:txBody>
      </p:sp>
      <p:pic>
        <p:nvPicPr>
          <p:cNvPr id="4" name="">
            <a:extLst xmlns:a="http://schemas.openxmlformats.org/drawingml/2006/main">
              <a:ext uri="{FF2B5EF4-FFF2-40B4-BE49-F238E27FC236}">
                <a16:creationId xmlns:a16="http://schemas.microsoft.com/office/drawing/2014/main" id="{53155490-D5AC-480E-8081-7C5BC0C83399}"/>
              </a:ext>
            </a:extLst>
          </p:cNvPr>
          <p:cNvPicPr>
            <a:picLocks xmlns:a="http://schemas.openxmlformats.org/drawingml/2006/main" noChangeAspect="1"/>
          </p:cNvPicPr>
          <p:nvPr/>
        </p:nvPicPr>
        <p:blipFill>
          <a:blip xmlns:r="http://schemas.openxmlformats.org/officeDocument/2006/relationships" xmlns:a="http://schemas.openxmlformats.org/drawingml/2006/main" r:embed="R2c3be130b5fa4930"/>
          <a:stretch xmlns:a="http://schemas.openxmlformats.org/drawingml/2006/main"/>
        </p:blipFill>
        <p:spPr>
          <a:xfrm xmlns:a="http://schemas.openxmlformats.org/drawingml/2006/main">
            <a:off x="959353" y="1400175"/>
            <a:ext cx="4358268" cy="2667000"/>
          </a:xfrm>
          <a:prstGeom xmlns:a="http://schemas.openxmlformats.org/drawingml/2006/main" prst="rect">
            <a:avLst/>
          </a:prstGeom>
        </p:spPr>
      </p:pic>
      <p:sp>
        <p:nvSpPr>
          <p:cNvPr id="5" name="A* minimizes graph cost with a valid heuristic and search policy">
            <a:extLst xmlns:a="http://schemas.openxmlformats.org/drawingml/2006/main">
              <a:ext uri="{FF2B5EF4-FFF2-40B4-BE49-F238E27FC236}">
                <a16:creationId xmlns:a16="http://schemas.microsoft.com/office/drawing/2014/main" id="{4BDA41BB-08E8-4F5B-B323-68662FF70921}"/>
              </a:ext>
            </a:extLst>
          </p:cNvPr>
          <p:cNvSpPr>
            <a:spLocks xmlns:a="http://schemas.openxmlformats.org/drawingml/2006/main" noGrp="1"/>
          </p:cNvSpPr>
          <p:nvPr/>
        </p:nvSpPr>
        <p:spPr>
          <a:xfrm xmlns:a="http://schemas.openxmlformats.org/drawingml/2006/main">
            <a:off x="6029325" y="1428750"/>
            <a:ext cx="2619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vl1pPr>
              <a:defRPr sz="1650" b="0">
                <a:solidFill>
                  <a:srgbClr val="17324D"/>
                </a:solidFill>
                <a:latin typeface="Arial"/>
                <a:ea typeface="Arial"/>
                <a:cs typeface="Arial"/>
              </a:defRPr>
            </a:lvl1pPr>
            <a:lvl2pPr>
              <a:defRPr sz="1650" b="0">
                <a:solidFill>
                  <a:srgbClr val="17324D"/>
                </a:solidFill>
                <a:latin typeface="Arial"/>
                <a:ea typeface="Arial"/>
                <a:cs typeface="Arial"/>
              </a:defRPr>
            </a:lvl2pPr>
            <a:lvl3pPr>
              <a:defRPr sz="1650" b="0">
                <a:solidFill>
                  <a:srgbClr val="17324D"/>
                </a:solidFill>
                <a:latin typeface="Arial"/>
                <a:ea typeface="Arial"/>
                <a:cs typeface="Arial"/>
              </a:defRPr>
            </a:lvl3pPr>
            <a:lvl4pPr>
              <a:defRPr sz="1650" b="0">
                <a:solidFill>
                  <a:srgbClr val="17324D"/>
                </a:solidFill>
                <a:latin typeface="Arial"/>
                <a:ea typeface="Arial"/>
                <a:cs typeface="Arial"/>
              </a:defRPr>
            </a:lvl4pPr>
            <a:lvl5pPr>
              <a:defRPr sz="1650" b="0">
                <a:solidFill>
                  <a:srgbClr val="17324D"/>
                </a:solidFill>
                <a:latin typeface="Arial"/>
                <a:ea typeface="Arial"/>
                <a:cs typeface="Arial"/>
              </a:defRPr>
            </a:lvl5pPr>
            <a:lvl6pPr>
              <a:defRPr sz="1650" b="0">
                <a:solidFill>
                  <a:srgbClr val="17324D"/>
                </a:solidFill>
                <a:latin typeface="Arial"/>
                <a:ea typeface="Arial"/>
                <a:cs typeface="Arial"/>
              </a:defRPr>
            </a:lvl6pPr>
            <a:lvl7pPr>
              <a:defRPr sz="1650" b="0">
                <a:solidFill>
                  <a:srgbClr val="17324D"/>
                </a:solidFill>
                <a:latin typeface="Arial"/>
                <a:ea typeface="Arial"/>
                <a:cs typeface="Arial"/>
              </a:defRPr>
            </a:lvl7pPr>
            <a:lvl8pPr>
              <a:defRPr sz="1650" b="0">
                <a:solidFill>
                  <a:srgbClr val="17324D"/>
                </a:solidFill>
                <a:latin typeface="Arial"/>
                <a:ea typeface="Arial"/>
                <a:cs typeface="Arial"/>
              </a:defRPr>
            </a:lvl8pPr>
            <a:lvl9pPr>
              <a:defRPr sz="1650" b="0">
                <a:solidFill>
                  <a:srgbClr val="17324D"/>
                </a:solidFill>
                <a:latin typeface="Arial"/>
                <a:ea typeface="Arial"/>
                <a:cs typeface="Arial"/>
              </a:defRPr>
            </a:lvl9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 minimizes graph cost with a valid heuristic and search policy.</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Weighted A*: f = g + w h, with w &gt; 1.</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The stronger heuristic can reduce expansions but lose exact optimality.</a:t>
            </a:r>
          </a:p>
        </p:txBody>
      </p:sp>
      <p:sp>
        <p:nvSpPr>
          <p:cNvPr id="6" name="Pictured: Weighted A*, w = 2 · Cyan: expanded cells · Blue: rout">
            <a:extLst xmlns:a="http://schemas.openxmlformats.org/drawingml/2006/main">
              <a:ext uri="{FF2B5EF4-FFF2-40B4-BE49-F238E27FC236}">
                <a16:creationId xmlns:a16="http://schemas.microsoft.com/office/drawing/2014/main" id="{D84939DF-D3CD-48FA-9F76-0C4F920C53FA}"/>
              </a:ext>
            </a:extLst>
          </p:cNvPr>
          <p:cNvSpPr>
            <a:spLocks xmlns:a="http://schemas.openxmlformats.org/drawingml/2006/main" noGrp="1"/>
          </p:cNvSpPr>
          <p:nvPr/>
        </p:nvSpPr>
        <p:spPr>
          <a:xfrm xmlns:a="http://schemas.openxmlformats.org/drawingml/2006/main">
            <a:off x="523875" y="417195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17324D"/>
                </a:solidFill>
                <a:latin typeface="Arial"/>
                <a:ea typeface="Arial"/>
                <a:cs typeface="Arial"/>
              </a:defRPr>
            </a:defPPr>
            <a:lvl1pPr>
              <a:defRPr sz="1350" b="0">
                <a:solidFill>
                  <a:srgbClr val="17324D"/>
                </a:solidFill>
                <a:latin typeface="Arial"/>
                <a:ea typeface="Arial"/>
                <a:cs typeface="Arial"/>
              </a:defRPr>
            </a:lvl1pPr>
            <a:lvl2pPr>
              <a:defRPr sz="1350" b="0">
                <a:solidFill>
                  <a:srgbClr val="17324D"/>
                </a:solidFill>
                <a:latin typeface="Arial"/>
                <a:ea typeface="Arial"/>
                <a:cs typeface="Arial"/>
              </a:defRPr>
            </a:lvl2pPr>
            <a:lvl3pPr>
              <a:defRPr sz="1350" b="0">
                <a:solidFill>
                  <a:srgbClr val="17324D"/>
                </a:solidFill>
                <a:latin typeface="Arial"/>
                <a:ea typeface="Arial"/>
                <a:cs typeface="Arial"/>
              </a:defRPr>
            </a:lvl3pPr>
            <a:lvl4pPr>
              <a:defRPr sz="1350" b="0">
                <a:solidFill>
                  <a:srgbClr val="17324D"/>
                </a:solidFill>
                <a:latin typeface="Arial"/>
                <a:ea typeface="Arial"/>
                <a:cs typeface="Arial"/>
              </a:defRPr>
            </a:lvl4pPr>
            <a:lvl5pPr>
              <a:defRPr sz="1350" b="0">
                <a:solidFill>
                  <a:srgbClr val="17324D"/>
                </a:solidFill>
                <a:latin typeface="Arial"/>
                <a:ea typeface="Arial"/>
                <a:cs typeface="Arial"/>
              </a:defRPr>
            </a:lvl5pPr>
            <a:lvl6pPr>
              <a:defRPr sz="1350" b="0">
                <a:solidFill>
                  <a:srgbClr val="17324D"/>
                </a:solidFill>
                <a:latin typeface="Arial"/>
                <a:ea typeface="Arial"/>
                <a:cs typeface="Arial"/>
              </a:defRPr>
            </a:lvl6pPr>
            <a:lvl7pPr>
              <a:defRPr sz="1350" b="0">
                <a:solidFill>
                  <a:srgbClr val="17324D"/>
                </a:solidFill>
                <a:latin typeface="Arial"/>
                <a:ea typeface="Arial"/>
                <a:cs typeface="Arial"/>
              </a:defRPr>
            </a:lvl7pPr>
            <a:lvl8pPr>
              <a:defRPr sz="1350" b="0">
                <a:solidFill>
                  <a:srgbClr val="17324D"/>
                </a:solidFill>
                <a:latin typeface="Arial"/>
                <a:ea typeface="Arial"/>
                <a:cs typeface="Arial"/>
              </a:defRPr>
            </a:lvl8pPr>
            <a:lvl9pPr>
              <a:defRPr sz="1350" b="0">
                <a:solidFill>
                  <a:srgbClr val="17324D"/>
                </a:solidFill>
                <a:latin typeface="Arial"/>
                <a:ea typeface="Arial"/>
                <a:cs typeface="Arial"/>
              </a:defRPr>
            </a:lvl9pPr>
          </a:lstStyle>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Pictured: Weighted A*, w = 2 · Cyan: expanded cells · Blue: route</a:t>
            </a:r>
          </a:p>
        </p:txBody>
      </p:sp>
      <p:sp>
        <p:nvSpPr>
          <p:cNvPr id="7" name="Open interactive experiment">
            <a:extLst xmlns:a="http://schemas.openxmlformats.org/drawingml/2006/main">
              <a:ext uri="{FF2B5EF4-FFF2-40B4-BE49-F238E27FC236}">
                <a16:creationId xmlns:a16="http://schemas.microsoft.com/office/drawing/2014/main" id="{29DA28BE-5BF5-40B5-8803-FDF16223EC56}"/>
              </a:ext>
            </a:extLst>
          </p:cNvPr>
          <p:cNvSpPr>
            <a:spLocks xmlns:a="http://schemas.openxmlformats.org/drawingml/2006/main" noGrp="1"/>
          </p:cNvSpPr>
          <p:nvPr/>
        </p:nvSpPr>
        <p:spPr>
          <a:xfrm xmlns:a="http://schemas.openxmlformats.org/drawingml/2006/main">
            <a:off x="523875" y="46291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4699dc1b889a4594"/>
              </a:rPr>
              <a:t>Open interactive experiment</a:t>
            </a:r>
          </a:p>
        </p:txBody>
      </p:sp>
    </p:spTree>
    <p:extLst>
      <p:ext uri="{BB962C8B-B14F-4D97-AF65-F5344CB8AC3E}">
        <p14:creationId xmlns:p14="http://schemas.microsoft.com/office/powerpoint/2010/main" val="139893211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F706D71-1F55-4C01-ABB9-9C061DD8F697}"/>
              </a:ext>
            </a:extLst>
          </p:cNvPr>
          <p:cNvPicPr>
            <a:picLocks xmlns:a="http://schemas.openxmlformats.org/drawingml/2006/main" noChangeAspect="1"/>
          </p:cNvPicPr>
          <p:nvPr/>
        </p:nvPicPr>
        <p:blipFill>
          <a:blip xmlns:r="http://schemas.openxmlformats.org/officeDocument/2006/relationships" xmlns:a="http://schemas.openxmlformats.org/drawingml/2006/main" r:embed="Rdfa81f647b9c4393"/>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Replanning after a map change">
            <a:extLst xmlns:a="http://schemas.openxmlformats.org/drawingml/2006/main">
              <a:ext uri="{FF2B5EF4-FFF2-40B4-BE49-F238E27FC236}">
                <a16:creationId xmlns:a16="http://schemas.microsoft.com/office/drawing/2014/main" id="{1A1AA1EA-9687-418E-8445-1B4D243C00CF}"/>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Replanning after a map change</a:t>
            </a:r>
          </a:p>
        </p:txBody>
      </p:sp>
      <p:sp>
        <p:nvSpPr>
          <p:cNvPr id="3" name="15">
            <a:extLst xmlns:a="http://schemas.openxmlformats.org/drawingml/2006/main">
              <a:ext uri="{FF2B5EF4-FFF2-40B4-BE49-F238E27FC236}">
                <a16:creationId xmlns:a16="http://schemas.microsoft.com/office/drawing/2014/main" id="{37A5C0A9-B4C1-46C6-AD88-981170982947}"/>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15</a:t>
            </a:r>
          </a:p>
        </p:txBody>
      </p:sp>
      <p:pic>
        <p:nvPicPr>
          <p:cNvPr id="4" name="">
            <a:extLst xmlns:a="http://schemas.openxmlformats.org/drawingml/2006/main">
              <a:ext uri="{FF2B5EF4-FFF2-40B4-BE49-F238E27FC236}">
                <a16:creationId xmlns:a16="http://schemas.microsoft.com/office/drawing/2014/main" id="{A7812C48-70CF-4A29-A597-354BD6A91056}"/>
              </a:ext>
            </a:extLst>
          </p:cNvPr>
          <p:cNvPicPr>
            <a:picLocks xmlns:a="http://schemas.openxmlformats.org/drawingml/2006/main" noChangeAspect="1"/>
          </p:cNvPicPr>
          <p:nvPr/>
        </p:nvPicPr>
        <p:blipFill>
          <a:blip xmlns:r="http://schemas.openxmlformats.org/officeDocument/2006/relationships" xmlns:a="http://schemas.openxmlformats.org/drawingml/2006/main" r:embed="Ra70487ce38844a2e"/>
          <a:stretch xmlns:a="http://schemas.openxmlformats.org/drawingml/2006/main"/>
        </p:blipFill>
        <p:spPr>
          <a:xfrm xmlns:a="http://schemas.openxmlformats.org/drawingml/2006/main">
            <a:off x="959353" y="1400175"/>
            <a:ext cx="4358268" cy="2667000"/>
          </a:xfrm>
          <a:prstGeom xmlns:a="http://schemas.openxmlformats.org/drawingml/2006/main" prst="rect">
            <a:avLst/>
          </a:prstGeom>
        </p:spPr>
      </p:pic>
      <p:sp>
        <p:nvSpPr>
          <p:cNvPr id="5" name="A sensor discovers a blockage on the planned route.&#10;&#10;Edge costs ">
            <a:extLst xmlns:a="http://schemas.openxmlformats.org/drawingml/2006/main">
              <a:ext uri="{FF2B5EF4-FFF2-40B4-BE49-F238E27FC236}">
                <a16:creationId xmlns:a16="http://schemas.microsoft.com/office/drawing/2014/main" id="{51D9975A-E2D6-4C25-960B-4BEFF08937A1}"/>
              </a:ext>
            </a:extLst>
          </p:cNvPr>
          <p:cNvSpPr>
            <a:spLocks xmlns:a="http://schemas.openxmlformats.org/drawingml/2006/main" noGrp="1"/>
          </p:cNvSpPr>
          <p:nvPr/>
        </p:nvSpPr>
        <p:spPr>
          <a:xfrm xmlns:a="http://schemas.openxmlformats.org/drawingml/2006/main">
            <a:off x="6029325" y="1428750"/>
            <a:ext cx="2619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vl1pPr>
              <a:defRPr sz="1650" b="0">
                <a:solidFill>
                  <a:srgbClr val="17324D"/>
                </a:solidFill>
                <a:latin typeface="Arial"/>
                <a:ea typeface="Arial"/>
                <a:cs typeface="Arial"/>
              </a:defRPr>
            </a:lvl1pPr>
            <a:lvl2pPr>
              <a:defRPr sz="1650" b="0">
                <a:solidFill>
                  <a:srgbClr val="17324D"/>
                </a:solidFill>
                <a:latin typeface="Arial"/>
                <a:ea typeface="Arial"/>
                <a:cs typeface="Arial"/>
              </a:defRPr>
            </a:lvl2pPr>
            <a:lvl3pPr>
              <a:defRPr sz="1650" b="0">
                <a:solidFill>
                  <a:srgbClr val="17324D"/>
                </a:solidFill>
                <a:latin typeface="Arial"/>
                <a:ea typeface="Arial"/>
                <a:cs typeface="Arial"/>
              </a:defRPr>
            </a:lvl3pPr>
            <a:lvl4pPr>
              <a:defRPr sz="1650" b="0">
                <a:solidFill>
                  <a:srgbClr val="17324D"/>
                </a:solidFill>
                <a:latin typeface="Arial"/>
                <a:ea typeface="Arial"/>
                <a:cs typeface="Arial"/>
              </a:defRPr>
            </a:lvl4pPr>
            <a:lvl5pPr>
              <a:defRPr sz="1650" b="0">
                <a:solidFill>
                  <a:srgbClr val="17324D"/>
                </a:solidFill>
                <a:latin typeface="Arial"/>
                <a:ea typeface="Arial"/>
                <a:cs typeface="Arial"/>
              </a:defRPr>
            </a:lvl5pPr>
            <a:lvl6pPr>
              <a:defRPr sz="1650" b="0">
                <a:solidFill>
                  <a:srgbClr val="17324D"/>
                </a:solidFill>
                <a:latin typeface="Arial"/>
                <a:ea typeface="Arial"/>
                <a:cs typeface="Arial"/>
              </a:defRPr>
            </a:lvl6pPr>
            <a:lvl7pPr>
              <a:defRPr sz="1650" b="0">
                <a:solidFill>
                  <a:srgbClr val="17324D"/>
                </a:solidFill>
                <a:latin typeface="Arial"/>
                <a:ea typeface="Arial"/>
                <a:cs typeface="Arial"/>
              </a:defRPr>
            </a:lvl7pPr>
            <a:lvl8pPr>
              <a:defRPr sz="1650" b="0">
                <a:solidFill>
                  <a:srgbClr val="17324D"/>
                </a:solidFill>
                <a:latin typeface="Arial"/>
                <a:ea typeface="Arial"/>
                <a:cs typeface="Arial"/>
              </a:defRPr>
            </a:lvl8pPr>
            <a:lvl9pPr>
              <a:defRPr sz="1650" b="0">
                <a:solidFill>
                  <a:srgbClr val="17324D"/>
                </a:solidFill>
                <a:latin typeface="Arial"/>
                <a:ea typeface="Arial"/>
                <a:cs typeface="Arial"/>
              </a:defRPr>
            </a:lvl9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 sensor discovers a blockage on the planned route.</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Edge costs change when a cell becomes occupied or free.</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Incremental search reuses earlier work.</a:t>
            </a:r>
          </a:p>
        </p:txBody>
      </p:sp>
      <p:sp>
        <p:nvSpPr>
          <p:cNvPr id="6" name="Cyan: initial D* Lite expansions · Blue: initial route">
            <a:extLst xmlns:a="http://schemas.openxmlformats.org/drawingml/2006/main">
              <a:ext uri="{FF2B5EF4-FFF2-40B4-BE49-F238E27FC236}">
                <a16:creationId xmlns:a16="http://schemas.microsoft.com/office/drawing/2014/main" id="{444B6F47-F583-4CC9-82FC-6C5BED11A979}"/>
              </a:ext>
            </a:extLst>
          </p:cNvPr>
          <p:cNvSpPr>
            <a:spLocks xmlns:a="http://schemas.openxmlformats.org/drawingml/2006/main" noGrp="1"/>
          </p:cNvSpPr>
          <p:nvPr/>
        </p:nvSpPr>
        <p:spPr>
          <a:xfrm xmlns:a="http://schemas.openxmlformats.org/drawingml/2006/main">
            <a:off x="523875" y="417195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17324D"/>
                </a:solidFill>
                <a:latin typeface="Arial"/>
                <a:ea typeface="Arial"/>
                <a:cs typeface="Arial"/>
              </a:defRPr>
            </a:defPPr>
            <a:lvl1pPr>
              <a:defRPr sz="1350" b="0">
                <a:solidFill>
                  <a:srgbClr val="17324D"/>
                </a:solidFill>
                <a:latin typeface="Arial"/>
                <a:ea typeface="Arial"/>
                <a:cs typeface="Arial"/>
              </a:defRPr>
            </a:lvl1pPr>
            <a:lvl2pPr>
              <a:defRPr sz="1350" b="0">
                <a:solidFill>
                  <a:srgbClr val="17324D"/>
                </a:solidFill>
                <a:latin typeface="Arial"/>
                <a:ea typeface="Arial"/>
                <a:cs typeface="Arial"/>
              </a:defRPr>
            </a:lvl2pPr>
            <a:lvl3pPr>
              <a:defRPr sz="1350" b="0">
                <a:solidFill>
                  <a:srgbClr val="17324D"/>
                </a:solidFill>
                <a:latin typeface="Arial"/>
                <a:ea typeface="Arial"/>
                <a:cs typeface="Arial"/>
              </a:defRPr>
            </a:lvl3pPr>
            <a:lvl4pPr>
              <a:defRPr sz="1350" b="0">
                <a:solidFill>
                  <a:srgbClr val="17324D"/>
                </a:solidFill>
                <a:latin typeface="Arial"/>
                <a:ea typeface="Arial"/>
                <a:cs typeface="Arial"/>
              </a:defRPr>
            </a:lvl4pPr>
            <a:lvl5pPr>
              <a:defRPr sz="1350" b="0">
                <a:solidFill>
                  <a:srgbClr val="17324D"/>
                </a:solidFill>
                <a:latin typeface="Arial"/>
                <a:ea typeface="Arial"/>
                <a:cs typeface="Arial"/>
              </a:defRPr>
            </a:lvl5pPr>
            <a:lvl6pPr>
              <a:defRPr sz="1350" b="0">
                <a:solidFill>
                  <a:srgbClr val="17324D"/>
                </a:solidFill>
                <a:latin typeface="Arial"/>
                <a:ea typeface="Arial"/>
                <a:cs typeface="Arial"/>
              </a:defRPr>
            </a:lvl6pPr>
            <a:lvl7pPr>
              <a:defRPr sz="1350" b="0">
                <a:solidFill>
                  <a:srgbClr val="17324D"/>
                </a:solidFill>
                <a:latin typeface="Arial"/>
                <a:ea typeface="Arial"/>
                <a:cs typeface="Arial"/>
              </a:defRPr>
            </a:lvl7pPr>
            <a:lvl8pPr>
              <a:defRPr sz="1350" b="0">
                <a:solidFill>
                  <a:srgbClr val="17324D"/>
                </a:solidFill>
                <a:latin typeface="Arial"/>
                <a:ea typeface="Arial"/>
                <a:cs typeface="Arial"/>
              </a:defRPr>
            </a:lvl8pPr>
            <a:lvl9pPr>
              <a:defRPr sz="1350" b="0">
                <a:solidFill>
                  <a:srgbClr val="17324D"/>
                </a:solidFill>
                <a:latin typeface="Arial"/>
                <a:ea typeface="Arial"/>
                <a:cs typeface="Arial"/>
              </a:defRPr>
            </a:lvl9pPr>
          </a:lstStyle>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Cyan: initial D* Lite expansions · Blue: initial route</a:t>
            </a:r>
          </a:p>
        </p:txBody>
      </p:sp>
      <p:sp>
        <p:nvSpPr>
          <p:cNvPr id="7" name="Open interactive experiment">
            <a:extLst xmlns:a="http://schemas.openxmlformats.org/drawingml/2006/main">
              <a:ext uri="{FF2B5EF4-FFF2-40B4-BE49-F238E27FC236}">
                <a16:creationId xmlns:a16="http://schemas.microsoft.com/office/drawing/2014/main" id="{98D68979-6880-43FC-A836-F33401F4829A}"/>
              </a:ext>
            </a:extLst>
          </p:cNvPr>
          <p:cNvSpPr>
            <a:spLocks xmlns:a="http://schemas.openxmlformats.org/drawingml/2006/main" noGrp="1"/>
          </p:cNvSpPr>
          <p:nvPr/>
        </p:nvSpPr>
        <p:spPr>
          <a:xfrm xmlns:a="http://schemas.openxmlformats.org/drawingml/2006/main">
            <a:off x="523875" y="46291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42bb028abd0d418b"/>
              </a:rPr>
              <a:t>Open interactive experiment</a:t>
            </a:r>
          </a:p>
        </p:txBody>
      </p:sp>
    </p:spTree>
    <p:extLst>
      <p:ext uri="{BB962C8B-B14F-4D97-AF65-F5344CB8AC3E}">
        <p14:creationId xmlns:p14="http://schemas.microsoft.com/office/powerpoint/2010/main" val="114056363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56F2BD15-BD96-4B2E-9199-11B92DE16772}"/>
              </a:ext>
            </a:extLst>
          </p:cNvPr>
          <p:cNvPicPr>
            <a:picLocks xmlns:a="http://schemas.openxmlformats.org/drawingml/2006/main" noChangeAspect="1"/>
          </p:cNvPicPr>
          <p:nvPr/>
        </p:nvPicPr>
        <p:blipFill>
          <a:blip xmlns:r="http://schemas.openxmlformats.org/officeDocument/2006/relationships" xmlns:a="http://schemas.openxmlformats.org/drawingml/2006/main" r:embed="Rc8b42fe9196f4774"/>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D* and D* Lite">
            <a:extLst xmlns:a="http://schemas.openxmlformats.org/drawingml/2006/main">
              <a:ext uri="{FF2B5EF4-FFF2-40B4-BE49-F238E27FC236}">
                <a16:creationId xmlns:a16="http://schemas.microsoft.com/office/drawing/2014/main" id="{920C3B02-86B4-49A5-ADA4-01FEBC17C9E9}"/>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 and D* Lite</a:t>
            </a:r>
          </a:p>
        </p:txBody>
      </p:sp>
      <p:sp>
        <p:nvSpPr>
          <p:cNvPr id="3" name="16">
            <a:extLst xmlns:a="http://schemas.openxmlformats.org/drawingml/2006/main">
              <a:ext uri="{FF2B5EF4-FFF2-40B4-BE49-F238E27FC236}">
                <a16:creationId xmlns:a16="http://schemas.microsoft.com/office/drawing/2014/main" id="{894FE773-0140-47FE-9D50-C128DFD6DA9D}"/>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16</a:t>
            </a:r>
          </a:p>
        </p:txBody>
      </p:sp>
      <p:graphicFrame>
        <p:nvGraphicFramePr>
          <p:cNvPr id="4" name="">
            <a:extLst xmlns:a="http://schemas.openxmlformats.org/drawingml/2006/main">
              <a:ext uri="{FF2B5EF4-FFF2-40B4-BE49-F238E27FC236}">
                <a16:creationId xmlns:a16="http://schemas.microsoft.com/office/drawing/2014/main" id="{A599738A-B4D5-4743-ABAE-F18F1277563D}"/>
              </a:ext>
            </a:extLst>
          </p:cNvPr>
          <p:cNvGraphicFramePr/>
          <p:nvPr/>
        </p:nvGraphicFramePr>
        <p:xfrm>
          <a:off xmlns:a="http://schemas.openxmlformats.org/drawingml/2006/main" x="523875" y="1438275"/>
          <a:ext xmlns:a="http://schemas.openxmlformats.org/drawingml/2006/main" cx="8096250" cy="2857500"/>
        </p:xfrm>
        <a:graphic xmlns:a="http://schemas.openxmlformats.org/drawingml/2006/main">
          <a:graphicData uri="http://schemas.openxmlformats.org/drawingml/2006/table">
            <a:tbl>
              <a:tblPr/>
              <a:tblGrid>
                <a:gridCol w="1952625"/>
                <a:gridCol w="3000375"/>
                <a:gridCol w="3143250"/>
              </a:tblGrid>
              <a:tr h="714375">
                <a:tc>
                  <a:txBody>
                    <a:bodyPr lIns="114300" tIns="76200" rIns="114300" bIns="76200">
                      <a:noAutofit/>
                    </a:bodyPr>
                    <a:lstStyle/>
                    <a:p>
                      <a:r>
                        <a:rPr sz="1425" b="1">
                          <a:solidFill>
                            <a:srgbClr val="FFFFFF"/>
                          </a:solidFill>
                          <a:latin typeface="Arial"/>
                          <a:ea typeface="Arial"/>
                          <a:cs typeface="Arial"/>
                        </a:rPr>
                        <a:t>Method</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Origin</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Core idea</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714375">
                <a:tc>
                  <a:txBody>
                    <a:bodyPr lIns="114300" tIns="76200" rIns="114300" bIns="76200">
                      <a:noAutofit/>
                    </a:bodyPr>
                    <a:lstStyle/>
                    <a:p>
                      <a:r>
                        <a:rPr sz="1425" b="0">
                          <a:solidFill>
                            <a:srgbClr val="17324D"/>
                          </a:solidFill>
                          <a:latin typeface="Arial"/>
                          <a:ea typeface="Arial"/>
                          <a:cs typeface="Arial"/>
                        </a:rPr>
                        <a:t>D*</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Stentz, 1994</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Repair routes after cost changes</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714375">
                <a:tc>
                  <a:txBody>
                    <a:bodyPr lIns="114300" tIns="76200" rIns="114300" bIns="76200">
                      <a:noAutofit/>
                    </a:bodyPr>
                    <a:lstStyle/>
                    <a:p>
                      <a:r>
                        <a:rPr sz="1425" b="0">
                          <a:solidFill>
                            <a:srgbClr val="17324D"/>
                          </a:solidFill>
                          <a:latin typeface="Arial"/>
                          <a:ea typeface="Arial"/>
                          <a:cs typeface="Arial"/>
                        </a:rPr>
                        <a:t>D* Lite</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Koenig &amp; Likhachev, 2002</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Reuse backward g / rhs values</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714375">
                <a:tc>
                  <a:txBody>
                    <a:bodyPr lIns="114300" tIns="76200" rIns="114300" bIns="76200">
                      <a:noAutofit/>
                    </a:bodyPr>
                    <a:lstStyle/>
                    <a:p>
                      <a:r>
                        <a:rPr sz="1425" b="0">
                          <a:solidFill>
                            <a:srgbClr val="17324D"/>
                          </a:solidFill>
                          <a:latin typeface="Arial"/>
                          <a:ea typeface="Arial"/>
                          <a:cs typeface="Arial"/>
                        </a:rPr>
                        <a:t>Repeated A*</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New search after each edit</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Discard previous search state</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bl>
          </a:graphicData>
        </a:graphic>
      </p:graphicFrame>
    </p:spTree>
    <p:extLst>
      <p:ext uri="{BB962C8B-B14F-4D97-AF65-F5344CB8AC3E}">
        <p14:creationId xmlns:p14="http://schemas.microsoft.com/office/powerpoint/2010/main" val="191298630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ABB480E-510C-4788-B3C3-D8E6914A58DD}"/>
              </a:ext>
            </a:extLst>
          </p:cNvPr>
          <p:cNvPicPr>
            <a:picLocks xmlns:a="http://schemas.openxmlformats.org/drawingml/2006/main" noChangeAspect="1"/>
          </p:cNvPicPr>
          <p:nvPr/>
        </p:nvPicPr>
        <p:blipFill>
          <a:blip xmlns:r="http://schemas.openxmlformats.org/officeDocument/2006/relationships" xmlns:a="http://schemas.openxmlformats.org/drawingml/2006/main" r:embed="Rffa85477aacb40a9"/>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D* Lite consistency">
            <a:extLst xmlns:a="http://schemas.openxmlformats.org/drawingml/2006/main">
              <a:ext uri="{FF2B5EF4-FFF2-40B4-BE49-F238E27FC236}">
                <a16:creationId xmlns:a16="http://schemas.microsoft.com/office/drawing/2014/main" id="{C88FEA47-9CA3-41BC-98A7-EEB92F0D8AFE}"/>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 Lite consistency</a:t>
            </a:r>
          </a:p>
        </p:txBody>
      </p:sp>
      <p:sp>
        <p:nvSpPr>
          <p:cNvPr id="3" name="17">
            <a:extLst xmlns:a="http://schemas.openxmlformats.org/drawingml/2006/main">
              <a:ext uri="{FF2B5EF4-FFF2-40B4-BE49-F238E27FC236}">
                <a16:creationId xmlns:a16="http://schemas.microsoft.com/office/drawing/2014/main" id="{866C718D-67EC-460E-84A9-2D4873061FA0}"/>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17</a:t>
            </a:r>
          </a:p>
        </p:txBody>
      </p:sp>
      <p:sp>
        <p:nvSpPr>
          <p:cNvPr id="4" name="rhs(goal) = 0">
            <a:extLst xmlns:a="http://schemas.openxmlformats.org/drawingml/2006/main">
              <a:ext uri="{FF2B5EF4-FFF2-40B4-BE49-F238E27FC236}">
                <a16:creationId xmlns:a16="http://schemas.microsoft.com/office/drawing/2014/main" id="{A0FFAFBA-829F-4936-89C4-8CE13345A8AD}"/>
              </a:ext>
            </a:extLst>
          </p:cNvPr>
          <p:cNvSpPr>
            <a:spLocks xmlns:a="http://schemas.openxmlformats.org/drawingml/2006/main" noGrp="1"/>
          </p:cNvSpPr>
          <p:nvPr/>
        </p:nvSpPr>
        <p:spPr>
          <a:xfrm xmlns:a="http://schemas.openxmlformats.org/drawingml/2006/main">
            <a:off x="619125" y="1457325"/>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1">
                <a:solidFill>
                  <a:srgbClr val="00539F"/>
                </a:solidFill>
                <a:latin typeface="Arial"/>
                <a:ea typeface="Arial"/>
                <a:cs typeface="Arial"/>
              </a:defRPr>
            </a:defPPr>
            <a:lvl1pPr>
              <a:defRPr sz="2400" b="1">
                <a:solidFill>
                  <a:srgbClr val="00539F"/>
                </a:solidFill>
                <a:latin typeface="Arial"/>
                <a:ea typeface="Arial"/>
                <a:cs typeface="Arial"/>
              </a:defRPr>
            </a:lvl1pPr>
            <a:lvl2pPr>
              <a:defRPr sz="2400" b="1">
                <a:solidFill>
                  <a:srgbClr val="00539F"/>
                </a:solidFill>
                <a:latin typeface="Arial"/>
                <a:ea typeface="Arial"/>
                <a:cs typeface="Arial"/>
              </a:defRPr>
            </a:lvl2pPr>
            <a:lvl3pPr>
              <a:defRPr sz="2400" b="1">
                <a:solidFill>
                  <a:srgbClr val="00539F"/>
                </a:solidFill>
                <a:latin typeface="Arial"/>
                <a:ea typeface="Arial"/>
                <a:cs typeface="Arial"/>
              </a:defRPr>
            </a:lvl3pPr>
            <a:lvl4pPr>
              <a:defRPr sz="2400" b="1">
                <a:solidFill>
                  <a:srgbClr val="00539F"/>
                </a:solidFill>
                <a:latin typeface="Arial"/>
                <a:ea typeface="Arial"/>
                <a:cs typeface="Arial"/>
              </a:defRPr>
            </a:lvl4pPr>
            <a:lvl5pPr>
              <a:defRPr sz="2400" b="1">
                <a:solidFill>
                  <a:srgbClr val="00539F"/>
                </a:solidFill>
                <a:latin typeface="Arial"/>
                <a:ea typeface="Arial"/>
                <a:cs typeface="Arial"/>
              </a:defRPr>
            </a:lvl5pPr>
            <a:lvl6pPr>
              <a:defRPr sz="2400" b="1">
                <a:solidFill>
                  <a:srgbClr val="00539F"/>
                </a:solidFill>
                <a:latin typeface="Arial"/>
                <a:ea typeface="Arial"/>
                <a:cs typeface="Arial"/>
              </a:defRPr>
            </a:lvl6pPr>
            <a:lvl7pPr>
              <a:defRPr sz="2400" b="1">
                <a:solidFill>
                  <a:srgbClr val="00539F"/>
                </a:solidFill>
                <a:latin typeface="Arial"/>
                <a:ea typeface="Arial"/>
                <a:cs typeface="Arial"/>
              </a:defRPr>
            </a:lvl7pPr>
            <a:lvl8pPr>
              <a:defRPr sz="2400" b="1">
                <a:solidFill>
                  <a:srgbClr val="00539F"/>
                </a:solidFill>
                <a:latin typeface="Arial"/>
                <a:ea typeface="Arial"/>
                <a:cs typeface="Arial"/>
              </a:defRPr>
            </a:lvl8pPr>
            <a:lvl9pPr>
              <a:defRPr sz="2400" b="1">
                <a:solidFill>
                  <a:srgbClr val="00539F"/>
                </a:solidFill>
                <a:latin typeface="Arial"/>
                <a:ea typeface="Arial"/>
                <a:cs typeface="Arial"/>
              </a:defRPr>
            </a:lvl9pPr>
          </a:lstStyle>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rhs(goal) = 0</a:t>
            </a:r>
          </a:p>
        </p:txBody>
      </p:sp>
      <p:sp>
        <p:nvSpPr>
          <p:cNvPr id="5" name="rhs(s) = min [ c(s, s′) + g(s′) ]   for s ≠ goal">
            <a:extLst xmlns:a="http://schemas.openxmlformats.org/drawingml/2006/main">
              <a:ext uri="{FF2B5EF4-FFF2-40B4-BE49-F238E27FC236}">
                <a16:creationId xmlns:a16="http://schemas.microsoft.com/office/drawing/2014/main" id="{6CCD981D-2EB9-42C5-B636-0C169F6C8014}"/>
              </a:ext>
            </a:extLst>
          </p:cNvPr>
          <p:cNvSpPr>
            <a:spLocks xmlns:a="http://schemas.openxmlformats.org/drawingml/2006/main" noGrp="1"/>
          </p:cNvSpPr>
          <p:nvPr/>
        </p:nvSpPr>
        <p:spPr>
          <a:xfrm xmlns:a="http://schemas.openxmlformats.org/drawingml/2006/main">
            <a:off x="619125" y="2047875"/>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00539F"/>
                </a:solidFill>
                <a:latin typeface="Arial"/>
                <a:ea typeface="Arial"/>
                <a:cs typeface="Arial"/>
              </a:defRPr>
            </a:defPPr>
            <a:lvl1pPr>
              <a:defRPr sz="2025" b="0">
                <a:solidFill>
                  <a:srgbClr val="00539F"/>
                </a:solidFill>
                <a:latin typeface="Arial"/>
                <a:ea typeface="Arial"/>
                <a:cs typeface="Arial"/>
              </a:defRPr>
            </a:lvl1pPr>
            <a:lvl2pPr>
              <a:defRPr sz="2025" b="0">
                <a:solidFill>
                  <a:srgbClr val="00539F"/>
                </a:solidFill>
                <a:latin typeface="Arial"/>
                <a:ea typeface="Arial"/>
                <a:cs typeface="Arial"/>
              </a:defRPr>
            </a:lvl2pPr>
            <a:lvl3pPr>
              <a:defRPr sz="2025" b="0">
                <a:solidFill>
                  <a:srgbClr val="00539F"/>
                </a:solidFill>
                <a:latin typeface="Arial"/>
                <a:ea typeface="Arial"/>
                <a:cs typeface="Arial"/>
              </a:defRPr>
            </a:lvl3pPr>
            <a:lvl4pPr>
              <a:defRPr sz="2025" b="0">
                <a:solidFill>
                  <a:srgbClr val="00539F"/>
                </a:solidFill>
                <a:latin typeface="Arial"/>
                <a:ea typeface="Arial"/>
                <a:cs typeface="Arial"/>
              </a:defRPr>
            </a:lvl4pPr>
            <a:lvl5pPr>
              <a:defRPr sz="2025" b="0">
                <a:solidFill>
                  <a:srgbClr val="00539F"/>
                </a:solidFill>
                <a:latin typeface="Arial"/>
                <a:ea typeface="Arial"/>
                <a:cs typeface="Arial"/>
              </a:defRPr>
            </a:lvl5pPr>
            <a:lvl6pPr>
              <a:defRPr sz="2025" b="0">
                <a:solidFill>
                  <a:srgbClr val="00539F"/>
                </a:solidFill>
                <a:latin typeface="Arial"/>
                <a:ea typeface="Arial"/>
                <a:cs typeface="Arial"/>
              </a:defRPr>
            </a:lvl6pPr>
            <a:lvl7pPr>
              <a:defRPr sz="2025" b="0">
                <a:solidFill>
                  <a:srgbClr val="00539F"/>
                </a:solidFill>
                <a:latin typeface="Arial"/>
                <a:ea typeface="Arial"/>
                <a:cs typeface="Arial"/>
              </a:defRPr>
            </a:lvl7pPr>
            <a:lvl8pPr>
              <a:defRPr sz="2025" b="0">
                <a:solidFill>
                  <a:srgbClr val="00539F"/>
                </a:solidFill>
                <a:latin typeface="Arial"/>
                <a:ea typeface="Arial"/>
                <a:cs typeface="Arial"/>
              </a:defRPr>
            </a:lvl8pPr>
            <a:lvl9pPr>
              <a:defRPr sz="2025" b="0">
                <a:solidFill>
                  <a:srgbClr val="00539F"/>
                </a:solidFill>
                <a:latin typeface="Arial"/>
                <a:ea typeface="Arial"/>
                <a:cs typeface="Arial"/>
              </a:defRPr>
            </a:lvl9pPr>
          </a:lstStyle>
          <a:p xmlns:a="http://schemas.openxmlformats.org/drawingml/2006/main">
            <a:pPr>
              <a:defRPr sz="2025" b="0">
                <a:solidFill>
                  <a:srgbClr val="00539F"/>
                </a:solidFill>
                <a:latin typeface="Arial"/>
                <a:ea typeface="Arial"/>
                <a:cs typeface="Arial"/>
              </a:defRPr>
            </a:pPr>
            <a:r>
              <a:rPr sz="2025" b="0">
                <a:solidFill>
                  <a:srgbClr val="00539F"/>
                </a:solidFill>
                <a:latin typeface="Arial"/>
                <a:ea typeface="Arial"/>
                <a:cs typeface="Arial"/>
              </a:rPr>
              <a:t>rhs(s) = min [ c(s, s′) + g(s′) ]   for s ≠ goal</a:t>
            </a:r>
          </a:p>
        </p:txBody>
      </p:sp>
      <p:sp>
        <p:nvSpPr>
          <p:cNvPr id="6" name="g(s) = rhs(s)   means locally consistent">
            <a:extLst xmlns:a="http://schemas.openxmlformats.org/drawingml/2006/main">
              <a:ext uri="{FF2B5EF4-FFF2-40B4-BE49-F238E27FC236}">
                <a16:creationId xmlns:a16="http://schemas.microsoft.com/office/drawing/2014/main" id="{27FE136B-A534-4D4E-B1AD-39B5157E0C42}"/>
              </a:ext>
            </a:extLst>
          </p:cNvPr>
          <p:cNvSpPr>
            <a:spLocks xmlns:a="http://schemas.openxmlformats.org/drawingml/2006/main" noGrp="1"/>
          </p:cNvSpPr>
          <p:nvPr/>
        </p:nvSpPr>
        <p:spPr>
          <a:xfrm xmlns:a="http://schemas.openxmlformats.org/drawingml/2006/main">
            <a:off x="619125" y="2638425"/>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0">
                <a:solidFill>
                  <a:srgbClr val="00539F"/>
                </a:solidFill>
                <a:latin typeface="Arial"/>
                <a:ea typeface="Arial"/>
                <a:cs typeface="Arial"/>
              </a:defRPr>
            </a:defPPr>
            <a:lvl1pPr>
              <a:defRPr sz="2400" b="0">
                <a:solidFill>
                  <a:srgbClr val="00539F"/>
                </a:solidFill>
                <a:latin typeface="Arial"/>
                <a:ea typeface="Arial"/>
                <a:cs typeface="Arial"/>
              </a:defRPr>
            </a:lvl1pPr>
            <a:lvl2pPr>
              <a:defRPr sz="2400" b="0">
                <a:solidFill>
                  <a:srgbClr val="00539F"/>
                </a:solidFill>
                <a:latin typeface="Arial"/>
                <a:ea typeface="Arial"/>
                <a:cs typeface="Arial"/>
              </a:defRPr>
            </a:lvl2pPr>
            <a:lvl3pPr>
              <a:defRPr sz="2400" b="0">
                <a:solidFill>
                  <a:srgbClr val="00539F"/>
                </a:solidFill>
                <a:latin typeface="Arial"/>
                <a:ea typeface="Arial"/>
                <a:cs typeface="Arial"/>
              </a:defRPr>
            </a:lvl3pPr>
            <a:lvl4pPr>
              <a:defRPr sz="2400" b="0">
                <a:solidFill>
                  <a:srgbClr val="00539F"/>
                </a:solidFill>
                <a:latin typeface="Arial"/>
                <a:ea typeface="Arial"/>
                <a:cs typeface="Arial"/>
              </a:defRPr>
            </a:lvl4pPr>
            <a:lvl5pPr>
              <a:defRPr sz="2400" b="0">
                <a:solidFill>
                  <a:srgbClr val="00539F"/>
                </a:solidFill>
                <a:latin typeface="Arial"/>
                <a:ea typeface="Arial"/>
                <a:cs typeface="Arial"/>
              </a:defRPr>
            </a:lvl5pPr>
            <a:lvl6pPr>
              <a:defRPr sz="2400" b="0">
                <a:solidFill>
                  <a:srgbClr val="00539F"/>
                </a:solidFill>
                <a:latin typeface="Arial"/>
                <a:ea typeface="Arial"/>
                <a:cs typeface="Arial"/>
              </a:defRPr>
            </a:lvl6pPr>
            <a:lvl7pPr>
              <a:defRPr sz="2400" b="0">
                <a:solidFill>
                  <a:srgbClr val="00539F"/>
                </a:solidFill>
                <a:latin typeface="Arial"/>
                <a:ea typeface="Arial"/>
                <a:cs typeface="Arial"/>
              </a:defRPr>
            </a:lvl7pPr>
            <a:lvl8pPr>
              <a:defRPr sz="2400" b="0">
                <a:solidFill>
                  <a:srgbClr val="00539F"/>
                </a:solidFill>
                <a:latin typeface="Arial"/>
                <a:ea typeface="Arial"/>
                <a:cs typeface="Arial"/>
              </a:defRPr>
            </a:lvl8pPr>
            <a:lvl9pPr>
              <a:defRPr sz="2400" b="0">
                <a:solidFill>
                  <a:srgbClr val="00539F"/>
                </a:solidFill>
                <a:latin typeface="Arial"/>
                <a:ea typeface="Arial"/>
                <a:cs typeface="Arial"/>
              </a:defRPr>
            </a:lvl9pPr>
          </a:lstStyle>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g(s) = rhs(s)   means locally consistent</a:t>
            </a:r>
          </a:p>
        </p:txBody>
      </p:sp>
      <p:sp>
        <p:nvSpPr>
          <p:cNvPr id="7" name="g is the stored estimate of cost to the goal.&#10;&#10;rhs checks that e">
            <a:extLst xmlns:a="http://schemas.openxmlformats.org/drawingml/2006/main">
              <a:ext uri="{FF2B5EF4-FFF2-40B4-BE49-F238E27FC236}">
                <a16:creationId xmlns:a16="http://schemas.microsoft.com/office/drawing/2014/main" id="{325CC2E2-A6E3-4CC0-B337-8D6645430E2F}"/>
              </a:ext>
            </a:extLst>
          </p:cNvPr>
          <p:cNvSpPr>
            <a:spLocks xmlns:a="http://schemas.openxmlformats.org/drawingml/2006/main" noGrp="1"/>
          </p:cNvSpPr>
          <p:nvPr/>
        </p:nvSpPr>
        <p:spPr>
          <a:xfrm xmlns:a="http://schemas.openxmlformats.org/drawingml/2006/main">
            <a:off x="619125" y="3476625"/>
            <a:ext cx="790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17324D"/>
                </a:solidFill>
                <a:latin typeface="Arial"/>
                <a:ea typeface="Arial"/>
                <a:cs typeface="Arial"/>
              </a:defRPr>
            </a:defPPr>
            <a:lvl1pPr>
              <a:defRPr sz="1725" b="0">
                <a:solidFill>
                  <a:srgbClr val="17324D"/>
                </a:solidFill>
                <a:latin typeface="Arial"/>
                <a:ea typeface="Arial"/>
                <a:cs typeface="Arial"/>
              </a:defRPr>
            </a:lvl1pPr>
            <a:lvl2pPr>
              <a:defRPr sz="1725" b="0">
                <a:solidFill>
                  <a:srgbClr val="17324D"/>
                </a:solidFill>
                <a:latin typeface="Arial"/>
                <a:ea typeface="Arial"/>
                <a:cs typeface="Arial"/>
              </a:defRPr>
            </a:lvl2pPr>
            <a:lvl3pPr>
              <a:defRPr sz="1725" b="0">
                <a:solidFill>
                  <a:srgbClr val="17324D"/>
                </a:solidFill>
                <a:latin typeface="Arial"/>
                <a:ea typeface="Arial"/>
                <a:cs typeface="Arial"/>
              </a:defRPr>
            </a:lvl3pPr>
            <a:lvl4pPr>
              <a:defRPr sz="1725" b="0">
                <a:solidFill>
                  <a:srgbClr val="17324D"/>
                </a:solidFill>
                <a:latin typeface="Arial"/>
                <a:ea typeface="Arial"/>
                <a:cs typeface="Arial"/>
              </a:defRPr>
            </a:lvl4pPr>
            <a:lvl5pPr>
              <a:defRPr sz="1725" b="0">
                <a:solidFill>
                  <a:srgbClr val="17324D"/>
                </a:solidFill>
                <a:latin typeface="Arial"/>
                <a:ea typeface="Arial"/>
                <a:cs typeface="Arial"/>
              </a:defRPr>
            </a:lvl5pPr>
            <a:lvl6pPr>
              <a:defRPr sz="1725" b="0">
                <a:solidFill>
                  <a:srgbClr val="17324D"/>
                </a:solidFill>
                <a:latin typeface="Arial"/>
                <a:ea typeface="Arial"/>
                <a:cs typeface="Arial"/>
              </a:defRPr>
            </a:lvl6pPr>
            <a:lvl7pPr>
              <a:defRPr sz="1725" b="0">
                <a:solidFill>
                  <a:srgbClr val="17324D"/>
                </a:solidFill>
                <a:latin typeface="Arial"/>
                <a:ea typeface="Arial"/>
                <a:cs typeface="Arial"/>
              </a:defRPr>
            </a:lvl7pPr>
            <a:lvl8pPr>
              <a:defRPr sz="1725" b="0">
                <a:solidFill>
                  <a:srgbClr val="17324D"/>
                </a:solidFill>
                <a:latin typeface="Arial"/>
                <a:ea typeface="Arial"/>
                <a:cs typeface="Arial"/>
              </a:defRPr>
            </a:lvl8pPr>
            <a:lvl9pPr>
              <a:defRPr sz="1725" b="0">
                <a:solidFill>
                  <a:srgbClr val="17324D"/>
                </a:solidFill>
                <a:latin typeface="Arial"/>
                <a:ea typeface="Arial"/>
                <a:cs typeface="Arial"/>
              </a:defRPr>
            </a:lvl9pPr>
          </a:lstStyle>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g is the stored estimate of cost to the goal.</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rhs checks that estimate against one step through a neighbor.</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A changed edge makes affected states inconsistent.</a:t>
            </a:r>
          </a:p>
        </p:txBody>
      </p:sp>
    </p:spTree>
    <p:extLst>
      <p:ext uri="{BB962C8B-B14F-4D97-AF65-F5344CB8AC3E}">
        <p14:creationId xmlns:p14="http://schemas.microsoft.com/office/powerpoint/2010/main" val="114662167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AF980F3-755C-4289-A9E4-616EA4FAD2EB}"/>
              </a:ext>
            </a:extLst>
          </p:cNvPr>
          <p:cNvPicPr>
            <a:picLocks xmlns:a="http://schemas.openxmlformats.org/drawingml/2006/main" noChangeAspect="1"/>
          </p:cNvPicPr>
          <p:nvPr/>
        </p:nvPicPr>
        <p:blipFill>
          <a:blip xmlns:r="http://schemas.openxmlformats.org/officeDocument/2006/relationships" xmlns:a="http://schemas.openxmlformats.org/drawingml/2006/main" r:embed="Rb3dc4f25a9da4fda"/>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D* Lite repairs the route">
            <a:extLst xmlns:a="http://schemas.openxmlformats.org/drawingml/2006/main">
              <a:ext uri="{FF2B5EF4-FFF2-40B4-BE49-F238E27FC236}">
                <a16:creationId xmlns:a16="http://schemas.microsoft.com/office/drawing/2014/main" id="{84FE68BE-50EA-4747-9A3A-390FE1586405}"/>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 Lite repairs the route</a:t>
            </a:r>
          </a:p>
        </p:txBody>
      </p:sp>
      <p:sp>
        <p:nvSpPr>
          <p:cNvPr id="3" name="18">
            <a:extLst xmlns:a="http://schemas.openxmlformats.org/drawingml/2006/main">
              <a:ext uri="{FF2B5EF4-FFF2-40B4-BE49-F238E27FC236}">
                <a16:creationId xmlns:a16="http://schemas.microsoft.com/office/drawing/2014/main" id="{8502E162-B640-4794-AF63-9E9778461E16}"/>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18</a:t>
            </a:r>
          </a:p>
        </p:txBody>
      </p:sp>
      <p:pic>
        <p:nvPicPr>
          <p:cNvPr id="4" name="">
            <a:extLst xmlns:a="http://schemas.openxmlformats.org/drawingml/2006/main">
              <a:ext uri="{FF2B5EF4-FFF2-40B4-BE49-F238E27FC236}">
                <a16:creationId xmlns:a16="http://schemas.microsoft.com/office/drawing/2014/main" id="{6D046E29-E4CB-4A2B-9367-8991FE2F5CD0}"/>
              </a:ext>
            </a:extLst>
          </p:cNvPr>
          <p:cNvPicPr>
            <a:picLocks xmlns:a="http://schemas.openxmlformats.org/drawingml/2006/main" noChangeAspect="1"/>
          </p:cNvPicPr>
          <p:nvPr/>
        </p:nvPicPr>
        <p:blipFill>
          <a:blip xmlns:r="http://schemas.openxmlformats.org/officeDocument/2006/relationships" xmlns:a="http://schemas.openxmlformats.org/drawingml/2006/main" r:embed="Rf4d69ba3b547438e"/>
          <a:stretch xmlns:a="http://schemas.openxmlformats.org/drawingml/2006/main"/>
        </p:blipFill>
        <p:spPr>
          <a:xfrm xmlns:a="http://schemas.openxmlformats.org/drawingml/2006/main">
            <a:off x="959353" y="1400175"/>
            <a:ext cx="4358268" cy="2667000"/>
          </a:xfrm>
          <a:prstGeom xmlns:a="http://schemas.openxmlformats.org/drawingml/2006/main" prst="rect">
            <a:avLst/>
          </a:prstGeom>
        </p:spPr>
      </p:pic>
      <p:sp>
        <p:nvSpPr>
          <p:cNvPr id="5" name="The blocked cell changes the route.&#10;&#10;Cyan shows the states proce">
            <a:extLst xmlns:a="http://schemas.openxmlformats.org/drawingml/2006/main">
              <a:ext uri="{FF2B5EF4-FFF2-40B4-BE49-F238E27FC236}">
                <a16:creationId xmlns:a16="http://schemas.microsoft.com/office/drawing/2014/main" id="{8637D6EE-DF65-4D2D-AD41-80AFCDD99AC6}"/>
              </a:ext>
            </a:extLst>
          </p:cNvPr>
          <p:cNvSpPr>
            <a:spLocks xmlns:a="http://schemas.openxmlformats.org/drawingml/2006/main" noGrp="1"/>
          </p:cNvSpPr>
          <p:nvPr/>
        </p:nvSpPr>
        <p:spPr>
          <a:xfrm xmlns:a="http://schemas.openxmlformats.org/drawingml/2006/main">
            <a:off x="6029325" y="1428750"/>
            <a:ext cx="2619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vl1pPr>
              <a:defRPr sz="1650" b="0">
                <a:solidFill>
                  <a:srgbClr val="17324D"/>
                </a:solidFill>
                <a:latin typeface="Arial"/>
                <a:ea typeface="Arial"/>
                <a:cs typeface="Arial"/>
              </a:defRPr>
            </a:lvl1pPr>
            <a:lvl2pPr>
              <a:defRPr sz="1650" b="0">
                <a:solidFill>
                  <a:srgbClr val="17324D"/>
                </a:solidFill>
                <a:latin typeface="Arial"/>
                <a:ea typeface="Arial"/>
                <a:cs typeface="Arial"/>
              </a:defRPr>
            </a:lvl2pPr>
            <a:lvl3pPr>
              <a:defRPr sz="1650" b="0">
                <a:solidFill>
                  <a:srgbClr val="17324D"/>
                </a:solidFill>
                <a:latin typeface="Arial"/>
                <a:ea typeface="Arial"/>
                <a:cs typeface="Arial"/>
              </a:defRPr>
            </a:lvl3pPr>
            <a:lvl4pPr>
              <a:defRPr sz="1650" b="0">
                <a:solidFill>
                  <a:srgbClr val="17324D"/>
                </a:solidFill>
                <a:latin typeface="Arial"/>
                <a:ea typeface="Arial"/>
                <a:cs typeface="Arial"/>
              </a:defRPr>
            </a:lvl4pPr>
            <a:lvl5pPr>
              <a:defRPr sz="1650" b="0">
                <a:solidFill>
                  <a:srgbClr val="17324D"/>
                </a:solidFill>
                <a:latin typeface="Arial"/>
                <a:ea typeface="Arial"/>
                <a:cs typeface="Arial"/>
              </a:defRPr>
            </a:lvl5pPr>
            <a:lvl6pPr>
              <a:defRPr sz="1650" b="0">
                <a:solidFill>
                  <a:srgbClr val="17324D"/>
                </a:solidFill>
                <a:latin typeface="Arial"/>
                <a:ea typeface="Arial"/>
                <a:cs typeface="Arial"/>
              </a:defRPr>
            </a:lvl6pPr>
            <a:lvl7pPr>
              <a:defRPr sz="1650" b="0">
                <a:solidFill>
                  <a:srgbClr val="17324D"/>
                </a:solidFill>
                <a:latin typeface="Arial"/>
                <a:ea typeface="Arial"/>
                <a:cs typeface="Arial"/>
              </a:defRPr>
            </a:lvl7pPr>
            <a:lvl8pPr>
              <a:defRPr sz="1650" b="0">
                <a:solidFill>
                  <a:srgbClr val="17324D"/>
                </a:solidFill>
                <a:latin typeface="Arial"/>
                <a:ea typeface="Arial"/>
                <a:cs typeface="Arial"/>
              </a:defRPr>
            </a:lvl8pPr>
            <a:lvl9pPr>
              <a:defRPr sz="1650" b="0">
                <a:solidFill>
                  <a:srgbClr val="17324D"/>
                </a:solidFill>
                <a:latin typeface="Arial"/>
                <a:ea typeface="Arial"/>
                <a:cs typeface="Arial"/>
              </a:defRPr>
            </a:lvl9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The blocked cell changes the route.</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Cyan shows the states processed by this repair.</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The demo compares route cost and expansions with a fresh A* search.</a:t>
            </a:r>
          </a:p>
        </p:txBody>
      </p:sp>
      <p:sp>
        <p:nvSpPr>
          <p:cNvPr id="6" name="Cyan: latest repair expansions · Blue: repaired route · Dark nav">
            <a:extLst xmlns:a="http://schemas.openxmlformats.org/drawingml/2006/main">
              <a:ext uri="{FF2B5EF4-FFF2-40B4-BE49-F238E27FC236}">
                <a16:creationId xmlns:a16="http://schemas.microsoft.com/office/drawing/2014/main" id="{A8CDB496-B7C9-4610-A703-F965644DEE78}"/>
              </a:ext>
            </a:extLst>
          </p:cNvPr>
          <p:cNvSpPr>
            <a:spLocks xmlns:a="http://schemas.openxmlformats.org/drawingml/2006/main" noGrp="1"/>
          </p:cNvSpPr>
          <p:nvPr/>
        </p:nvSpPr>
        <p:spPr>
          <a:xfrm xmlns:a="http://schemas.openxmlformats.org/drawingml/2006/main">
            <a:off x="523875" y="417195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17324D"/>
                </a:solidFill>
                <a:latin typeface="Arial"/>
                <a:ea typeface="Arial"/>
                <a:cs typeface="Arial"/>
              </a:defRPr>
            </a:defPPr>
            <a:lvl1pPr>
              <a:defRPr sz="1350" b="0">
                <a:solidFill>
                  <a:srgbClr val="17324D"/>
                </a:solidFill>
                <a:latin typeface="Arial"/>
                <a:ea typeface="Arial"/>
                <a:cs typeface="Arial"/>
              </a:defRPr>
            </a:lvl1pPr>
            <a:lvl2pPr>
              <a:defRPr sz="1350" b="0">
                <a:solidFill>
                  <a:srgbClr val="17324D"/>
                </a:solidFill>
                <a:latin typeface="Arial"/>
                <a:ea typeface="Arial"/>
                <a:cs typeface="Arial"/>
              </a:defRPr>
            </a:lvl2pPr>
            <a:lvl3pPr>
              <a:defRPr sz="1350" b="0">
                <a:solidFill>
                  <a:srgbClr val="17324D"/>
                </a:solidFill>
                <a:latin typeface="Arial"/>
                <a:ea typeface="Arial"/>
                <a:cs typeface="Arial"/>
              </a:defRPr>
            </a:lvl3pPr>
            <a:lvl4pPr>
              <a:defRPr sz="1350" b="0">
                <a:solidFill>
                  <a:srgbClr val="17324D"/>
                </a:solidFill>
                <a:latin typeface="Arial"/>
                <a:ea typeface="Arial"/>
                <a:cs typeface="Arial"/>
              </a:defRPr>
            </a:lvl4pPr>
            <a:lvl5pPr>
              <a:defRPr sz="1350" b="0">
                <a:solidFill>
                  <a:srgbClr val="17324D"/>
                </a:solidFill>
                <a:latin typeface="Arial"/>
                <a:ea typeface="Arial"/>
                <a:cs typeface="Arial"/>
              </a:defRPr>
            </a:lvl5pPr>
            <a:lvl6pPr>
              <a:defRPr sz="1350" b="0">
                <a:solidFill>
                  <a:srgbClr val="17324D"/>
                </a:solidFill>
                <a:latin typeface="Arial"/>
                <a:ea typeface="Arial"/>
                <a:cs typeface="Arial"/>
              </a:defRPr>
            </a:lvl6pPr>
            <a:lvl7pPr>
              <a:defRPr sz="1350" b="0">
                <a:solidFill>
                  <a:srgbClr val="17324D"/>
                </a:solidFill>
                <a:latin typeface="Arial"/>
                <a:ea typeface="Arial"/>
                <a:cs typeface="Arial"/>
              </a:defRPr>
            </a:lvl7pPr>
            <a:lvl8pPr>
              <a:defRPr sz="1350" b="0">
                <a:solidFill>
                  <a:srgbClr val="17324D"/>
                </a:solidFill>
                <a:latin typeface="Arial"/>
                <a:ea typeface="Arial"/>
                <a:cs typeface="Arial"/>
              </a:defRPr>
            </a:lvl8pPr>
            <a:lvl9pPr>
              <a:defRPr sz="1350" b="0">
                <a:solidFill>
                  <a:srgbClr val="17324D"/>
                </a:solidFill>
                <a:latin typeface="Arial"/>
                <a:ea typeface="Arial"/>
                <a:cs typeface="Arial"/>
              </a:defRPr>
            </a:lvl9pPr>
          </a:lstStyle>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Cyan: latest repair expansions · Blue: repaired route · Dark navy: blocked cells</a:t>
            </a:r>
          </a:p>
        </p:txBody>
      </p:sp>
      <p:sp>
        <p:nvSpPr>
          <p:cNvPr id="7" name="Open interactive experiment">
            <a:extLst xmlns:a="http://schemas.openxmlformats.org/drawingml/2006/main">
              <a:ext uri="{FF2B5EF4-FFF2-40B4-BE49-F238E27FC236}">
                <a16:creationId xmlns:a16="http://schemas.microsoft.com/office/drawing/2014/main" id="{1F8476BD-B48F-4C65-B991-6B21FF2AECDE}"/>
              </a:ext>
            </a:extLst>
          </p:cNvPr>
          <p:cNvSpPr>
            <a:spLocks xmlns:a="http://schemas.openxmlformats.org/drawingml/2006/main" noGrp="1"/>
          </p:cNvSpPr>
          <p:nvPr/>
        </p:nvSpPr>
        <p:spPr>
          <a:xfrm xmlns:a="http://schemas.openxmlformats.org/drawingml/2006/main">
            <a:off x="523875" y="46291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93073e4facf0437d"/>
              </a:rPr>
              <a:t>Open interactive experiment</a:t>
            </a:r>
          </a:p>
        </p:txBody>
      </p:sp>
    </p:spTree>
    <p:extLst>
      <p:ext uri="{BB962C8B-B14F-4D97-AF65-F5344CB8AC3E}">
        <p14:creationId xmlns:p14="http://schemas.microsoft.com/office/powerpoint/2010/main" val="2888254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BFBFA60D-9907-4DAC-8991-4FB4B2D7C642}"/>
              </a:ext>
            </a:extLst>
          </p:cNvPr>
          <p:cNvPicPr>
            <a:picLocks xmlns:a="http://schemas.openxmlformats.org/drawingml/2006/main" noChangeAspect="1"/>
          </p:cNvPicPr>
          <p:nvPr/>
        </p:nvPicPr>
        <p:blipFill>
          <a:blip xmlns:r="http://schemas.openxmlformats.org/officeDocument/2006/relationships" xmlns:a="http://schemas.openxmlformats.org/drawingml/2006/main" r:embed="R89dda17768de47ef"/>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When incremental replanning helps">
            <a:extLst xmlns:a="http://schemas.openxmlformats.org/drawingml/2006/main">
              <a:ext uri="{FF2B5EF4-FFF2-40B4-BE49-F238E27FC236}">
                <a16:creationId xmlns:a16="http://schemas.microsoft.com/office/drawing/2014/main" id="{0B48495C-9FFE-497C-971C-515B84A78AD9}"/>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When incremental replanning helps</a:t>
            </a:r>
          </a:p>
        </p:txBody>
      </p:sp>
      <p:sp>
        <p:nvSpPr>
          <p:cNvPr id="3" name="19">
            <a:extLst xmlns:a="http://schemas.openxmlformats.org/drawingml/2006/main">
              <a:ext uri="{FF2B5EF4-FFF2-40B4-BE49-F238E27FC236}">
                <a16:creationId xmlns:a16="http://schemas.microsoft.com/office/drawing/2014/main" id="{0708E91B-8A00-4D32-B1F6-5BA082724320}"/>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19</a:t>
            </a:r>
          </a:p>
        </p:txBody>
      </p:sp>
      <p:graphicFrame>
        <p:nvGraphicFramePr>
          <p:cNvPr id="4" name="">
            <a:extLst xmlns:a="http://schemas.openxmlformats.org/drawingml/2006/main">
              <a:ext uri="{FF2B5EF4-FFF2-40B4-BE49-F238E27FC236}">
                <a16:creationId xmlns:a16="http://schemas.microsoft.com/office/drawing/2014/main" id="{E004F42B-F0AD-4CE5-A94C-725A734754DB}"/>
              </a:ext>
            </a:extLst>
          </p:cNvPr>
          <p:cNvGraphicFramePr/>
          <p:nvPr/>
        </p:nvGraphicFramePr>
        <p:xfrm>
          <a:off xmlns:a="http://schemas.openxmlformats.org/drawingml/2006/main" x="523875" y="1438275"/>
          <a:ext xmlns:a="http://schemas.openxmlformats.org/drawingml/2006/main" cx="8096250" cy="2857500"/>
        </p:xfrm>
        <a:graphic xmlns:a="http://schemas.openxmlformats.org/drawingml/2006/main">
          <a:graphicData uri="http://schemas.openxmlformats.org/drawingml/2006/table">
            <a:tbl>
              <a:tblPr/>
              <a:tblGrid>
                <a:gridCol w="1952625"/>
                <a:gridCol w="3000375"/>
                <a:gridCol w="3143250"/>
              </a:tblGrid>
              <a:tr h="571500">
                <a:tc>
                  <a:txBody>
                    <a:bodyPr lIns="114300" tIns="76200" rIns="114300" bIns="76200">
                      <a:noAutofit/>
                    </a:bodyPr>
                    <a:lstStyle/>
                    <a:p>
                      <a:r>
                        <a:rPr sz="1425" b="1">
                          <a:solidFill>
                            <a:srgbClr val="FFFFFF"/>
                          </a:solidFill>
                          <a:latin typeface="Arial"/>
                          <a:ea typeface="Arial"/>
                          <a:cs typeface="Arial"/>
                        </a:rPr>
                        <a:t>Situation</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Expected benefit</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Remaining problem</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571500">
                <a:tc>
                  <a:txBody>
                    <a:bodyPr lIns="114300" tIns="76200" rIns="114300" bIns="76200">
                      <a:noAutofit/>
                    </a:bodyPr>
                    <a:lstStyle/>
                    <a:p>
                      <a:r>
                        <a:rPr sz="1425" b="0">
                          <a:solidFill>
                            <a:srgbClr val="17324D"/>
                          </a:solidFill>
                          <a:latin typeface="Arial"/>
                          <a:ea typeface="Arial"/>
                          <a:cs typeface="Arial"/>
                        </a:rPr>
                        <a:t>Few changed edges</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Reuse unaffected estimates</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Detect changes correctly</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571500">
                <a:tc>
                  <a:txBody>
                    <a:bodyPr lIns="114300" tIns="76200" rIns="114300" bIns="76200">
                      <a:noAutofit/>
                    </a:bodyPr>
                    <a:lstStyle/>
                    <a:p>
                      <a:r>
                        <a:rPr sz="1425" b="0">
                          <a:solidFill>
                            <a:srgbClr val="17324D"/>
                          </a:solidFill>
                          <a:latin typeface="Arial"/>
                          <a:ea typeface="Arial"/>
                          <a:cs typeface="Arial"/>
                        </a:rPr>
                        <a:t>Robot advances</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Retain goal-distance values</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Maintain consistent priorities</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571500">
                <a:tc>
                  <a:txBody>
                    <a:bodyPr lIns="114300" tIns="76200" rIns="114300" bIns="76200">
                      <a:noAutofit/>
                    </a:bodyPr>
                    <a:lstStyle/>
                    <a:p>
                      <a:r>
                        <a:rPr sz="1425" b="0">
                          <a:solidFill>
                            <a:srgbClr val="17324D"/>
                          </a:solidFill>
                          <a:latin typeface="Arial"/>
                          <a:ea typeface="Arial"/>
                          <a:cs typeface="Arial"/>
                        </a:rPr>
                        <a:t>Large map revisions</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Benefit can shrink</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Many states need repair</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571500">
                <a:tc>
                  <a:txBody>
                    <a:bodyPr lIns="114300" tIns="76200" rIns="114300" bIns="76200">
                      <a:noAutofit/>
                    </a:bodyPr>
                    <a:lstStyle/>
                    <a:p>
                      <a:r>
                        <a:rPr sz="1425" b="0">
                          <a:solidFill>
                            <a:srgbClr val="17324D"/>
                          </a:solidFill>
                          <a:latin typeface="Arial"/>
                          <a:ea typeface="Arial"/>
                          <a:cs typeface="Arial"/>
                        </a:rPr>
                        <a:t>Moving traffic</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Update current occupancy</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Predict motion and timing</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bl>
          </a:graphicData>
        </a:graphic>
      </p:graphicFrame>
    </p:spTree>
    <p:extLst>
      <p:ext uri="{BB962C8B-B14F-4D97-AF65-F5344CB8AC3E}">
        <p14:creationId xmlns:p14="http://schemas.microsoft.com/office/powerpoint/2010/main" val="24013071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53F1E011-75F3-4D44-9434-A62E233EF66B}"/>
              </a:ext>
            </a:extLst>
          </p:cNvPr>
          <p:cNvPicPr>
            <a:picLocks xmlns:a="http://schemas.openxmlformats.org/drawingml/2006/main" noChangeAspect="1"/>
          </p:cNvPicPr>
          <p:nvPr/>
        </p:nvPicPr>
        <p:blipFill>
          <a:blip xmlns:r="http://schemas.openxmlformats.org/officeDocument/2006/relationships" xmlns:a="http://schemas.openxmlformats.org/drawingml/2006/main" r:embed="R255e0f8bcc1a4b34"/>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Popular planning families">
            <a:extLst xmlns:a="http://schemas.openxmlformats.org/drawingml/2006/main">
              <a:ext uri="{FF2B5EF4-FFF2-40B4-BE49-F238E27FC236}">
                <a16:creationId xmlns:a16="http://schemas.microsoft.com/office/drawing/2014/main" id="{B4D98EC4-E0CB-4436-9D4C-C4CE123378E3}"/>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Popular planning families</a:t>
            </a:r>
          </a:p>
        </p:txBody>
      </p:sp>
      <p:sp>
        <p:nvSpPr>
          <p:cNvPr id="3" name="20">
            <a:extLst xmlns:a="http://schemas.openxmlformats.org/drawingml/2006/main">
              <a:ext uri="{FF2B5EF4-FFF2-40B4-BE49-F238E27FC236}">
                <a16:creationId xmlns:a16="http://schemas.microsoft.com/office/drawing/2014/main" id="{DE909151-2ED7-4CB5-8333-D304637F3571}"/>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20</a:t>
            </a:r>
          </a:p>
        </p:txBody>
      </p:sp>
      <p:graphicFrame>
        <p:nvGraphicFramePr>
          <p:cNvPr id="4" name="">
            <a:extLst xmlns:a="http://schemas.openxmlformats.org/drawingml/2006/main">
              <a:ext uri="{FF2B5EF4-FFF2-40B4-BE49-F238E27FC236}">
                <a16:creationId xmlns:a16="http://schemas.microsoft.com/office/drawing/2014/main" id="{5B2DAC80-2F97-4BDD-A289-15AB7ACA37E2}"/>
              </a:ext>
            </a:extLst>
          </p:cNvPr>
          <p:cNvGraphicFramePr/>
          <p:nvPr/>
        </p:nvGraphicFramePr>
        <p:xfrm>
          <a:off xmlns:a="http://schemas.openxmlformats.org/drawingml/2006/main" x="523875" y="1438275"/>
          <a:ext xmlns:a="http://schemas.openxmlformats.org/drawingml/2006/main" cx="8096250" cy="2857500"/>
        </p:xfrm>
        <a:graphic xmlns:a="http://schemas.openxmlformats.org/drawingml/2006/main">
          <a:graphicData uri="http://schemas.openxmlformats.org/drawingml/2006/table">
            <a:tbl>
              <a:tblPr/>
              <a:tblGrid>
                <a:gridCol w="1952625"/>
                <a:gridCol w="3000375"/>
                <a:gridCol w="3143250"/>
              </a:tblGrid>
              <a:tr h="571500">
                <a:tc>
                  <a:txBody>
                    <a:bodyPr lIns="114300" tIns="76200" rIns="114300" bIns="76200">
                      <a:noAutofit/>
                    </a:bodyPr>
                    <a:lstStyle/>
                    <a:p>
                      <a:r>
                        <a:rPr sz="1425" b="1">
                          <a:solidFill>
                            <a:srgbClr val="FFFFFF"/>
                          </a:solidFill>
                          <a:latin typeface="Arial"/>
                          <a:ea typeface="Arial"/>
                          <a:cs typeface="Arial"/>
                        </a:rPr>
                        <a:t>Family</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Examples</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Useful problem</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571500">
                <a:tc>
                  <a:txBody>
                    <a:bodyPr lIns="114300" tIns="76200" rIns="114300" bIns="76200">
                      <a:noAutofit/>
                    </a:bodyPr>
                    <a:lstStyle/>
                    <a:p>
                      <a:r>
                        <a:rPr sz="1425" b="0">
                          <a:solidFill>
                            <a:srgbClr val="17324D"/>
                          </a:solidFill>
                          <a:latin typeface="Arial"/>
                          <a:ea typeface="Arial"/>
                          <a:cs typeface="Arial"/>
                        </a:rPr>
                        <a:t>Graph search</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Dijkstra, A*, D* Lite</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Costed map / state graph</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571500">
                <a:tc>
                  <a:txBody>
                    <a:bodyPr lIns="114300" tIns="76200" rIns="114300" bIns="76200">
                      <a:noAutofit/>
                    </a:bodyPr>
                    <a:lstStyle/>
                    <a:p>
                      <a:r>
                        <a:rPr sz="1425" b="0">
                          <a:solidFill>
                            <a:srgbClr val="17324D"/>
                          </a:solidFill>
                          <a:latin typeface="Arial"/>
                          <a:ea typeface="Arial"/>
                          <a:cs typeface="Arial"/>
                        </a:rPr>
                        <a:t>Sampling</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PRM, RRT, RRT*</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Continuous configuration space</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571500">
                <a:tc>
                  <a:txBody>
                    <a:bodyPr lIns="114300" tIns="76200" rIns="114300" bIns="76200">
                      <a:noAutofit/>
                    </a:bodyPr>
                    <a:lstStyle/>
                    <a:p>
                      <a:r>
                        <a:rPr sz="1425" b="0">
                          <a:solidFill>
                            <a:srgbClr val="17324D"/>
                          </a:solidFill>
                          <a:latin typeface="Arial"/>
                          <a:ea typeface="Arial"/>
                          <a:cs typeface="Arial"/>
                        </a:rPr>
                        <a:t>Potential fields</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Attraction / repulsion</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Fast reactive motion guidance</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571500">
                <a:tc>
                  <a:txBody>
                    <a:bodyPr lIns="114300" tIns="76200" rIns="114300" bIns="76200">
                      <a:noAutofit/>
                    </a:bodyPr>
                    <a:lstStyle/>
                    <a:p>
                      <a:r>
                        <a:rPr sz="1425" b="0">
                          <a:solidFill>
                            <a:srgbClr val="17324D"/>
                          </a:solidFill>
                          <a:latin typeface="Arial"/>
                          <a:ea typeface="Arial"/>
                          <a:cs typeface="Arial"/>
                        </a:rPr>
                        <a:t>Trajectory optimization</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MPC, MPPI, trajectory fitting</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Motion with costs and constraints</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bl>
          </a:graphicData>
        </a:graphic>
      </p:graphicFrame>
    </p:spTree>
    <p:extLst>
      <p:ext uri="{BB962C8B-B14F-4D97-AF65-F5344CB8AC3E}">
        <p14:creationId xmlns:p14="http://schemas.microsoft.com/office/powerpoint/2010/main" val="4406121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F6FA4CC-3735-40CE-BEB7-8E95E74DBCEC}"/>
              </a:ext>
            </a:extLst>
          </p:cNvPr>
          <p:cNvPicPr>
            <a:picLocks xmlns:a="http://schemas.openxmlformats.org/drawingml/2006/main" noChangeAspect="1"/>
          </p:cNvPicPr>
          <p:nvPr/>
        </p:nvPicPr>
        <p:blipFill>
          <a:blip xmlns:r="http://schemas.openxmlformats.org/officeDocument/2006/relationships" xmlns:a="http://schemas.openxmlformats.org/drawingml/2006/main" r:embed="R922e60f1557b4456"/>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PRM and RRT">
            <a:extLst xmlns:a="http://schemas.openxmlformats.org/drawingml/2006/main">
              <a:ext uri="{FF2B5EF4-FFF2-40B4-BE49-F238E27FC236}">
                <a16:creationId xmlns:a16="http://schemas.microsoft.com/office/drawing/2014/main" id="{CAFC4D50-4A7E-46C8-B1D0-69950A24083C}"/>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PRM and RRT</a:t>
            </a:r>
          </a:p>
        </p:txBody>
      </p:sp>
      <p:sp>
        <p:nvSpPr>
          <p:cNvPr id="3" name="21">
            <a:extLst xmlns:a="http://schemas.openxmlformats.org/drawingml/2006/main">
              <a:ext uri="{FF2B5EF4-FFF2-40B4-BE49-F238E27FC236}">
                <a16:creationId xmlns:a16="http://schemas.microsoft.com/office/drawing/2014/main" id="{4DEB5424-C034-467E-B1E2-21F7A7DC575A}"/>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21</a:t>
            </a:r>
          </a:p>
        </p:txBody>
      </p:sp>
      <p:pic>
        <p:nvPicPr>
          <p:cNvPr id="4" name="">
            <a:extLst xmlns:a="http://schemas.openxmlformats.org/drawingml/2006/main">
              <a:ext uri="{FF2B5EF4-FFF2-40B4-BE49-F238E27FC236}">
                <a16:creationId xmlns:a16="http://schemas.microsoft.com/office/drawing/2014/main" id="{1C4F3248-7C90-481F-9AAE-C649689B4BE3}"/>
              </a:ext>
            </a:extLst>
          </p:cNvPr>
          <p:cNvPicPr>
            <a:picLocks xmlns:a="http://schemas.openxmlformats.org/drawingml/2006/main" noChangeAspect="1"/>
          </p:cNvPicPr>
          <p:nvPr/>
        </p:nvPicPr>
        <p:blipFill>
          <a:blip xmlns:r="http://schemas.openxmlformats.org/officeDocument/2006/relationships" xmlns:a="http://schemas.openxmlformats.org/drawingml/2006/main" r:embed="R0946a8f61ae84c1c"/>
          <a:stretch xmlns:a="http://schemas.openxmlformats.org/drawingml/2006/main"/>
        </p:blipFill>
        <p:spPr>
          <a:xfrm xmlns:a="http://schemas.openxmlformats.org/drawingml/2006/main">
            <a:off x="740511" y="1409700"/>
            <a:ext cx="3424354" cy="2095500"/>
          </a:xfrm>
          <a:prstGeom xmlns:a="http://schemas.openxmlformats.org/drawingml/2006/main" prst="rect">
            <a:avLst/>
          </a:prstGeom>
        </p:spPr>
      </p:pic>
      <p:sp>
        <p:nvSpPr>
          <p:cNvPr id="5" name="PRM: reusable roadmap">
            <a:extLst xmlns:a="http://schemas.openxmlformats.org/drawingml/2006/main">
              <a:ext uri="{FF2B5EF4-FFF2-40B4-BE49-F238E27FC236}">
                <a16:creationId xmlns:a16="http://schemas.microsoft.com/office/drawing/2014/main" id="{93EA18E9-9037-4CE3-A17C-174B56FD324D}"/>
              </a:ext>
            </a:extLst>
          </p:cNvPr>
          <p:cNvSpPr>
            <a:spLocks xmlns:a="http://schemas.openxmlformats.org/drawingml/2006/main" noGrp="1"/>
          </p:cNvSpPr>
          <p:nvPr/>
        </p:nvSpPr>
        <p:spPr>
          <a:xfrm xmlns:a="http://schemas.openxmlformats.org/drawingml/2006/main">
            <a:off x="523875" y="3533775"/>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vl1pPr>
              <a:defRPr sz="1500" b="1">
                <a:solidFill>
                  <a:srgbClr val="00539F"/>
                </a:solidFill>
                <a:latin typeface="Arial"/>
                <a:ea typeface="Arial"/>
                <a:cs typeface="Arial"/>
              </a:defRPr>
            </a:lvl1pPr>
            <a:lvl2pPr>
              <a:defRPr sz="1500" b="1">
                <a:solidFill>
                  <a:srgbClr val="00539F"/>
                </a:solidFill>
                <a:latin typeface="Arial"/>
                <a:ea typeface="Arial"/>
                <a:cs typeface="Arial"/>
              </a:defRPr>
            </a:lvl2pPr>
            <a:lvl3pPr>
              <a:defRPr sz="1500" b="1">
                <a:solidFill>
                  <a:srgbClr val="00539F"/>
                </a:solidFill>
                <a:latin typeface="Arial"/>
                <a:ea typeface="Arial"/>
                <a:cs typeface="Arial"/>
              </a:defRPr>
            </a:lvl3pPr>
            <a:lvl4pPr>
              <a:defRPr sz="1500" b="1">
                <a:solidFill>
                  <a:srgbClr val="00539F"/>
                </a:solidFill>
                <a:latin typeface="Arial"/>
                <a:ea typeface="Arial"/>
                <a:cs typeface="Arial"/>
              </a:defRPr>
            </a:lvl4pPr>
            <a:lvl5pPr>
              <a:defRPr sz="1500" b="1">
                <a:solidFill>
                  <a:srgbClr val="00539F"/>
                </a:solidFill>
                <a:latin typeface="Arial"/>
                <a:ea typeface="Arial"/>
                <a:cs typeface="Arial"/>
              </a:defRPr>
            </a:lvl5pPr>
            <a:lvl6pPr>
              <a:defRPr sz="1500" b="1">
                <a:solidFill>
                  <a:srgbClr val="00539F"/>
                </a:solidFill>
                <a:latin typeface="Arial"/>
                <a:ea typeface="Arial"/>
                <a:cs typeface="Arial"/>
              </a:defRPr>
            </a:lvl6pPr>
            <a:lvl7pPr>
              <a:defRPr sz="1500" b="1">
                <a:solidFill>
                  <a:srgbClr val="00539F"/>
                </a:solidFill>
                <a:latin typeface="Arial"/>
                <a:ea typeface="Arial"/>
                <a:cs typeface="Arial"/>
              </a:defRPr>
            </a:lvl7pPr>
            <a:lvl8pPr>
              <a:defRPr sz="1500" b="1">
                <a:solidFill>
                  <a:srgbClr val="00539F"/>
                </a:solidFill>
                <a:latin typeface="Arial"/>
                <a:ea typeface="Arial"/>
                <a:cs typeface="Arial"/>
              </a:defRPr>
            </a:lvl8pPr>
            <a:lvl9pPr>
              <a:defRPr sz="1500" b="1">
                <a:solidFill>
                  <a:srgbClr val="00539F"/>
                </a:solidFill>
                <a:latin typeface="Arial"/>
                <a:ea typeface="Arial"/>
                <a:cs typeface="Arial"/>
              </a:defRPr>
            </a:lvl9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PRM: reusable roadmap</a:t>
            </a:r>
          </a:p>
        </p:txBody>
      </p:sp>
      <p:pic>
        <p:nvPicPr>
          <p:cNvPr id="6" name="">
            <a:extLst xmlns:a="http://schemas.openxmlformats.org/drawingml/2006/main">
              <a:ext uri="{FF2B5EF4-FFF2-40B4-BE49-F238E27FC236}">
                <a16:creationId xmlns:a16="http://schemas.microsoft.com/office/drawing/2014/main" id="{CDD29285-BF40-4207-8992-27991BFDE48C}"/>
              </a:ext>
            </a:extLst>
          </p:cNvPr>
          <p:cNvPicPr>
            <a:picLocks xmlns:a="http://schemas.openxmlformats.org/drawingml/2006/main" noChangeAspect="1"/>
          </p:cNvPicPr>
          <p:nvPr/>
        </p:nvPicPr>
        <p:blipFill>
          <a:blip xmlns:r="http://schemas.openxmlformats.org/officeDocument/2006/relationships" xmlns:a="http://schemas.openxmlformats.org/drawingml/2006/main" r:embed="Ra62104ea9f1b45f9"/>
          <a:stretch xmlns:a="http://schemas.openxmlformats.org/drawingml/2006/main"/>
        </p:blipFill>
        <p:spPr>
          <a:xfrm xmlns:a="http://schemas.openxmlformats.org/drawingml/2006/main">
            <a:off x="4979136" y="1409700"/>
            <a:ext cx="3424354" cy="2095500"/>
          </a:xfrm>
          <a:prstGeom xmlns:a="http://schemas.openxmlformats.org/drawingml/2006/main" prst="rect">
            <a:avLst/>
          </a:prstGeom>
        </p:spPr>
      </p:pic>
      <p:sp>
        <p:nvSpPr>
          <p:cNvPr id="7" name="RRT: stop at the first route">
            <a:extLst xmlns:a="http://schemas.openxmlformats.org/drawingml/2006/main">
              <a:ext uri="{FF2B5EF4-FFF2-40B4-BE49-F238E27FC236}">
                <a16:creationId xmlns:a16="http://schemas.microsoft.com/office/drawing/2014/main" id="{AC2A8FBD-A1E7-4F4A-A9EA-34722216052D}"/>
              </a:ext>
            </a:extLst>
          </p:cNvPr>
          <p:cNvSpPr>
            <a:spLocks xmlns:a="http://schemas.openxmlformats.org/drawingml/2006/main" noGrp="1"/>
          </p:cNvSpPr>
          <p:nvPr/>
        </p:nvSpPr>
        <p:spPr>
          <a:xfrm xmlns:a="http://schemas.openxmlformats.org/drawingml/2006/main">
            <a:off x="4762500" y="3533775"/>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vl1pPr>
              <a:defRPr sz="1500" b="1">
                <a:solidFill>
                  <a:srgbClr val="00539F"/>
                </a:solidFill>
                <a:latin typeface="Arial"/>
                <a:ea typeface="Arial"/>
                <a:cs typeface="Arial"/>
              </a:defRPr>
            </a:lvl1pPr>
            <a:lvl2pPr>
              <a:defRPr sz="1500" b="1">
                <a:solidFill>
                  <a:srgbClr val="00539F"/>
                </a:solidFill>
                <a:latin typeface="Arial"/>
                <a:ea typeface="Arial"/>
                <a:cs typeface="Arial"/>
              </a:defRPr>
            </a:lvl2pPr>
            <a:lvl3pPr>
              <a:defRPr sz="1500" b="1">
                <a:solidFill>
                  <a:srgbClr val="00539F"/>
                </a:solidFill>
                <a:latin typeface="Arial"/>
                <a:ea typeface="Arial"/>
                <a:cs typeface="Arial"/>
              </a:defRPr>
            </a:lvl3pPr>
            <a:lvl4pPr>
              <a:defRPr sz="1500" b="1">
                <a:solidFill>
                  <a:srgbClr val="00539F"/>
                </a:solidFill>
                <a:latin typeface="Arial"/>
                <a:ea typeface="Arial"/>
                <a:cs typeface="Arial"/>
              </a:defRPr>
            </a:lvl4pPr>
            <a:lvl5pPr>
              <a:defRPr sz="1500" b="1">
                <a:solidFill>
                  <a:srgbClr val="00539F"/>
                </a:solidFill>
                <a:latin typeface="Arial"/>
                <a:ea typeface="Arial"/>
                <a:cs typeface="Arial"/>
              </a:defRPr>
            </a:lvl5pPr>
            <a:lvl6pPr>
              <a:defRPr sz="1500" b="1">
                <a:solidFill>
                  <a:srgbClr val="00539F"/>
                </a:solidFill>
                <a:latin typeface="Arial"/>
                <a:ea typeface="Arial"/>
                <a:cs typeface="Arial"/>
              </a:defRPr>
            </a:lvl6pPr>
            <a:lvl7pPr>
              <a:defRPr sz="1500" b="1">
                <a:solidFill>
                  <a:srgbClr val="00539F"/>
                </a:solidFill>
                <a:latin typeface="Arial"/>
                <a:ea typeface="Arial"/>
                <a:cs typeface="Arial"/>
              </a:defRPr>
            </a:lvl7pPr>
            <a:lvl8pPr>
              <a:defRPr sz="1500" b="1">
                <a:solidFill>
                  <a:srgbClr val="00539F"/>
                </a:solidFill>
                <a:latin typeface="Arial"/>
                <a:ea typeface="Arial"/>
                <a:cs typeface="Arial"/>
              </a:defRPr>
            </a:lvl8pPr>
            <a:lvl9pPr>
              <a:defRPr sz="1500" b="1">
                <a:solidFill>
                  <a:srgbClr val="00539F"/>
                </a:solidFill>
                <a:latin typeface="Arial"/>
                <a:ea typeface="Arial"/>
                <a:cs typeface="Arial"/>
              </a:defRPr>
            </a:lvl9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RRT: stop at the first route</a:t>
            </a:r>
          </a:p>
        </p:txBody>
      </p:sp>
      <p:sp>
        <p:nvSpPr>
          <p:cNvPr id="8" name="PRM connects free samples for repeated queries.&#10;RRT extends a tr">
            <a:extLst xmlns:a="http://schemas.openxmlformats.org/drawingml/2006/main">
              <a:ext uri="{FF2B5EF4-FFF2-40B4-BE49-F238E27FC236}">
                <a16:creationId xmlns:a16="http://schemas.microsoft.com/office/drawing/2014/main" id="{F11A2F40-35DE-464C-B6FE-06D1B6C801F8}"/>
              </a:ext>
            </a:extLst>
          </p:cNvPr>
          <p:cNvSpPr>
            <a:spLocks xmlns:a="http://schemas.openxmlformats.org/drawingml/2006/main" noGrp="1"/>
          </p:cNvSpPr>
          <p:nvPr/>
        </p:nvSpPr>
        <p:spPr>
          <a:xfrm xmlns:a="http://schemas.openxmlformats.org/drawingml/2006/main">
            <a:off x="523875" y="3876675"/>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0">
                <a:solidFill>
                  <a:srgbClr val="17324D"/>
                </a:solidFill>
                <a:latin typeface="Arial"/>
                <a:ea typeface="Arial"/>
                <a:cs typeface="Arial"/>
              </a:defRPr>
            </a:defPPr>
            <a:lvl1pPr>
              <a:defRPr sz="1500" b="0">
                <a:solidFill>
                  <a:srgbClr val="17324D"/>
                </a:solidFill>
                <a:latin typeface="Arial"/>
                <a:ea typeface="Arial"/>
                <a:cs typeface="Arial"/>
              </a:defRPr>
            </a:lvl1pPr>
            <a:lvl2pPr>
              <a:defRPr sz="1500" b="0">
                <a:solidFill>
                  <a:srgbClr val="17324D"/>
                </a:solidFill>
                <a:latin typeface="Arial"/>
                <a:ea typeface="Arial"/>
                <a:cs typeface="Arial"/>
              </a:defRPr>
            </a:lvl2pPr>
            <a:lvl3pPr>
              <a:defRPr sz="1500" b="0">
                <a:solidFill>
                  <a:srgbClr val="17324D"/>
                </a:solidFill>
                <a:latin typeface="Arial"/>
                <a:ea typeface="Arial"/>
                <a:cs typeface="Arial"/>
              </a:defRPr>
            </a:lvl3pPr>
            <a:lvl4pPr>
              <a:defRPr sz="1500" b="0">
                <a:solidFill>
                  <a:srgbClr val="17324D"/>
                </a:solidFill>
                <a:latin typeface="Arial"/>
                <a:ea typeface="Arial"/>
                <a:cs typeface="Arial"/>
              </a:defRPr>
            </a:lvl4pPr>
            <a:lvl5pPr>
              <a:defRPr sz="1500" b="0">
                <a:solidFill>
                  <a:srgbClr val="17324D"/>
                </a:solidFill>
                <a:latin typeface="Arial"/>
                <a:ea typeface="Arial"/>
                <a:cs typeface="Arial"/>
              </a:defRPr>
            </a:lvl5pPr>
            <a:lvl6pPr>
              <a:defRPr sz="1500" b="0">
                <a:solidFill>
                  <a:srgbClr val="17324D"/>
                </a:solidFill>
                <a:latin typeface="Arial"/>
                <a:ea typeface="Arial"/>
                <a:cs typeface="Arial"/>
              </a:defRPr>
            </a:lvl6pPr>
            <a:lvl7pPr>
              <a:defRPr sz="1500" b="0">
                <a:solidFill>
                  <a:srgbClr val="17324D"/>
                </a:solidFill>
                <a:latin typeface="Arial"/>
                <a:ea typeface="Arial"/>
                <a:cs typeface="Arial"/>
              </a:defRPr>
            </a:lvl7pPr>
            <a:lvl8pPr>
              <a:defRPr sz="1500" b="0">
                <a:solidFill>
                  <a:srgbClr val="17324D"/>
                </a:solidFill>
                <a:latin typeface="Arial"/>
                <a:ea typeface="Arial"/>
                <a:cs typeface="Arial"/>
              </a:defRPr>
            </a:lvl8pPr>
            <a:lvl9pPr>
              <a:defRPr sz="1500" b="0">
                <a:solidFill>
                  <a:srgbClr val="17324D"/>
                </a:solidFill>
                <a:latin typeface="Arial"/>
                <a:ea typeface="Arial"/>
                <a:cs typeface="Arial"/>
              </a:defRPr>
            </a:lvl9pPr>
          </a:lstStyle>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PRM connects free samples for repeated queries.</a:t>
            </a:r>
          </a:p>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RRT extends a tree toward samples from one start.</a:t>
            </a:r>
          </a:p>
        </p:txBody>
      </p:sp>
      <p:sp>
        <p:nvSpPr>
          <p:cNvPr id="9" name="Pale cyan: connections · Blue: route · Orange: attempted RRT sam">
            <a:extLst xmlns:a="http://schemas.openxmlformats.org/drawingml/2006/main">
              <a:ext uri="{FF2B5EF4-FFF2-40B4-BE49-F238E27FC236}">
                <a16:creationId xmlns:a16="http://schemas.microsoft.com/office/drawing/2014/main" id="{A1868720-4115-4122-9E0A-D2D0D03DE482}"/>
              </a:ext>
            </a:extLst>
          </p:cNvPr>
          <p:cNvSpPr>
            <a:spLocks xmlns:a="http://schemas.openxmlformats.org/drawingml/2006/main" noGrp="1"/>
          </p:cNvSpPr>
          <p:nvPr/>
        </p:nvSpPr>
        <p:spPr>
          <a:xfrm xmlns:a="http://schemas.openxmlformats.org/drawingml/2006/main">
            <a:off x="523875" y="43148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75" b="0">
                <a:solidFill>
                  <a:srgbClr val="17324D"/>
                </a:solidFill>
                <a:latin typeface="Arial"/>
                <a:ea typeface="Arial"/>
                <a:cs typeface="Arial"/>
              </a:defRPr>
            </a:defPPr>
            <a:lvl1pPr>
              <a:defRPr sz="1275" b="0">
                <a:solidFill>
                  <a:srgbClr val="17324D"/>
                </a:solidFill>
                <a:latin typeface="Arial"/>
                <a:ea typeface="Arial"/>
                <a:cs typeface="Arial"/>
              </a:defRPr>
            </a:lvl1pPr>
            <a:lvl2pPr>
              <a:defRPr sz="1275" b="0">
                <a:solidFill>
                  <a:srgbClr val="17324D"/>
                </a:solidFill>
                <a:latin typeface="Arial"/>
                <a:ea typeface="Arial"/>
                <a:cs typeface="Arial"/>
              </a:defRPr>
            </a:lvl2pPr>
            <a:lvl3pPr>
              <a:defRPr sz="1275" b="0">
                <a:solidFill>
                  <a:srgbClr val="17324D"/>
                </a:solidFill>
                <a:latin typeface="Arial"/>
                <a:ea typeface="Arial"/>
                <a:cs typeface="Arial"/>
              </a:defRPr>
            </a:lvl3pPr>
            <a:lvl4pPr>
              <a:defRPr sz="1275" b="0">
                <a:solidFill>
                  <a:srgbClr val="17324D"/>
                </a:solidFill>
                <a:latin typeface="Arial"/>
                <a:ea typeface="Arial"/>
                <a:cs typeface="Arial"/>
              </a:defRPr>
            </a:lvl4pPr>
            <a:lvl5pPr>
              <a:defRPr sz="1275" b="0">
                <a:solidFill>
                  <a:srgbClr val="17324D"/>
                </a:solidFill>
                <a:latin typeface="Arial"/>
                <a:ea typeface="Arial"/>
                <a:cs typeface="Arial"/>
              </a:defRPr>
            </a:lvl5pPr>
            <a:lvl6pPr>
              <a:defRPr sz="1275" b="0">
                <a:solidFill>
                  <a:srgbClr val="17324D"/>
                </a:solidFill>
                <a:latin typeface="Arial"/>
                <a:ea typeface="Arial"/>
                <a:cs typeface="Arial"/>
              </a:defRPr>
            </a:lvl6pPr>
            <a:lvl7pPr>
              <a:defRPr sz="1275" b="0">
                <a:solidFill>
                  <a:srgbClr val="17324D"/>
                </a:solidFill>
                <a:latin typeface="Arial"/>
                <a:ea typeface="Arial"/>
                <a:cs typeface="Arial"/>
              </a:defRPr>
            </a:lvl7pPr>
            <a:lvl8pPr>
              <a:defRPr sz="1275" b="0">
                <a:solidFill>
                  <a:srgbClr val="17324D"/>
                </a:solidFill>
                <a:latin typeface="Arial"/>
                <a:ea typeface="Arial"/>
                <a:cs typeface="Arial"/>
              </a:defRPr>
            </a:lvl8pPr>
            <a:lvl9pPr>
              <a:defRPr sz="1275" b="0">
                <a:solidFill>
                  <a:srgbClr val="17324D"/>
                </a:solidFill>
                <a:latin typeface="Arial"/>
                <a:ea typeface="Arial"/>
                <a:cs typeface="Arial"/>
              </a:defRPr>
            </a:lvl9pPr>
          </a:lstStyle>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Pale cyan: connections · Blue: route · Orange: attempted RRT sample</a:t>
            </a:r>
          </a:p>
        </p:txBody>
      </p:sp>
      <p:sp>
        <p:nvSpPr>
          <p:cNvPr id="10" name="Open PRM">
            <a:extLst xmlns:a="http://schemas.openxmlformats.org/drawingml/2006/main">
              <a:ext uri="{FF2B5EF4-FFF2-40B4-BE49-F238E27FC236}">
                <a16:creationId xmlns:a16="http://schemas.microsoft.com/office/drawing/2014/main" id="{6B76D959-79D1-45BA-B84C-A1AF192126AA}"/>
              </a:ext>
            </a:extLst>
          </p:cNvPr>
          <p:cNvSpPr>
            <a:spLocks xmlns:a="http://schemas.openxmlformats.org/drawingml/2006/main" noGrp="1"/>
          </p:cNvSpPr>
          <p:nvPr/>
        </p:nvSpPr>
        <p:spPr>
          <a:xfrm xmlns:a="http://schemas.openxmlformats.org/drawingml/2006/main">
            <a:off x="523875" y="4695825"/>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af667956e42643ff"/>
              </a:rPr>
              <a:t>Open PRM</a:t>
            </a:r>
          </a:p>
        </p:txBody>
      </p:sp>
      <p:sp>
        <p:nvSpPr>
          <p:cNvPr id="11" name="Open RRT">
            <a:extLst xmlns:a="http://schemas.openxmlformats.org/drawingml/2006/main">
              <a:ext uri="{FF2B5EF4-FFF2-40B4-BE49-F238E27FC236}">
                <a16:creationId xmlns:a16="http://schemas.microsoft.com/office/drawing/2014/main" id="{02DA65C1-419C-4149-A02C-7A7B90467E69}"/>
              </a:ext>
            </a:extLst>
          </p:cNvPr>
          <p:cNvSpPr>
            <a:spLocks xmlns:a="http://schemas.openxmlformats.org/drawingml/2006/main" noGrp="1"/>
          </p:cNvSpPr>
          <p:nvPr/>
        </p:nvSpPr>
        <p:spPr>
          <a:xfrm xmlns:a="http://schemas.openxmlformats.org/drawingml/2006/main">
            <a:off x="4762500" y="4695825"/>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61c8054e2c9b48ad"/>
              </a:rPr>
              <a:t>Open RRT</a:t>
            </a:r>
          </a:p>
        </p:txBody>
      </p:sp>
    </p:spTree>
    <p:extLst>
      <p:ext uri="{BB962C8B-B14F-4D97-AF65-F5344CB8AC3E}">
        <p14:creationId xmlns:p14="http://schemas.microsoft.com/office/powerpoint/2010/main" val="5103619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FB223F0A-1EDE-4EAE-9F11-97F3EFC47A87}"/>
              </a:ext>
            </a:extLst>
          </p:cNvPr>
          <p:cNvPicPr>
            <a:picLocks xmlns:a="http://schemas.openxmlformats.org/drawingml/2006/main" noChangeAspect="1"/>
          </p:cNvPicPr>
          <p:nvPr/>
        </p:nvPicPr>
        <p:blipFill>
          <a:blip xmlns:r="http://schemas.openxmlformats.org/officeDocument/2006/relationships" xmlns:a="http://schemas.openxmlformats.org/drawingml/2006/main" r:embed="R110c0dfd57ba4159"/>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RRT* and Informed RRT*">
            <a:extLst xmlns:a="http://schemas.openxmlformats.org/drawingml/2006/main">
              <a:ext uri="{FF2B5EF4-FFF2-40B4-BE49-F238E27FC236}">
                <a16:creationId xmlns:a16="http://schemas.microsoft.com/office/drawing/2014/main" id="{46B6551C-929A-43A1-AD81-703A4B1C99EE}"/>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RRT* and Informed RRT*</a:t>
            </a:r>
          </a:p>
        </p:txBody>
      </p:sp>
      <p:sp>
        <p:nvSpPr>
          <p:cNvPr id="3" name="22">
            <a:extLst xmlns:a="http://schemas.openxmlformats.org/drawingml/2006/main">
              <a:ext uri="{FF2B5EF4-FFF2-40B4-BE49-F238E27FC236}">
                <a16:creationId xmlns:a16="http://schemas.microsoft.com/office/drawing/2014/main" id="{1E18C0AE-7F79-46EF-88B5-C0A1BCC33D2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22</a:t>
            </a:r>
          </a:p>
        </p:txBody>
      </p:sp>
      <p:pic>
        <p:nvPicPr>
          <p:cNvPr id="4" name="">
            <a:extLst xmlns:a="http://schemas.openxmlformats.org/drawingml/2006/main">
              <a:ext uri="{FF2B5EF4-FFF2-40B4-BE49-F238E27FC236}">
                <a16:creationId xmlns:a16="http://schemas.microsoft.com/office/drawing/2014/main" id="{49613F07-730F-4271-A5FE-71DD9DC68C58}"/>
              </a:ext>
            </a:extLst>
          </p:cNvPr>
          <p:cNvPicPr>
            <a:picLocks xmlns:a="http://schemas.openxmlformats.org/drawingml/2006/main" noChangeAspect="1"/>
          </p:cNvPicPr>
          <p:nvPr/>
        </p:nvPicPr>
        <p:blipFill>
          <a:blip xmlns:r="http://schemas.openxmlformats.org/officeDocument/2006/relationships" xmlns:a="http://schemas.openxmlformats.org/drawingml/2006/main" r:embed="R41133ccbec414d87"/>
          <a:stretch xmlns:a="http://schemas.openxmlformats.org/drawingml/2006/main"/>
        </p:blipFill>
        <p:spPr>
          <a:xfrm xmlns:a="http://schemas.openxmlformats.org/drawingml/2006/main">
            <a:off x="740511" y="1409700"/>
            <a:ext cx="3424354" cy="2095500"/>
          </a:xfrm>
          <a:prstGeom xmlns:a="http://schemas.openxmlformats.org/drawingml/2006/main" prst="rect">
            <a:avLst/>
          </a:prstGeom>
        </p:spPr>
      </p:pic>
      <p:sp>
        <p:nvSpPr>
          <p:cNvPr id="5" name="RRT*: rewire to improve cost">
            <a:extLst xmlns:a="http://schemas.openxmlformats.org/drawingml/2006/main">
              <a:ext uri="{FF2B5EF4-FFF2-40B4-BE49-F238E27FC236}">
                <a16:creationId xmlns:a16="http://schemas.microsoft.com/office/drawing/2014/main" id="{569508AF-833F-4629-9E02-1148A5B44F20}"/>
              </a:ext>
            </a:extLst>
          </p:cNvPr>
          <p:cNvSpPr>
            <a:spLocks xmlns:a="http://schemas.openxmlformats.org/drawingml/2006/main" noGrp="1"/>
          </p:cNvSpPr>
          <p:nvPr/>
        </p:nvSpPr>
        <p:spPr>
          <a:xfrm xmlns:a="http://schemas.openxmlformats.org/drawingml/2006/main">
            <a:off x="523875" y="3533775"/>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vl1pPr>
              <a:defRPr sz="1500" b="1">
                <a:solidFill>
                  <a:srgbClr val="00539F"/>
                </a:solidFill>
                <a:latin typeface="Arial"/>
                <a:ea typeface="Arial"/>
                <a:cs typeface="Arial"/>
              </a:defRPr>
            </a:lvl1pPr>
            <a:lvl2pPr>
              <a:defRPr sz="1500" b="1">
                <a:solidFill>
                  <a:srgbClr val="00539F"/>
                </a:solidFill>
                <a:latin typeface="Arial"/>
                <a:ea typeface="Arial"/>
                <a:cs typeface="Arial"/>
              </a:defRPr>
            </a:lvl2pPr>
            <a:lvl3pPr>
              <a:defRPr sz="1500" b="1">
                <a:solidFill>
                  <a:srgbClr val="00539F"/>
                </a:solidFill>
                <a:latin typeface="Arial"/>
                <a:ea typeface="Arial"/>
                <a:cs typeface="Arial"/>
              </a:defRPr>
            </a:lvl3pPr>
            <a:lvl4pPr>
              <a:defRPr sz="1500" b="1">
                <a:solidFill>
                  <a:srgbClr val="00539F"/>
                </a:solidFill>
                <a:latin typeface="Arial"/>
                <a:ea typeface="Arial"/>
                <a:cs typeface="Arial"/>
              </a:defRPr>
            </a:lvl4pPr>
            <a:lvl5pPr>
              <a:defRPr sz="1500" b="1">
                <a:solidFill>
                  <a:srgbClr val="00539F"/>
                </a:solidFill>
                <a:latin typeface="Arial"/>
                <a:ea typeface="Arial"/>
                <a:cs typeface="Arial"/>
              </a:defRPr>
            </a:lvl5pPr>
            <a:lvl6pPr>
              <a:defRPr sz="1500" b="1">
                <a:solidFill>
                  <a:srgbClr val="00539F"/>
                </a:solidFill>
                <a:latin typeface="Arial"/>
                <a:ea typeface="Arial"/>
                <a:cs typeface="Arial"/>
              </a:defRPr>
            </a:lvl6pPr>
            <a:lvl7pPr>
              <a:defRPr sz="1500" b="1">
                <a:solidFill>
                  <a:srgbClr val="00539F"/>
                </a:solidFill>
                <a:latin typeface="Arial"/>
                <a:ea typeface="Arial"/>
                <a:cs typeface="Arial"/>
              </a:defRPr>
            </a:lvl7pPr>
            <a:lvl8pPr>
              <a:defRPr sz="1500" b="1">
                <a:solidFill>
                  <a:srgbClr val="00539F"/>
                </a:solidFill>
                <a:latin typeface="Arial"/>
                <a:ea typeface="Arial"/>
                <a:cs typeface="Arial"/>
              </a:defRPr>
            </a:lvl8pPr>
            <a:lvl9pPr>
              <a:defRPr sz="1500" b="1">
                <a:solidFill>
                  <a:srgbClr val="00539F"/>
                </a:solidFill>
                <a:latin typeface="Arial"/>
                <a:ea typeface="Arial"/>
                <a:cs typeface="Arial"/>
              </a:defRPr>
            </a:lvl9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RRT*: rewire to improve cost</a:t>
            </a:r>
          </a:p>
        </p:txBody>
      </p:sp>
      <p:pic>
        <p:nvPicPr>
          <p:cNvPr id="6" name="">
            <a:extLst xmlns:a="http://schemas.openxmlformats.org/drawingml/2006/main">
              <a:ext uri="{FF2B5EF4-FFF2-40B4-BE49-F238E27FC236}">
                <a16:creationId xmlns:a16="http://schemas.microsoft.com/office/drawing/2014/main" id="{3688B3C3-507F-44EA-9305-FFC056C426AD}"/>
              </a:ext>
            </a:extLst>
          </p:cNvPr>
          <p:cNvPicPr>
            <a:picLocks xmlns:a="http://schemas.openxmlformats.org/drawingml/2006/main" noChangeAspect="1"/>
          </p:cNvPicPr>
          <p:nvPr/>
        </p:nvPicPr>
        <p:blipFill>
          <a:blip xmlns:r="http://schemas.openxmlformats.org/officeDocument/2006/relationships" xmlns:a="http://schemas.openxmlformats.org/drawingml/2006/main" r:embed="R9be6863c5f9d4995"/>
          <a:stretch xmlns:a="http://schemas.openxmlformats.org/drawingml/2006/main"/>
        </p:blipFill>
        <p:spPr>
          <a:xfrm xmlns:a="http://schemas.openxmlformats.org/drawingml/2006/main">
            <a:off x="4979136" y="1409700"/>
            <a:ext cx="3424354" cy="2095500"/>
          </a:xfrm>
          <a:prstGeom xmlns:a="http://schemas.openxmlformats.org/drawingml/2006/main" prst="rect">
            <a:avLst/>
          </a:prstGeom>
        </p:spPr>
      </p:pic>
      <p:sp>
        <p:nvSpPr>
          <p:cNvPr id="7" name="Informed RRT*: focus new samples">
            <a:extLst xmlns:a="http://schemas.openxmlformats.org/drawingml/2006/main">
              <a:ext uri="{FF2B5EF4-FFF2-40B4-BE49-F238E27FC236}">
                <a16:creationId xmlns:a16="http://schemas.microsoft.com/office/drawing/2014/main" id="{88C740B0-2C15-4300-9DE5-083034C1F89A}"/>
              </a:ext>
            </a:extLst>
          </p:cNvPr>
          <p:cNvSpPr>
            <a:spLocks xmlns:a="http://schemas.openxmlformats.org/drawingml/2006/main" noGrp="1"/>
          </p:cNvSpPr>
          <p:nvPr/>
        </p:nvSpPr>
        <p:spPr>
          <a:xfrm xmlns:a="http://schemas.openxmlformats.org/drawingml/2006/main">
            <a:off x="4762500" y="3533775"/>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vl1pPr>
              <a:defRPr sz="1500" b="1">
                <a:solidFill>
                  <a:srgbClr val="00539F"/>
                </a:solidFill>
                <a:latin typeface="Arial"/>
                <a:ea typeface="Arial"/>
                <a:cs typeface="Arial"/>
              </a:defRPr>
            </a:lvl1pPr>
            <a:lvl2pPr>
              <a:defRPr sz="1500" b="1">
                <a:solidFill>
                  <a:srgbClr val="00539F"/>
                </a:solidFill>
                <a:latin typeface="Arial"/>
                <a:ea typeface="Arial"/>
                <a:cs typeface="Arial"/>
              </a:defRPr>
            </a:lvl2pPr>
            <a:lvl3pPr>
              <a:defRPr sz="1500" b="1">
                <a:solidFill>
                  <a:srgbClr val="00539F"/>
                </a:solidFill>
                <a:latin typeface="Arial"/>
                <a:ea typeface="Arial"/>
                <a:cs typeface="Arial"/>
              </a:defRPr>
            </a:lvl3pPr>
            <a:lvl4pPr>
              <a:defRPr sz="1500" b="1">
                <a:solidFill>
                  <a:srgbClr val="00539F"/>
                </a:solidFill>
                <a:latin typeface="Arial"/>
                <a:ea typeface="Arial"/>
                <a:cs typeface="Arial"/>
              </a:defRPr>
            </a:lvl4pPr>
            <a:lvl5pPr>
              <a:defRPr sz="1500" b="1">
                <a:solidFill>
                  <a:srgbClr val="00539F"/>
                </a:solidFill>
                <a:latin typeface="Arial"/>
                <a:ea typeface="Arial"/>
                <a:cs typeface="Arial"/>
              </a:defRPr>
            </a:lvl5pPr>
            <a:lvl6pPr>
              <a:defRPr sz="1500" b="1">
                <a:solidFill>
                  <a:srgbClr val="00539F"/>
                </a:solidFill>
                <a:latin typeface="Arial"/>
                <a:ea typeface="Arial"/>
                <a:cs typeface="Arial"/>
              </a:defRPr>
            </a:lvl6pPr>
            <a:lvl7pPr>
              <a:defRPr sz="1500" b="1">
                <a:solidFill>
                  <a:srgbClr val="00539F"/>
                </a:solidFill>
                <a:latin typeface="Arial"/>
                <a:ea typeface="Arial"/>
                <a:cs typeface="Arial"/>
              </a:defRPr>
            </a:lvl7pPr>
            <a:lvl8pPr>
              <a:defRPr sz="1500" b="1">
                <a:solidFill>
                  <a:srgbClr val="00539F"/>
                </a:solidFill>
                <a:latin typeface="Arial"/>
                <a:ea typeface="Arial"/>
                <a:cs typeface="Arial"/>
              </a:defRPr>
            </a:lvl8pPr>
            <a:lvl9pPr>
              <a:defRPr sz="1500" b="1">
                <a:solidFill>
                  <a:srgbClr val="00539F"/>
                </a:solidFill>
                <a:latin typeface="Arial"/>
                <a:ea typeface="Arial"/>
                <a:cs typeface="Arial"/>
              </a:defRPr>
            </a:lvl9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Informed RRT*: focus new samples</a:t>
            </a:r>
          </a:p>
        </p:txBody>
      </p:sp>
      <p:sp>
        <p:nvSpPr>
          <p:cNvPr id="8" name="Both keep improving after a first route.&#10;Informed RRT* then samp">
            <a:extLst xmlns:a="http://schemas.openxmlformats.org/drawingml/2006/main">
              <a:ext uri="{FF2B5EF4-FFF2-40B4-BE49-F238E27FC236}">
                <a16:creationId xmlns:a16="http://schemas.microsoft.com/office/drawing/2014/main" id="{EC0F694F-EF3B-40CD-AB00-942762059E92}"/>
              </a:ext>
            </a:extLst>
          </p:cNvPr>
          <p:cNvSpPr>
            <a:spLocks xmlns:a="http://schemas.openxmlformats.org/drawingml/2006/main" noGrp="1"/>
          </p:cNvSpPr>
          <p:nvPr/>
        </p:nvSpPr>
        <p:spPr>
          <a:xfrm xmlns:a="http://schemas.openxmlformats.org/drawingml/2006/main">
            <a:off x="523875" y="3876675"/>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0">
                <a:solidFill>
                  <a:srgbClr val="17324D"/>
                </a:solidFill>
                <a:latin typeface="Arial"/>
                <a:ea typeface="Arial"/>
                <a:cs typeface="Arial"/>
              </a:defRPr>
            </a:defPPr>
            <a:lvl1pPr>
              <a:defRPr sz="1500" b="0">
                <a:solidFill>
                  <a:srgbClr val="17324D"/>
                </a:solidFill>
                <a:latin typeface="Arial"/>
                <a:ea typeface="Arial"/>
                <a:cs typeface="Arial"/>
              </a:defRPr>
            </a:lvl1pPr>
            <a:lvl2pPr>
              <a:defRPr sz="1500" b="0">
                <a:solidFill>
                  <a:srgbClr val="17324D"/>
                </a:solidFill>
                <a:latin typeface="Arial"/>
                <a:ea typeface="Arial"/>
                <a:cs typeface="Arial"/>
              </a:defRPr>
            </a:lvl2pPr>
            <a:lvl3pPr>
              <a:defRPr sz="1500" b="0">
                <a:solidFill>
                  <a:srgbClr val="17324D"/>
                </a:solidFill>
                <a:latin typeface="Arial"/>
                <a:ea typeface="Arial"/>
                <a:cs typeface="Arial"/>
              </a:defRPr>
            </a:lvl3pPr>
            <a:lvl4pPr>
              <a:defRPr sz="1500" b="0">
                <a:solidFill>
                  <a:srgbClr val="17324D"/>
                </a:solidFill>
                <a:latin typeface="Arial"/>
                <a:ea typeface="Arial"/>
                <a:cs typeface="Arial"/>
              </a:defRPr>
            </a:lvl4pPr>
            <a:lvl5pPr>
              <a:defRPr sz="1500" b="0">
                <a:solidFill>
                  <a:srgbClr val="17324D"/>
                </a:solidFill>
                <a:latin typeface="Arial"/>
                <a:ea typeface="Arial"/>
                <a:cs typeface="Arial"/>
              </a:defRPr>
            </a:lvl5pPr>
            <a:lvl6pPr>
              <a:defRPr sz="1500" b="0">
                <a:solidFill>
                  <a:srgbClr val="17324D"/>
                </a:solidFill>
                <a:latin typeface="Arial"/>
                <a:ea typeface="Arial"/>
                <a:cs typeface="Arial"/>
              </a:defRPr>
            </a:lvl6pPr>
            <a:lvl7pPr>
              <a:defRPr sz="1500" b="0">
                <a:solidFill>
                  <a:srgbClr val="17324D"/>
                </a:solidFill>
                <a:latin typeface="Arial"/>
                <a:ea typeface="Arial"/>
                <a:cs typeface="Arial"/>
              </a:defRPr>
            </a:lvl7pPr>
            <a:lvl8pPr>
              <a:defRPr sz="1500" b="0">
                <a:solidFill>
                  <a:srgbClr val="17324D"/>
                </a:solidFill>
                <a:latin typeface="Arial"/>
                <a:ea typeface="Arial"/>
                <a:cs typeface="Arial"/>
              </a:defRPr>
            </a:lvl8pPr>
            <a:lvl9pPr>
              <a:defRPr sz="1500" b="0">
                <a:solidFill>
                  <a:srgbClr val="17324D"/>
                </a:solidFill>
                <a:latin typeface="Arial"/>
                <a:ea typeface="Arial"/>
                <a:cs typeface="Arial"/>
              </a:defRPr>
            </a:lvl9pPr>
          </a:lstStyle>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Both keep improving after a first route.</a:t>
            </a:r>
          </a:p>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Informed RRT* then samples the green ellipse.</a:t>
            </a:r>
          </a:p>
        </p:txBody>
      </p:sp>
      <p:sp>
        <p:nvSpPr>
          <p:cNvPr id="9" name="Cyan: tree · Magenta: latest rewires · Blue: best route&#10;Dashed g">
            <a:extLst xmlns:a="http://schemas.openxmlformats.org/drawingml/2006/main">
              <a:ext uri="{FF2B5EF4-FFF2-40B4-BE49-F238E27FC236}">
                <a16:creationId xmlns:a16="http://schemas.microsoft.com/office/drawing/2014/main" id="{08D50A29-2EE1-4EF5-8EC9-4CA2A38551BF}"/>
              </a:ext>
            </a:extLst>
          </p:cNvPr>
          <p:cNvSpPr>
            <a:spLocks xmlns:a="http://schemas.openxmlformats.org/drawingml/2006/main" noGrp="1"/>
          </p:cNvSpPr>
          <p:nvPr/>
        </p:nvSpPr>
        <p:spPr>
          <a:xfrm xmlns:a="http://schemas.openxmlformats.org/drawingml/2006/main">
            <a:off x="523875" y="43148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75" b="0">
                <a:solidFill>
                  <a:srgbClr val="17324D"/>
                </a:solidFill>
                <a:latin typeface="Arial"/>
                <a:ea typeface="Arial"/>
                <a:cs typeface="Arial"/>
              </a:defRPr>
            </a:defPPr>
            <a:lvl1pPr>
              <a:defRPr sz="1275" b="0">
                <a:solidFill>
                  <a:srgbClr val="17324D"/>
                </a:solidFill>
                <a:latin typeface="Arial"/>
                <a:ea typeface="Arial"/>
                <a:cs typeface="Arial"/>
              </a:defRPr>
            </a:lvl1pPr>
            <a:lvl2pPr>
              <a:defRPr sz="1275" b="0">
                <a:solidFill>
                  <a:srgbClr val="17324D"/>
                </a:solidFill>
                <a:latin typeface="Arial"/>
                <a:ea typeface="Arial"/>
                <a:cs typeface="Arial"/>
              </a:defRPr>
            </a:lvl2pPr>
            <a:lvl3pPr>
              <a:defRPr sz="1275" b="0">
                <a:solidFill>
                  <a:srgbClr val="17324D"/>
                </a:solidFill>
                <a:latin typeface="Arial"/>
                <a:ea typeface="Arial"/>
                <a:cs typeface="Arial"/>
              </a:defRPr>
            </a:lvl3pPr>
            <a:lvl4pPr>
              <a:defRPr sz="1275" b="0">
                <a:solidFill>
                  <a:srgbClr val="17324D"/>
                </a:solidFill>
                <a:latin typeface="Arial"/>
                <a:ea typeface="Arial"/>
                <a:cs typeface="Arial"/>
              </a:defRPr>
            </a:lvl4pPr>
            <a:lvl5pPr>
              <a:defRPr sz="1275" b="0">
                <a:solidFill>
                  <a:srgbClr val="17324D"/>
                </a:solidFill>
                <a:latin typeface="Arial"/>
                <a:ea typeface="Arial"/>
                <a:cs typeface="Arial"/>
              </a:defRPr>
            </a:lvl5pPr>
            <a:lvl6pPr>
              <a:defRPr sz="1275" b="0">
                <a:solidFill>
                  <a:srgbClr val="17324D"/>
                </a:solidFill>
                <a:latin typeface="Arial"/>
                <a:ea typeface="Arial"/>
                <a:cs typeface="Arial"/>
              </a:defRPr>
            </a:lvl6pPr>
            <a:lvl7pPr>
              <a:defRPr sz="1275" b="0">
                <a:solidFill>
                  <a:srgbClr val="17324D"/>
                </a:solidFill>
                <a:latin typeface="Arial"/>
                <a:ea typeface="Arial"/>
                <a:cs typeface="Arial"/>
              </a:defRPr>
            </a:lvl7pPr>
            <a:lvl8pPr>
              <a:defRPr sz="1275" b="0">
                <a:solidFill>
                  <a:srgbClr val="17324D"/>
                </a:solidFill>
                <a:latin typeface="Arial"/>
                <a:ea typeface="Arial"/>
                <a:cs typeface="Arial"/>
              </a:defRPr>
            </a:lvl8pPr>
            <a:lvl9pPr>
              <a:defRPr sz="1275" b="0">
                <a:solidFill>
                  <a:srgbClr val="17324D"/>
                </a:solidFill>
                <a:latin typeface="Arial"/>
                <a:ea typeface="Arial"/>
                <a:cs typeface="Arial"/>
              </a:defRPr>
            </a:lvl9pPr>
          </a:lstStyle>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Cyan: tree · Magenta: latest rewires · Blue: best route</a:t>
            </a:r>
          </a:p>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Dashed green: improvement ellipse · Orange: attempted sample</a:t>
            </a:r>
          </a:p>
        </p:txBody>
      </p:sp>
      <p:sp>
        <p:nvSpPr>
          <p:cNvPr id="10" name="Open RRT*">
            <a:extLst xmlns:a="http://schemas.openxmlformats.org/drawingml/2006/main">
              <a:ext uri="{FF2B5EF4-FFF2-40B4-BE49-F238E27FC236}">
                <a16:creationId xmlns:a16="http://schemas.microsoft.com/office/drawing/2014/main" id="{3572F6CD-DED9-4E5D-B832-8C7B3B5494F7}"/>
              </a:ext>
            </a:extLst>
          </p:cNvPr>
          <p:cNvSpPr>
            <a:spLocks xmlns:a="http://schemas.openxmlformats.org/drawingml/2006/main" noGrp="1"/>
          </p:cNvSpPr>
          <p:nvPr/>
        </p:nvSpPr>
        <p:spPr>
          <a:xfrm xmlns:a="http://schemas.openxmlformats.org/drawingml/2006/main">
            <a:off x="523875" y="4695825"/>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c1d4bce4257c4cd9"/>
              </a:rPr>
              <a:t>Open RRT*</a:t>
            </a:r>
          </a:p>
        </p:txBody>
      </p:sp>
      <p:sp>
        <p:nvSpPr>
          <p:cNvPr id="11" name="Open Informed RRT*">
            <a:extLst xmlns:a="http://schemas.openxmlformats.org/drawingml/2006/main">
              <a:ext uri="{FF2B5EF4-FFF2-40B4-BE49-F238E27FC236}">
                <a16:creationId xmlns:a16="http://schemas.microsoft.com/office/drawing/2014/main" id="{7F248DC3-CB23-4145-8158-B431E22DB053}"/>
              </a:ext>
            </a:extLst>
          </p:cNvPr>
          <p:cNvSpPr>
            <a:spLocks xmlns:a="http://schemas.openxmlformats.org/drawingml/2006/main" noGrp="1"/>
          </p:cNvSpPr>
          <p:nvPr/>
        </p:nvSpPr>
        <p:spPr>
          <a:xfrm xmlns:a="http://schemas.openxmlformats.org/drawingml/2006/main">
            <a:off x="4762500" y="4695825"/>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5a53f2d5da824890"/>
              </a:rPr>
              <a:t>Open Informed RRT*</a:t>
            </a:r>
          </a:p>
        </p:txBody>
      </p:sp>
    </p:spTree>
    <p:extLst>
      <p:ext uri="{BB962C8B-B14F-4D97-AF65-F5344CB8AC3E}">
        <p14:creationId xmlns:p14="http://schemas.microsoft.com/office/powerpoint/2010/main" val="17590914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4AE5430-773F-429B-87AD-42FA65A1D0F1}"/>
              </a:ext>
            </a:extLst>
          </p:cNvPr>
          <p:cNvPicPr>
            <a:picLocks xmlns:a="http://schemas.openxmlformats.org/drawingml/2006/main" noChangeAspect="1"/>
          </p:cNvPicPr>
          <p:nvPr/>
        </p:nvPicPr>
        <p:blipFill>
          <a:blip xmlns:r="http://schemas.openxmlformats.org/officeDocument/2006/relationships" xmlns:a="http://schemas.openxmlformats.org/drawingml/2006/main" r:embed="Ra30a99cf52ec4d08"/>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The robot occupies space">
            <a:extLst xmlns:a="http://schemas.openxmlformats.org/drawingml/2006/main">
              <a:ext uri="{FF2B5EF4-FFF2-40B4-BE49-F238E27FC236}">
                <a16:creationId xmlns:a16="http://schemas.microsoft.com/office/drawing/2014/main" id="{90A22C64-1BE6-4B3C-A5C0-E3BFC284D4E2}"/>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The robot occupies space</a:t>
            </a:r>
          </a:p>
        </p:txBody>
      </p:sp>
      <p:sp>
        <p:nvSpPr>
          <p:cNvPr id="3" name="23">
            <a:extLst xmlns:a="http://schemas.openxmlformats.org/drawingml/2006/main">
              <a:ext uri="{FF2B5EF4-FFF2-40B4-BE49-F238E27FC236}">
                <a16:creationId xmlns:a16="http://schemas.microsoft.com/office/drawing/2014/main" id="{FD3D4110-1DBB-4D3A-BE37-B4EF85641729}"/>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23</a:t>
            </a:r>
          </a:p>
        </p:txBody>
      </p:sp>
      <p:pic>
        <p:nvPicPr>
          <p:cNvPr id="4" name="">
            <a:extLst xmlns:a="http://schemas.openxmlformats.org/drawingml/2006/main">
              <a:ext uri="{FF2B5EF4-FFF2-40B4-BE49-F238E27FC236}">
                <a16:creationId xmlns:a16="http://schemas.microsoft.com/office/drawing/2014/main" id="{96533557-E032-4FDE-A415-5078EA85D034}"/>
              </a:ext>
            </a:extLst>
          </p:cNvPr>
          <p:cNvPicPr>
            <a:picLocks xmlns:a="http://schemas.openxmlformats.org/drawingml/2006/main" noChangeAspect="1"/>
          </p:cNvPicPr>
          <p:nvPr/>
        </p:nvPicPr>
        <p:blipFill>
          <a:blip xmlns:r="http://schemas.openxmlformats.org/officeDocument/2006/relationships" xmlns:a="http://schemas.openxmlformats.org/drawingml/2006/main" r:embed="Rbbf6977f26e44afe"/>
          <a:stretch xmlns:a="http://schemas.openxmlformats.org/drawingml/2006/main"/>
        </p:blipFill>
        <p:spPr>
          <a:xfrm xmlns:a="http://schemas.openxmlformats.org/drawingml/2006/main">
            <a:off x="959353" y="1400175"/>
            <a:ext cx="4358268" cy="2667000"/>
          </a:xfrm>
          <a:prstGeom xmlns:a="http://schemas.openxmlformats.org/drawingml/2006/main" prst="rect">
            <a:avLst/>
          </a:prstGeom>
        </p:spPr>
      </p:pic>
      <p:sp>
        <p:nvSpPr>
          <p:cNvPr id="5" name="A point path ignores the physical footprint.&#10;&#10;Configuration incl">
            <a:extLst xmlns:a="http://schemas.openxmlformats.org/drawingml/2006/main">
              <a:ext uri="{FF2B5EF4-FFF2-40B4-BE49-F238E27FC236}">
                <a16:creationId xmlns:a16="http://schemas.microsoft.com/office/drawing/2014/main" id="{CB32E937-2764-4E0C-923C-92ABDF165E8D}"/>
              </a:ext>
            </a:extLst>
          </p:cNvPr>
          <p:cNvSpPr>
            <a:spLocks xmlns:a="http://schemas.openxmlformats.org/drawingml/2006/main" noGrp="1"/>
          </p:cNvSpPr>
          <p:nvPr/>
        </p:nvSpPr>
        <p:spPr>
          <a:xfrm xmlns:a="http://schemas.openxmlformats.org/drawingml/2006/main">
            <a:off x="6029325" y="1428750"/>
            <a:ext cx="2619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vl1pPr>
              <a:defRPr sz="1650" b="0">
                <a:solidFill>
                  <a:srgbClr val="17324D"/>
                </a:solidFill>
                <a:latin typeface="Arial"/>
                <a:ea typeface="Arial"/>
                <a:cs typeface="Arial"/>
              </a:defRPr>
            </a:lvl1pPr>
            <a:lvl2pPr>
              <a:defRPr sz="1650" b="0">
                <a:solidFill>
                  <a:srgbClr val="17324D"/>
                </a:solidFill>
                <a:latin typeface="Arial"/>
                <a:ea typeface="Arial"/>
                <a:cs typeface="Arial"/>
              </a:defRPr>
            </a:lvl2pPr>
            <a:lvl3pPr>
              <a:defRPr sz="1650" b="0">
                <a:solidFill>
                  <a:srgbClr val="17324D"/>
                </a:solidFill>
                <a:latin typeface="Arial"/>
                <a:ea typeface="Arial"/>
                <a:cs typeface="Arial"/>
              </a:defRPr>
            </a:lvl3pPr>
            <a:lvl4pPr>
              <a:defRPr sz="1650" b="0">
                <a:solidFill>
                  <a:srgbClr val="17324D"/>
                </a:solidFill>
                <a:latin typeface="Arial"/>
                <a:ea typeface="Arial"/>
                <a:cs typeface="Arial"/>
              </a:defRPr>
            </a:lvl4pPr>
            <a:lvl5pPr>
              <a:defRPr sz="1650" b="0">
                <a:solidFill>
                  <a:srgbClr val="17324D"/>
                </a:solidFill>
                <a:latin typeface="Arial"/>
                <a:ea typeface="Arial"/>
                <a:cs typeface="Arial"/>
              </a:defRPr>
            </a:lvl5pPr>
            <a:lvl6pPr>
              <a:defRPr sz="1650" b="0">
                <a:solidFill>
                  <a:srgbClr val="17324D"/>
                </a:solidFill>
                <a:latin typeface="Arial"/>
                <a:ea typeface="Arial"/>
                <a:cs typeface="Arial"/>
              </a:defRPr>
            </a:lvl6pPr>
            <a:lvl7pPr>
              <a:defRPr sz="1650" b="0">
                <a:solidFill>
                  <a:srgbClr val="17324D"/>
                </a:solidFill>
                <a:latin typeface="Arial"/>
                <a:ea typeface="Arial"/>
                <a:cs typeface="Arial"/>
              </a:defRPr>
            </a:lvl7pPr>
            <a:lvl8pPr>
              <a:defRPr sz="1650" b="0">
                <a:solidFill>
                  <a:srgbClr val="17324D"/>
                </a:solidFill>
                <a:latin typeface="Arial"/>
                <a:ea typeface="Arial"/>
                <a:cs typeface="Arial"/>
              </a:defRPr>
            </a:lvl8pPr>
            <a:lvl9pPr>
              <a:defRPr sz="1650" b="0">
                <a:solidFill>
                  <a:srgbClr val="17324D"/>
                </a:solidFill>
                <a:latin typeface="Arial"/>
                <a:ea typeface="Arial"/>
                <a:cs typeface="Arial"/>
              </a:defRPr>
            </a:lvl9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 point path ignores the physical footprint.</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Configuration includes every variable needed to locate the body.</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 mobile rectangle needs position and orientation.</a:t>
            </a:r>
          </a:p>
        </p:txBody>
      </p:sp>
      <p:sp>
        <p:nvSpPr>
          <p:cNvPr id="6" name="Green rectangle: last clear pose · Pale blue: center path · Dark">
            <a:extLst xmlns:a="http://schemas.openxmlformats.org/drawingml/2006/main">
              <a:ext uri="{FF2B5EF4-FFF2-40B4-BE49-F238E27FC236}">
                <a16:creationId xmlns:a16="http://schemas.microsoft.com/office/drawing/2014/main" id="{F3615EE8-2037-4204-94CC-6A7F931BC825}"/>
              </a:ext>
            </a:extLst>
          </p:cNvPr>
          <p:cNvSpPr>
            <a:spLocks xmlns:a="http://schemas.openxmlformats.org/drawingml/2006/main" noGrp="1"/>
          </p:cNvSpPr>
          <p:nvPr/>
        </p:nvSpPr>
        <p:spPr>
          <a:xfrm xmlns:a="http://schemas.openxmlformats.org/drawingml/2006/main">
            <a:off x="523875" y="417195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17324D"/>
                </a:solidFill>
                <a:latin typeface="Arial"/>
                <a:ea typeface="Arial"/>
                <a:cs typeface="Arial"/>
              </a:defRPr>
            </a:defPPr>
            <a:lvl1pPr>
              <a:defRPr sz="1350" b="0">
                <a:solidFill>
                  <a:srgbClr val="17324D"/>
                </a:solidFill>
                <a:latin typeface="Arial"/>
                <a:ea typeface="Arial"/>
                <a:cs typeface="Arial"/>
              </a:defRPr>
            </a:lvl1pPr>
            <a:lvl2pPr>
              <a:defRPr sz="1350" b="0">
                <a:solidFill>
                  <a:srgbClr val="17324D"/>
                </a:solidFill>
                <a:latin typeface="Arial"/>
                <a:ea typeface="Arial"/>
                <a:cs typeface="Arial"/>
              </a:defRPr>
            </a:lvl2pPr>
            <a:lvl3pPr>
              <a:defRPr sz="1350" b="0">
                <a:solidFill>
                  <a:srgbClr val="17324D"/>
                </a:solidFill>
                <a:latin typeface="Arial"/>
                <a:ea typeface="Arial"/>
                <a:cs typeface="Arial"/>
              </a:defRPr>
            </a:lvl3pPr>
            <a:lvl4pPr>
              <a:defRPr sz="1350" b="0">
                <a:solidFill>
                  <a:srgbClr val="17324D"/>
                </a:solidFill>
                <a:latin typeface="Arial"/>
                <a:ea typeface="Arial"/>
                <a:cs typeface="Arial"/>
              </a:defRPr>
            </a:lvl4pPr>
            <a:lvl5pPr>
              <a:defRPr sz="1350" b="0">
                <a:solidFill>
                  <a:srgbClr val="17324D"/>
                </a:solidFill>
                <a:latin typeface="Arial"/>
                <a:ea typeface="Arial"/>
                <a:cs typeface="Arial"/>
              </a:defRPr>
            </a:lvl5pPr>
            <a:lvl6pPr>
              <a:defRPr sz="1350" b="0">
                <a:solidFill>
                  <a:srgbClr val="17324D"/>
                </a:solidFill>
                <a:latin typeface="Arial"/>
                <a:ea typeface="Arial"/>
                <a:cs typeface="Arial"/>
              </a:defRPr>
            </a:lvl6pPr>
            <a:lvl7pPr>
              <a:defRPr sz="1350" b="0">
                <a:solidFill>
                  <a:srgbClr val="17324D"/>
                </a:solidFill>
                <a:latin typeface="Arial"/>
                <a:ea typeface="Arial"/>
                <a:cs typeface="Arial"/>
              </a:defRPr>
            </a:lvl7pPr>
            <a:lvl8pPr>
              <a:defRPr sz="1350" b="0">
                <a:solidFill>
                  <a:srgbClr val="17324D"/>
                </a:solidFill>
                <a:latin typeface="Arial"/>
                <a:ea typeface="Arial"/>
                <a:cs typeface="Arial"/>
              </a:defRPr>
            </a:lvl8pPr>
            <a:lvl9pPr>
              <a:defRPr sz="1350" b="0">
                <a:solidFill>
                  <a:srgbClr val="17324D"/>
                </a:solidFill>
                <a:latin typeface="Arial"/>
                <a:ea typeface="Arial"/>
                <a:cs typeface="Arial"/>
              </a:defRPr>
            </a:lvl9pPr>
          </a:lstStyle>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Green rectangle: last clear pose · Pale blue: center path · Dark navy: walls</a:t>
            </a:r>
          </a:p>
        </p:txBody>
      </p:sp>
      <p:sp>
        <p:nvSpPr>
          <p:cNvPr id="7" name="Open interactive experiment">
            <a:extLst xmlns:a="http://schemas.openxmlformats.org/drawingml/2006/main">
              <a:ext uri="{FF2B5EF4-FFF2-40B4-BE49-F238E27FC236}">
                <a16:creationId xmlns:a16="http://schemas.microsoft.com/office/drawing/2014/main" id="{C1386527-C1F7-424F-95ED-47F0C21BA7DC}"/>
              </a:ext>
            </a:extLst>
          </p:cNvPr>
          <p:cNvSpPr>
            <a:spLocks xmlns:a="http://schemas.openxmlformats.org/drawingml/2006/main" noGrp="1"/>
          </p:cNvSpPr>
          <p:nvPr/>
        </p:nvSpPr>
        <p:spPr>
          <a:xfrm xmlns:a="http://schemas.openxmlformats.org/drawingml/2006/main">
            <a:off x="523875" y="46291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0affbadfb78b470c"/>
              </a:rPr>
              <a:t>Open interactive experiment</a:t>
            </a:r>
          </a:p>
        </p:txBody>
      </p:sp>
    </p:spTree>
    <p:extLst>
      <p:ext uri="{BB962C8B-B14F-4D97-AF65-F5344CB8AC3E}">
        <p14:creationId xmlns:p14="http://schemas.microsoft.com/office/powerpoint/2010/main" val="161110881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554E275-69D9-436C-8D6E-777582749095}"/>
              </a:ext>
            </a:extLst>
          </p:cNvPr>
          <p:cNvPicPr>
            <a:picLocks xmlns:a="http://schemas.openxmlformats.org/drawingml/2006/main" noChangeAspect="1"/>
          </p:cNvPicPr>
          <p:nvPr/>
        </p:nvPicPr>
        <p:blipFill>
          <a:blip xmlns:r="http://schemas.openxmlformats.org/officeDocument/2006/relationships" xmlns:a="http://schemas.openxmlformats.org/drawingml/2006/main" r:embed="Re13cf3caf702407b"/>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Obstacle expansion">
            <a:extLst xmlns:a="http://schemas.openxmlformats.org/drawingml/2006/main">
              <a:ext uri="{FF2B5EF4-FFF2-40B4-BE49-F238E27FC236}">
                <a16:creationId xmlns:a16="http://schemas.microsoft.com/office/drawing/2014/main" id="{233F931D-001C-4639-9C5C-6673CFFD47F7}"/>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Obstacle expansion</a:t>
            </a:r>
          </a:p>
        </p:txBody>
      </p:sp>
      <p:sp>
        <p:nvSpPr>
          <p:cNvPr id="3" name="24">
            <a:extLst xmlns:a="http://schemas.openxmlformats.org/drawingml/2006/main">
              <a:ext uri="{FF2B5EF4-FFF2-40B4-BE49-F238E27FC236}">
                <a16:creationId xmlns:a16="http://schemas.microsoft.com/office/drawing/2014/main" id="{C26A6EC0-FD8F-40BC-9138-02CCC0BCA47F}"/>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24</a:t>
            </a:r>
          </a:p>
        </p:txBody>
      </p:sp>
      <p:sp>
        <p:nvSpPr>
          <p:cNvPr id="4" name="C_obstacle = O ⊕ (−R)">
            <a:extLst xmlns:a="http://schemas.openxmlformats.org/drawingml/2006/main">
              <a:ext uri="{FF2B5EF4-FFF2-40B4-BE49-F238E27FC236}">
                <a16:creationId xmlns:a16="http://schemas.microsoft.com/office/drawing/2014/main" id="{DB3096FF-52F2-4C49-96A7-0BA52138A99B}"/>
              </a:ext>
            </a:extLst>
          </p:cNvPr>
          <p:cNvSpPr>
            <a:spLocks xmlns:a="http://schemas.openxmlformats.org/drawingml/2006/main" noGrp="1"/>
          </p:cNvSpPr>
          <p:nvPr/>
        </p:nvSpPr>
        <p:spPr>
          <a:xfrm xmlns:a="http://schemas.openxmlformats.org/drawingml/2006/main">
            <a:off x="619125" y="1457325"/>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1">
                <a:solidFill>
                  <a:srgbClr val="00539F"/>
                </a:solidFill>
                <a:latin typeface="Arial"/>
                <a:ea typeface="Arial"/>
                <a:cs typeface="Arial"/>
              </a:defRPr>
            </a:defPPr>
            <a:lvl1pPr>
              <a:defRPr sz="2400" b="1">
                <a:solidFill>
                  <a:srgbClr val="00539F"/>
                </a:solidFill>
                <a:latin typeface="Arial"/>
                <a:ea typeface="Arial"/>
                <a:cs typeface="Arial"/>
              </a:defRPr>
            </a:lvl1pPr>
            <a:lvl2pPr>
              <a:defRPr sz="2400" b="1">
                <a:solidFill>
                  <a:srgbClr val="00539F"/>
                </a:solidFill>
                <a:latin typeface="Arial"/>
                <a:ea typeface="Arial"/>
                <a:cs typeface="Arial"/>
              </a:defRPr>
            </a:lvl2pPr>
            <a:lvl3pPr>
              <a:defRPr sz="2400" b="1">
                <a:solidFill>
                  <a:srgbClr val="00539F"/>
                </a:solidFill>
                <a:latin typeface="Arial"/>
                <a:ea typeface="Arial"/>
                <a:cs typeface="Arial"/>
              </a:defRPr>
            </a:lvl3pPr>
            <a:lvl4pPr>
              <a:defRPr sz="2400" b="1">
                <a:solidFill>
                  <a:srgbClr val="00539F"/>
                </a:solidFill>
                <a:latin typeface="Arial"/>
                <a:ea typeface="Arial"/>
                <a:cs typeface="Arial"/>
              </a:defRPr>
            </a:lvl4pPr>
            <a:lvl5pPr>
              <a:defRPr sz="2400" b="1">
                <a:solidFill>
                  <a:srgbClr val="00539F"/>
                </a:solidFill>
                <a:latin typeface="Arial"/>
                <a:ea typeface="Arial"/>
                <a:cs typeface="Arial"/>
              </a:defRPr>
            </a:lvl5pPr>
            <a:lvl6pPr>
              <a:defRPr sz="2400" b="1">
                <a:solidFill>
                  <a:srgbClr val="00539F"/>
                </a:solidFill>
                <a:latin typeface="Arial"/>
                <a:ea typeface="Arial"/>
                <a:cs typeface="Arial"/>
              </a:defRPr>
            </a:lvl6pPr>
            <a:lvl7pPr>
              <a:defRPr sz="2400" b="1">
                <a:solidFill>
                  <a:srgbClr val="00539F"/>
                </a:solidFill>
                <a:latin typeface="Arial"/>
                <a:ea typeface="Arial"/>
                <a:cs typeface="Arial"/>
              </a:defRPr>
            </a:lvl7pPr>
            <a:lvl8pPr>
              <a:defRPr sz="2400" b="1">
                <a:solidFill>
                  <a:srgbClr val="00539F"/>
                </a:solidFill>
                <a:latin typeface="Arial"/>
                <a:ea typeface="Arial"/>
                <a:cs typeface="Arial"/>
              </a:defRPr>
            </a:lvl8pPr>
            <a:lvl9pPr>
              <a:defRPr sz="2400" b="1">
                <a:solidFill>
                  <a:srgbClr val="00539F"/>
                </a:solidFill>
                <a:latin typeface="Arial"/>
                <a:ea typeface="Arial"/>
                <a:cs typeface="Arial"/>
              </a:defRPr>
            </a:lvl9pPr>
          </a:lstStyle>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C_obstacle = O ⊕ (−R)</a:t>
            </a:r>
          </a:p>
        </p:txBody>
      </p:sp>
      <p:sp>
        <p:nvSpPr>
          <p:cNvPr id="5" name="Circular robot: expansion radius = r + margin">
            <a:extLst xmlns:a="http://schemas.openxmlformats.org/drawingml/2006/main">
              <a:ext uri="{FF2B5EF4-FFF2-40B4-BE49-F238E27FC236}">
                <a16:creationId xmlns:a16="http://schemas.microsoft.com/office/drawing/2014/main" id="{2E39D6F8-DE87-426D-B914-3F560C83DB98}"/>
              </a:ext>
            </a:extLst>
          </p:cNvPr>
          <p:cNvSpPr>
            <a:spLocks xmlns:a="http://schemas.openxmlformats.org/drawingml/2006/main" noGrp="1"/>
          </p:cNvSpPr>
          <p:nvPr/>
        </p:nvSpPr>
        <p:spPr>
          <a:xfrm xmlns:a="http://schemas.openxmlformats.org/drawingml/2006/main">
            <a:off x="619125" y="2047875"/>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00539F"/>
                </a:solidFill>
                <a:latin typeface="Arial"/>
                <a:ea typeface="Arial"/>
                <a:cs typeface="Arial"/>
              </a:defRPr>
            </a:defPPr>
            <a:lvl1pPr>
              <a:defRPr sz="2025" b="0">
                <a:solidFill>
                  <a:srgbClr val="00539F"/>
                </a:solidFill>
                <a:latin typeface="Arial"/>
                <a:ea typeface="Arial"/>
                <a:cs typeface="Arial"/>
              </a:defRPr>
            </a:lvl1pPr>
            <a:lvl2pPr>
              <a:defRPr sz="2025" b="0">
                <a:solidFill>
                  <a:srgbClr val="00539F"/>
                </a:solidFill>
                <a:latin typeface="Arial"/>
                <a:ea typeface="Arial"/>
                <a:cs typeface="Arial"/>
              </a:defRPr>
            </a:lvl2pPr>
            <a:lvl3pPr>
              <a:defRPr sz="2025" b="0">
                <a:solidFill>
                  <a:srgbClr val="00539F"/>
                </a:solidFill>
                <a:latin typeface="Arial"/>
                <a:ea typeface="Arial"/>
                <a:cs typeface="Arial"/>
              </a:defRPr>
            </a:lvl3pPr>
            <a:lvl4pPr>
              <a:defRPr sz="2025" b="0">
                <a:solidFill>
                  <a:srgbClr val="00539F"/>
                </a:solidFill>
                <a:latin typeface="Arial"/>
                <a:ea typeface="Arial"/>
                <a:cs typeface="Arial"/>
              </a:defRPr>
            </a:lvl4pPr>
            <a:lvl5pPr>
              <a:defRPr sz="2025" b="0">
                <a:solidFill>
                  <a:srgbClr val="00539F"/>
                </a:solidFill>
                <a:latin typeface="Arial"/>
                <a:ea typeface="Arial"/>
                <a:cs typeface="Arial"/>
              </a:defRPr>
            </a:lvl5pPr>
            <a:lvl6pPr>
              <a:defRPr sz="2025" b="0">
                <a:solidFill>
                  <a:srgbClr val="00539F"/>
                </a:solidFill>
                <a:latin typeface="Arial"/>
                <a:ea typeface="Arial"/>
                <a:cs typeface="Arial"/>
              </a:defRPr>
            </a:lvl6pPr>
            <a:lvl7pPr>
              <a:defRPr sz="2025" b="0">
                <a:solidFill>
                  <a:srgbClr val="00539F"/>
                </a:solidFill>
                <a:latin typeface="Arial"/>
                <a:ea typeface="Arial"/>
                <a:cs typeface="Arial"/>
              </a:defRPr>
            </a:lvl7pPr>
            <a:lvl8pPr>
              <a:defRPr sz="2025" b="0">
                <a:solidFill>
                  <a:srgbClr val="00539F"/>
                </a:solidFill>
                <a:latin typeface="Arial"/>
                <a:ea typeface="Arial"/>
                <a:cs typeface="Arial"/>
              </a:defRPr>
            </a:lvl8pPr>
            <a:lvl9pPr>
              <a:defRPr sz="2025" b="0">
                <a:solidFill>
                  <a:srgbClr val="00539F"/>
                </a:solidFill>
                <a:latin typeface="Arial"/>
                <a:ea typeface="Arial"/>
                <a:cs typeface="Arial"/>
              </a:defRPr>
            </a:lvl9pPr>
          </a:lstStyle>
          <a:p xmlns:a="http://schemas.openxmlformats.org/drawingml/2006/main">
            <a:pPr>
              <a:defRPr sz="2025" b="0">
                <a:solidFill>
                  <a:srgbClr val="00539F"/>
                </a:solidFill>
                <a:latin typeface="Arial"/>
                <a:ea typeface="Arial"/>
                <a:cs typeface="Arial"/>
              </a:defRPr>
            </a:pPr>
            <a:r>
              <a:rPr sz="2025" b="0">
                <a:solidFill>
                  <a:srgbClr val="00539F"/>
                </a:solidFill>
                <a:latin typeface="Arial"/>
                <a:ea typeface="Arial"/>
                <a:cs typeface="Arial"/>
              </a:rPr>
              <a:t>Circular robot: expansion radius = r + margin</a:t>
            </a:r>
          </a:p>
        </p:txBody>
      </p:sp>
      <p:sp>
        <p:nvSpPr>
          <p:cNvPr id="6" name="A circular robot of radius r expands each obstacle by r.&#10;&#10;A safe">
            <a:extLst xmlns:a="http://schemas.openxmlformats.org/drawingml/2006/main">
              <a:ext uri="{FF2B5EF4-FFF2-40B4-BE49-F238E27FC236}">
                <a16:creationId xmlns:a16="http://schemas.microsoft.com/office/drawing/2014/main" id="{247117F3-A60E-44E7-9DFC-B0D8CAE092E1}"/>
              </a:ext>
            </a:extLst>
          </p:cNvPr>
          <p:cNvSpPr>
            <a:spLocks xmlns:a="http://schemas.openxmlformats.org/drawingml/2006/main" noGrp="1"/>
          </p:cNvSpPr>
          <p:nvPr/>
        </p:nvSpPr>
        <p:spPr>
          <a:xfrm xmlns:a="http://schemas.openxmlformats.org/drawingml/2006/main">
            <a:off x="619125" y="3476625"/>
            <a:ext cx="790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17324D"/>
                </a:solidFill>
                <a:latin typeface="Arial"/>
                <a:ea typeface="Arial"/>
                <a:cs typeface="Arial"/>
              </a:defRPr>
            </a:defPPr>
            <a:lvl1pPr>
              <a:defRPr sz="1725" b="0">
                <a:solidFill>
                  <a:srgbClr val="17324D"/>
                </a:solidFill>
                <a:latin typeface="Arial"/>
                <a:ea typeface="Arial"/>
                <a:cs typeface="Arial"/>
              </a:defRPr>
            </a:lvl1pPr>
            <a:lvl2pPr>
              <a:defRPr sz="1725" b="0">
                <a:solidFill>
                  <a:srgbClr val="17324D"/>
                </a:solidFill>
                <a:latin typeface="Arial"/>
                <a:ea typeface="Arial"/>
                <a:cs typeface="Arial"/>
              </a:defRPr>
            </a:lvl2pPr>
            <a:lvl3pPr>
              <a:defRPr sz="1725" b="0">
                <a:solidFill>
                  <a:srgbClr val="17324D"/>
                </a:solidFill>
                <a:latin typeface="Arial"/>
                <a:ea typeface="Arial"/>
                <a:cs typeface="Arial"/>
              </a:defRPr>
            </a:lvl3pPr>
            <a:lvl4pPr>
              <a:defRPr sz="1725" b="0">
                <a:solidFill>
                  <a:srgbClr val="17324D"/>
                </a:solidFill>
                <a:latin typeface="Arial"/>
                <a:ea typeface="Arial"/>
                <a:cs typeface="Arial"/>
              </a:defRPr>
            </a:lvl4pPr>
            <a:lvl5pPr>
              <a:defRPr sz="1725" b="0">
                <a:solidFill>
                  <a:srgbClr val="17324D"/>
                </a:solidFill>
                <a:latin typeface="Arial"/>
                <a:ea typeface="Arial"/>
                <a:cs typeface="Arial"/>
              </a:defRPr>
            </a:lvl5pPr>
            <a:lvl6pPr>
              <a:defRPr sz="1725" b="0">
                <a:solidFill>
                  <a:srgbClr val="17324D"/>
                </a:solidFill>
                <a:latin typeface="Arial"/>
                <a:ea typeface="Arial"/>
                <a:cs typeface="Arial"/>
              </a:defRPr>
            </a:lvl6pPr>
            <a:lvl7pPr>
              <a:defRPr sz="1725" b="0">
                <a:solidFill>
                  <a:srgbClr val="17324D"/>
                </a:solidFill>
                <a:latin typeface="Arial"/>
                <a:ea typeface="Arial"/>
                <a:cs typeface="Arial"/>
              </a:defRPr>
            </a:lvl7pPr>
            <a:lvl8pPr>
              <a:defRPr sz="1725" b="0">
                <a:solidFill>
                  <a:srgbClr val="17324D"/>
                </a:solidFill>
                <a:latin typeface="Arial"/>
                <a:ea typeface="Arial"/>
                <a:cs typeface="Arial"/>
              </a:defRPr>
            </a:lvl8pPr>
            <a:lvl9pPr>
              <a:defRPr sz="1725" b="0">
                <a:solidFill>
                  <a:srgbClr val="17324D"/>
                </a:solidFill>
                <a:latin typeface="Arial"/>
                <a:ea typeface="Arial"/>
                <a:cs typeface="Arial"/>
              </a:defRPr>
            </a:lvl9pPr>
          </a:lstStyle>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A circular robot of radius r expands each obstacle by r.</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A safety margin adds clearance for model and pose error.</a:t>
            </a:r>
          </a:p>
        </p:txBody>
      </p:sp>
    </p:spTree>
    <p:extLst>
      <p:ext uri="{BB962C8B-B14F-4D97-AF65-F5344CB8AC3E}">
        <p14:creationId xmlns:p14="http://schemas.microsoft.com/office/powerpoint/2010/main" val="114150614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166C9A5D-A5C1-43A0-A76C-B463270516BD}"/>
              </a:ext>
            </a:extLst>
          </p:cNvPr>
          <p:cNvPicPr>
            <a:picLocks xmlns:a="http://schemas.openxmlformats.org/drawingml/2006/main" noChangeAspect="1"/>
          </p:cNvPicPr>
          <p:nvPr/>
        </p:nvPicPr>
        <p:blipFill>
          <a:blip xmlns:r="http://schemas.openxmlformats.org/officeDocument/2006/relationships" xmlns:a="http://schemas.openxmlformats.org/drawingml/2006/main" r:embed="R956b409494cc4c59"/>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A passage closes as clearance grows">
            <a:extLst xmlns:a="http://schemas.openxmlformats.org/drawingml/2006/main">
              <a:ext uri="{FF2B5EF4-FFF2-40B4-BE49-F238E27FC236}">
                <a16:creationId xmlns:a16="http://schemas.microsoft.com/office/drawing/2014/main" id="{D89DBEF4-6E0C-4DC3-A2BC-DAED75E56FEE}"/>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 passage closes as clearance grows</a:t>
            </a:r>
          </a:p>
        </p:txBody>
      </p:sp>
      <p:sp>
        <p:nvSpPr>
          <p:cNvPr id="3" name="25">
            <a:extLst xmlns:a="http://schemas.openxmlformats.org/drawingml/2006/main">
              <a:ext uri="{FF2B5EF4-FFF2-40B4-BE49-F238E27FC236}">
                <a16:creationId xmlns:a16="http://schemas.microsoft.com/office/drawing/2014/main" id="{C42DB345-CAA1-4B7C-82B9-9ECB0EF9BF30}"/>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25</a:t>
            </a:r>
          </a:p>
        </p:txBody>
      </p:sp>
      <p:pic>
        <p:nvPicPr>
          <p:cNvPr id="4" name="">
            <a:extLst xmlns:a="http://schemas.openxmlformats.org/drawingml/2006/main">
              <a:ext uri="{FF2B5EF4-FFF2-40B4-BE49-F238E27FC236}">
                <a16:creationId xmlns:a16="http://schemas.microsoft.com/office/drawing/2014/main" id="{8B253A9F-67BA-4C79-9988-E177B39007B1}"/>
              </a:ext>
            </a:extLst>
          </p:cNvPr>
          <p:cNvPicPr>
            <a:picLocks xmlns:a="http://schemas.openxmlformats.org/drawingml/2006/main" noChangeAspect="1"/>
          </p:cNvPicPr>
          <p:nvPr/>
        </p:nvPicPr>
        <p:blipFill>
          <a:blip xmlns:r="http://schemas.openxmlformats.org/officeDocument/2006/relationships" xmlns:a="http://schemas.openxmlformats.org/drawingml/2006/main" r:embed="R34ddc361b7b34e15"/>
          <a:stretch xmlns:a="http://schemas.openxmlformats.org/drawingml/2006/main"/>
        </p:blipFill>
        <p:spPr>
          <a:xfrm xmlns:a="http://schemas.openxmlformats.org/drawingml/2006/main">
            <a:off x="740511" y="1409700"/>
            <a:ext cx="3424354" cy="2095500"/>
          </a:xfrm>
          <a:prstGeom xmlns:a="http://schemas.openxmlformats.org/drawingml/2006/main" prst="rect">
            <a:avLst/>
          </a:prstGeom>
        </p:spPr>
      </p:pic>
      <p:sp>
        <p:nvSpPr>
          <p:cNvPr id="5" name="Small robot and margin">
            <a:extLst xmlns:a="http://schemas.openxmlformats.org/drawingml/2006/main">
              <a:ext uri="{FF2B5EF4-FFF2-40B4-BE49-F238E27FC236}">
                <a16:creationId xmlns:a16="http://schemas.microsoft.com/office/drawing/2014/main" id="{3BCDCDDF-28D7-47AE-B8B2-5491730DC99F}"/>
              </a:ext>
            </a:extLst>
          </p:cNvPr>
          <p:cNvSpPr>
            <a:spLocks xmlns:a="http://schemas.openxmlformats.org/drawingml/2006/main" noGrp="1"/>
          </p:cNvSpPr>
          <p:nvPr/>
        </p:nvSpPr>
        <p:spPr>
          <a:xfrm xmlns:a="http://schemas.openxmlformats.org/drawingml/2006/main">
            <a:off x="523875" y="3533775"/>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vl1pPr>
              <a:defRPr sz="1500" b="1">
                <a:solidFill>
                  <a:srgbClr val="00539F"/>
                </a:solidFill>
                <a:latin typeface="Arial"/>
                <a:ea typeface="Arial"/>
                <a:cs typeface="Arial"/>
              </a:defRPr>
            </a:lvl1pPr>
            <a:lvl2pPr>
              <a:defRPr sz="1500" b="1">
                <a:solidFill>
                  <a:srgbClr val="00539F"/>
                </a:solidFill>
                <a:latin typeface="Arial"/>
                <a:ea typeface="Arial"/>
                <a:cs typeface="Arial"/>
              </a:defRPr>
            </a:lvl2pPr>
            <a:lvl3pPr>
              <a:defRPr sz="1500" b="1">
                <a:solidFill>
                  <a:srgbClr val="00539F"/>
                </a:solidFill>
                <a:latin typeface="Arial"/>
                <a:ea typeface="Arial"/>
                <a:cs typeface="Arial"/>
              </a:defRPr>
            </a:lvl3pPr>
            <a:lvl4pPr>
              <a:defRPr sz="1500" b="1">
                <a:solidFill>
                  <a:srgbClr val="00539F"/>
                </a:solidFill>
                <a:latin typeface="Arial"/>
                <a:ea typeface="Arial"/>
                <a:cs typeface="Arial"/>
              </a:defRPr>
            </a:lvl4pPr>
            <a:lvl5pPr>
              <a:defRPr sz="1500" b="1">
                <a:solidFill>
                  <a:srgbClr val="00539F"/>
                </a:solidFill>
                <a:latin typeface="Arial"/>
                <a:ea typeface="Arial"/>
                <a:cs typeface="Arial"/>
              </a:defRPr>
            </a:lvl5pPr>
            <a:lvl6pPr>
              <a:defRPr sz="1500" b="1">
                <a:solidFill>
                  <a:srgbClr val="00539F"/>
                </a:solidFill>
                <a:latin typeface="Arial"/>
                <a:ea typeface="Arial"/>
                <a:cs typeface="Arial"/>
              </a:defRPr>
            </a:lvl6pPr>
            <a:lvl7pPr>
              <a:defRPr sz="1500" b="1">
                <a:solidFill>
                  <a:srgbClr val="00539F"/>
                </a:solidFill>
                <a:latin typeface="Arial"/>
                <a:ea typeface="Arial"/>
                <a:cs typeface="Arial"/>
              </a:defRPr>
            </a:lvl7pPr>
            <a:lvl8pPr>
              <a:defRPr sz="1500" b="1">
                <a:solidFill>
                  <a:srgbClr val="00539F"/>
                </a:solidFill>
                <a:latin typeface="Arial"/>
                <a:ea typeface="Arial"/>
                <a:cs typeface="Arial"/>
              </a:defRPr>
            </a:lvl8pPr>
            <a:lvl9pPr>
              <a:defRPr sz="1500" b="1">
                <a:solidFill>
                  <a:srgbClr val="00539F"/>
                </a:solidFill>
                <a:latin typeface="Arial"/>
                <a:ea typeface="Arial"/>
                <a:cs typeface="Arial"/>
              </a:defRPr>
            </a:lvl9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Small robot and margin</a:t>
            </a:r>
          </a:p>
        </p:txBody>
      </p:sp>
      <p:pic>
        <p:nvPicPr>
          <p:cNvPr id="6" name="">
            <a:extLst xmlns:a="http://schemas.openxmlformats.org/drawingml/2006/main">
              <a:ext uri="{FF2B5EF4-FFF2-40B4-BE49-F238E27FC236}">
                <a16:creationId xmlns:a16="http://schemas.microsoft.com/office/drawing/2014/main" id="{CAE9418D-62D8-4F8A-B25E-B4E118F3AEC7}"/>
              </a:ext>
            </a:extLst>
          </p:cNvPr>
          <p:cNvPicPr>
            <a:picLocks xmlns:a="http://schemas.openxmlformats.org/drawingml/2006/main" noChangeAspect="1"/>
          </p:cNvPicPr>
          <p:nvPr/>
        </p:nvPicPr>
        <p:blipFill>
          <a:blip xmlns:r="http://schemas.openxmlformats.org/officeDocument/2006/relationships" xmlns:a="http://schemas.openxmlformats.org/drawingml/2006/main" r:embed="R46716d788e33445d"/>
          <a:stretch xmlns:a="http://schemas.openxmlformats.org/drawingml/2006/main"/>
        </p:blipFill>
        <p:spPr>
          <a:xfrm xmlns:a="http://schemas.openxmlformats.org/drawingml/2006/main">
            <a:off x="4979136" y="1409700"/>
            <a:ext cx="3424354" cy="2095500"/>
          </a:xfrm>
          <a:prstGeom xmlns:a="http://schemas.openxmlformats.org/drawingml/2006/main" prst="rect">
            <a:avLst/>
          </a:prstGeom>
        </p:spPr>
      </p:pic>
      <p:sp>
        <p:nvSpPr>
          <p:cNvPr id="7" name="Larger robot and margin">
            <a:extLst xmlns:a="http://schemas.openxmlformats.org/drawingml/2006/main">
              <a:ext uri="{FF2B5EF4-FFF2-40B4-BE49-F238E27FC236}">
                <a16:creationId xmlns:a16="http://schemas.microsoft.com/office/drawing/2014/main" id="{3D913A2E-9C63-413F-90ED-CFC86DFE3E3E}"/>
              </a:ext>
            </a:extLst>
          </p:cNvPr>
          <p:cNvSpPr>
            <a:spLocks xmlns:a="http://schemas.openxmlformats.org/drawingml/2006/main" noGrp="1"/>
          </p:cNvSpPr>
          <p:nvPr/>
        </p:nvSpPr>
        <p:spPr>
          <a:xfrm xmlns:a="http://schemas.openxmlformats.org/drawingml/2006/main">
            <a:off x="4762500" y="3533775"/>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vl1pPr>
              <a:defRPr sz="1500" b="1">
                <a:solidFill>
                  <a:srgbClr val="00539F"/>
                </a:solidFill>
                <a:latin typeface="Arial"/>
                <a:ea typeface="Arial"/>
                <a:cs typeface="Arial"/>
              </a:defRPr>
            </a:lvl1pPr>
            <a:lvl2pPr>
              <a:defRPr sz="1500" b="1">
                <a:solidFill>
                  <a:srgbClr val="00539F"/>
                </a:solidFill>
                <a:latin typeface="Arial"/>
                <a:ea typeface="Arial"/>
                <a:cs typeface="Arial"/>
              </a:defRPr>
            </a:lvl2pPr>
            <a:lvl3pPr>
              <a:defRPr sz="1500" b="1">
                <a:solidFill>
                  <a:srgbClr val="00539F"/>
                </a:solidFill>
                <a:latin typeface="Arial"/>
                <a:ea typeface="Arial"/>
                <a:cs typeface="Arial"/>
              </a:defRPr>
            </a:lvl3pPr>
            <a:lvl4pPr>
              <a:defRPr sz="1500" b="1">
                <a:solidFill>
                  <a:srgbClr val="00539F"/>
                </a:solidFill>
                <a:latin typeface="Arial"/>
                <a:ea typeface="Arial"/>
                <a:cs typeface="Arial"/>
              </a:defRPr>
            </a:lvl4pPr>
            <a:lvl5pPr>
              <a:defRPr sz="1500" b="1">
                <a:solidFill>
                  <a:srgbClr val="00539F"/>
                </a:solidFill>
                <a:latin typeface="Arial"/>
                <a:ea typeface="Arial"/>
                <a:cs typeface="Arial"/>
              </a:defRPr>
            </a:lvl5pPr>
            <a:lvl6pPr>
              <a:defRPr sz="1500" b="1">
                <a:solidFill>
                  <a:srgbClr val="00539F"/>
                </a:solidFill>
                <a:latin typeface="Arial"/>
                <a:ea typeface="Arial"/>
                <a:cs typeface="Arial"/>
              </a:defRPr>
            </a:lvl6pPr>
            <a:lvl7pPr>
              <a:defRPr sz="1500" b="1">
                <a:solidFill>
                  <a:srgbClr val="00539F"/>
                </a:solidFill>
                <a:latin typeface="Arial"/>
                <a:ea typeface="Arial"/>
                <a:cs typeface="Arial"/>
              </a:defRPr>
            </a:lvl7pPr>
            <a:lvl8pPr>
              <a:defRPr sz="1500" b="1">
                <a:solidFill>
                  <a:srgbClr val="00539F"/>
                </a:solidFill>
                <a:latin typeface="Arial"/>
                <a:ea typeface="Arial"/>
                <a:cs typeface="Arial"/>
              </a:defRPr>
            </a:lvl8pPr>
            <a:lvl9pPr>
              <a:defRPr sz="1500" b="1">
                <a:solidFill>
                  <a:srgbClr val="00539F"/>
                </a:solidFill>
                <a:latin typeface="Arial"/>
                <a:ea typeface="Arial"/>
                <a:cs typeface="Arial"/>
              </a:defRPr>
            </a:lvl9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Larger robot and margin</a:t>
            </a:r>
          </a:p>
        </p:txBody>
      </p:sp>
      <p:sp>
        <p:nvSpPr>
          <p:cNvPr id="8" name="A small footprint leaves a center route through the gap.&#10;A large">
            <a:extLst xmlns:a="http://schemas.openxmlformats.org/drawingml/2006/main">
              <a:ext uri="{FF2B5EF4-FFF2-40B4-BE49-F238E27FC236}">
                <a16:creationId xmlns:a16="http://schemas.microsoft.com/office/drawing/2014/main" id="{45C961D2-0F66-4702-A485-84965372E114}"/>
              </a:ext>
            </a:extLst>
          </p:cNvPr>
          <p:cNvSpPr>
            <a:spLocks xmlns:a="http://schemas.openxmlformats.org/drawingml/2006/main" noGrp="1"/>
          </p:cNvSpPr>
          <p:nvPr/>
        </p:nvSpPr>
        <p:spPr>
          <a:xfrm xmlns:a="http://schemas.openxmlformats.org/drawingml/2006/main">
            <a:off x="523875" y="3876675"/>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0">
                <a:solidFill>
                  <a:srgbClr val="17324D"/>
                </a:solidFill>
                <a:latin typeface="Arial"/>
                <a:ea typeface="Arial"/>
                <a:cs typeface="Arial"/>
              </a:defRPr>
            </a:defPPr>
            <a:lvl1pPr>
              <a:defRPr sz="1500" b="0">
                <a:solidFill>
                  <a:srgbClr val="17324D"/>
                </a:solidFill>
                <a:latin typeface="Arial"/>
                <a:ea typeface="Arial"/>
                <a:cs typeface="Arial"/>
              </a:defRPr>
            </a:lvl1pPr>
            <a:lvl2pPr>
              <a:defRPr sz="1500" b="0">
                <a:solidFill>
                  <a:srgbClr val="17324D"/>
                </a:solidFill>
                <a:latin typeface="Arial"/>
                <a:ea typeface="Arial"/>
                <a:cs typeface="Arial"/>
              </a:defRPr>
            </a:lvl2pPr>
            <a:lvl3pPr>
              <a:defRPr sz="1500" b="0">
                <a:solidFill>
                  <a:srgbClr val="17324D"/>
                </a:solidFill>
                <a:latin typeface="Arial"/>
                <a:ea typeface="Arial"/>
                <a:cs typeface="Arial"/>
              </a:defRPr>
            </a:lvl3pPr>
            <a:lvl4pPr>
              <a:defRPr sz="1500" b="0">
                <a:solidFill>
                  <a:srgbClr val="17324D"/>
                </a:solidFill>
                <a:latin typeface="Arial"/>
                <a:ea typeface="Arial"/>
                <a:cs typeface="Arial"/>
              </a:defRPr>
            </a:lvl4pPr>
            <a:lvl5pPr>
              <a:defRPr sz="1500" b="0">
                <a:solidFill>
                  <a:srgbClr val="17324D"/>
                </a:solidFill>
                <a:latin typeface="Arial"/>
                <a:ea typeface="Arial"/>
                <a:cs typeface="Arial"/>
              </a:defRPr>
            </a:lvl5pPr>
            <a:lvl6pPr>
              <a:defRPr sz="1500" b="0">
                <a:solidFill>
                  <a:srgbClr val="17324D"/>
                </a:solidFill>
                <a:latin typeface="Arial"/>
                <a:ea typeface="Arial"/>
                <a:cs typeface="Arial"/>
              </a:defRPr>
            </a:lvl6pPr>
            <a:lvl7pPr>
              <a:defRPr sz="1500" b="0">
                <a:solidFill>
                  <a:srgbClr val="17324D"/>
                </a:solidFill>
                <a:latin typeface="Arial"/>
                <a:ea typeface="Arial"/>
                <a:cs typeface="Arial"/>
              </a:defRPr>
            </a:lvl7pPr>
            <a:lvl8pPr>
              <a:defRPr sz="1500" b="0">
                <a:solidFill>
                  <a:srgbClr val="17324D"/>
                </a:solidFill>
                <a:latin typeface="Arial"/>
                <a:ea typeface="Arial"/>
                <a:cs typeface="Arial"/>
              </a:defRPr>
            </a:lvl8pPr>
            <a:lvl9pPr>
              <a:defRPr sz="1500" b="0">
                <a:solidFill>
                  <a:srgbClr val="17324D"/>
                </a:solidFill>
                <a:latin typeface="Arial"/>
                <a:ea typeface="Arial"/>
                <a:cs typeface="Arial"/>
              </a:defRPr>
            </a:lvl9pPr>
          </a:lstStyle>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A small footprint leaves a center route through the gap.</a:t>
            </a:r>
          </a:p>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A larger footprint and margin remove that route.</a:t>
            </a:r>
          </a:p>
        </p:txBody>
      </p:sp>
      <p:sp>
        <p:nvSpPr>
          <p:cNvPr id="9" name="Dark navy: obstacles · Orange: excluded cells · Blue: center rou">
            <a:extLst xmlns:a="http://schemas.openxmlformats.org/drawingml/2006/main">
              <a:ext uri="{FF2B5EF4-FFF2-40B4-BE49-F238E27FC236}">
                <a16:creationId xmlns:a16="http://schemas.microsoft.com/office/drawing/2014/main" id="{6257DA8C-DBA6-4D36-A446-58BC4AFB9D24}"/>
              </a:ext>
            </a:extLst>
          </p:cNvPr>
          <p:cNvSpPr>
            <a:spLocks xmlns:a="http://schemas.openxmlformats.org/drawingml/2006/main" noGrp="1"/>
          </p:cNvSpPr>
          <p:nvPr/>
        </p:nvSpPr>
        <p:spPr>
          <a:xfrm xmlns:a="http://schemas.openxmlformats.org/drawingml/2006/main">
            <a:off x="523875" y="43148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75" b="0">
                <a:solidFill>
                  <a:srgbClr val="17324D"/>
                </a:solidFill>
                <a:latin typeface="Arial"/>
                <a:ea typeface="Arial"/>
                <a:cs typeface="Arial"/>
              </a:defRPr>
            </a:defPPr>
            <a:lvl1pPr>
              <a:defRPr sz="1275" b="0">
                <a:solidFill>
                  <a:srgbClr val="17324D"/>
                </a:solidFill>
                <a:latin typeface="Arial"/>
                <a:ea typeface="Arial"/>
                <a:cs typeface="Arial"/>
              </a:defRPr>
            </a:lvl1pPr>
            <a:lvl2pPr>
              <a:defRPr sz="1275" b="0">
                <a:solidFill>
                  <a:srgbClr val="17324D"/>
                </a:solidFill>
                <a:latin typeface="Arial"/>
                <a:ea typeface="Arial"/>
                <a:cs typeface="Arial"/>
              </a:defRPr>
            </a:lvl2pPr>
            <a:lvl3pPr>
              <a:defRPr sz="1275" b="0">
                <a:solidFill>
                  <a:srgbClr val="17324D"/>
                </a:solidFill>
                <a:latin typeface="Arial"/>
                <a:ea typeface="Arial"/>
                <a:cs typeface="Arial"/>
              </a:defRPr>
            </a:lvl3pPr>
            <a:lvl4pPr>
              <a:defRPr sz="1275" b="0">
                <a:solidFill>
                  <a:srgbClr val="17324D"/>
                </a:solidFill>
                <a:latin typeface="Arial"/>
                <a:ea typeface="Arial"/>
                <a:cs typeface="Arial"/>
              </a:defRPr>
            </a:lvl4pPr>
            <a:lvl5pPr>
              <a:defRPr sz="1275" b="0">
                <a:solidFill>
                  <a:srgbClr val="17324D"/>
                </a:solidFill>
                <a:latin typeface="Arial"/>
                <a:ea typeface="Arial"/>
                <a:cs typeface="Arial"/>
              </a:defRPr>
            </a:lvl5pPr>
            <a:lvl6pPr>
              <a:defRPr sz="1275" b="0">
                <a:solidFill>
                  <a:srgbClr val="17324D"/>
                </a:solidFill>
                <a:latin typeface="Arial"/>
                <a:ea typeface="Arial"/>
                <a:cs typeface="Arial"/>
              </a:defRPr>
            </a:lvl6pPr>
            <a:lvl7pPr>
              <a:defRPr sz="1275" b="0">
                <a:solidFill>
                  <a:srgbClr val="17324D"/>
                </a:solidFill>
                <a:latin typeface="Arial"/>
                <a:ea typeface="Arial"/>
                <a:cs typeface="Arial"/>
              </a:defRPr>
            </a:lvl7pPr>
            <a:lvl8pPr>
              <a:defRPr sz="1275" b="0">
                <a:solidFill>
                  <a:srgbClr val="17324D"/>
                </a:solidFill>
                <a:latin typeface="Arial"/>
                <a:ea typeface="Arial"/>
                <a:cs typeface="Arial"/>
              </a:defRPr>
            </a:lvl8pPr>
            <a:lvl9pPr>
              <a:defRPr sz="1275" b="0">
                <a:solidFill>
                  <a:srgbClr val="17324D"/>
                </a:solidFill>
                <a:latin typeface="Arial"/>
                <a:ea typeface="Arial"/>
                <a:cs typeface="Arial"/>
              </a:defRPr>
            </a:lvl9pPr>
          </a:lstStyle>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Dark navy: obstacles · Orange: excluded cells · Blue: center route</a:t>
            </a:r>
          </a:p>
        </p:txBody>
      </p:sp>
      <p:sp>
        <p:nvSpPr>
          <p:cNvPr id="10" name="Open interactive experiment">
            <a:extLst xmlns:a="http://schemas.openxmlformats.org/drawingml/2006/main">
              <a:ext uri="{FF2B5EF4-FFF2-40B4-BE49-F238E27FC236}">
                <a16:creationId xmlns:a16="http://schemas.microsoft.com/office/drawing/2014/main" id="{3DF1755C-8DBB-415C-9A32-4068DC601B1A}"/>
              </a:ext>
            </a:extLst>
          </p:cNvPr>
          <p:cNvSpPr>
            <a:spLocks xmlns:a="http://schemas.openxmlformats.org/drawingml/2006/main" noGrp="1"/>
          </p:cNvSpPr>
          <p:nvPr/>
        </p:nvSpPr>
        <p:spPr>
          <a:xfrm xmlns:a="http://schemas.openxmlformats.org/drawingml/2006/main">
            <a:off x="523875" y="469582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48f959e2be7048bd"/>
              </a:rPr>
              <a:t>Open interactive experiment</a:t>
            </a:r>
          </a:p>
        </p:txBody>
      </p:sp>
    </p:spTree>
    <p:extLst>
      <p:ext uri="{BB962C8B-B14F-4D97-AF65-F5344CB8AC3E}">
        <p14:creationId xmlns:p14="http://schemas.microsoft.com/office/powerpoint/2010/main" val="98850924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FB4D72D8-DC67-40B6-932B-EED7496845DA}"/>
              </a:ext>
            </a:extLst>
          </p:cNvPr>
          <p:cNvPicPr>
            <a:picLocks xmlns:a="http://schemas.openxmlformats.org/drawingml/2006/main" noChangeAspect="1"/>
          </p:cNvPicPr>
          <p:nvPr/>
        </p:nvPicPr>
        <p:blipFill>
          <a:blip xmlns:r="http://schemas.openxmlformats.org/officeDocument/2006/relationships" xmlns:a="http://schemas.openxmlformats.org/drawingml/2006/main" r:embed="R6818e4bdee744366"/>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Hard clearance and soft cost">
            <a:extLst xmlns:a="http://schemas.openxmlformats.org/drawingml/2006/main">
              <a:ext uri="{FF2B5EF4-FFF2-40B4-BE49-F238E27FC236}">
                <a16:creationId xmlns:a16="http://schemas.microsoft.com/office/drawing/2014/main" id="{38614CCB-F986-44A2-B60A-1FF5518A339C}"/>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Hard clearance and soft cost</a:t>
            </a:r>
          </a:p>
        </p:txBody>
      </p:sp>
      <p:sp>
        <p:nvSpPr>
          <p:cNvPr id="3" name="26">
            <a:extLst xmlns:a="http://schemas.openxmlformats.org/drawingml/2006/main">
              <a:ext uri="{FF2B5EF4-FFF2-40B4-BE49-F238E27FC236}">
                <a16:creationId xmlns:a16="http://schemas.microsoft.com/office/drawing/2014/main" id="{67E5B466-1F68-4916-B471-2DFE2C861CD9}"/>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26</a:t>
            </a:r>
          </a:p>
        </p:txBody>
      </p:sp>
      <p:graphicFrame>
        <p:nvGraphicFramePr>
          <p:cNvPr id="4" name="">
            <a:extLst xmlns:a="http://schemas.openxmlformats.org/drawingml/2006/main">
              <a:ext uri="{FF2B5EF4-FFF2-40B4-BE49-F238E27FC236}">
                <a16:creationId xmlns:a16="http://schemas.microsoft.com/office/drawing/2014/main" id="{48DAC198-A903-40D3-8AB4-80258A84ADCA}"/>
              </a:ext>
            </a:extLst>
          </p:cNvPr>
          <p:cNvGraphicFramePr/>
          <p:nvPr/>
        </p:nvGraphicFramePr>
        <p:xfrm>
          <a:off xmlns:a="http://schemas.openxmlformats.org/drawingml/2006/main" x="523875" y="1438275"/>
          <a:ext xmlns:a="http://schemas.openxmlformats.org/drawingml/2006/main" cx="8096250" cy="2857500"/>
        </p:xfrm>
        <a:graphic xmlns:a="http://schemas.openxmlformats.org/drawingml/2006/main">
          <a:graphicData uri="http://schemas.openxmlformats.org/drawingml/2006/table">
            <a:tbl>
              <a:tblPr/>
              <a:tblGrid>
                <a:gridCol w="1952625"/>
                <a:gridCol w="3000375"/>
                <a:gridCol w="3143250"/>
              </a:tblGrid>
              <a:tr h="571500">
                <a:tc>
                  <a:txBody>
                    <a:bodyPr lIns="114300" tIns="76200" rIns="114300" bIns="76200">
                      <a:noAutofit/>
                    </a:bodyPr>
                    <a:lstStyle/>
                    <a:p>
                      <a:r>
                        <a:rPr sz="1425" b="1">
                          <a:solidFill>
                            <a:srgbClr val="FFFFFF"/>
                          </a:solidFill>
                          <a:latin typeface="Arial"/>
                          <a:ea typeface="Arial"/>
                          <a:cs typeface="Arial"/>
                        </a:rPr>
                        <a:t>Mechanism</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Effect</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Tuning consequence</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571500">
                <a:tc>
                  <a:txBody>
                    <a:bodyPr lIns="114300" tIns="76200" rIns="114300" bIns="76200">
                      <a:noAutofit/>
                    </a:bodyPr>
                    <a:lstStyle/>
                    <a:p>
                      <a:r>
                        <a:rPr sz="1425" b="0">
                          <a:solidFill>
                            <a:srgbClr val="17324D"/>
                          </a:solidFill>
                          <a:latin typeface="Arial"/>
                          <a:ea typeface="Arial"/>
                          <a:cs typeface="Arial"/>
                        </a:rPr>
                        <a:t>Footprint collision</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Reject overlap with obstacles</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Physical feasibility</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571500">
                <a:tc>
                  <a:txBody>
                    <a:bodyPr lIns="114300" tIns="76200" rIns="114300" bIns="76200">
                      <a:noAutofit/>
                    </a:bodyPr>
                    <a:lstStyle/>
                    <a:p>
                      <a:r>
                        <a:rPr sz="1425" b="0">
                          <a:solidFill>
                            <a:srgbClr val="17324D"/>
                          </a:solidFill>
                          <a:latin typeface="Arial"/>
                          <a:ea typeface="Arial"/>
                          <a:cs typeface="Arial"/>
                        </a:rPr>
                        <a:t>Extra safety margin</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Exclude additional space</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Can close narrow gaps</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571500">
                <a:tc>
                  <a:txBody>
                    <a:bodyPr lIns="114300" tIns="76200" rIns="114300" bIns="76200">
                      <a:noAutofit/>
                    </a:bodyPr>
                    <a:lstStyle/>
                    <a:p>
                      <a:r>
                        <a:rPr sz="1425" b="0">
                          <a:solidFill>
                            <a:srgbClr val="17324D"/>
                          </a:solidFill>
                          <a:latin typeface="Arial"/>
                          <a:ea typeface="Arial"/>
                          <a:cs typeface="Arial"/>
                        </a:rPr>
                        <a:t>Graded obstacle cost</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Prefer farther clearance</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Trades clearance against length</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571500">
                <a:tc>
                  <a:txBody>
                    <a:bodyPr lIns="114300" tIns="76200" rIns="114300" bIns="76200">
                      <a:noAutofit/>
                    </a:bodyPr>
                    <a:lstStyle/>
                    <a:p>
                      <a:r>
                        <a:rPr sz="1425" b="0">
                          <a:solidFill>
                            <a:srgbClr val="17324D"/>
                          </a:solidFill>
                          <a:latin typeface="Arial"/>
                          <a:ea typeface="Arial"/>
                          <a:cs typeface="Arial"/>
                        </a:rPr>
                        <a:t>Excessive repulsion</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Avoid high-cost regions</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Can stall in narrow corridors</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bl>
          </a:graphicData>
        </a:graphic>
      </p:graphicFrame>
    </p:spTree>
    <p:extLst>
      <p:ext uri="{BB962C8B-B14F-4D97-AF65-F5344CB8AC3E}">
        <p14:creationId xmlns:p14="http://schemas.microsoft.com/office/powerpoint/2010/main" val="148714093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F8FF38D-18C6-4AF8-8DCE-308B341A685D}"/>
              </a:ext>
            </a:extLst>
          </p:cNvPr>
          <p:cNvPicPr>
            <a:picLocks xmlns:a="http://schemas.openxmlformats.org/drawingml/2006/main" noChangeAspect="1"/>
          </p:cNvPicPr>
          <p:nvPr/>
        </p:nvPicPr>
        <p:blipFill>
          <a:blip xmlns:r="http://schemas.openxmlformats.org/officeDocument/2006/relationships" xmlns:a="http://schemas.openxmlformats.org/drawingml/2006/main" r:embed="Rd4ec5d043cb94a79"/>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A vehicle cannot follow every point path">
            <a:extLst xmlns:a="http://schemas.openxmlformats.org/drawingml/2006/main">
              <a:ext uri="{FF2B5EF4-FFF2-40B4-BE49-F238E27FC236}">
                <a16:creationId xmlns:a16="http://schemas.microsoft.com/office/drawing/2014/main" id="{A3ED8E71-D672-4B78-98E5-A28F7CA92683}"/>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 vehicle cannot follow every point path</a:t>
            </a:r>
          </a:p>
        </p:txBody>
      </p:sp>
      <p:sp>
        <p:nvSpPr>
          <p:cNvPr id="3" name="27">
            <a:extLst xmlns:a="http://schemas.openxmlformats.org/drawingml/2006/main">
              <a:ext uri="{FF2B5EF4-FFF2-40B4-BE49-F238E27FC236}">
                <a16:creationId xmlns:a16="http://schemas.microsoft.com/office/drawing/2014/main" id="{04EFE0E3-8F0D-4C1D-8F4E-CA5288ED2A6B}"/>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27</a:t>
            </a:r>
          </a:p>
        </p:txBody>
      </p:sp>
      <p:sp>
        <p:nvSpPr>
          <p:cNvPr id="4" name="q = (x, y, θ)">
            <a:extLst xmlns:a="http://schemas.openxmlformats.org/drawingml/2006/main">
              <a:ext uri="{FF2B5EF4-FFF2-40B4-BE49-F238E27FC236}">
                <a16:creationId xmlns:a16="http://schemas.microsoft.com/office/drawing/2014/main" id="{15ACE635-46CC-4ADF-BF71-9225C135285A}"/>
              </a:ext>
            </a:extLst>
          </p:cNvPr>
          <p:cNvSpPr>
            <a:spLocks xmlns:a="http://schemas.openxmlformats.org/drawingml/2006/main" noGrp="1"/>
          </p:cNvSpPr>
          <p:nvPr/>
        </p:nvSpPr>
        <p:spPr>
          <a:xfrm xmlns:a="http://schemas.openxmlformats.org/drawingml/2006/main">
            <a:off x="619125" y="1457325"/>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1">
                <a:solidFill>
                  <a:srgbClr val="00539F"/>
                </a:solidFill>
                <a:latin typeface="Arial"/>
                <a:ea typeface="Arial"/>
                <a:cs typeface="Arial"/>
              </a:defRPr>
            </a:defPPr>
            <a:lvl1pPr>
              <a:defRPr sz="2400" b="1">
                <a:solidFill>
                  <a:srgbClr val="00539F"/>
                </a:solidFill>
                <a:latin typeface="Arial"/>
                <a:ea typeface="Arial"/>
                <a:cs typeface="Arial"/>
              </a:defRPr>
            </a:lvl1pPr>
            <a:lvl2pPr>
              <a:defRPr sz="2400" b="1">
                <a:solidFill>
                  <a:srgbClr val="00539F"/>
                </a:solidFill>
                <a:latin typeface="Arial"/>
                <a:ea typeface="Arial"/>
                <a:cs typeface="Arial"/>
              </a:defRPr>
            </a:lvl2pPr>
            <a:lvl3pPr>
              <a:defRPr sz="2400" b="1">
                <a:solidFill>
                  <a:srgbClr val="00539F"/>
                </a:solidFill>
                <a:latin typeface="Arial"/>
                <a:ea typeface="Arial"/>
                <a:cs typeface="Arial"/>
              </a:defRPr>
            </a:lvl3pPr>
            <a:lvl4pPr>
              <a:defRPr sz="2400" b="1">
                <a:solidFill>
                  <a:srgbClr val="00539F"/>
                </a:solidFill>
                <a:latin typeface="Arial"/>
                <a:ea typeface="Arial"/>
                <a:cs typeface="Arial"/>
              </a:defRPr>
            </a:lvl4pPr>
            <a:lvl5pPr>
              <a:defRPr sz="2400" b="1">
                <a:solidFill>
                  <a:srgbClr val="00539F"/>
                </a:solidFill>
                <a:latin typeface="Arial"/>
                <a:ea typeface="Arial"/>
                <a:cs typeface="Arial"/>
              </a:defRPr>
            </a:lvl5pPr>
            <a:lvl6pPr>
              <a:defRPr sz="2400" b="1">
                <a:solidFill>
                  <a:srgbClr val="00539F"/>
                </a:solidFill>
                <a:latin typeface="Arial"/>
                <a:ea typeface="Arial"/>
                <a:cs typeface="Arial"/>
              </a:defRPr>
            </a:lvl6pPr>
            <a:lvl7pPr>
              <a:defRPr sz="2400" b="1">
                <a:solidFill>
                  <a:srgbClr val="00539F"/>
                </a:solidFill>
                <a:latin typeface="Arial"/>
                <a:ea typeface="Arial"/>
                <a:cs typeface="Arial"/>
              </a:defRPr>
            </a:lvl7pPr>
            <a:lvl8pPr>
              <a:defRPr sz="2400" b="1">
                <a:solidFill>
                  <a:srgbClr val="00539F"/>
                </a:solidFill>
                <a:latin typeface="Arial"/>
                <a:ea typeface="Arial"/>
                <a:cs typeface="Arial"/>
              </a:defRPr>
            </a:lvl8pPr>
            <a:lvl9pPr>
              <a:defRPr sz="2400" b="1">
                <a:solidFill>
                  <a:srgbClr val="00539F"/>
                </a:solidFill>
                <a:latin typeface="Arial"/>
                <a:ea typeface="Arial"/>
                <a:cs typeface="Arial"/>
              </a:defRPr>
            </a:lvl9pPr>
          </a:lstStyle>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q = (x, y, θ)</a:t>
            </a:r>
          </a:p>
        </p:txBody>
      </p:sp>
      <p:sp>
        <p:nvSpPr>
          <p:cNvPr id="5" name="Turning radius ≈ L / tan(δ)">
            <a:extLst xmlns:a="http://schemas.openxmlformats.org/drawingml/2006/main">
              <a:ext uri="{FF2B5EF4-FFF2-40B4-BE49-F238E27FC236}">
                <a16:creationId xmlns:a16="http://schemas.microsoft.com/office/drawing/2014/main" id="{61F680BF-827E-4818-8E1B-C5BC4FD5D106}"/>
              </a:ext>
            </a:extLst>
          </p:cNvPr>
          <p:cNvSpPr>
            <a:spLocks xmlns:a="http://schemas.openxmlformats.org/drawingml/2006/main" noGrp="1"/>
          </p:cNvSpPr>
          <p:nvPr/>
        </p:nvSpPr>
        <p:spPr>
          <a:xfrm xmlns:a="http://schemas.openxmlformats.org/drawingml/2006/main">
            <a:off x="619125" y="2047875"/>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0">
                <a:solidFill>
                  <a:srgbClr val="00539F"/>
                </a:solidFill>
                <a:latin typeface="Arial"/>
                <a:ea typeface="Arial"/>
                <a:cs typeface="Arial"/>
              </a:defRPr>
            </a:defPPr>
            <a:lvl1pPr>
              <a:defRPr sz="2400" b="0">
                <a:solidFill>
                  <a:srgbClr val="00539F"/>
                </a:solidFill>
                <a:latin typeface="Arial"/>
                <a:ea typeface="Arial"/>
                <a:cs typeface="Arial"/>
              </a:defRPr>
            </a:lvl1pPr>
            <a:lvl2pPr>
              <a:defRPr sz="2400" b="0">
                <a:solidFill>
                  <a:srgbClr val="00539F"/>
                </a:solidFill>
                <a:latin typeface="Arial"/>
                <a:ea typeface="Arial"/>
                <a:cs typeface="Arial"/>
              </a:defRPr>
            </a:lvl2pPr>
            <a:lvl3pPr>
              <a:defRPr sz="2400" b="0">
                <a:solidFill>
                  <a:srgbClr val="00539F"/>
                </a:solidFill>
                <a:latin typeface="Arial"/>
                <a:ea typeface="Arial"/>
                <a:cs typeface="Arial"/>
              </a:defRPr>
            </a:lvl3pPr>
            <a:lvl4pPr>
              <a:defRPr sz="2400" b="0">
                <a:solidFill>
                  <a:srgbClr val="00539F"/>
                </a:solidFill>
                <a:latin typeface="Arial"/>
                <a:ea typeface="Arial"/>
                <a:cs typeface="Arial"/>
              </a:defRPr>
            </a:lvl4pPr>
            <a:lvl5pPr>
              <a:defRPr sz="2400" b="0">
                <a:solidFill>
                  <a:srgbClr val="00539F"/>
                </a:solidFill>
                <a:latin typeface="Arial"/>
                <a:ea typeface="Arial"/>
                <a:cs typeface="Arial"/>
              </a:defRPr>
            </a:lvl5pPr>
            <a:lvl6pPr>
              <a:defRPr sz="2400" b="0">
                <a:solidFill>
                  <a:srgbClr val="00539F"/>
                </a:solidFill>
                <a:latin typeface="Arial"/>
                <a:ea typeface="Arial"/>
                <a:cs typeface="Arial"/>
              </a:defRPr>
            </a:lvl6pPr>
            <a:lvl7pPr>
              <a:defRPr sz="2400" b="0">
                <a:solidFill>
                  <a:srgbClr val="00539F"/>
                </a:solidFill>
                <a:latin typeface="Arial"/>
                <a:ea typeface="Arial"/>
                <a:cs typeface="Arial"/>
              </a:defRPr>
            </a:lvl7pPr>
            <a:lvl8pPr>
              <a:defRPr sz="2400" b="0">
                <a:solidFill>
                  <a:srgbClr val="00539F"/>
                </a:solidFill>
                <a:latin typeface="Arial"/>
                <a:ea typeface="Arial"/>
                <a:cs typeface="Arial"/>
              </a:defRPr>
            </a:lvl8pPr>
            <a:lvl9pPr>
              <a:defRPr sz="2400" b="0">
                <a:solidFill>
                  <a:srgbClr val="00539F"/>
                </a:solidFill>
                <a:latin typeface="Arial"/>
                <a:ea typeface="Arial"/>
                <a:cs typeface="Arial"/>
              </a:defRPr>
            </a:lvl9pPr>
          </a:lstStyle>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Turning radius ≈ L / tan(δ)</a:t>
            </a:r>
          </a:p>
        </p:txBody>
      </p:sp>
      <p:sp>
        <p:nvSpPr>
          <p:cNvPr id="6" name="Steering constrains curvature.&#10;&#10;Speed and braking limit what can">
            <a:extLst xmlns:a="http://schemas.openxmlformats.org/drawingml/2006/main">
              <a:ext uri="{FF2B5EF4-FFF2-40B4-BE49-F238E27FC236}">
                <a16:creationId xmlns:a16="http://schemas.microsoft.com/office/drawing/2014/main" id="{C50861B9-F880-4E69-A218-9A08CD1B0BDD}"/>
              </a:ext>
            </a:extLst>
          </p:cNvPr>
          <p:cNvSpPr>
            <a:spLocks xmlns:a="http://schemas.openxmlformats.org/drawingml/2006/main" noGrp="1"/>
          </p:cNvSpPr>
          <p:nvPr/>
        </p:nvSpPr>
        <p:spPr>
          <a:xfrm xmlns:a="http://schemas.openxmlformats.org/drawingml/2006/main">
            <a:off x="619125" y="3476625"/>
            <a:ext cx="790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17324D"/>
                </a:solidFill>
                <a:latin typeface="Arial"/>
                <a:ea typeface="Arial"/>
                <a:cs typeface="Arial"/>
              </a:defRPr>
            </a:defPPr>
            <a:lvl1pPr>
              <a:defRPr sz="1725" b="0">
                <a:solidFill>
                  <a:srgbClr val="17324D"/>
                </a:solidFill>
                <a:latin typeface="Arial"/>
                <a:ea typeface="Arial"/>
                <a:cs typeface="Arial"/>
              </a:defRPr>
            </a:lvl1pPr>
            <a:lvl2pPr>
              <a:defRPr sz="1725" b="0">
                <a:solidFill>
                  <a:srgbClr val="17324D"/>
                </a:solidFill>
                <a:latin typeface="Arial"/>
                <a:ea typeface="Arial"/>
                <a:cs typeface="Arial"/>
              </a:defRPr>
            </a:lvl2pPr>
            <a:lvl3pPr>
              <a:defRPr sz="1725" b="0">
                <a:solidFill>
                  <a:srgbClr val="17324D"/>
                </a:solidFill>
                <a:latin typeface="Arial"/>
                <a:ea typeface="Arial"/>
                <a:cs typeface="Arial"/>
              </a:defRPr>
            </a:lvl3pPr>
            <a:lvl4pPr>
              <a:defRPr sz="1725" b="0">
                <a:solidFill>
                  <a:srgbClr val="17324D"/>
                </a:solidFill>
                <a:latin typeface="Arial"/>
                <a:ea typeface="Arial"/>
                <a:cs typeface="Arial"/>
              </a:defRPr>
            </a:lvl4pPr>
            <a:lvl5pPr>
              <a:defRPr sz="1725" b="0">
                <a:solidFill>
                  <a:srgbClr val="17324D"/>
                </a:solidFill>
                <a:latin typeface="Arial"/>
                <a:ea typeface="Arial"/>
                <a:cs typeface="Arial"/>
              </a:defRPr>
            </a:lvl5pPr>
            <a:lvl6pPr>
              <a:defRPr sz="1725" b="0">
                <a:solidFill>
                  <a:srgbClr val="17324D"/>
                </a:solidFill>
                <a:latin typeface="Arial"/>
                <a:ea typeface="Arial"/>
                <a:cs typeface="Arial"/>
              </a:defRPr>
            </a:lvl6pPr>
            <a:lvl7pPr>
              <a:defRPr sz="1725" b="0">
                <a:solidFill>
                  <a:srgbClr val="17324D"/>
                </a:solidFill>
                <a:latin typeface="Arial"/>
                <a:ea typeface="Arial"/>
                <a:cs typeface="Arial"/>
              </a:defRPr>
            </a:lvl7pPr>
            <a:lvl8pPr>
              <a:defRPr sz="1725" b="0">
                <a:solidFill>
                  <a:srgbClr val="17324D"/>
                </a:solidFill>
                <a:latin typeface="Arial"/>
                <a:ea typeface="Arial"/>
                <a:cs typeface="Arial"/>
              </a:defRPr>
            </a:lvl8pPr>
            <a:lvl9pPr>
              <a:defRPr sz="1725" b="0">
                <a:solidFill>
                  <a:srgbClr val="17324D"/>
                </a:solidFill>
                <a:latin typeface="Arial"/>
                <a:ea typeface="Arial"/>
                <a:cs typeface="Arial"/>
              </a:defRPr>
            </a:lvl9pPr>
          </a:lstStyle>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Steering constrains curvature.</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Speed and braking limit what can happen next.</a:t>
            </a:r>
          </a:p>
        </p:txBody>
      </p:sp>
    </p:spTree>
    <p:extLst>
      <p:ext uri="{BB962C8B-B14F-4D97-AF65-F5344CB8AC3E}">
        <p14:creationId xmlns:p14="http://schemas.microsoft.com/office/powerpoint/2010/main" val="152833803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231B0987-6491-4C0B-ABEF-8A6EA7689862}"/>
              </a:ext>
            </a:extLst>
          </p:cNvPr>
          <p:cNvPicPr>
            <a:picLocks xmlns:a="http://schemas.openxmlformats.org/drawingml/2006/main" noChangeAspect="1"/>
          </p:cNvPicPr>
          <p:nvPr/>
        </p:nvPicPr>
        <p:blipFill>
          <a:blip xmlns:r="http://schemas.openxmlformats.org/officeDocument/2006/relationships" xmlns:a="http://schemas.openxmlformats.org/drawingml/2006/main" r:embed="R9b152b8fc2f744a8"/>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Hybrid A* and state lattices">
            <a:extLst xmlns:a="http://schemas.openxmlformats.org/drawingml/2006/main">
              <a:ext uri="{FF2B5EF4-FFF2-40B4-BE49-F238E27FC236}">
                <a16:creationId xmlns:a16="http://schemas.microsoft.com/office/drawing/2014/main" id="{7A590417-06DE-4500-8701-064480DC8A2A}"/>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Hybrid A* and state lattices</a:t>
            </a:r>
          </a:p>
        </p:txBody>
      </p:sp>
      <p:sp>
        <p:nvSpPr>
          <p:cNvPr id="3" name="28">
            <a:extLst xmlns:a="http://schemas.openxmlformats.org/drawingml/2006/main">
              <a:ext uri="{FF2B5EF4-FFF2-40B4-BE49-F238E27FC236}">
                <a16:creationId xmlns:a16="http://schemas.microsoft.com/office/drawing/2014/main" id="{D5F1A417-6878-49FB-8F37-0691FEA64C44}"/>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28</a:t>
            </a:r>
          </a:p>
        </p:txBody>
      </p:sp>
      <p:graphicFrame>
        <p:nvGraphicFramePr>
          <p:cNvPr id="4" name="">
            <a:extLst xmlns:a="http://schemas.openxmlformats.org/drawingml/2006/main">
              <a:ext uri="{FF2B5EF4-FFF2-40B4-BE49-F238E27FC236}">
                <a16:creationId xmlns:a16="http://schemas.microsoft.com/office/drawing/2014/main" id="{FF03F41B-E039-4442-A4CC-D3F13F8F2863}"/>
              </a:ext>
            </a:extLst>
          </p:cNvPr>
          <p:cNvGraphicFramePr/>
          <p:nvPr/>
        </p:nvGraphicFramePr>
        <p:xfrm>
          <a:off xmlns:a="http://schemas.openxmlformats.org/drawingml/2006/main" x="523875" y="1438275"/>
          <a:ext xmlns:a="http://schemas.openxmlformats.org/drawingml/2006/main" cx="8096250" cy="2857500"/>
        </p:xfrm>
        <a:graphic xmlns:a="http://schemas.openxmlformats.org/drawingml/2006/main">
          <a:graphicData uri="http://schemas.openxmlformats.org/drawingml/2006/table">
            <a:tbl>
              <a:tblPr/>
              <a:tblGrid>
                <a:gridCol w="1952625"/>
                <a:gridCol w="3000375"/>
                <a:gridCol w="3143250"/>
              </a:tblGrid>
              <a:tr h="571500">
                <a:tc>
                  <a:txBody>
                    <a:bodyPr lIns="114300" tIns="76200" rIns="114300" bIns="76200">
                      <a:noAutofit/>
                    </a:bodyPr>
                    <a:lstStyle/>
                    <a:p>
                      <a:r>
                        <a:rPr sz="1425" b="1">
                          <a:solidFill>
                            <a:srgbClr val="FFFFFF"/>
                          </a:solidFill>
                          <a:latin typeface="Arial"/>
                          <a:ea typeface="Arial"/>
                          <a:cs typeface="Arial"/>
                        </a:rPr>
                        <a:t>Method</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State / transitions</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Why use it</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571500">
                <a:tc>
                  <a:txBody>
                    <a:bodyPr lIns="114300" tIns="76200" rIns="114300" bIns="76200">
                      <a:noAutofit/>
                    </a:bodyPr>
                    <a:lstStyle/>
                    <a:p>
                      <a:r>
                        <a:rPr sz="1425" b="0">
                          <a:solidFill>
                            <a:srgbClr val="17324D"/>
                          </a:solidFill>
                          <a:latin typeface="Arial"/>
                          <a:ea typeface="Arial"/>
                          <a:cs typeface="Arial"/>
                        </a:rPr>
                        <a:t>Grid A*</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Position and grid steps</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Simple holonomic planning</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571500">
                <a:tc>
                  <a:txBody>
                    <a:bodyPr lIns="114300" tIns="76200" rIns="114300" bIns="76200">
                      <a:noAutofit/>
                    </a:bodyPr>
                    <a:lstStyle/>
                    <a:p>
                      <a:r>
                        <a:rPr sz="1425" b="0">
                          <a:solidFill>
                            <a:srgbClr val="17324D"/>
                          </a:solidFill>
                          <a:latin typeface="Arial"/>
                          <a:ea typeface="Arial"/>
                          <a:cs typeface="Arial"/>
                        </a:rPr>
                        <a:t>Hybrid A*</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Pose with curved motions</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Respect turning constraints</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571500">
                <a:tc>
                  <a:txBody>
                    <a:bodyPr lIns="114300" tIns="76200" rIns="114300" bIns="76200">
                      <a:noAutofit/>
                    </a:bodyPr>
                    <a:lstStyle/>
                    <a:p>
                      <a:r>
                        <a:rPr sz="1425" b="0">
                          <a:solidFill>
                            <a:srgbClr val="17324D"/>
                          </a:solidFill>
                          <a:latin typeface="Arial"/>
                          <a:ea typeface="Arial"/>
                          <a:cs typeface="Arial"/>
                        </a:rPr>
                        <a:t>State lattice</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Pose and motion primitives</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Search executable connections</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571500">
                <a:tc>
                  <a:txBody>
                    <a:bodyPr lIns="114300" tIns="76200" rIns="114300" bIns="76200">
                      <a:noAutofit/>
                    </a:bodyPr>
                    <a:lstStyle/>
                    <a:p>
                      <a:r>
                        <a:rPr sz="1425" b="0">
                          <a:solidFill>
                            <a:srgbClr val="17324D"/>
                          </a:solidFill>
                          <a:latin typeface="Arial"/>
                          <a:ea typeface="Arial"/>
                          <a:cs typeface="Arial"/>
                        </a:rPr>
                        <a:t>Remaining check</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Full footprint and timing</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Steering feasibility alone is insufficient</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bl>
          </a:graphicData>
        </a:graphic>
      </p:graphicFrame>
    </p:spTree>
    <p:extLst>
      <p:ext uri="{BB962C8B-B14F-4D97-AF65-F5344CB8AC3E}">
        <p14:creationId xmlns:p14="http://schemas.microsoft.com/office/powerpoint/2010/main" val="9567233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3031E59-924E-4B9F-BAC8-16A50074F37A}"/>
              </a:ext>
            </a:extLst>
          </p:cNvPr>
          <p:cNvPicPr>
            <a:picLocks xmlns:a="http://schemas.openxmlformats.org/drawingml/2006/main" noChangeAspect="1"/>
          </p:cNvPicPr>
          <p:nvPr/>
        </p:nvPicPr>
        <p:blipFill>
          <a:blip xmlns:r="http://schemas.openxmlformats.org/officeDocument/2006/relationships" xmlns:a="http://schemas.openxmlformats.org/drawingml/2006/main" r:embed="R09df4f62e2d34641"/>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Attraction and repulsion">
            <a:extLst xmlns:a="http://schemas.openxmlformats.org/drawingml/2006/main">
              <a:ext uri="{FF2B5EF4-FFF2-40B4-BE49-F238E27FC236}">
                <a16:creationId xmlns:a16="http://schemas.microsoft.com/office/drawing/2014/main" id="{10948CDF-E865-4E54-A332-9022B0631C27}"/>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Attraction and repulsion</a:t>
            </a:r>
          </a:p>
        </p:txBody>
      </p:sp>
      <p:sp>
        <p:nvSpPr>
          <p:cNvPr id="3" name="29">
            <a:extLst xmlns:a="http://schemas.openxmlformats.org/drawingml/2006/main">
              <a:ext uri="{FF2B5EF4-FFF2-40B4-BE49-F238E27FC236}">
                <a16:creationId xmlns:a16="http://schemas.microsoft.com/office/drawing/2014/main" id="{C7480411-6473-481B-8C3B-3A4F3BB39B38}"/>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29</a:t>
            </a:r>
          </a:p>
        </p:txBody>
      </p:sp>
      <p:pic>
        <p:nvPicPr>
          <p:cNvPr id="4" name="">
            <a:extLst xmlns:a="http://schemas.openxmlformats.org/drawingml/2006/main">
              <a:ext uri="{FF2B5EF4-FFF2-40B4-BE49-F238E27FC236}">
                <a16:creationId xmlns:a16="http://schemas.microsoft.com/office/drawing/2014/main" id="{3D791985-6CEC-469E-9D57-559C6621A4C9}"/>
              </a:ext>
            </a:extLst>
          </p:cNvPr>
          <p:cNvPicPr>
            <a:picLocks xmlns:a="http://schemas.openxmlformats.org/drawingml/2006/main" noChangeAspect="1"/>
          </p:cNvPicPr>
          <p:nvPr/>
        </p:nvPicPr>
        <p:blipFill>
          <a:blip xmlns:r="http://schemas.openxmlformats.org/officeDocument/2006/relationships" xmlns:a="http://schemas.openxmlformats.org/drawingml/2006/main" r:embed="R25abf6d5f5014aa9"/>
          <a:stretch xmlns:a="http://schemas.openxmlformats.org/drawingml/2006/main"/>
        </p:blipFill>
        <p:spPr>
          <a:xfrm xmlns:a="http://schemas.openxmlformats.org/drawingml/2006/main">
            <a:off x="959353" y="1400175"/>
            <a:ext cx="4358268" cy="2667000"/>
          </a:xfrm>
          <a:prstGeom xmlns:a="http://schemas.openxmlformats.org/drawingml/2006/main" prst="rect">
            <a:avLst/>
          </a:prstGeom>
        </p:spPr>
      </p:pic>
      <p:sp>
        <p:nvSpPr>
          <p:cNvPr id="5" name="The goal supplies an attractive potential.&#10;&#10;Nearby obstacles sup">
            <a:extLst xmlns:a="http://schemas.openxmlformats.org/drawingml/2006/main">
              <a:ext uri="{FF2B5EF4-FFF2-40B4-BE49-F238E27FC236}">
                <a16:creationId xmlns:a16="http://schemas.microsoft.com/office/drawing/2014/main" id="{49A57A41-E8AA-4141-A91A-DF8A08B9079B}"/>
              </a:ext>
            </a:extLst>
          </p:cNvPr>
          <p:cNvSpPr>
            <a:spLocks xmlns:a="http://schemas.openxmlformats.org/drawingml/2006/main" noGrp="1"/>
          </p:cNvSpPr>
          <p:nvPr/>
        </p:nvSpPr>
        <p:spPr>
          <a:xfrm xmlns:a="http://schemas.openxmlformats.org/drawingml/2006/main">
            <a:off x="6029325" y="1428750"/>
            <a:ext cx="2619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vl1pPr>
              <a:defRPr sz="1650" b="0">
                <a:solidFill>
                  <a:srgbClr val="17324D"/>
                </a:solidFill>
                <a:latin typeface="Arial"/>
                <a:ea typeface="Arial"/>
                <a:cs typeface="Arial"/>
              </a:defRPr>
            </a:lvl1pPr>
            <a:lvl2pPr>
              <a:defRPr sz="1650" b="0">
                <a:solidFill>
                  <a:srgbClr val="17324D"/>
                </a:solidFill>
                <a:latin typeface="Arial"/>
                <a:ea typeface="Arial"/>
                <a:cs typeface="Arial"/>
              </a:defRPr>
            </a:lvl2pPr>
            <a:lvl3pPr>
              <a:defRPr sz="1650" b="0">
                <a:solidFill>
                  <a:srgbClr val="17324D"/>
                </a:solidFill>
                <a:latin typeface="Arial"/>
                <a:ea typeface="Arial"/>
                <a:cs typeface="Arial"/>
              </a:defRPr>
            </a:lvl3pPr>
            <a:lvl4pPr>
              <a:defRPr sz="1650" b="0">
                <a:solidFill>
                  <a:srgbClr val="17324D"/>
                </a:solidFill>
                <a:latin typeface="Arial"/>
                <a:ea typeface="Arial"/>
                <a:cs typeface="Arial"/>
              </a:defRPr>
            </a:lvl4pPr>
            <a:lvl5pPr>
              <a:defRPr sz="1650" b="0">
                <a:solidFill>
                  <a:srgbClr val="17324D"/>
                </a:solidFill>
                <a:latin typeface="Arial"/>
                <a:ea typeface="Arial"/>
                <a:cs typeface="Arial"/>
              </a:defRPr>
            </a:lvl5pPr>
            <a:lvl6pPr>
              <a:defRPr sz="1650" b="0">
                <a:solidFill>
                  <a:srgbClr val="17324D"/>
                </a:solidFill>
                <a:latin typeface="Arial"/>
                <a:ea typeface="Arial"/>
                <a:cs typeface="Arial"/>
              </a:defRPr>
            </a:lvl6pPr>
            <a:lvl7pPr>
              <a:defRPr sz="1650" b="0">
                <a:solidFill>
                  <a:srgbClr val="17324D"/>
                </a:solidFill>
                <a:latin typeface="Arial"/>
                <a:ea typeface="Arial"/>
                <a:cs typeface="Arial"/>
              </a:defRPr>
            </a:lvl7pPr>
            <a:lvl8pPr>
              <a:defRPr sz="1650" b="0">
                <a:solidFill>
                  <a:srgbClr val="17324D"/>
                </a:solidFill>
                <a:latin typeface="Arial"/>
                <a:ea typeface="Arial"/>
                <a:cs typeface="Arial"/>
              </a:defRPr>
            </a:lvl8pPr>
            <a:lvl9pPr>
              <a:defRPr sz="1650" b="0">
                <a:solidFill>
                  <a:srgbClr val="17324D"/>
                </a:solidFill>
                <a:latin typeface="Arial"/>
                <a:ea typeface="Arial"/>
                <a:cs typeface="Arial"/>
              </a:defRPr>
            </a:lvl9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The goal supplies an attractive potential.</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Nearby obstacles supply repulsive potentials.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The robot follows the negative gradient of their sum.</a:t>
            </a:r>
          </a:p>
        </p:txBody>
      </p:sp>
      <p:sp>
        <p:nvSpPr>
          <p:cNvPr id="6" name="Blue-gray strokes: net force · Blue: executed trace · Green: rob">
            <a:extLst xmlns:a="http://schemas.openxmlformats.org/drawingml/2006/main">
              <a:ext uri="{FF2B5EF4-FFF2-40B4-BE49-F238E27FC236}">
                <a16:creationId xmlns:a16="http://schemas.microsoft.com/office/drawing/2014/main" id="{07DED611-728C-4041-9237-5ECF9C19A3AD}"/>
              </a:ext>
            </a:extLst>
          </p:cNvPr>
          <p:cNvSpPr>
            <a:spLocks xmlns:a="http://schemas.openxmlformats.org/drawingml/2006/main" noGrp="1"/>
          </p:cNvSpPr>
          <p:nvPr/>
        </p:nvSpPr>
        <p:spPr>
          <a:xfrm xmlns:a="http://schemas.openxmlformats.org/drawingml/2006/main">
            <a:off x="523875" y="417195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17324D"/>
                </a:solidFill>
                <a:latin typeface="Arial"/>
                <a:ea typeface="Arial"/>
                <a:cs typeface="Arial"/>
              </a:defRPr>
            </a:defPPr>
            <a:lvl1pPr>
              <a:defRPr sz="1350" b="0">
                <a:solidFill>
                  <a:srgbClr val="17324D"/>
                </a:solidFill>
                <a:latin typeface="Arial"/>
                <a:ea typeface="Arial"/>
                <a:cs typeface="Arial"/>
              </a:defRPr>
            </a:lvl1pPr>
            <a:lvl2pPr>
              <a:defRPr sz="1350" b="0">
                <a:solidFill>
                  <a:srgbClr val="17324D"/>
                </a:solidFill>
                <a:latin typeface="Arial"/>
                <a:ea typeface="Arial"/>
                <a:cs typeface="Arial"/>
              </a:defRPr>
            </a:lvl2pPr>
            <a:lvl3pPr>
              <a:defRPr sz="1350" b="0">
                <a:solidFill>
                  <a:srgbClr val="17324D"/>
                </a:solidFill>
                <a:latin typeface="Arial"/>
                <a:ea typeface="Arial"/>
                <a:cs typeface="Arial"/>
              </a:defRPr>
            </a:lvl3pPr>
            <a:lvl4pPr>
              <a:defRPr sz="1350" b="0">
                <a:solidFill>
                  <a:srgbClr val="17324D"/>
                </a:solidFill>
                <a:latin typeface="Arial"/>
                <a:ea typeface="Arial"/>
                <a:cs typeface="Arial"/>
              </a:defRPr>
            </a:lvl4pPr>
            <a:lvl5pPr>
              <a:defRPr sz="1350" b="0">
                <a:solidFill>
                  <a:srgbClr val="17324D"/>
                </a:solidFill>
                <a:latin typeface="Arial"/>
                <a:ea typeface="Arial"/>
                <a:cs typeface="Arial"/>
              </a:defRPr>
            </a:lvl5pPr>
            <a:lvl6pPr>
              <a:defRPr sz="1350" b="0">
                <a:solidFill>
                  <a:srgbClr val="17324D"/>
                </a:solidFill>
                <a:latin typeface="Arial"/>
                <a:ea typeface="Arial"/>
                <a:cs typeface="Arial"/>
              </a:defRPr>
            </a:lvl6pPr>
            <a:lvl7pPr>
              <a:defRPr sz="1350" b="0">
                <a:solidFill>
                  <a:srgbClr val="17324D"/>
                </a:solidFill>
                <a:latin typeface="Arial"/>
                <a:ea typeface="Arial"/>
                <a:cs typeface="Arial"/>
              </a:defRPr>
            </a:lvl7pPr>
            <a:lvl8pPr>
              <a:defRPr sz="1350" b="0">
                <a:solidFill>
                  <a:srgbClr val="17324D"/>
                </a:solidFill>
                <a:latin typeface="Arial"/>
                <a:ea typeface="Arial"/>
                <a:cs typeface="Arial"/>
              </a:defRPr>
            </a:lvl8pPr>
            <a:lvl9pPr>
              <a:defRPr sz="1350" b="0">
                <a:solidFill>
                  <a:srgbClr val="17324D"/>
                </a:solidFill>
                <a:latin typeface="Arial"/>
                <a:ea typeface="Arial"/>
                <a:cs typeface="Arial"/>
              </a:defRPr>
            </a:lvl9pPr>
          </a:lstStyle>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Blue-gray strokes: net force · Blue: executed trace · Green: robot</a:t>
            </a:r>
          </a:p>
        </p:txBody>
      </p:sp>
      <p:sp>
        <p:nvSpPr>
          <p:cNvPr id="7" name="Open interactive experiment">
            <a:extLst xmlns:a="http://schemas.openxmlformats.org/drawingml/2006/main">
              <a:ext uri="{FF2B5EF4-FFF2-40B4-BE49-F238E27FC236}">
                <a16:creationId xmlns:a16="http://schemas.microsoft.com/office/drawing/2014/main" id="{0B80A3AE-E4F6-45F6-94B9-8D7C8BBB9A21}"/>
              </a:ext>
            </a:extLst>
          </p:cNvPr>
          <p:cNvSpPr>
            <a:spLocks xmlns:a="http://schemas.openxmlformats.org/drawingml/2006/main" noGrp="1"/>
          </p:cNvSpPr>
          <p:nvPr/>
        </p:nvSpPr>
        <p:spPr>
          <a:xfrm xmlns:a="http://schemas.openxmlformats.org/drawingml/2006/main">
            <a:off x="523875" y="46291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d6c4e922312a4ac6"/>
              </a:rPr>
              <a:t>Open interactive experiment</a:t>
            </a:r>
          </a:p>
        </p:txBody>
      </p:sp>
    </p:spTree>
    <p:extLst>
      <p:ext uri="{BB962C8B-B14F-4D97-AF65-F5344CB8AC3E}">
        <p14:creationId xmlns:p14="http://schemas.microsoft.com/office/powerpoint/2010/main" val="165426290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0144797-7F8D-409C-95CA-C94BACDB94BC}"/>
              </a:ext>
            </a:extLst>
          </p:cNvPr>
          <p:cNvPicPr>
            <a:picLocks xmlns:a="http://schemas.openxmlformats.org/drawingml/2006/main" noChangeAspect="1"/>
          </p:cNvPicPr>
          <p:nvPr/>
        </p:nvPicPr>
        <p:blipFill>
          <a:blip xmlns:r="http://schemas.openxmlformats.org/officeDocument/2006/relationships" xmlns:a="http://schemas.openxmlformats.org/drawingml/2006/main" r:embed="Re860f93de7c045b5"/>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An artificial potential field">
            <a:extLst xmlns:a="http://schemas.openxmlformats.org/drawingml/2006/main">
              <a:ext uri="{FF2B5EF4-FFF2-40B4-BE49-F238E27FC236}">
                <a16:creationId xmlns:a16="http://schemas.microsoft.com/office/drawing/2014/main" id="{B3FEEE6B-D785-4089-8A0A-0E7551F48E43}"/>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An artificial potential field</a:t>
            </a:r>
          </a:p>
        </p:txBody>
      </p:sp>
      <p:sp>
        <p:nvSpPr>
          <p:cNvPr id="3" name="30">
            <a:extLst xmlns:a="http://schemas.openxmlformats.org/drawingml/2006/main">
              <a:ext uri="{FF2B5EF4-FFF2-40B4-BE49-F238E27FC236}">
                <a16:creationId xmlns:a16="http://schemas.microsoft.com/office/drawing/2014/main" id="{0FBA199F-455B-481F-BC92-52907EC4E27E}"/>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30</a:t>
            </a:r>
          </a:p>
        </p:txBody>
      </p:sp>
      <p:sp>
        <p:nvSpPr>
          <p:cNvPr id="4" name="U_att = ½ k ||p − goal||²">
            <a:extLst xmlns:a="http://schemas.openxmlformats.org/drawingml/2006/main">
              <a:ext uri="{FF2B5EF4-FFF2-40B4-BE49-F238E27FC236}">
                <a16:creationId xmlns:a16="http://schemas.microsoft.com/office/drawing/2014/main" id="{8E0D5ABF-52A1-454C-A5B2-5D5148A0F111}"/>
              </a:ext>
            </a:extLst>
          </p:cNvPr>
          <p:cNvSpPr>
            <a:spLocks xmlns:a="http://schemas.openxmlformats.org/drawingml/2006/main" noGrp="1"/>
          </p:cNvSpPr>
          <p:nvPr/>
        </p:nvSpPr>
        <p:spPr>
          <a:xfrm xmlns:a="http://schemas.openxmlformats.org/drawingml/2006/main">
            <a:off x="619125" y="1457325"/>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1">
                <a:solidFill>
                  <a:srgbClr val="00539F"/>
                </a:solidFill>
                <a:latin typeface="Arial"/>
                <a:ea typeface="Arial"/>
                <a:cs typeface="Arial"/>
              </a:defRPr>
            </a:defPPr>
            <a:lvl1pPr>
              <a:defRPr sz="2400" b="1">
                <a:solidFill>
                  <a:srgbClr val="00539F"/>
                </a:solidFill>
                <a:latin typeface="Arial"/>
                <a:ea typeface="Arial"/>
                <a:cs typeface="Arial"/>
              </a:defRPr>
            </a:lvl1pPr>
            <a:lvl2pPr>
              <a:defRPr sz="2400" b="1">
                <a:solidFill>
                  <a:srgbClr val="00539F"/>
                </a:solidFill>
                <a:latin typeface="Arial"/>
                <a:ea typeface="Arial"/>
                <a:cs typeface="Arial"/>
              </a:defRPr>
            </a:lvl2pPr>
            <a:lvl3pPr>
              <a:defRPr sz="2400" b="1">
                <a:solidFill>
                  <a:srgbClr val="00539F"/>
                </a:solidFill>
                <a:latin typeface="Arial"/>
                <a:ea typeface="Arial"/>
                <a:cs typeface="Arial"/>
              </a:defRPr>
            </a:lvl3pPr>
            <a:lvl4pPr>
              <a:defRPr sz="2400" b="1">
                <a:solidFill>
                  <a:srgbClr val="00539F"/>
                </a:solidFill>
                <a:latin typeface="Arial"/>
                <a:ea typeface="Arial"/>
                <a:cs typeface="Arial"/>
              </a:defRPr>
            </a:lvl4pPr>
            <a:lvl5pPr>
              <a:defRPr sz="2400" b="1">
                <a:solidFill>
                  <a:srgbClr val="00539F"/>
                </a:solidFill>
                <a:latin typeface="Arial"/>
                <a:ea typeface="Arial"/>
                <a:cs typeface="Arial"/>
              </a:defRPr>
            </a:lvl5pPr>
            <a:lvl6pPr>
              <a:defRPr sz="2400" b="1">
                <a:solidFill>
                  <a:srgbClr val="00539F"/>
                </a:solidFill>
                <a:latin typeface="Arial"/>
                <a:ea typeface="Arial"/>
                <a:cs typeface="Arial"/>
              </a:defRPr>
            </a:lvl6pPr>
            <a:lvl7pPr>
              <a:defRPr sz="2400" b="1">
                <a:solidFill>
                  <a:srgbClr val="00539F"/>
                </a:solidFill>
                <a:latin typeface="Arial"/>
                <a:ea typeface="Arial"/>
                <a:cs typeface="Arial"/>
              </a:defRPr>
            </a:lvl7pPr>
            <a:lvl8pPr>
              <a:defRPr sz="2400" b="1">
                <a:solidFill>
                  <a:srgbClr val="00539F"/>
                </a:solidFill>
                <a:latin typeface="Arial"/>
                <a:ea typeface="Arial"/>
                <a:cs typeface="Arial"/>
              </a:defRPr>
            </a:lvl8pPr>
            <a:lvl9pPr>
              <a:defRPr sz="2400" b="1">
                <a:solidFill>
                  <a:srgbClr val="00539F"/>
                </a:solidFill>
                <a:latin typeface="Arial"/>
                <a:ea typeface="Arial"/>
                <a:cs typeface="Arial"/>
              </a:defRPr>
            </a:lvl9pPr>
          </a:lstStyle>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U_att = ½ k ||p − goal||²</a:t>
            </a:r>
          </a:p>
        </p:txBody>
      </p:sp>
      <p:sp>
        <p:nvSpPr>
          <p:cNvPr id="5" name="U_rep = ½ η (1/d − 1/d₀)²   for d &lt; d₀">
            <a:extLst xmlns:a="http://schemas.openxmlformats.org/drawingml/2006/main">
              <a:ext uri="{FF2B5EF4-FFF2-40B4-BE49-F238E27FC236}">
                <a16:creationId xmlns:a16="http://schemas.microsoft.com/office/drawing/2014/main" id="{34E270A7-9EE4-4C5E-94E3-02C78CBE165C}"/>
              </a:ext>
            </a:extLst>
          </p:cNvPr>
          <p:cNvSpPr>
            <a:spLocks xmlns:a="http://schemas.openxmlformats.org/drawingml/2006/main" noGrp="1"/>
          </p:cNvSpPr>
          <p:nvPr/>
        </p:nvSpPr>
        <p:spPr>
          <a:xfrm xmlns:a="http://schemas.openxmlformats.org/drawingml/2006/main">
            <a:off x="619125" y="2047875"/>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0">
                <a:solidFill>
                  <a:srgbClr val="00539F"/>
                </a:solidFill>
                <a:latin typeface="Arial"/>
                <a:ea typeface="Arial"/>
                <a:cs typeface="Arial"/>
              </a:defRPr>
            </a:defPPr>
            <a:lvl1pPr>
              <a:defRPr sz="2400" b="0">
                <a:solidFill>
                  <a:srgbClr val="00539F"/>
                </a:solidFill>
                <a:latin typeface="Arial"/>
                <a:ea typeface="Arial"/>
                <a:cs typeface="Arial"/>
              </a:defRPr>
            </a:lvl1pPr>
            <a:lvl2pPr>
              <a:defRPr sz="2400" b="0">
                <a:solidFill>
                  <a:srgbClr val="00539F"/>
                </a:solidFill>
                <a:latin typeface="Arial"/>
                <a:ea typeface="Arial"/>
                <a:cs typeface="Arial"/>
              </a:defRPr>
            </a:lvl2pPr>
            <a:lvl3pPr>
              <a:defRPr sz="2400" b="0">
                <a:solidFill>
                  <a:srgbClr val="00539F"/>
                </a:solidFill>
                <a:latin typeface="Arial"/>
                <a:ea typeface="Arial"/>
                <a:cs typeface="Arial"/>
              </a:defRPr>
            </a:lvl3pPr>
            <a:lvl4pPr>
              <a:defRPr sz="2400" b="0">
                <a:solidFill>
                  <a:srgbClr val="00539F"/>
                </a:solidFill>
                <a:latin typeface="Arial"/>
                <a:ea typeface="Arial"/>
                <a:cs typeface="Arial"/>
              </a:defRPr>
            </a:lvl4pPr>
            <a:lvl5pPr>
              <a:defRPr sz="2400" b="0">
                <a:solidFill>
                  <a:srgbClr val="00539F"/>
                </a:solidFill>
                <a:latin typeface="Arial"/>
                <a:ea typeface="Arial"/>
                <a:cs typeface="Arial"/>
              </a:defRPr>
            </a:lvl5pPr>
            <a:lvl6pPr>
              <a:defRPr sz="2400" b="0">
                <a:solidFill>
                  <a:srgbClr val="00539F"/>
                </a:solidFill>
                <a:latin typeface="Arial"/>
                <a:ea typeface="Arial"/>
                <a:cs typeface="Arial"/>
              </a:defRPr>
            </a:lvl6pPr>
            <a:lvl7pPr>
              <a:defRPr sz="2400" b="0">
                <a:solidFill>
                  <a:srgbClr val="00539F"/>
                </a:solidFill>
                <a:latin typeface="Arial"/>
                <a:ea typeface="Arial"/>
                <a:cs typeface="Arial"/>
              </a:defRPr>
            </a:lvl7pPr>
            <a:lvl8pPr>
              <a:defRPr sz="2400" b="0">
                <a:solidFill>
                  <a:srgbClr val="00539F"/>
                </a:solidFill>
                <a:latin typeface="Arial"/>
                <a:ea typeface="Arial"/>
                <a:cs typeface="Arial"/>
              </a:defRPr>
            </a:lvl8pPr>
            <a:lvl9pPr>
              <a:defRPr sz="2400" b="0">
                <a:solidFill>
                  <a:srgbClr val="00539F"/>
                </a:solidFill>
                <a:latin typeface="Arial"/>
                <a:ea typeface="Arial"/>
                <a:cs typeface="Arial"/>
              </a:defRPr>
            </a:lvl9pPr>
          </a:lstStyle>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U_rep = ½ η (1/d − 1/d₀)²   for d &lt; d₀</a:t>
            </a:r>
          </a:p>
        </p:txBody>
      </p:sp>
      <p:sp>
        <p:nvSpPr>
          <p:cNvPr id="6" name="Motion direction = −∇(U_att + Σ U_rep)">
            <a:extLst xmlns:a="http://schemas.openxmlformats.org/drawingml/2006/main">
              <a:ext uri="{FF2B5EF4-FFF2-40B4-BE49-F238E27FC236}">
                <a16:creationId xmlns:a16="http://schemas.microsoft.com/office/drawing/2014/main" id="{FFCB0E18-33FD-4915-B0DE-1ECA18B6A011}"/>
              </a:ext>
            </a:extLst>
          </p:cNvPr>
          <p:cNvSpPr>
            <a:spLocks xmlns:a="http://schemas.openxmlformats.org/drawingml/2006/main" noGrp="1"/>
          </p:cNvSpPr>
          <p:nvPr/>
        </p:nvSpPr>
        <p:spPr>
          <a:xfrm xmlns:a="http://schemas.openxmlformats.org/drawingml/2006/main">
            <a:off x="619125" y="2638425"/>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0">
                <a:solidFill>
                  <a:srgbClr val="00539F"/>
                </a:solidFill>
                <a:latin typeface="Arial"/>
                <a:ea typeface="Arial"/>
                <a:cs typeface="Arial"/>
              </a:defRPr>
            </a:defPPr>
            <a:lvl1pPr>
              <a:defRPr sz="2400" b="0">
                <a:solidFill>
                  <a:srgbClr val="00539F"/>
                </a:solidFill>
                <a:latin typeface="Arial"/>
                <a:ea typeface="Arial"/>
                <a:cs typeface="Arial"/>
              </a:defRPr>
            </a:lvl1pPr>
            <a:lvl2pPr>
              <a:defRPr sz="2400" b="0">
                <a:solidFill>
                  <a:srgbClr val="00539F"/>
                </a:solidFill>
                <a:latin typeface="Arial"/>
                <a:ea typeface="Arial"/>
                <a:cs typeface="Arial"/>
              </a:defRPr>
            </a:lvl2pPr>
            <a:lvl3pPr>
              <a:defRPr sz="2400" b="0">
                <a:solidFill>
                  <a:srgbClr val="00539F"/>
                </a:solidFill>
                <a:latin typeface="Arial"/>
                <a:ea typeface="Arial"/>
                <a:cs typeface="Arial"/>
              </a:defRPr>
            </a:lvl3pPr>
            <a:lvl4pPr>
              <a:defRPr sz="2400" b="0">
                <a:solidFill>
                  <a:srgbClr val="00539F"/>
                </a:solidFill>
                <a:latin typeface="Arial"/>
                <a:ea typeface="Arial"/>
                <a:cs typeface="Arial"/>
              </a:defRPr>
            </a:lvl4pPr>
            <a:lvl5pPr>
              <a:defRPr sz="2400" b="0">
                <a:solidFill>
                  <a:srgbClr val="00539F"/>
                </a:solidFill>
                <a:latin typeface="Arial"/>
                <a:ea typeface="Arial"/>
                <a:cs typeface="Arial"/>
              </a:defRPr>
            </a:lvl5pPr>
            <a:lvl6pPr>
              <a:defRPr sz="2400" b="0">
                <a:solidFill>
                  <a:srgbClr val="00539F"/>
                </a:solidFill>
                <a:latin typeface="Arial"/>
                <a:ea typeface="Arial"/>
                <a:cs typeface="Arial"/>
              </a:defRPr>
            </a:lvl6pPr>
            <a:lvl7pPr>
              <a:defRPr sz="2400" b="0">
                <a:solidFill>
                  <a:srgbClr val="00539F"/>
                </a:solidFill>
                <a:latin typeface="Arial"/>
                <a:ea typeface="Arial"/>
                <a:cs typeface="Arial"/>
              </a:defRPr>
            </a:lvl7pPr>
            <a:lvl8pPr>
              <a:defRPr sz="2400" b="0">
                <a:solidFill>
                  <a:srgbClr val="00539F"/>
                </a:solidFill>
                <a:latin typeface="Arial"/>
                <a:ea typeface="Arial"/>
                <a:cs typeface="Arial"/>
              </a:defRPr>
            </a:lvl8pPr>
            <a:lvl9pPr>
              <a:defRPr sz="2400" b="0">
                <a:solidFill>
                  <a:srgbClr val="00539F"/>
                </a:solidFill>
                <a:latin typeface="Arial"/>
                <a:ea typeface="Arial"/>
                <a:cs typeface="Arial"/>
              </a:defRPr>
            </a:lvl9pPr>
          </a:lstStyle>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Motion direction = −∇(U_att + Σ U_rep)</a:t>
            </a:r>
          </a:p>
        </p:txBody>
      </p:sp>
      <p:sp>
        <p:nvSpPr>
          <p:cNvPr id="7" name="Attraction grows with distance from the goal.&#10;&#10;Repulsion grows r">
            <a:extLst xmlns:a="http://schemas.openxmlformats.org/drawingml/2006/main">
              <a:ext uri="{FF2B5EF4-FFF2-40B4-BE49-F238E27FC236}">
                <a16:creationId xmlns:a16="http://schemas.microsoft.com/office/drawing/2014/main" id="{4423BFD6-09F4-498C-9D98-43343E646E6B}"/>
              </a:ext>
            </a:extLst>
          </p:cNvPr>
          <p:cNvSpPr>
            <a:spLocks xmlns:a="http://schemas.openxmlformats.org/drawingml/2006/main" noGrp="1"/>
          </p:cNvSpPr>
          <p:nvPr/>
        </p:nvSpPr>
        <p:spPr>
          <a:xfrm xmlns:a="http://schemas.openxmlformats.org/drawingml/2006/main">
            <a:off x="619125" y="3476625"/>
            <a:ext cx="790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17324D"/>
                </a:solidFill>
                <a:latin typeface="Arial"/>
                <a:ea typeface="Arial"/>
                <a:cs typeface="Arial"/>
              </a:defRPr>
            </a:defPPr>
            <a:lvl1pPr>
              <a:defRPr sz="1725" b="0">
                <a:solidFill>
                  <a:srgbClr val="17324D"/>
                </a:solidFill>
                <a:latin typeface="Arial"/>
                <a:ea typeface="Arial"/>
                <a:cs typeface="Arial"/>
              </a:defRPr>
            </a:lvl1pPr>
            <a:lvl2pPr>
              <a:defRPr sz="1725" b="0">
                <a:solidFill>
                  <a:srgbClr val="17324D"/>
                </a:solidFill>
                <a:latin typeface="Arial"/>
                <a:ea typeface="Arial"/>
                <a:cs typeface="Arial"/>
              </a:defRPr>
            </a:lvl2pPr>
            <a:lvl3pPr>
              <a:defRPr sz="1725" b="0">
                <a:solidFill>
                  <a:srgbClr val="17324D"/>
                </a:solidFill>
                <a:latin typeface="Arial"/>
                <a:ea typeface="Arial"/>
                <a:cs typeface="Arial"/>
              </a:defRPr>
            </a:lvl3pPr>
            <a:lvl4pPr>
              <a:defRPr sz="1725" b="0">
                <a:solidFill>
                  <a:srgbClr val="17324D"/>
                </a:solidFill>
                <a:latin typeface="Arial"/>
                <a:ea typeface="Arial"/>
                <a:cs typeface="Arial"/>
              </a:defRPr>
            </a:lvl4pPr>
            <a:lvl5pPr>
              <a:defRPr sz="1725" b="0">
                <a:solidFill>
                  <a:srgbClr val="17324D"/>
                </a:solidFill>
                <a:latin typeface="Arial"/>
                <a:ea typeface="Arial"/>
                <a:cs typeface="Arial"/>
              </a:defRPr>
            </a:lvl5pPr>
            <a:lvl6pPr>
              <a:defRPr sz="1725" b="0">
                <a:solidFill>
                  <a:srgbClr val="17324D"/>
                </a:solidFill>
                <a:latin typeface="Arial"/>
                <a:ea typeface="Arial"/>
                <a:cs typeface="Arial"/>
              </a:defRPr>
            </a:lvl6pPr>
            <a:lvl7pPr>
              <a:defRPr sz="1725" b="0">
                <a:solidFill>
                  <a:srgbClr val="17324D"/>
                </a:solidFill>
                <a:latin typeface="Arial"/>
                <a:ea typeface="Arial"/>
                <a:cs typeface="Arial"/>
              </a:defRPr>
            </a:lvl7pPr>
            <a:lvl8pPr>
              <a:defRPr sz="1725" b="0">
                <a:solidFill>
                  <a:srgbClr val="17324D"/>
                </a:solidFill>
                <a:latin typeface="Arial"/>
                <a:ea typeface="Arial"/>
                <a:cs typeface="Arial"/>
              </a:defRPr>
            </a:lvl8pPr>
            <a:lvl9pPr>
              <a:defRPr sz="1725" b="0">
                <a:solidFill>
                  <a:srgbClr val="17324D"/>
                </a:solidFill>
                <a:latin typeface="Arial"/>
                <a:ea typeface="Arial"/>
                <a:cs typeface="Arial"/>
              </a:defRPr>
            </a:lvl9pPr>
          </a:lstStyle>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Attraction grows with distance from the goal.</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Repulsion grows rapidly near an obstacle.</a:t>
            </a:r>
          </a:p>
        </p:txBody>
      </p:sp>
    </p:spTree>
    <p:extLst>
      <p:ext uri="{BB962C8B-B14F-4D97-AF65-F5344CB8AC3E}">
        <p14:creationId xmlns:p14="http://schemas.microsoft.com/office/powerpoint/2010/main" val="23074478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F2C1B10-E7D4-4844-A249-9ED04318544B}"/>
              </a:ext>
            </a:extLst>
          </p:cNvPr>
          <p:cNvPicPr>
            <a:picLocks xmlns:a="http://schemas.openxmlformats.org/drawingml/2006/main" noChangeAspect="1"/>
          </p:cNvPicPr>
          <p:nvPr/>
        </p:nvPicPr>
        <p:blipFill>
          <a:blip xmlns:r="http://schemas.openxmlformats.org/officeDocument/2006/relationships" xmlns:a="http://schemas.openxmlformats.org/drawingml/2006/main" r:embed="R47f073ff98ce42e1"/>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The U-shaped potential-field trap">
            <a:extLst xmlns:a="http://schemas.openxmlformats.org/drawingml/2006/main">
              <a:ext uri="{FF2B5EF4-FFF2-40B4-BE49-F238E27FC236}">
                <a16:creationId xmlns:a16="http://schemas.microsoft.com/office/drawing/2014/main" id="{6B909039-32BF-4753-89F5-D34FE8E982C7}"/>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The U-shaped potential-field trap</a:t>
            </a:r>
          </a:p>
        </p:txBody>
      </p:sp>
      <p:sp>
        <p:nvSpPr>
          <p:cNvPr id="3" name="31">
            <a:extLst xmlns:a="http://schemas.openxmlformats.org/drawingml/2006/main">
              <a:ext uri="{FF2B5EF4-FFF2-40B4-BE49-F238E27FC236}">
                <a16:creationId xmlns:a16="http://schemas.microsoft.com/office/drawing/2014/main" id="{C09DB9D1-A8CC-478B-ADBD-453680D80149}"/>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31</a:t>
            </a:r>
          </a:p>
        </p:txBody>
      </p:sp>
      <p:pic>
        <p:nvPicPr>
          <p:cNvPr id="4" name="">
            <a:extLst xmlns:a="http://schemas.openxmlformats.org/drawingml/2006/main">
              <a:ext uri="{FF2B5EF4-FFF2-40B4-BE49-F238E27FC236}">
                <a16:creationId xmlns:a16="http://schemas.microsoft.com/office/drawing/2014/main" id="{D4E4F51A-69AD-4571-9E29-076C0BD04889}"/>
              </a:ext>
            </a:extLst>
          </p:cNvPr>
          <p:cNvPicPr>
            <a:picLocks xmlns:a="http://schemas.openxmlformats.org/drawingml/2006/main" noChangeAspect="1"/>
          </p:cNvPicPr>
          <p:nvPr/>
        </p:nvPicPr>
        <p:blipFill>
          <a:blip xmlns:r="http://schemas.openxmlformats.org/officeDocument/2006/relationships" xmlns:a="http://schemas.openxmlformats.org/drawingml/2006/main" r:embed="Rdd9ee9d9b7dd42d7"/>
          <a:stretch xmlns:a="http://schemas.openxmlformats.org/drawingml/2006/main"/>
        </p:blipFill>
        <p:spPr>
          <a:xfrm xmlns:a="http://schemas.openxmlformats.org/drawingml/2006/main">
            <a:off x="959353" y="1400175"/>
            <a:ext cx="4358268" cy="2667000"/>
          </a:xfrm>
          <a:prstGeom xmlns:a="http://schemas.openxmlformats.org/drawingml/2006/main" prst="rect">
            <a:avLst/>
          </a:prstGeom>
        </p:spPr>
      </p:pic>
      <p:sp>
        <p:nvSpPr>
          <p:cNvPr id="5" name="Attraction points toward a goal beyond the wall.&#10;&#10;Repulsion bala">
            <a:extLst xmlns:a="http://schemas.openxmlformats.org/drawingml/2006/main">
              <a:ext uri="{FF2B5EF4-FFF2-40B4-BE49-F238E27FC236}">
                <a16:creationId xmlns:a16="http://schemas.microsoft.com/office/drawing/2014/main" id="{A20364D8-0785-4DB2-BC7A-76360318939A}"/>
              </a:ext>
            </a:extLst>
          </p:cNvPr>
          <p:cNvSpPr>
            <a:spLocks xmlns:a="http://schemas.openxmlformats.org/drawingml/2006/main" noGrp="1"/>
          </p:cNvSpPr>
          <p:nvPr/>
        </p:nvSpPr>
        <p:spPr>
          <a:xfrm xmlns:a="http://schemas.openxmlformats.org/drawingml/2006/main">
            <a:off x="6029325" y="1428750"/>
            <a:ext cx="2619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vl1pPr>
              <a:defRPr sz="1650" b="0">
                <a:solidFill>
                  <a:srgbClr val="17324D"/>
                </a:solidFill>
                <a:latin typeface="Arial"/>
                <a:ea typeface="Arial"/>
                <a:cs typeface="Arial"/>
              </a:defRPr>
            </a:lvl1pPr>
            <a:lvl2pPr>
              <a:defRPr sz="1650" b="0">
                <a:solidFill>
                  <a:srgbClr val="17324D"/>
                </a:solidFill>
                <a:latin typeface="Arial"/>
                <a:ea typeface="Arial"/>
                <a:cs typeface="Arial"/>
              </a:defRPr>
            </a:lvl2pPr>
            <a:lvl3pPr>
              <a:defRPr sz="1650" b="0">
                <a:solidFill>
                  <a:srgbClr val="17324D"/>
                </a:solidFill>
                <a:latin typeface="Arial"/>
                <a:ea typeface="Arial"/>
                <a:cs typeface="Arial"/>
              </a:defRPr>
            </a:lvl3pPr>
            <a:lvl4pPr>
              <a:defRPr sz="1650" b="0">
                <a:solidFill>
                  <a:srgbClr val="17324D"/>
                </a:solidFill>
                <a:latin typeface="Arial"/>
                <a:ea typeface="Arial"/>
                <a:cs typeface="Arial"/>
              </a:defRPr>
            </a:lvl4pPr>
            <a:lvl5pPr>
              <a:defRPr sz="1650" b="0">
                <a:solidFill>
                  <a:srgbClr val="17324D"/>
                </a:solidFill>
                <a:latin typeface="Arial"/>
                <a:ea typeface="Arial"/>
                <a:cs typeface="Arial"/>
              </a:defRPr>
            </a:lvl5pPr>
            <a:lvl6pPr>
              <a:defRPr sz="1650" b="0">
                <a:solidFill>
                  <a:srgbClr val="17324D"/>
                </a:solidFill>
                <a:latin typeface="Arial"/>
                <a:ea typeface="Arial"/>
                <a:cs typeface="Arial"/>
              </a:defRPr>
            </a:lvl6pPr>
            <a:lvl7pPr>
              <a:defRPr sz="1650" b="0">
                <a:solidFill>
                  <a:srgbClr val="17324D"/>
                </a:solidFill>
                <a:latin typeface="Arial"/>
                <a:ea typeface="Arial"/>
                <a:cs typeface="Arial"/>
              </a:defRPr>
            </a:lvl7pPr>
            <a:lvl8pPr>
              <a:defRPr sz="1650" b="0">
                <a:solidFill>
                  <a:srgbClr val="17324D"/>
                </a:solidFill>
                <a:latin typeface="Arial"/>
                <a:ea typeface="Arial"/>
                <a:cs typeface="Arial"/>
              </a:defRPr>
            </a:lvl8pPr>
            <a:lvl9pPr>
              <a:defRPr sz="1650" b="0">
                <a:solidFill>
                  <a:srgbClr val="17324D"/>
                </a:solidFill>
                <a:latin typeface="Arial"/>
                <a:ea typeface="Arial"/>
                <a:cs typeface="Arial"/>
              </a:defRPr>
            </a:lvl9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Attraction points toward a goal beyond the wall.</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Repulsion balances attraction inside the U.</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The robot stops with the goal still far away.</a:t>
            </a:r>
          </a:p>
        </p:txBody>
      </p:sp>
      <p:sp>
        <p:nvSpPr>
          <p:cNvPr id="6" name="Blue-gray strokes: net force · Blue: executed trace · Purple: go">
            <a:extLst xmlns:a="http://schemas.openxmlformats.org/drawingml/2006/main">
              <a:ext uri="{FF2B5EF4-FFF2-40B4-BE49-F238E27FC236}">
                <a16:creationId xmlns:a16="http://schemas.microsoft.com/office/drawing/2014/main" id="{92308054-33A6-4120-B71E-A9FCCC3BF84E}"/>
              </a:ext>
            </a:extLst>
          </p:cNvPr>
          <p:cNvSpPr>
            <a:spLocks xmlns:a="http://schemas.openxmlformats.org/drawingml/2006/main" noGrp="1"/>
          </p:cNvSpPr>
          <p:nvPr/>
        </p:nvSpPr>
        <p:spPr>
          <a:xfrm xmlns:a="http://schemas.openxmlformats.org/drawingml/2006/main">
            <a:off x="523875" y="417195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17324D"/>
                </a:solidFill>
                <a:latin typeface="Arial"/>
                <a:ea typeface="Arial"/>
                <a:cs typeface="Arial"/>
              </a:defRPr>
            </a:defPPr>
            <a:lvl1pPr>
              <a:defRPr sz="1350" b="0">
                <a:solidFill>
                  <a:srgbClr val="17324D"/>
                </a:solidFill>
                <a:latin typeface="Arial"/>
                <a:ea typeface="Arial"/>
                <a:cs typeface="Arial"/>
              </a:defRPr>
            </a:lvl1pPr>
            <a:lvl2pPr>
              <a:defRPr sz="1350" b="0">
                <a:solidFill>
                  <a:srgbClr val="17324D"/>
                </a:solidFill>
                <a:latin typeface="Arial"/>
                <a:ea typeface="Arial"/>
                <a:cs typeface="Arial"/>
              </a:defRPr>
            </a:lvl2pPr>
            <a:lvl3pPr>
              <a:defRPr sz="1350" b="0">
                <a:solidFill>
                  <a:srgbClr val="17324D"/>
                </a:solidFill>
                <a:latin typeface="Arial"/>
                <a:ea typeface="Arial"/>
                <a:cs typeface="Arial"/>
              </a:defRPr>
            </a:lvl3pPr>
            <a:lvl4pPr>
              <a:defRPr sz="1350" b="0">
                <a:solidFill>
                  <a:srgbClr val="17324D"/>
                </a:solidFill>
                <a:latin typeface="Arial"/>
                <a:ea typeface="Arial"/>
                <a:cs typeface="Arial"/>
              </a:defRPr>
            </a:lvl4pPr>
            <a:lvl5pPr>
              <a:defRPr sz="1350" b="0">
                <a:solidFill>
                  <a:srgbClr val="17324D"/>
                </a:solidFill>
                <a:latin typeface="Arial"/>
                <a:ea typeface="Arial"/>
                <a:cs typeface="Arial"/>
              </a:defRPr>
            </a:lvl5pPr>
            <a:lvl6pPr>
              <a:defRPr sz="1350" b="0">
                <a:solidFill>
                  <a:srgbClr val="17324D"/>
                </a:solidFill>
                <a:latin typeface="Arial"/>
                <a:ea typeface="Arial"/>
                <a:cs typeface="Arial"/>
              </a:defRPr>
            </a:lvl6pPr>
            <a:lvl7pPr>
              <a:defRPr sz="1350" b="0">
                <a:solidFill>
                  <a:srgbClr val="17324D"/>
                </a:solidFill>
                <a:latin typeface="Arial"/>
                <a:ea typeface="Arial"/>
                <a:cs typeface="Arial"/>
              </a:defRPr>
            </a:lvl7pPr>
            <a:lvl8pPr>
              <a:defRPr sz="1350" b="0">
                <a:solidFill>
                  <a:srgbClr val="17324D"/>
                </a:solidFill>
                <a:latin typeface="Arial"/>
                <a:ea typeface="Arial"/>
                <a:cs typeface="Arial"/>
              </a:defRPr>
            </a:lvl8pPr>
            <a:lvl9pPr>
              <a:defRPr sz="1350" b="0">
                <a:solidFill>
                  <a:srgbClr val="17324D"/>
                </a:solidFill>
                <a:latin typeface="Arial"/>
                <a:ea typeface="Arial"/>
                <a:cs typeface="Arial"/>
              </a:defRPr>
            </a:lvl9pPr>
          </a:lstStyle>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Blue-gray strokes: net force · Blue: executed trace · Purple: goal</a:t>
            </a:r>
          </a:p>
        </p:txBody>
      </p:sp>
      <p:sp>
        <p:nvSpPr>
          <p:cNvPr id="7" name="Open interactive experiment">
            <a:extLst xmlns:a="http://schemas.openxmlformats.org/drawingml/2006/main">
              <a:ext uri="{FF2B5EF4-FFF2-40B4-BE49-F238E27FC236}">
                <a16:creationId xmlns:a16="http://schemas.microsoft.com/office/drawing/2014/main" id="{278145DB-AB3F-427B-9DED-89FD602252E9}"/>
              </a:ext>
            </a:extLst>
          </p:cNvPr>
          <p:cNvSpPr>
            <a:spLocks xmlns:a="http://schemas.openxmlformats.org/drawingml/2006/main" noGrp="1"/>
          </p:cNvSpPr>
          <p:nvPr/>
        </p:nvSpPr>
        <p:spPr>
          <a:xfrm xmlns:a="http://schemas.openxmlformats.org/drawingml/2006/main">
            <a:off x="523875" y="46291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b06740f079014d69"/>
              </a:rPr>
              <a:t>Open interactive experiment</a:t>
            </a:r>
          </a:p>
        </p:txBody>
      </p:sp>
    </p:spTree>
    <p:extLst>
      <p:ext uri="{BB962C8B-B14F-4D97-AF65-F5344CB8AC3E}">
        <p14:creationId xmlns:p14="http://schemas.microsoft.com/office/powerpoint/2010/main" val="16156615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87502BC-A7A9-4F07-9D28-77017A87D6B2}"/>
              </a:ext>
            </a:extLst>
          </p:cNvPr>
          <p:cNvPicPr>
            <a:picLocks xmlns:a="http://schemas.openxmlformats.org/drawingml/2006/main" noChangeAspect="1"/>
          </p:cNvPicPr>
          <p:nvPr/>
        </p:nvPicPr>
        <p:blipFill>
          <a:blip xmlns:r="http://schemas.openxmlformats.org/officeDocument/2006/relationships" xmlns:a="http://schemas.openxmlformats.org/drawingml/2006/main" r:embed="R56d5b14fa7194fbb"/>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Responses to potential-field failure">
            <a:extLst xmlns:a="http://schemas.openxmlformats.org/drawingml/2006/main">
              <a:ext uri="{FF2B5EF4-FFF2-40B4-BE49-F238E27FC236}">
                <a16:creationId xmlns:a16="http://schemas.microsoft.com/office/drawing/2014/main" id="{BAE04468-0BB7-4BC0-ADD8-8950658BE264}"/>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Responses to potential-field failure</a:t>
            </a:r>
          </a:p>
        </p:txBody>
      </p:sp>
      <p:sp>
        <p:nvSpPr>
          <p:cNvPr id="3" name="32">
            <a:extLst xmlns:a="http://schemas.openxmlformats.org/drawingml/2006/main">
              <a:ext uri="{FF2B5EF4-FFF2-40B4-BE49-F238E27FC236}">
                <a16:creationId xmlns:a16="http://schemas.microsoft.com/office/drawing/2014/main" id="{2EE44A8E-02C5-467F-A6B2-30E77A3AAE86}"/>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32</a:t>
            </a:r>
          </a:p>
        </p:txBody>
      </p:sp>
      <p:sp>
        <p:nvSpPr>
          <p:cNvPr id="4" name="A global route can provide waypoints around the U.">
            <a:extLst xmlns:a="http://schemas.openxmlformats.org/drawingml/2006/main">
              <a:ext uri="{FF2B5EF4-FFF2-40B4-BE49-F238E27FC236}">
                <a16:creationId xmlns:a16="http://schemas.microsoft.com/office/drawing/2014/main" id="{40E7D49B-5290-4608-8931-2AABB9B70E3B}"/>
              </a:ext>
            </a:extLst>
          </p:cNvPr>
          <p:cNvSpPr>
            <a:spLocks xmlns:a="http://schemas.openxmlformats.org/drawingml/2006/main" noGrp="1"/>
          </p:cNvSpPr>
          <p:nvPr/>
        </p:nvSpPr>
        <p:spPr>
          <a:xfrm xmlns:a="http://schemas.openxmlformats.org/drawingml/2006/main">
            <a:off x="619125" y="1438275"/>
            <a:ext cx="7905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A global route can provide waypoints around the U.</a:t>
            </a:r>
          </a:p>
        </p:txBody>
      </p:sp>
      <p:sp>
        <p:nvSpPr>
          <p:cNvPr id="5" name="Recovery behaviors can leave a stalled configuration.">
            <a:extLst xmlns:a="http://schemas.openxmlformats.org/drawingml/2006/main">
              <a:ext uri="{FF2B5EF4-FFF2-40B4-BE49-F238E27FC236}">
                <a16:creationId xmlns:a16="http://schemas.microsoft.com/office/drawing/2014/main" id="{BC08BE86-EA30-4AFE-ABCD-C664311BF6E1}"/>
              </a:ext>
            </a:extLst>
          </p:cNvPr>
          <p:cNvSpPr>
            <a:spLocks xmlns:a="http://schemas.openxmlformats.org/drawingml/2006/main" noGrp="1"/>
          </p:cNvSpPr>
          <p:nvPr/>
        </p:nvSpPr>
        <p:spPr>
          <a:xfrm xmlns:a="http://schemas.openxmlformats.org/drawingml/2006/main">
            <a:off x="619125" y="2381250"/>
            <a:ext cx="7905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Recovery behaviors can leave a stalled configuration.</a:t>
            </a:r>
          </a:p>
        </p:txBody>
      </p:sp>
      <p:sp>
        <p:nvSpPr>
          <p:cNvPr id="6" name="A longer-horizon search can evaluate a detour before moving.">
            <a:extLst xmlns:a="http://schemas.openxmlformats.org/drawingml/2006/main">
              <a:ext uri="{FF2B5EF4-FFF2-40B4-BE49-F238E27FC236}">
                <a16:creationId xmlns:a16="http://schemas.microsoft.com/office/drawing/2014/main" id="{6AA79C68-7396-4BB4-91FF-A9BA39FFED70}"/>
              </a:ext>
            </a:extLst>
          </p:cNvPr>
          <p:cNvSpPr>
            <a:spLocks xmlns:a="http://schemas.openxmlformats.org/drawingml/2006/main" noGrp="1"/>
          </p:cNvSpPr>
          <p:nvPr/>
        </p:nvSpPr>
        <p:spPr>
          <a:xfrm xmlns:a="http://schemas.openxmlformats.org/drawingml/2006/main">
            <a:off x="619125" y="3324225"/>
            <a:ext cx="7905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A longer-horizon search can evaluate a detour before moving.</a:t>
            </a:r>
          </a:p>
        </p:txBody>
      </p:sp>
    </p:spTree>
    <p:extLst>
      <p:ext uri="{BB962C8B-B14F-4D97-AF65-F5344CB8AC3E}">
        <p14:creationId xmlns:p14="http://schemas.microsoft.com/office/powerpoint/2010/main" val="186806267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8936BC47-FAB2-47BD-8965-28538E07846F}"/>
              </a:ext>
            </a:extLst>
          </p:cNvPr>
          <p:cNvPicPr>
            <a:picLocks xmlns:a="http://schemas.openxmlformats.org/drawingml/2006/main" noChangeAspect="1"/>
          </p:cNvPicPr>
          <p:nvPr/>
        </p:nvPicPr>
        <p:blipFill>
          <a:blip xmlns:r="http://schemas.openxmlformats.org/officeDocument/2006/relationships" xmlns:a="http://schemas.openxmlformats.org/drawingml/2006/main" r:embed="R2a8c12c46f734855"/>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The global and local navigation loop">
            <a:extLst xmlns:a="http://schemas.openxmlformats.org/drawingml/2006/main">
              <a:ext uri="{FF2B5EF4-FFF2-40B4-BE49-F238E27FC236}">
                <a16:creationId xmlns:a16="http://schemas.microsoft.com/office/drawing/2014/main" id="{1DE3E460-B86E-44CB-B420-E61C92714F2A}"/>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The global and local navigation loop</a:t>
            </a:r>
          </a:p>
        </p:txBody>
      </p:sp>
      <p:sp>
        <p:nvSpPr>
          <p:cNvPr id="3" name="33">
            <a:extLst xmlns:a="http://schemas.openxmlformats.org/drawingml/2006/main">
              <a:ext uri="{FF2B5EF4-FFF2-40B4-BE49-F238E27FC236}">
                <a16:creationId xmlns:a16="http://schemas.microsoft.com/office/drawing/2014/main" id="{C00CCBCA-A2B0-421E-A24D-8D17738EB463}"/>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33</a:t>
            </a:r>
          </a:p>
        </p:txBody>
      </p:sp>
      <p:sp>
        <p:nvSpPr>
          <p:cNvPr id="4" name="1">
            <a:extLst xmlns:a="http://schemas.openxmlformats.org/drawingml/2006/main">
              <a:ext uri="{FF2B5EF4-FFF2-40B4-BE49-F238E27FC236}">
                <a16:creationId xmlns:a16="http://schemas.microsoft.com/office/drawing/2014/main" id="{1C1E46C6-B1E8-4DB3-B5B3-5A97B3F58690}"/>
              </a:ext>
            </a:extLst>
          </p:cNvPr>
          <p:cNvSpPr>
            <a:spLocks xmlns:a="http://schemas.openxmlformats.org/drawingml/2006/main" noGrp="1"/>
          </p:cNvSpPr>
          <p:nvPr/>
        </p:nvSpPr>
        <p:spPr>
          <a:xfrm xmlns:a="http://schemas.openxmlformats.org/drawingml/2006/main">
            <a:off x="523875" y="1438275"/>
            <a:ext cx="333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00539F"/>
                </a:solidFill>
                <a:latin typeface="Arial"/>
                <a:ea typeface="Arial"/>
                <a:cs typeface="Arial"/>
              </a:defRPr>
            </a:defPPr>
            <a:lvl1pPr>
              <a:defRPr sz="2175" b="1">
                <a:solidFill>
                  <a:srgbClr val="00539F"/>
                </a:solidFill>
                <a:latin typeface="Arial"/>
                <a:ea typeface="Arial"/>
                <a:cs typeface="Arial"/>
              </a:defRPr>
            </a:lvl1pPr>
            <a:lvl2pPr>
              <a:defRPr sz="2175" b="1">
                <a:solidFill>
                  <a:srgbClr val="00539F"/>
                </a:solidFill>
                <a:latin typeface="Arial"/>
                <a:ea typeface="Arial"/>
                <a:cs typeface="Arial"/>
              </a:defRPr>
            </a:lvl2pPr>
            <a:lvl3pPr>
              <a:defRPr sz="2175" b="1">
                <a:solidFill>
                  <a:srgbClr val="00539F"/>
                </a:solidFill>
                <a:latin typeface="Arial"/>
                <a:ea typeface="Arial"/>
                <a:cs typeface="Arial"/>
              </a:defRPr>
            </a:lvl3pPr>
            <a:lvl4pPr>
              <a:defRPr sz="2175" b="1">
                <a:solidFill>
                  <a:srgbClr val="00539F"/>
                </a:solidFill>
                <a:latin typeface="Arial"/>
                <a:ea typeface="Arial"/>
                <a:cs typeface="Arial"/>
              </a:defRPr>
            </a:lvl4pPr>
            <a:lvl5pPr>
              <a:defRPr sz="2175" b="1">
                <a:solidFill>
                  <a:srgbClr val="00539F"/>
                </a:solidFill>
                <a:latin typeface="Arial"/>
                <a:ea typeface="Arial"/>
                <a:cs typeface="Arial"/>
              </a:defRPr>
            </a:lvl5pPr>
            <a:lvl6pPr>
              <a:defRPr sz="2175" b="1">
                <a:solidFill>
                  <a:srgbClr val="00539F"/>
                </a:solidFill>
                <a:latin typeface="Arial"/>
                <a:ea typeface="Arial"/>
                <a:cs typeface="Arial"/>
              </a:defRPr>
            </a:lvl6pPr>
            <a:lvl7pPr>
              <a:defRPr sz="2175" b="1">
                <a:solidFill>
                  <a:srgbClr val="00539F"/>
                </a:solidFill>
                <a:latin typeface="Arial"/>
                <a:ea typeface="Arial"/>
                <a:cs typeface="Arial"/>
              </a:defRPr>
            </a:lvl7pPr>
            <a:lvl8pPr>
              <a:defRPr sz="2175" b="1">
                <a:solidFill>
                  <a:srgbClr val="00539F"/>
                </a:solidFill>
                <a:latin typeface="Arial"/>
                <a:ea typeface="Arial"/>
                <a:cs typeface="Arial"/>
              </a:defRPr>
            </a:lvl8pPr>
            <a:lvl9pPr>
              <a:defRPr sz="2175" b="1">
                <a:solidFill>
                  <a:srgbClr val="00539F"/>
                </a:solidFill>
                <a:latin typeface="Arial"/>
                <a:ea typeface="Arial"/>
                <a:cs typeface="Arial"/>
              </a:defRPr>
            </a:lvl9pPr>
          </a:lstStyle>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1</a:t>
            </a:r>
          </a:p>
        </p:txBody>
      </p:sp>
      <p:sp>
        <p:nvSpPr>
          <p:cNvPr id="5" name="The global planner computes a route to the goal.">
            <a:extLst xmlns:a="http://schemas.openxmlformats.org/drawingml/2006/main">
              <a:ext uri="{FF2B5EF4-FFF2-40B4-BE49-F238E27FC236}">
                <a16:creationId xmlns:a16="http://schemas.microsoft.com/office/drawing/2014/main" id="{769A3E39-A1FB-43C5-AF40-AC80D654B5C1}"/>
              </a:ext>
            </a:extLst>
          </p:cNvPr>
          <p:cNvSpPr>
            <a:spLocks xmlns:a="http://schemas.openxmlformats.org/drawingml/2006/main" noGrp="1"/>
          </p:cNvSpPr>
          <p:nvPr/>
        </p:nvSpPr>
        <p:spPr>
          <a:xfrm xmlns:a="http://schemas.openxmlformats.org/drawingml/2006/main">
            <a:off x="1000125" y="1438275"/>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7324D"/>
                </a:solidFill>
                <a:latin typeface="Arial"/>
                <a:ea typeface="Arial"/>
                <a:cs typeface="Arial"/>
              </a:defRPr>
            </a:defPPr>
            <a:lvl1pPr>
              <a:defRPr sz="1800" b="0">
                <a:solidFill>
                  <a:srgbClr val="17324D"/>
                </a:solidFill>
                <a:latin typeface="Arial"/>
                <a:ea typeface="Arial"/>
                <a:cs typeface="Arial"/>
              </a:defRPr>
            </a:lvl1pPr>
            <a:lvl2pPr>
              <a:defRPr sz="1800" b="0">
                <a:solidFill>
                  <a:srgbClr val="17324D"/>
                </a:solidFill>
                <a:latin typeface="Arial"/>
                <a:ea typeface="Arial"/>
                <a:cs typeface="Arial"/>
              </a:defRPr>
            </a:lvl2pPr>
            <a:lvl3pPr>
              <a:defRPr sz="1800" b="0">
                <a:solidFill>
                  <a:srgbClr val="17324D"/>
                </a:solidFill>
                <a:latin typeface="Arial"/>
                <a:ea typeface="Arial"/>
                <a:cs typeface="Arial"/>
              </a:defRPr>
            </a:lvl3pPr>
            <a:lvl4pPr>
              <a:defRPr sz="1800" b="0">
                <a:solidFill>
                  <a:srgbClr val="17324D"/>
                </a:solidFill>
                <a:latin typeface="Arial"/>
                <a:ea typeface="Arial"/>
                <a:cs typeface="Arial"/>
              </a:defRPr>
            </a:lvl4pPr>
            <a:lvl5pPr>
              <a:defRPr sz="1800" b="0">
                <a:solidFill>
                  <a:srgbClr val="17324D"/>
                </a:solidFill>
                <a:latin typeface="Arial"/>
                <a:ea typeface="Arial"/>
                <a:cs typeface="Arial"/>
              </a:defRPr>
            </a:lvl5pPr>
            <a:lvl6pPr>
              <a:defRPr sz="1800" b="0">
                <a:solidFill>
                  <a:srgbClr val="17324D"/>
                </a:solidFill>
                <a:latin typeface="Arial"/>
                <a:ea typeface="Arial"/>
                <a:cs typeface="Arial"/>
              </a:defRPr>
            </a:lvl6pPr>
            <a:lvl7pPr>
              <a:defRPr sz="1800" b="0">
                <a:solidFill>
                  <a:srgbClr val="17324D"/>
                </a:solidFill>
                <a:latin typeface="Arial"/>
                <a:ea typeface="Arial"/>
                <a:cs typeface="Arial"/>
              </a:defRPr>
            </a:lvl7pPr>
            <a:lvl8pPr>
              <a:defRPr sz="1800" b="0">
                <a:solidFill>
                  <a:srgbClr val="17324D"/>
                </a:solidFill>
                <a:latin typeface="Arial"/>
                <a:ea typeface="Arial"/>
                <a:cs typeface="Arial"/>
              </a:defRPr>
            </a:lvl8pPr>
            <a:lvl9pPr>
              <a:defRPr sz="1800" b="0">
                <a:solidFill>
                  <a:srgbClr val="17324D"/>
                </a:solidFill>
                <a:latin typeface="Arial"/>
                <a:ea typeface="Arial"/>
                <a:cs typeface="Arial"/>
              </a:defRPr>
            </a:lvl9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The global planner computes a route to the goal.</a:t>
            </a:r>
          </a:p>
        </p:txBody>
      </p:sp>
      <p:sp>
        <p:nvSpPr>
          <p:cNvPr id="6" name="2">
            <a:extLst xmlns:a="http://schemas.openxmlformats.org/drawingml/2006/main">
              <a:ext uri="{FF2B5EF4-FFF2-40B4-BE49-F238E27FC236}">
                <a16:creationId xmlns:a16="http://schemas.microsoft.com/office/drawing/2014/main" id="{B77B9AC1-E4C5-45B3-85C0-7095A47814D4}"/>
              </a:ext>
            </a:extLst>
          </p:cNvPr>
          <p:cNvSpPr>
            <a:spLocks xmlns:a="http://schemas.openxmlformats.org/drawingml/2006/main" noGrp="1"/>
          </p:cNvSpPr>
          <p:nvPr/>
        </p:nvSpPr>
        <p:spPr>
          <a:xfrm xmlns:a="http://schemas.openxmlformats.org/drawingml/2006/main">
            <a:off x="523875" y="2152650"/>
            <a:ext cx="333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00539F"/>
                </a:solidFill>
                <a:latin typeface="Arial"/>
                <a:ea typeface="Arial"/>
                <a:cs typeface="Arial"/>
              </a:defRPr>
            </a:defPPr>
            <a:lvl1pPr>
              <a:defRPr sz="2175" b="1">
                <a:solidFill>
                  <a:srgbClr val="00539F"/>
                </a:solidFill>
                <a:latin typeface="Arial"/>
                <a:ea typeface="Arial"/>
                <a:cs typeface="Arial"/>
              </a:defRPr>
            </a:lvl1pPr>
            <a:lvl2pPr>
              <a:defRPr sz="2175" b="1">
                <a:solidFill>
                  <a:srgbClr val="00539F"/>
                </a:solidFill>
                <a:latin typeface="Arial"/>
                <a:ea typeface="Arial"/>
                <a:cs typeface="Arial"/>
              </a:defRPr>
            </a:lvl2pPr>
            <a:lvl3pPr>
              <a:defRPr sz="2175" b="1">
                <a:solidFill>
                  <a:srgbClr val="00539F"/>
                </a:solidFill>
                <a:latin typeface="Arial"/>
                <a:ea typeface="Arial"/>
                <a:cs typeface="Arial"/>
              </a:defRPr>
            </a:lvl3pPr>
            <a:lvl4pPr>
              <a:defRPr sz="2175" b="1">
                <a:solidFill>
                  <a:srgbClr val="00539F"/>
                </a:solidFill>
                <a:latin typeface="Arial"/>
                <a:ea typeface="Arial"/>
                <a:cs typeface="Arial"/>
              </a:defRPr>
            </a:lvl4pPr>
            <a:lvl5pPr>
              <a:defRPr sz="2175" b="1">
                <a:solidFill>
                  <a:srgbClr val="00539F"/>
                </a:solidFill>
                <a:latin typeface="Arial"/>
                <a:ea typeface="Arial"/>
                <a:cs typeface="Arial"/>
              </a:defRPr>
            </a:lvl5pPr>
            <a:lvl6pPr>
              <a:defRPr sz="2175" b="1">
                <a:solidFill>
                  <a:srgbClr val="00539F"/>
                </a:solidFill>
                <a:latin typeface="Arial"/>
                <a:ea typeface="Arial"/>
                <a:cs typeface="Arial"/>
              </a:defRPr>
            </a:lvl6pPr>
            <a:lvl7pPr>
              <a:defRPr sz="2175" b="1">
                <a:solidFill>
                  <a:srgbClr val="00539F"/>
                </a:solidFill>
                <a:latin typeface="Arial"/>
                <a:ea typeface="Arial"/>
                <a:cs typeface="Arial"/>
              </a:defRPr>
            </a:lvl7pPr>
            <a:lvl8pPr>
              <a:defRPr sz="2175" b="1">
                <a:solidFill>
                  <a:srgbClr val="00539F"/>
                </a:solidFill>
                <a:latin typeface="Arial"/>
                <a:ea typeface="Arial"/>
                <a:cs typeface="Arial"/>
              </a:defRPr>
            </a:lvl8pPr>
            <a:lvl9pPr>
              <a:defRPr sz="2175" b="1">
                <a:solidFill>
                  <a:srgbClr val="00539F"/>
                </a:solidFill>
                <a:latin typeface="Arial"/>
                <a:ea typeface="Arial"/>
                <a:cs typeface="Arial"/>
              </a:defRPr>
            </a:lvl9pPr>
          </a:lstStyle>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2</a:t>
            </a:r>
          </a:p>
        </p:txBody>
      </p:sp>
      <p:sp>
        <p:nvSpPr>
          <p:cNvPr id="7" name="The local planner predicts candidate motions near the robot.">
            <a:extLst xmlns:a="http://schemas.openxmlformats.org/drawingml/2006/main">
              <a:ext uri="{FF2B5EF4-FFF2-40B4-BE49-F238E27FC236}">
                <a16:creationId xmlns:a16="http://schemas.microsoft.com/office/drawing/2014/main" id="{6EC52121-E507-486C-B34A-173EC8AD67B5}"/>
              </a:ext>
            </a:extLst>
          </p:cNvPr>
          <p:cNvSpPr>
            <a:spLocks xmlns:a="http://schemas.openxmlformats.org/drawingml/2006/main" noGrp="1"/>
          </p:cNvSpPr>
          <p:nvPr/>
        </p:nvSpPr>
        <p:spPr>
          <a:xfrm xmlns:a="http://schemas.openxmlformats.org/drawingml/2006/main">
            <a:off x="1000125" y="2152650"/>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7324D"/>
                </a:solidFill>
                <a:latin typeface="Arial"/>
                <a:ea typeface="Arial"/>
                <a:cs typeface="Arial"/>
              </a:defRPr>
            </a:defPPr>
            <a:lvl1pPr>
              <a:defRPr sz="1800" b="0">
                <a:solidFill>
                  <a:srgbClr val="17324D"/>
                </a:solidFill>
                <a:latin typeface="Arial"/>
                <a:ea typeface="Arial"/>
                <a:cs typeface="Arial"/>
              </a:defRPr>
            </a:lvl1pPr>
            <a:lvl2pPr>
              <a:defRPr sz="1800" b="0">
                <a:solidFill>
                  <a:srgbClr val="17324D"/>
                </a:solidFill>
                <a:latin typeface="Arial"/>
                <a:ea typeface="Arial"/>
                <a:cs typeface="Arial"/>
              </a:defRPr>
            </a:lvl2pPr>
            <a:lvl3pPr>
              <a:defRPr sz="1800" b="0">
                <a:solidFill>
                  <a:srgbClr val="17324D"/>
                </a:solidFill>
                <a:latin typeface="Arial"/>
                <a:ea typeface="Arial"/>
                <a:cs typeface="Arial"/>
              </a:defRPr>
            </a:lvl3pPr>
            <a:lvl4pPr>
              <a:defRPr sz="1800" b="0">
                <a:solidFill>
                  <a:srgbClr val="17324D"/>
                </a:solidFill>
                <a:latin typeface="Arial"/>
                <a:ea typeface="Arial"/>
                <a:cs typeface="Arial"/>
              </a:defRPr>
            </a:lvl4pPr>
            <a:lvl5pPr>
              <a:defRPr sz="1800" b="0">
                <a:solidFill>
                  <a:srgbClr val="17324D"/>
                </a:solidFill>
                <a:latin typeface="Arial"/>
                <a:ea typeface="Arial"/>
                <a:cs typeface="Arial"/>
              </a:defRPr>
            </a:lvl5pPr>
            <a:lvl6pPr>
              <a:defRPr sz="1800" b="0">
                <a:solidFill>
                  <a:srgbClr val="17324D"/>
                </a:solidFill>
                <a:latin typeface="Arial"/>
                <a:ea typeface="Arial"/>
                <a:cs typeface="Arial"/>
              </a:defRPr>
            </a:lvl6pPr>
            <a:lvl7pPr>
              <a:defRPr sz="1800" b="0">
                <a:solidFill>
                  <a:srgbClr val="17324D"/>
                </a:solidFill>
                <a:latin typeface="Arial"/>
                <a:ea typeface="Arial"/>
                <a:cs typeface="Arial"/>
              </a:defRPr>
            </a:lvl7pPr>
            <a:lvl8pPr>
              <a:defRPr sz="1800" b="0">
                <a:solidFill>
                  <a:srgbClr val="17324D"/>
                </a:solidFill>
                <a:latin typeface="Arial"/>
                <a:ea typeface="Arial"/>
                <a:cs typeface="Arial"/>
              </a:defRPr>
            </a:lvl8pPr>
            <a:lvl9pPr>
              <a:defRPr sz="1800" b="0">
                <a:solidFill>
                  <a:srgbClr val="17324D"/>
                </a:solidFill>
                <a:latin typeface="Arial"/>
                <a:ea typeface="Arial"/>
                <a:cs typeface="Arial"/>
              </a:defRPr>
            </a:lvl9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The local planner predicts candidate motions near the robot.</a:t>
            </a:r>
          </a:p>
        </p:txBody>
      </p:sp>
      <p:sp>
        <p:nvSpPr>
          <p:cNvPr id="8" name="3">
            <a:extLst xmlns:a="http://schemas.openxmlformats.org/drawingml/2006/main">
              <a:ext uri="{FF2B5EF4-FFF2-40B4-BE49-F238E27FC236}">
                <a16:creationId xmlns:a16="http://schemas.microsoft.com/office/drawing/2014/main" id="{8E368EC7-38CD-4DC2-9327-E18B9F1B3173}"/>
              </a:ext>
            </a:extLst>
          </p:cNvPr>
          <p:cNvSpPr>
            <a:spLocks xmlns:a="http://schemas.openxmlformats.org/drawingml/2006/main" noGrp="1"/>
          </p:cNvSpPr>
          <p:nvPr/>
        </p:nvSpPr>
        <p:spPr>
          <a:xfrm xmlns:a="http://schemas.openxmlformats.org/drawingml/2006/main">
            <a:off x="523875" y="2867025"/>
            <a:ext cx="333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00539F"/>
                </a:solidFill>
                <a:latin typeface="Arial"/>
                <a:ea typeface="Arial"/>
                <a:cs typeface="Arial"/>
              </a:defRPr>
            </a:defPPr>
            <a:lvl1pPr>
              <a:defRPr sz="2175" b="1">
                <a:solidFill>
                  <a:srgbClr val="00539F"/>
                </a:solidFill>
                <a:latin typeface="Arial"/>
                <a:ea typeface="Arial"/>
                <a:cs typeface="Arial"/>
              </a:defRPr>
            </a:lvl1pPr>
            <a:lvl2pPr>
              <a:defRPr sz="2175" b="1">
                <a:solidFill>
                  <a:srgbClr val="00539F"/>
                </a:solidFill>
                <a:latin typeface="Arial"/>
                <a:ea typeface="Arial"/>
                <a:cs typeface="Arial"/>
              </a:defRPr>
            </a:lvl2pPr>
            <a:lvl3pPr>
              <a:defRPr sz="2175" b="1">
                <a:solidFill>
                  <a:srgbClr val="00539F"/>
                </a:solidFill>
                <a:latin typeface="Arial"/>
                <a:ea typeface="Arial"/>
                <a:cs typeface="Arial"/>
              </a:defRPr>
            </a:lvl3pPr>
            <a:lvl4pPr>
              <a:defRPr sz="2175" b="1">
                <a:solidFill>
                  <a:srgbClr val="00539F"/>
                </a:solidFill>
                <a:latin typeface="Arial"/>
                <a:ea typeface="Arial"/>
                <a:cs typeface="Arial"/>
              </a:defRPr>
            </a:lvl4pPr>
            <a:lvl5pPr>
              <a:defRPr sz="2175" b="1">
                <a:solidFill>
                  <a:srgbClr val="00539F"/>
                </a:solidFill>
                <a:latin typeface="Arial"/>
                <a:ea typeface="Arial"/>
                <a:cs typeface="Arial"/>
              </a:defRPr>
            </a:lvl5pPr>
            <a:lvl6pPr>
              <a:defRPr sz="2175" b="1">
                <a:solidFill>
                  <a:srgbClr val="00539F"/>
                </a:solidFill>
                <a:latin typeface="Arial"/>
                <a:ea typeface="Arial"/>
                <a:cs typeface="Arial"/>
              </a:defRPr>
            </a:lvl6pPr>
            <a:lvl7pPr>
              <a:defRPr sz="2175" b="1">
                <a:solidFill>
                  <a:srgbClr val="00539F"/>
                </a:solidFill>
                <a:latin typeface="Arial"/>
                <a:ea typeface="Arial"/>
                <a:cs typeface="Arial"/>
              </a:defRPr>
            </a:lvl7pPr>
            <a:lvl8pPr>
              <a:defRPr sz="2175" b="1">
                <a:solidFill>
                  <a:srgbClr val="00539F"/>
                </a:solidFill>
                <a:latin typeface="Arial"/>
                <a:ea typeface="Arial"/>
                <a:cs typeface="Arial"/>
              </a:defRPr>
            </a:lvl8pPr>
            <a:lvl9pPr>
              <a:defRPr sz="2175" b="1">
                <a:solidFill>
                  <a:srgbClr val="00539F"/>
                </a:solidFill>
                <a:latin typeface="Arial"/>
                <a:ea typeface="Arial"/>
                <a:cs typeface="Arial"/>
              </a:defRPr>
            </a:lvl9pPr>
          </a:lstStyle>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3</a:t>
            </a:r>
          </a:p>
        </p:txBody>
      </p:sp>
      <p:sp>
        <p:nvSpPr>
          <p:cNvPr id="9" name="A controller executes a short part and receives a new state.">
            <a:extLst xmlns:a="http://schemas.openxmlformats.org/drawingml/2006/main">
              <a:ext uri="{FF2B5EF4-FFF2-40B4-BE49-F238E27FC236}">
                <a16:creationId xmlns:a16="http://schemas.microsoft.com/office/drawing/2014/main" id="{01F18206-2EEA-4C75-8FF7-0A450DB46628}"/>
              </a:ext>
            </a:extLst>
          </p:cNvPr>
          <p:cNvSpPr>
            <a:spLocks xmlns:a="http://schemas.openxmlformats.org/drawingml/2006/main" noGrp="1"/>
          </p:cNvSpPr>
          <p:nvPr/>
        </p:nvSpPr>
        <p:spPr>
          <a:xfrm xmlns:a="http://schemas.openxmlformats.org/drawingml/2006/main">
            <a:off x="1000125" y="2867025"/>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7324D"/>
                </a:solidFill>
                <a:latin typeface="Arial"/>
                <a:ea typeface="Arial"/>
                <a:cs typeface="Arial"/>
              </a:defRPr>
            </a:defPPr>
            <a:lvl1pPr>
              <a:defRPr sz="1800" b="0">
                <a:solidFill>
                  <a:srgbClr val="17324D"/>
                </a:solidFill>
                <a:latin typeface="Arial"/>
                <a:ea typeface="Arial"/>
                <a:cs typeface="Arial"/>
              </a:defRPr>
            </a:lvl1pPr>
            <a:lvl2pPr>
              <a:defRPr sz="1800" b="0">
                <a:solidFill>
                  <a:srgbClr val="17324D"/>
                </a:solidFill>
                <a:latin typeface="Arial"/>
                <a:ea typeface="Arial"/>
                <a:cs typeface="Arial"/>
              </a:defRPr>
            </a:lvl2pPr>
            <a:lvl3pPr>
              <a:defRPr sz="1800" b="0">
                <a:solidFill>
                  <a:srgbClr val="17324D"/>
                </a:solidFill>
                <a:latin typeface="Arial"/>
                <a:ea typeface="Arial"/>
                <a:cs typeface="Arial"/>
              </a:defRPr>
            </a:lvl3pPr>
            <a:lvl4pPr>
              <a:defRPr sz="1800" b="0">
                <a:solidFill>
                  <a:srgbClr val="17324D"/>
                </a:solidFill>
                <a:latin typeface="Arial"/>
                <a:ea typeface="Arial"/>
                <a:cs typeface="Arial"/>
              </a:defRPr>
            </a:lvl4pPr>
            <a:lvl5pPr>
              <a:defRPr sz="1800" b="0">
                <a:solidFill>
                  <a:srgbClr val="17324D"/>
                </a:solidFill>
                <a:latin typeface="Arial"/>
                <a:ea typeface="Arial"/>
                <a:cs typeface="Arial"/>
              </a:defRPr>
            </a:lvl5pPr>
            <a:lvl6pPr>
              <a:defRPr sz="1800" b="0">
                <a:solidFill>
                  <a:srgbClr val="17324D"/>
                </a:solidFill>
                <a:latin typeface="Arial"/>
                <a:ea typeface="Arial"/>
                <a:cs typeface="Arial"/>
              </a:defRPr>
            </a:lvl6pPr>
            <a:lvl7pPr>
              <a:defRPr sz="1800" b="0">
                <a:solidFill>
                  <a:srgbClr val="17324D"/>
                </a:solidFill>
                <a:latin typeface="Arial"/>
                <a:ea typeface="Arial"/>
                <a:cs typeface="Arial"/>
              </a:defRPr>
            </a:lvl7pPr>
            <a:lvl8pPr>
              <a:defRPr sz="1800" b="0">
                <a:solidFill>
                  <a:srgbClr val="17324D"/>
                </a:solidFill>
                <a:latin typeface="Arial"/>
                <a:ea typeface="Arial"/>
                <a:cs typeface="Arial"/>
              </a:defRPr>
            </a:lvl8pPr>
            <a:lvl9pPr>
              <a:defRPr sz="1800" b="0">
                <a:solidFill>
                  <a:srgbClr val="17324D"/>
                </a:solidFill>
                <a:latin typeface="Arial"/>
                <a:ea typeface="Arial"/>
                <a:cs typeface="Arial"/>
              </a:defRPr>
            </a:lvl9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A controller executes a short part and receives a new state.</a:t>
            </a:r>
          </a:p>
        </p:txBody>
      </p:sp>
      <p:sp>
        <p:nvSpPr>
          <p:cNvPr id="10" name="4">
            <a:extLst xmlns:a="http://schemas.openxmlformats.org/drawingml/2006/main">
              <a:ext uri="{FF2B5EF4-FFF2-40B4-BE49-F238E27FC236}">
                <a16:creationId xmlns:a16="http://schemas.microsoft.com/office/drawing/2014/main" id="{04728A6C-30F5-4651-9AB7-C89D6E714D8E}"/>
              </a:ext>
            </a:extLst>
          </p:cNvPr>
          <p:cNvSpPr>
            <a:spLocks xmlns:a="http://schemas.openxmlformats.org/drawingml/2006/main" noGrp="1"/>
          </p:cNvSpPr>
          <p:nvPr/>
        </p:nvSpPr>
        <p:spPr>
          <a:xfrm xmlns:a="http://schemas.openxmlformats.org/drawingml/2006/main">
            <a:off x="523875" y="3581400"/>
            <a:ext cx="333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00539F"/>
                </a:solidFill>
                <a:latin typeface="Arial"/>
                <a:ea typeface="Arial"/>
                <a:cs typeface="Arial"/>
              </a:defRPr>
            </a:defPPr>
            <a:lvl1pPr>
              <a:defRPr sz="2175" b="1">
                <a:solidFill>
                  <a:srgbClr val="00539F"/>
                </a:solidFill>
                <a:latin typeface="Arial"/>
                <a:ea typeface="Arial"/>
                <a:cs typeface="Arial"/>
              </a:defRPr>
            </a:lvl1pPr>
            <a:lvl2pPr>
              <a:defRPr sz="2175" b="1">
                <a:solidFill>
                  <a:srgbClr val="00539F"/>
                </a:solidFill>
                <a:latin typeface="Arial"/>
                <a:ea typeface="Arial"/>
                <a:cs typeface="Arial"/>
              </a:defRPr>
            </a:lvl2pPr>
            <a:lvl3pPr>
              <a:defRPr sz="2175" b="1">
                <a:solidFill>
                  <a:srgbClr val="00539F"/>
                </a:solidFill>
                <a:latin typeface="Arial"/>
                <a:ea typeface="Arial"/>
                <a:cs typeface="Arial"/>
              </a:defRPr>
            </a:lvl3pPr>
            <a:lvl4pPr>
              <a:defRPr sz="2175" b="1">
                <a:solidFill>
                  <a:srgbClr val="00539F"/>
                </a:solidFill>
                <a:latin typeface="Arial"/>
                <a:ea typeface="Arial"/>
                <a:cs typeface="Arial"/>
              </a:defRPr>
            </a:lvl4pPr>
            <a:lvl5pPr>
              <a:defRPr sz="2175" b="1">
                <a:solidFill>
                  <a:srgbClr val="00539F"/>
                </a:solidFill>
                <a:latin typeface="Arial"/>
                <a:ea typeface="Arial"/>
                <a:cs typeface="Arial"/>
              </a:defRPr>
            </a:lvl5pPr>
            <a:lvl6pPr>
              <a:defRPr sz="2175" b="1">
                <a:solidFill>
                  <a:srgbClr val="00539F"/>
                </a:solidFill>
                <a:latin typeface="Arial"/>
                <a:ea typeface="Arial"/>
                <a:cs typeface="Arial"/>
              </a:defRPr>
            </a:lvl6pPr>
            <a:lvl7pPr>
              <a:defRPr sz="2175" b="1">
                <a:solidFill>
                  <a:srgbClr val="00539F"/>
                </a:solidFill>
                <a:latin typeface="Arial"/>
                <a:ea typeface="Arial"/>
                <a:cs typeface="Arial"/>
              </a:defRPr>
            </a:lvl7pPr>
            <a:lvl8pPr>
              <a:defRPr sz="2175" b="1">
                <a:solidFill>
                  <a:srgbClr val="00539F"/>
                </a:solidFill>
                <a:latin typeface="Arial"/>
                <a:ea typeface="Arial"/>
                <a:cs typeface="Arial"/>
              </a:defRPr>
            </a:lvl8pPr>
            <a:lvl9pPr>
              <a:defRPr sz="2175" b="1">
                <a:solidFill>
                  <a:srgbClr val="00539F"/>
                </a:solidFill>
                <a:latin typeface="Arial"/>
                <a:ea typeface="Arial"/>
                <a:cs typeface="Arial"/>
              </a:defRPr>
            </a:lvl9pPr>
          </a:lstStyle>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4</a:t>
            </a:r>
          </a:p>
        </p:txBody>
      </p:sp>
      <p:sp>
        <p:nvSpPr>
          <p:cNvPr id="11" name="A blocked route or missing progress triggers replanning or recov">
            <a:extLst xmlns:a="http://schemas.openxmlformats.org/drawingml/2006/main">
              <a:ext uri="{FF2B5EF4-FFF2-40B4-BE49-F238E27FC236}">
                <a16:creationId xmlns:a16="http://schemas.microsoft.com/office/drawing/2014/main" id="{2217D384-5412-4666-8EB0-1CDC363C5F82}"/>
              </a:ext>
            </a:extLst>
          </p:cNvPr>
          <p:cNvSpPr>
            <a:spLocks xmlns:a="http://schemas.openxmlformats.org/drawingml/2006/main" noGrp="1"/>
          </p:cNvSpPr>
          <p:nvPr/>
        </p:nvSpPr>
        <p:spPr>
          <a:xfrm xmlns:a="http://schemas.openxmlformats.org/drawingml/2006/main">
            <a:off x="1000125" y="3581400"/>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7324D"/>
                </a:solidFill>
                <a:latin typeface="Arial"/>
                <a:ea typeface="Arial"/>
                <a:cs typeface="Arial"/>
              </a:defRPr>
            </a:defPPr>
            <a:lvl1pPr>
              <a:defRPr sz="1800" b="0">
                <a:solidFill>
                  <a:srgbClr val="17324D"/>
                </a:solidFill>
                <a:latin typeface="Arial"/>
                <a:ea typeface="Arial"/>
                <a:cs typeface="Arial"/>
              </a:defRPr>
            </a:lvl1pPr>
            <a:lvl2pPr>
              <a:defRPr sz="1800" b="0">
                <a:solidFill>
                  <a:srgbClr val="17324D"/>
                </a:solidFill>
                <a:latin typeface="Arial"/>
                <a:ea typeface="Arial"/>
                <a:cs typeface="Arial"/>
              </a:defRPr>
            </a:lvl2pPr>
            <a:lvl3pPr>
              <a:defRPr sz="1800" b="0">
                <a:solidFill>
                  <a:srgbClr val="17324D"/>
                </a:solidFill>
                <a:latin typeface="Arial"/>
                <a:ea typeface="Arial"/>
                <a:cs typeface="Arial"/>
              </a:defRPr>
            </a:lvl3pPr>
            <a:lvl4pPr>
              <a:defRPr sz="1800" b="0">
                <a:solidFill>
                  <a:srgbClr val="17324D"/>
                </a:solidFill>
                <a:latin typeface="Arial"/>
                <a:ea typeface="Arial"/>
                <a:cs typeface="Arial"/>
              </a:defRPr>
            </a:lvl4pPr>
            <a:lvl5pPr>
              <a:defRPr sz="1800" b="0">
                <a:solidFill>
                  <a:srgbClr val="17324D"/>
                </a:solidFill>
                <a:latin typeface="Arial"/>
                <a:ea typeface="Arial"/>
                <a:cs typeface="Arial"/>
              </a:defRPr>
            </a:lvl5pPr>
            <a:lvl6pPr>
              <a:defRPr sz="1800" b="0">
                <a:solidFill>
                  <a:srgbClr val="17324D"/>
                </a:solidFill>
                <a:latin typeface="Arial"/>
                <a:ea typeface="Arial"/>
                <a:cs typeface="Arial"/>
              </a:defRPr>
            </a:lvl6pPr>
            <a:lvl7pPr>
              <a:defRPr sz="1800" b="0">
                <a:solidFill>
                  <a:srgbClr val="17324D"/>
                </a:solidFill>
                <a:latin typeface="Arial"/>
                <a:ea typeface="Arial"/>
                <a:cs typeface="Arial"/>
              </a:defRPr>
            </a:lvl7pPr>
            <a:lvl8pPr>
              <a:defRPr sz="1800" b="0">
                <a:solidFill>
                  <a:srgbClr val="17324D"/>
                </a:solidFill>
                <a:latin typeface="Arial"/>
                <a:ea typeface="Arial"/>
                <a:cs typeface="Arial"/>
              </a:defRPr>
            </a:lvl8pPr>
            <a:lvl9pPr>
              <a:defRPr sz="1800" b="0">
                <a:solidFill>
                  <a:srgbClr val="17324D"/>
                </a:solidFill>
                <a:latin typeface="Arial"/>
                <a:ea typeface="Arial"/>
                <a:cs typeface="Arial"/>
              </a:defRPr>
            </a:lvl9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A blocked route or missing progress triggers replanning or recovery.</a:t>
            </a:r>
          </a:p>
        </p:txBody>
      </p:sp>
    </p:spTree>
    <p:extLst>
      <p:ext uri="{BB962C8B-B14F-4D97-AF65-F5344CB8AC3E}">
        <p14:creationId xmlns:p14="http://schemas.microsoft.com/office/powerpoint/2010/main" val="61932838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8E553FC-B6CF-4B45-A7A1-C170496CFD32}"/>
              </a:ext>
            </a:extLst>
          </p:cNvPr>
          <p:cNvPicPr>
            <a:picLocks xmlns:a="http://schemas.openxmlformats.org/drawingml/2006/main" noChangeAspect="1"/>
          </p:cNvPicPr>
          <p:nvPr/>
        </p:nvPicPr>
        <p:blipFill>
          <a:blip xmlns:r="http://schemas.openxmlformats.org/officeDocument/2006/relationships" xmlns:a="http://schemas.openxmlformats.org/drawingml/2006/main" r:embed="R79f641d556264993"/>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Local trajectory sampling">
            <a:extLst xmlns:a="http://schemas.openxmlformats.org/drawingml/2006/main">
              <a:ext uri="{FF2B5EF4-FFF2-40B4-BE49-F238E27FC236}">
                <a16:creationId xmlns:a16="http://schemas.microsoft.com/office/drawing/2014/main" id="{53387317-65FC-45C5-9FAC-5E13387B7979}"/>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Local trajectory sampling</a:t>
            </a:r>
          </a:p>
        </p:txBody>
      </p:sp>
      <p:sp>
        <p:nvSpPr>
          <p:cNvPr id="3" name="34">
            <a:extLst xmlns:a="http://schemas.openxmlformats.org/drawingml/2006/main">
              <a:ext uri="{FF2B5EF4-FFF2-40B4-BE49-F238E27FC236}">
                <a16:creationId xmlns:a16="http://schemas.microsoft.com/office/drawing/2014/main" id="{E2449D6C-B3C1-4B91-95C4-8FFF67D96684}"/>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34</a:t>
            </a:r>
          </a:p>
        </p:txBody>
      </p:sp>
      <p:pic>
        <p:nvPicPr>
          <p:cNvPr id="4" name="">
            <a:extLst xmlns:a="http://schemas.openxmlformats.org/drawingml/2006/main">
              <a:ext uri="{FF2B5EF4-FFF2-40B4-BE49-F238E27FC236}">
                <a16:creationId xmlns:a16="http://schemas.microsoft.com/office/drawing/2014/main" id="{CFE2A480-97CE-4ADA-A911-2BD7E4C55E63}"/>
              </a:ext>
            </a:extLst>
          </p:cNvPr>
          <p:cNvPicPr>
            <a:picLocks xmlns:a="http://schemas.openxmlformats.org/drawingml/2006/main" noChangeAspect="1"/>
          </p:cNvPicPr>
          <p:nvPr/>
        </p:nvPicPr>
        <p:blipFill>
          <a:blip xmlns:r="http://schemas.openxmlformats.org/officeDocument/2006/relationships" xmlns:a="http://schemas.openxmlformats.org/drawingml/2006/main" r:embed="R2757e808794a45ae"/>
          <a:stretch xmlns:a="http://schemas.openxmlformats.org/drawingml/2006/main"/>
        </p:blipFill>
        <p:spPr>
          <a:xfrm xmlns:a="http://schemas.openxmlformats.org/drawingml/2006/main">
            <a:off x="959353" y="1400175"/>
            <a:ext cx="4358268" cy="2667000"/>
          </a:xfrm>
          <a:prstGeom xmlns:a="http://schemas.openxmlformats.org/drawingml/2006/main" prst="rect">
            <a:avLst/>
          </a:prstGeom>
        </p:spPr>
      </p:pic>
      <p:sp>
        <p:nvSpPr>
          <p:cNvPr id="5" name="Each candidate uses a different forward speed and turn rate.&#10;&#10;Sa">
            <a:extLst xmlns:a="http://schemas.openxmlformats.org/drawingml/2006/main">
              <a:ext uri="{FF2B5EF4-FFF2-40B4-BE49-F238E27FC236}">
                <a16:creationId xmlns:a16="http://schemas.microsoft.com/office/drawing/2014/main" id="{E43ED09E-F341-444B-9AC3-24AD9E5282AB}"/>
              </a:ext>
            </a:extLst>
          </p:cNvPr>
          <p:cNvSpPr>
            <a:spLocks xmlns:a="http://schemas.openxmlformats.org/drawingml/2006/main" noGrp="1"/>
          </p:cNvSpPr>
          <p:nvPr/>
        </p:nvSpPr>
        <p:spPr>
          <a:xfrm xmlns:a="http://schemas.openxmlformats.org/drawingml/2006/main">
            <a:off x="6029325" y="1428750"/>
            <a:ext cx="2619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vl1pPr>
              <a:defRPr sz="1650" b="0">
                <a:solidFill>
                  <a:srgbClr val="17324D"/>
                </a:solidFill>
                <a:latin typeface="Arial"/>
                <a:ea typeface="Arial"/>
                <a:cs typeface="Arial"/>
              </a:defRPr>
            </a:lvl1pPr>
            <a:lvl2pPr>
              <a:defRPr sz="1650" b="0">
                <a:solidFill>
                  <a:srgbClr val="17324D"/>
                </a:solidFill>
                <a:latin typeface="Arial"/>
                <a:ea typeface="Arial"/>
                <a:cs typeface="Arial"/>
              </a:defRPr>
            </a:lvl2pPr>
            <a:lvl3pPr>
              <a:defRPr sz="1650" b="0">
                <a:solidFill>
                  <a:srgbClr val="17324D"/>
                </a:solidFill>
                <a:latin typeface="Arial"/>
                <a:ea typeface="Arial"/>
                <a:cs typeface="Arial"/>
              </a:defRPr>
            </a:lvl3pPr>
            <a:lvl4pPr>
              <a:defRPr sz="1650" b="0">
                <a:solidFill>
                  <a:srgbClr val="17324D"/>
                </a:solidFill>
                <a:latin typeface="Arial"/>
                <a:ea typeface="Arial"/>
                <a:cs typeface="Arial"/>
              </a:defRPr>
            </a:lvl4pPr>
            <a:lvl5pPr>
              <a:defRPr sz="1650" b="0">
                <a:solidFill>
                  <a:srgbClr val="17324D"/>
                </a:solidFill>
                <a:latin typeface="Arial"/>
                <a:ea typeface="Arial"/>
                <a:cs typeface="Arial"/>
              </a:defRPr>
            </a:lvl5pPr>
            <a:lvl6pPr>
              <a:defRPr sz="1650" b="0">
                <a:solidFill>
                  <a:srgbClr val="17324D"/>
                </a:solidFill>
                <a:latin typeface="Arial"/>
                <a:ea typeface="Arial"/>
                <a:cs typeface="Arial"/>
              </a:defRPr>
            </a:lvl6pPr>
            <a:lvl7pPr>
              <a:defRPr sz="1650" b="0">
                <a:solidFill>
                  <a:srgbClr val="17324D"/>
                </a:solidFill>
                <a:latin typeface="Arial"/>
                <a:ea typeface="Arial"/>
                <a:cs typeface="Arial"/>
              </a:defRPr>
            </a:lvl7pPr>
            <a:lvl8pPr>
              <a:defRPr sz="1650" b="0">
                <a:solidFill>
                  <a:srgbClr val="17324D"/>
                </a:solidFill>
                <a:latin typeface="Arial"/>
                <a:ea typeface="Arial"/>
                <a:cs typeface="Arial"/>
              </a:defRPr>
            </a:lvl8pPr>
            <a:lvl9pPr>
              <a:defRPr sz="1650" b="0">
                <a:solidFill>
                  <a:srgbClr val="17324D"/>
                </a:solidFill>
                <a:latin typeface="Arial"/>
                <a:ea typeface="Arial"/>
                <a:cs typeface="Arial"/>
              </a:defRPr>
            </a:lvl9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Each candidate uses a different forward speed and turn rate.</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Sampled collision checks reject predicted overlaps.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 score balances progress, path following, and motion.</a:t>
            </a:r>
          </a:p>
        </p:txBody>
      </p:sp>
      <p:sp>
        <p:nvSpPr>
          <p:cNvPr id="6" name="Blue: global route · Cyan / pale red: accepted / rejected predic">
            <a:extLst xmlns:a="http://schemas.openxmlformats.org/drawingml/2006/main">
              <a:ext uri="{FF2B5EF4-FFF2-40B4-BE49-F238E27FC236}">
                <a16:creationId xmlns:a16="http://schemas.microsoft.com/office/drawing/2014/main" id="{6C0C34A3-9C54-4455-A47F-00E27B8DEC70}"/>
              </a:ext>
            </a:extLst>
          </p:cNvPr>
          <p:cNvSpPr>
            <a:spLocks xmlns:a="http://schemas.openxmlformats.org/drawingml/2006/main" noGrp="1"/>
          </p:cNvSpPr>
          <p:nvPr/>
        </p:nvSpPr>
        <p:spPr>
          <a:xfrm xmlns:a="http://schemas.openxmlformats.org/drawingml/2006/main">
            <a:off x="523875" y="417195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17324D"/>
                </a:solidFill>
                <a:latin typeface="Arial"/>
                <a:ea typeface="Arial"/>
                <a:cs typeface="Arial"/>
              </a:defRPr>
            </a:defPPr>
            <a:lvl1pPr>
              <a:defRPr sz="1350" b="0">
                <a:solidFill>
                  <a:srgbClr val="17324D"/>
                </a:solidFill>
                <a:latin typeface="Arial"/>
                <a:ea typeface="Arial"/>
                <a:cs typeface="Arial"/>
              </a:defRPr>
            </a:lvl1pPr>
            <a:lvl2pPr>
              <a:defRPr sz="1350" b="0">
                <a:solidFill>
                  <a:srgbClr val="17324D"/>
                </a:solidFill>
                <a:latin typeface="Arial"/>
                <a:ea typeface="Arial"/>
                <a:cs typeface="Arial"/>
              </a:defRPr>
            </a:lvl2pPr>
            <a:lvl3pPr>
              <a:defRPr sz="1350" b="0">
                <a:solidFill>
                  <a:srgbClr val="17324D"/>
                </a:solidFill>
                <a:latin typeface="Arial"/>
                <a:ea typeface="Arial"/>
                <a:cs typeface="Arial"/>
              </a:defRPr>
            </a:lvl3pPr>
            <a:lvl4pPr>
              <a:defRPr sz="1350" b="0">
                <a:solidFill>
                  <a:srgbClr val="17324D"/>
                </a:solidFill>
                <a:latin typeface="Arial"/>
                <a:ea typeface="Arial"/>
                <a:cs typeface="Arial"/>
              </a:defRPr>
            </a:lvl4pPr>
            <a:lvl5pPr>
              <a:defRPr sz="1350" b="0">
                <a:solidFill>
                  <a:srgbClr val="17324D"/>
                </a:solidFill>
                <a:latin typeface="Arial"/>
                <a:ea typeface="Arial"/>
                <a:cs typeface="Arial"/>
              </a:defRPr>
            </a:lvl5pPr>
            <a:lvl6pPr>
              <a:defRPr sz="1350" b="0">
                <a:solidFill>
                  <a:srgbClr val="17324D"/>
                </a:solidFill>
                <a:latin typeface="Arial"/>
                <a:ea typeface="Arial"/>
                <a:cs typeface="Arial"/>
              </a:defRPr>
            </a:lvl6pPr>
            <a:lvl7pPr>
              <a:defRPr sz="1350" b="0">
                <a:solidFill>
                  <a:srgbClr val="17324D"/>
                </a:solidFill>
                <a:latin typeface="Arial"/>
                <a:ea typeface="Arial"/>
                <a:cs typeface="Arial"/>
              </a:defRPr>
            </a:lvl7pPr>
            <a:lvl8pPr>
              <a:defRPr sz="1350" b="0">
                <a:solidFill>
                  <a:srgbClr val="17324D"/>
                </a:solidFill>
                <a:latin typeface="Arial"/>
                <a:ea typeface="Arial"/>
                <a:cs typeface="Arial"/>
              </a:defRPr>
            </a:lvl8pPr>
            <a:lvl9pPr>
              <a:defRPr sz="1350" b="0">
                <a:solidFill>
                  <a:srgbClr val="17324D"/>
                </a:solidFill>
                <a:latin typeface="Arial"/>
                <a:ea typeface="Arial"/>
                <a:cs typeface="Arial"/>
              </a:defRPr>
            </a:lvl9pPr>
          </a:lstStyle>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Blue: global route · Cyan / pale red: accepted / rejected predictions</a:t>
            </a:r>
          </a:p>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Orange: chosen prediction · Green: executed motion · Solid red: obstacle now</a:t>
            </a:r>
          </a:p>
        </p:txBody>
      </p:sp>
      <p:sp>
        <p:nvSpPr>
          <p:cNvPr id="7" name="Open interactive experiment">
            <a:extLst xmlns:a="http://schemas.openxmlformats.org/drawingml/2006/main">
              <a:ext uri="{FF2B5EF4-FFF2-40B4-BE49-F238E27FC236}">
                <a16:creationId xmlns:a16="http://schemas.microsoft.com/office/drawing/2014/main" id="{CA817815-7E5F-4FE9-B0B6-E7FFB0133E56}"/>
              </a:ext>
            </a:extLst>
          </p:cNvPr>
          <p:cNvSpPr>
            <a:spLocks xmlns:a="http://schemas.openxmlformats.org/drawingml/2006/main" noGrp="1"/>
          </p:cNvSpPr>
          <p:nvPr/>
        </p:nvSpPr>
        <p:spPr>
          <a:xfrm xmlns:a="http://schemas.openxmlformats.org/drawingml/2006/main">
            <a:off x="523875" y="46291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4343d67ec11d4c40"/>
              </a:rPr>
              <a:t>Open interactive experiment</a:t>
            </a:r>
          </a:p>
        </p:txBody>
      </p:sp>
    </p:spTree>
    <p:extLst>
      <p:ext uri="{BB962C8B-B14F-4D97-AF65-F5344CB8AC3E}">
        <p14:creationId xmlns:p14="http://schemas.microsoft.com/office/powerpoint/2010/main" val="204068848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F4191BF-9BCA-4D7D-A277-E07C6779E1DD}"/>
              </a:ext>
            </a:extLst>
          </p:cNvPr>
          <p:cNvPicPr>
            <a:picLocks xmlns:a="http://schemas.openxmlformats.org/drawingml/2006/main" noChangeAspect="1"/>
          </p:cNvPicPr>
          <p:nvPr/>
        </p:nvPicPr>
        <p:blipFill>
          <a:blip xmlns:r="http://schemas.openxmlformats.org/officeDocument/2006/relationships" xmlns:a="http://schemas.openxmlformats.org/drawingml/2006/main" r:embed="Rd557d9ad611e41b6"/>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A crossing obstacle and a permanent blockage">
            <a:extLst xmlns:a="http://schemas.openxmlformats.org/drawingml/2006/main">
              <a:ext uri="{FF2B5EF4-FFF2-40B4-BE49-F238E27FC236}">
                <a16:creationId xmlns:a16="http://schemas.microsoft.com/office/drawing/2014/main" id="{494FB0C3-3E02-4F33-9613-0A458F04A5D1}"/>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A crossing obstacle and a permanent blockage</a:t>
            </a:r>
          </a:p>
        </p:txBody>
      </p:sp>
      <p:sp>
        <p:nvSpPr>
          <p:cNvPr id="3" name="35">
            <a:extLst xmlns:a="http://schemas.openxmlformats.org/drawingml/2006/main">
              <a:ext uri="{FF2B5EF4-FFF2-40B4-BE49-F238E27FC236}">
                <a16:creationId xmlns:a16="http://schemas.microsoft.com/office/drawing/2014/main" id="{7C3AE9C8-9338-47C2-8365-926F2097CAE3}"/>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35</a:t>
            </a:r>
          </a:p>
        </p:txBody>
      </p:sp>
      <p:pic>
        <p:nvPicPr>
          <p:cNvPr id="4" name="">
            <a:extLst xmlns:a="http://schemas.openxmlformats.org/drawingml/2006/main">
              <a:ext uri="{FF2B5EF4-FFF2-40B4-BE49-F238E27FC236}">
                <a16:creationId xmlns:a16="http://schemas.microsoft.com/office/drawing/2014/main" id="{89AB79DD-EEE0-4103-8332-2D23552E18F7}"/>
              </a:ext>
            </a:extLst>
          </p:cNvPr>
          <p:cNvPicPr>
            <a:picLocks xmlns:a="http://schemas.openxmlformats.org/drawingml/2006/main" noChangeAspect="1"/>
          </p:cNvPicPr>
          <p:nvPr/>
        </p:nvPicPr>
        <p:blipFill>
          <a:blip xmlns:r="http://schemas.openxmlformats.org/officeDocument/2006/relationships" xmlns:a="http://schemas.openxmlformats.org/drawingml/2006/main" r:embed="Rb8b31366ecdd4b7f"/>
          <a:stretch xmlns:a="http://schemas.openxmlformats.org/drawingml/2006/main"/>
        </p:blipFill>
        <p:spPr>
          <a:xfrm xmlns:a="http://schemas.openxmlformats.org/drawingml/2006/main">
            <a:off x="740511" y="1409700"/>
            <a:ext cx="3424354" cy="2095500"/>
          </a:xfrm>
          <a:prstGeom xmlns:a="http://schemas.openxmlformats.org/drawingml/2006/main" prst="rect">
            <a:avLst/>
          </a:prstGeom>
        </p:spPr>
      </p:pic>
      <p:sp>
        <p:nvSpPr>
          <p:cNvPr id="5" name="Moving obstacle clears the route">
            <a:extLst xmlns:a="http://schemas.openxmlformats.org/drawingml/2006/main">
              <a:ext uri="{FF2B5EF4-FFF2-40B4-BE49-F238E27FC236}">
                <a16:creationId xmlns:a16="http://schemas.microsoft.com/office/drawing/2014/main" id="{FDA93F01-4797-439B-9525-0BCE0618EC7E}"/>
              </a:ext>
            </a:extLst>
          </p:cNvPr>
          <p:cNvSpPr>
            <a:spLocks xmlns:a="http://schemas.openxmlformats.org/drawingml/2006/main" noGrp="1"/>
          </p:cNvSpPr>
          <p:nvPr/>
        </p:nvSpPr>
        <p:spPr>
          <a:xfrm xmlns:a="http://schemas.openxmlformats.org/drawingml/2006/main">
            <a:off x="523875" y="3533775"/>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vl1pPr>
              <a:defRPr sz="1500" b="1">
                <a:solidFill>
                  <a:srgbClr val="00539F"/>
                </a:solidFill>
                <a:latin typeface="Arial"/>
                <a:ea typeface="Arial"/>
                <a:cs typeface="Arial"/>
              </a:defRPr>
            </a:lvl1pPr>
            <a:lvl2pPr>
              <a:defRPr sz="1500" b="1">
                <a:solidFill>
                  <a:srgbClr val="00539F"/>
                </a:solidFill>
                <a:latin typeface="Arial"/>
                <a:ea typeface="Arial"/>
                <a:cs typeface="Arial"/>
              </a:defRPr>
            </a:lvl2pPr>
            <a:lvl3pPr>
              <a:defRPr sz="1500" b="1">
                <a:solidFill>
                  <a:srgbClr val="00539F"/>
                </a:solidFill>
                <a:latin typeface="Arial"/>
                <a:ea typeface="Arial"/>
                <a:cs typeface="Arial"/>
              </a:defRPr>
            </a:lvl3pPr>
            <a:lvl4pPr>
              <a:defRPr sz="1500" b="1">
                <a:solidFill>
                  <a:srgbClr val="00539F"/>
                </a:solidFill>
                <a:latin typeface="Arial"/>
                <a:ea typeface="Arial"/>
                <a:cs typeface="Arial"/>
              </a:defRPr>
            </a:lvl4pPr>
            <a:lvl5pPr>
              <a:defRPr sz="1500" b="1">
                <a:solidFill>
                  <a:srgbClr val="00539F"/>
                </a:solidFill>
                <a:latin typeface="Arial"/>
                <a:ea typeface="Arial"/>
                <a:cs typeface="Arial"/>
              </a:defRPr>
            </a:lvl5pPr>
            <a:lvl6pPr>
              <a:defRPr sz="1500" b="1">
                <a:solidFill>
                  <a:srgbClr val="00539F"/>
                </a:solidFill>
                <a:latin typeface="Arial"/>
                <a:ea typeface="Arial"/>
                <a:cs typeface="Arial"/>
              </a:defRPr>
            </a:lvl6pPr>
            <a:lvl7pPr>
              <a:defRPr sz="1500" b="1">
                <a:solidFill>
                  <a:srgbClr val="00539F"/>
                </a:solidFill>
                <a:latin typeface="Arial"/>
                <a:ea typeface="Arial"/>
                <a:cs typeface="Arial"/>
              </a:defRPr>
            </a:lvl7pPr>
            <a:lvl8pPr>
              <a:defRPr sz="1500" b="1">
                <a:solidFill>
                  <a:srgbClr val="00539F"/>
                </a:solidFill>
                <a:latin typeface="Arial"/>
                <a:ea typeface="Arial"/>
                <a:cs typeface="Arial"/>
              </a:defRPr>
            </a:lvl8pPr>
            <a:lvl9pPr>
              <a:defRPr sz="1500" b="1">
                <a:solidFill>
                  <a:srgbClr val="00539F"/>
                </a:solidFill>
                <a:latin typeface="Arial"/>
                <a:ea typeface="Arial"/>
                <a:cs typeface="Arial"/>
              </a:defRPr>
            </a:lvl9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Moving obstacle clears the route</a:t>
            </a:r>
          </a:p>
        </p:txBody>
      </p:sp>
      <p:pic>
        <p:nvPicPr>
          <p:cNvPr id="6" name="">
            <a:extLst xmlns:a="http://schemas.openxmlformats.org/drawingml/2006/main">
              <a:ext uri="{FF2B5EF4-FFF2-40B4-BE49-F238E27FC236}">
                <a16:creationId xmlns:a16="http://schemas.microsoft.com/office/drawing/2014/main" id="{7C771B66-6E15-42D9-A9E5-D6BC9E7C88FF}"/>
              </a:ext>
            </a:extLst>
          </p:cNvPr>
          <p:cNvPicPr>
            <a:picLocks xmlns:a="http://schemas.openxmlformats.org/drawingml/2006/main" noChangeAspect="1"/>
          </p:cNvPicPr>
          <p:nvPr/>
        </p:nvPicPr>
        <p:blipFill>
          <a:blip xmlns:r="http://schemas.openxmlformats.org/officeDocument/2006/relationships" xmlns:a="http://schemas.openxmlformats.org/drawingml/2006/main" r:embed="R8a1dff40ddef4c32"/>
          <a:stretch xmlns:a="http://schemas.openxmlformats.org/drawingml/2006/main"/>
        </p:blipFill>
        <p:spPr>
          <a:xfrm xmlns:a="http://schemas.openxmlformats.org/drawingml/2006/main">
            <a:off x="4979136" y="1409700"/>
            <a:ext cx="3424354" cy="2095500"/>
          </a:xfrm>
          <a:prstGeom xmlns:a="http://schemas.openxmlformats.org/drawingml/2006/main" prst="rect">
            <a:avLst/>
          </a:prstGeom>
        </p:spPr>
      </p:pic>
      <p:sp>
        <p:nvSpPr>
          <p:cNvPr id="7" name="Stationary obstacle blocks the route">
            <a:extLst xmlns:a="http://schemas.openxmlformats.org/drawingml/2006/main">
              <a:ext uri="{FF2B5EF4-FFF2-40B4-BE49-F238E27FC236}">
                <a16:creationId xmlns:a16="http://schemas.microsoft.com/office/drawing/2014/main" id="{FD823ACF-8487-4054-B852-0FBF735D8743}"/>
              </a:ext>
            </a:extLst>
          </p:cNvPr>
          <p:cNvSpPr>
            <a:spLocks xmlns:a="http://schemas.openxmlformats.org/drawingml/2006/main" noGrp="1"/>
          </p:cNvSpPr>
          <p:nvPr/>
        </p:nvSpPr>
        <p:spPr>
          <a:xfrm xmlns:a="http://schemas.openxmlformats.org/drawingml/2006/main">
            <a:off x="4762500" y="3533775"/>
            <a:ext cx="385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1">
                <a:solidFill>
                  <a:srgbClr val="00539F"/>
                </a:solidFill>
                <a:latin typeface="Arial"/>
                <a:ea typeface="Arial"/>
                <a:cs typeface="Arial"/>
              </a:defRPr>
            </a:defPPr>
            <a:lvl1pPr>
              <a:defRPr sz="1500" b="1">
                <a:solidFill>
                  <a:srgbClr val="00539F"/>
                </a:solidFill>
                <a:latin typeface="Arial"/>
                <a:ea typeface="Arial"/>
                <a:cs typeface="Arial"/>
              </a:defRPr>
            </a:lvl1pPr>
            <a:lvl2pPr>
              <a:defRPr sz="1500" b="1">
                <a:solidFill>
                  <a:srgbClr val="00539F"/>
                </a:solidFill>
                <a:latin typeface="Arial"/>
                <a:ea typeface="Arial"/>
                <a:cs typeface="Arial"/>
              </a:defRPr>
            </a:lvl2pPr>
            <a:lvl3pPr>
              <a:defRPr sz="1500" b="1">
                <a:solidFill>
                  <a:srgbClr val="00539F"/>
                </a:solidFill>
                <a:latin typeface="Arial"/>
                <a:ea typeface="Arial"/>
                <a:cs typeface="Arial"/>
              </a:defRPr>
            </a:lvl3pPr>
            <a:lvl4pPr>
              <a:defRPr sz="1500" b="1">
                <a:solidFill>
                  <a:srgbClr val="00539F"/>
                </a:solidFill>
                <a:latin typeface="Arial"/>
                <a:ea typeface="Arial"/>
                <a:cs typeface="Arial"/>
              </a:defRPr>
            </a:lvl4pPr>
            <a:lvl5pPr>
              <a:defRPr sz="1500" b="1">
                <a:solidFill>
                  <a:srgbClr val="00539F"/>
                </a:solidFill>
                <a:latin typeface="Arial"/>
                <a:ea typeface="Arial"/>
                <a:cs typeface="Arial"/>
              </a:defRPr>
            </a:lvl5pPr>
            <a:lvl6pPr>
              <a:defRPr sz="1500" b="1">
                <a:solidFill>
                  <a:srgbClr val="00539F"/>
                </a:solidFill>
                <a:latin typeface="Arial"/>
                <a:ea typeface="Arial"/>
                <a:cs typeface="Arial"/>
              </a:defRPr>
            </a:lvl6pPr>
            <a:lvl7pPr>
              <a:defRPr sz="1500" b="1">
                <a:solidFill>
                  <a:srgbClr val="00539F"/>
                </a:solidFill>
                <a:latin typeface="Arial"/>
                <a:ea typeface="Arial"/>
                <a:cs typeface="Arial"/>
              </a:defRPr>
            </a:lvl7pPr>
            <a:lvl8pPr>
              <a:defRPr sz="1500" b="1">
                <a:solidFill>
                  <a:srgbClr val="00539F"/>
                </a:solidFill>
                <a:latin typeface="Arial"/>
                <a:ea typeface="Arial"/>
                <a:cs typeface="Arial"/>
              </a:defRPr>
            </a:lvl8pPr>
            <a:lvl9pPr>
              <a:defRPr sz="1500" b="1">
                <a:solidFill>
                  <a:srgbClr val="00539F"/>
                </a:solidFill>
                <a:latin typeface="Arial"/>
                <a:ea typeface="Arial"/>
                <a:cs typeface="Arial"/>
              </a:defRPr>
            </a:lvl9pPr>
          </a:lstStyle>
          <a:p xmlns:a="http://schemas.openxmlformats.org/drawingml/2006/main">
            <a:pPr>
              <a:defRPr sz="1500" b="1">
                <a:solidFill>
                  <a:srgbClr val="00539F"/>
                </a:solidFill>
                <a:latin typeface="Arial"/>
                <a:ea typeface="Arial"/>
                <a:cs typeface="Arial"/>
              </a:defRPr>
            </a:pPr>
            <a:r>
              <a:rPr sz="1500" b="1">
                <a:solidFill>
                  <a:srgbClr val="00539F"/>
                </a:solidFill>
                <a:latin typeface="Arial"/>
                <a:ea typeface="Arial"/>
                <a:cs typeface="Arial"/>
              </a:rPr>
              <a:t>Stationary obstacle blocks the route</a:t>
            </a:r>
          </a:p>
        </p:txBody>
      </p:sp>
      <p:sp>
        <p:nvSpPr>
          <p:cNvPr id="8" name="A moving obstacle clears and local execution progresses.&#10;A perma">
            <a:extLst xmlns:a="http://schemas.openxmlformats.org/drawingml/2006/main">
              <a:ext uri="{FF2B5EF4-FFF2-40B4-BE49-F238E27FC236}">
                <a16:creationId xmlns:a16="http://schemas.microsoft.com/office/drawing/2014/main" id="{EF2590FC-EE32-472D-8786-DEEE7C80C478}"/>
              </a:ext>
            </a:extLst>
          </p:cNvPr>
          <p:cNvSpPr>
            <a:spLocks xmlns:a="http://schemas.openxmlformats.org/drawingml/2006/main" noGrp="1"/>
          </p:cNvSpPr>
          <p:nvPr/>
        </p:nvSpPr>
        <p:spPr>
          <a:xfrm xmlns:a="http://schemas.openxmlformats.org/drawingml/2006/main">
            <a:off x="523875" y="3876675"/>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00" b="0">
                <a:solidFill>
                  <a:srgbClr val="17324D"/>
                </a:solidFill>
                <a:latin typeface="Arial"/>
                <a:ea typeface="Arial"/>
                <a:cs typeface="Arial"/>
              </a:defRPr>
            </a:defPPr>
            <a:lvl1pPr>
              <a:defRPr sz="1500" b="0">
                <a:solidFill>
                  <a:srgbClr val="17324D"/>
                </a:solidFill>
                <a:latin typeface="Arial"/>
                <a:ea typeface="Arial"/>
                <a:cs typeface="Arial"/>
              </a:defRPr>
            </a:lvl1pPr>
            <a:lvl2pPr>
              <a:defRPr sz="1500" b="0">
                <a:solidFill>
                  <a:srgbClr val="17324D"/>
                </a:solidFill>
                <a:latin typeface="Arial"/>
                <a:ea typeface="Arial"/>
                <a:cs typeface="Arial"/>
              </a:defRPr>
            </a:lvl2pPr>
            <a:lvl3pPr>
              <a:defRPr sz="1500" b="0">
                <a:solidFill>
                  <a:srgbClr val="17324D"/>
                </a:solidFill>
                <a:latin typeface="Arial"/>
                <a:ea typeface="Arial"/>
                <a:cs typeface="Arial"/>
              </a:defRPr>
            </a:lvl3pPr>
            <a:lvl4pPr>
              <a:defRPr sz="1500" b="0">
                <a:solidFill>
                  <a:srgbClr val="17324D"/>
                </a:solidFill>
                <a:latin typeface="Arial"/>
                <a:ea typeface="Arial"/>
                <a:cs typeface="Arial"/>
              </a:defRPr>
            </a:lvl4pPr>
            <a:lvl5pPr>
              <a:defRPr sz="1500" b="0">
                <a:solidFill>
                  <a:srgbClr val="17324D"/>
                </a:solidFill>
                <a:latin typeface="Arial"/>
                <a:ea typeface="Arial"/>
                <a:cs typeface="Arial"/>
              </a:defRPr>
            </a:lvl5pPr>
            <a:lvl6pPr>
              <a:defRPr sz="1500" b="0">
                <a:solidFill>
                  <a:srgbClr val="17324D"/>
                </a:solidFill>
                <a:latin typeface="Arial"/>
                <a:ea typeface="Arial"/>
                <a:cs typeface="Arial"/>
              </a:defRPr>
            </a:lvl6pPr>
            <a:lvl7pPr>
              <a:defRPr sz="1500" b="0">
                <a:solidFill>
                  <a:srgbClr val="17324D"/>
                </a:solidFill>
                <a:latin typeface="Arial"/>
                <a:ea typeface="Arial"/>
                <a:cs typeface="Arial"/>
              </a:defRPr>
            </a:lvl7pPr>
            <a:lvl8pPr>
              <a:defRPr sz="1500" b="0">
                <a:solidFill>
                  <a:srgbClr val="17324D"/>
                </a:solidFill>
                <a:latin typeface="Arial"/>
                <a:ea typeface="Arial"/>
                <a:cs typeface="Arial"/>
              </a:defRPr>
            </a:lvl8pPr>
            <a:lvl9pPr>
              <a:defRPr sz="1500" b="0">
                <a:solidFill>
                  <a:srgbClr val="17324D"/>
                </a:solidFill>
                <a:latin typeface="Arial"/>
                <a:ea typeface="Arial"/>
                <a:cs typeface="Arial"/>
              </a:defRPr>
            </a:lvl9pPr>
          </a:lstStyle>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A moving obstacle clears and local execution progresses.</a:t>
            </a:r>
          </a:p>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A permanent blockage stalls the controller until the route changes.</a:t>
            </a:r>
          </a:p>
        </p:txBody>
      </p:sp>
      <p:sp>
        <p:nvSpPr>
          <p:cNvPr id="9" name="Blue: global route · Green: executed motion · Cyan / pale red: p">
            <a:extLst xmlns:a="http://schemas.openxmlformats.org/drawingml/2006/main">
              <a:ext uri="{FF2B5EF4-FFF2-40B4-BE49-F238E27FC236}">
                <a16:creationId xmlns:a16="http://schemas.microsoft.com/office/drawing/2014/main" id="{17DCFCAD-647E-4F79-816A-9CF56A6FC49F}"/>
              </a:ext>
            </a:extLst>
          </p:cNvPr>
          <p:cNvSpPr>
            <a:spLocks xmlns:a="http://schemas.openxmlformats.org/drawingml/2006/main" noGrp="1"/>
          </p:cNvSpPr>
          <p:nvPr/>
        </p:nvSpPr>
        <p:spPr>
          <a:xfrm xmlns:a="http://schemas.openxmlformats.org/drawingml/2006/main">
            <a:off x="523875" y="4314825"/>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75" b="0">
                <a:solidFill>
                  <a:srgbClr val="17324D"/>
                </a:solidFill>
                <a:latin typeface="Arial"/>
                <a:ea typeface="Arial"/>
                <a:cs typeface="Arial"/>
              </a:defRPr>
            </a:defPPr>
            <a:lvl1pPr>
              <a:defRPr sz="1275" b="0">
                <a:solidFill>
                  <a:srgbClr val="17324D"/>
                </a:solidFill>
                <a:latin typeface="Arial"/>
                <a:ea typeface="Arial"/>
                <a:cs typeface="Arial"/>
              </a:defRPr>
            </a:lvl1pPr>
            <a:lvl2pPr>
              <a:defRPr sz="1275" b="0">
                <a:solidFill>
                  <a:srgbClr val="17324D"/>
                </a:solidFill>
                <a:latin typeface="Arial"/>
                <a:ea typeface="Arial"/>
                <a:cs typeface="Arial"/>
              </a:defRPr>
            </a:lvl2pPr>
            <a:lvl3pPr>
              <a:defRPr sz="1275" b="0">
                <a:solidFill>
                  <a:srgbClr val="17324D"/>
                </a:solidFill>
                <a:latin typeface="Arial"/>
                <a:ea typeface="Arial"/>
                <a:cs typeface="Arial"/>
              </a:defRPr>
            </a:lvl3pPr>
            <a:lvl4pPr>
              <a:defRPr sz="1275" b="0">
                <a:solidFill>
                  <a:srgbClr val="17324D"/>
                </a:solidFill>
                <a:latin typeface="Arial"/>
                <a:ea typeface="Arial"/>
                <a:cs typeface="Arial"/>
              </a:defRPr>
            </a:lvl4pPr>
            <a:lvl5pPr>
              <a:defRPr sz="1275" b="0">
                <a:solidFill>
                  <a:srgbClr val="17324D"/>
                </a:solidFill>
                <a:latin typeface="Arial"/>
                <a:ea typeface="Arial"/>
                <a:cs typeface="Arial"/>
              </a:defRPr>
            </a:lvl5pPr>
            <a:lvl6pPr>
              <a:defRPr sz="1275" b="0">
                <a:solidFill>
                  <a:srgbClr val="17324D"/>
                </a:solidFill>
                <a:latin typeface="Arial"/>
                <a:ea typeface="Arial"/>
                <a:cs typeface="Arial"/>
              </a:defRPr>
            </a:lvl6pPr>
            <a:lvl7pPr>
              <a:defRPr sz="1275" b="0">
                <a:solidFill>
                  <a:srgbClr val="17324D"/>
                </a:solidFill>
                <a:latin typeface="Arial"/>
                <a:ea typeface="Arial"/>
                <a:cs typeface="Arial"/>
              </a:defRPr>
            </a:lvl7pPr>
            <a:lvl8pPr>
              <a:defRPr sz="1275" b="0">
                <a:solidFill>
                  <a:srgbClr val="17324D"/>
                </a:solidFill>
                <a:latin typeface="Arial"/>
                <a:ea typeface="Arial"/>
                <a:cs typeface="Arial"/>
              </a:defRPr>
            </a:lvl8pPr>
            <a:lvl9pPr>
              <a:defRPr sz="1275" b="0">
                <a:solidFill>
                  <a:srgbClr val="17324D"/>
                </a:solidFill>
                <a:latin typeface="Arial"/>
                <a:ea typeface="Arial"/>
                <a:cs typeface="Arial"/>
              </a:defRPr>
            </a:lvl9pPr>
          </a:lstStyle>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Blue: global route · Green: executed motion · Cyan / pale red: predictions</a:t>
            </a:r>
          </a:p>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Solid red: obstacle now · Thin red outline: obstacle at planning time</a:t>
            </a:r>
          </a:p>
        </p:txBody>
      </p:sp>
      <p:sp>
        <p:nvSpPr>
          <p:cNvPr id="10" name="Open interactive experiment">
            <a:extLst xmlns:a="http://schemas.openxmlformats.org/drawingml/2006/main">
              <a:ext uri="{FF2B5EF4-FFF2-40B4-BE49-F238E27FC236}">
                <a16:creationId xmlns:a16="http://schemas.microsoft.com/office/drawing/2014/main" id="{56AE0FDA-BC4D-48A9-9948-FB2221D01178}"/>
              </a:ext>
            </a:extLst>
          </p:cNvPr>
          <p:cNvSpPr>
            <a:spLocks xmlns:a="http://schemas.openxmlformats.org/drawingml/2006/main" noGrp="1"/>
          </p:cNvSpPr>
          <p:nvPr/>
        </p:nvSpPr>
        <p:spPr>
          <a:xfrm xmlns:a="http://schemas.openxmlformats.org/drawingml/2006/main">
            <a:off x="523875" y="469582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d9997f03024d493c"/>
              </a:rPr>
              <a:t>Open interactive experiment</a:t>
            </a:r>
          </a:p>
        </p:txBody>
      </p:sp>
    </p:spTree>
    <p:extLst>
      <p:ext uri="{BB962C8B-B14F-4D97-AF65-F5344CB8AC3E}">
        <p14:creationId xmlns:p14="http://schemas.microsoft.com/office/powerpoint/2010/main" val="113440287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8720E575-31E3-4CFA-BD2D-DFCB900E5CD4}"/>
              </a:ext>
            </a:extLst>
          </p:cNvPr>
          <p:cNvPicPr>
            <a:picLocks xmlns:a="http://schemas.openxmlformats.org/drawingml/2006/main" noChangeAspect="1"/>
          </p:cNvPicPr>
          <p:nvPr/>
        </p:nvPicPr>
        <p:blipFill>
          <a:blip xmlns:r="http://schemas.openxmlformats.org/officeDocument/2006/relationships" xmlns:a="http://schemas.openxmlformats.org/drawingml/2006/main" r:embed="R0e82957aaaab4501"/>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Common local planning approaches">
            <a:extLst xmlns:a="http://schemas.openxmlformats.org/drawingml/2006/main">
              <a:ext uri="{FF2B5EF4-FFF2-40B4-BE49-F238E27FC236}">
                <a16:creationId xmlns:a16="http://schemas.microsoft.com/office/drawing/2014/main" id="{49E51BD7-AC81-4606-B720-00C8B791BA7E}"/>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Common local planning approaches</a:t>
            </a:r>
          </a:p>
        </p:txBody>
      </p:sp>
      <p:sp>
        <p:nvSpPr>
          <p:cNvPr id="3" name="36">
            <a:extLst xmlns:a="http://schemas.openxmlformats.org/drawingml/2006/main">
              <a:ext uri="{FF2B5EF4-FFF2-40B4-BE49-F238E27FC236}">
                <a16:creationId xmlns:a16="http://schemas.microsoft.com/office/drawing/2014/main" id="{80266C98-D0C7-4B03-A353-0F0DDC984342}"/>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36</a:t>
            </a:r>
          </a:p>
        </p:txBody>
      </p:sp>
      <p:graphicFrame>
        <p:nvGraphicFramePr>
          <p:cNvPr id="4" name="">
            <a:extLst xmlns:a="http://schemas.openxmlformats.org/drawingml/2006/main">
              <a:ext uri="{FF2B5EF4-FFF2-40B4-BE49-F238E27FC236}">
                <a16:creationId xmlns:a16="http://schemas.microsoft.com/office/drawing/2014/main" id="{F1A1ECBA-4BDB-4C7C-A8D0-290780A30AC2}"/>
              </a:ext>
            </a:extLst>
          </p:cNvPr>
          <p:cNvGraphicFramePr/>
          <p:nvPr/>
        </p:nvGraphicFramePr>
        <p:xfrm>
          <a:off xmlns:a="http://schemas.openxmlformats.org/drawingml/2006/main" x="523875" y="1438275"/>
          <a:ext xmlns:a="http://schemas.openxmlformats.org/drawingml/2006/main" cx="8096250" cy="2857500"/>
        </p:xfrm>
        <a:graphic xmlns:a="http://schemas.openxmlformats.org/drawingml/2006/main">
          <a:graphicData uri="http://schemas.openxmlformats.org/drawingml/2006/table">
            <a:tbl>
              <a:tblPr/>
              <a:tblGrid>
                <a:gridCol w="1952625"/>
                <a:gridCol w="3000375"/>
                <a:gridCol w="3143250"/>
              </a:tblGrid>
              <a:tr h="571500">
                <a:tc>
                  <a:txBody>
                    <a:bodyPr lIns="114300" tIns="76200" rIns="114300" bIns="76200">
                      <a:noAutofit/>
                    </a:bodyPr>
                    <a:lstStyle/>
                    <a:p>
                      <a:r>
                        <a:rPr sz="1425" b="1">
                          <a:solidFill>
                            <a:srgbClr val="FFFFFF"/>
                          </a:solidFill>
                          <a:latin typeface="Arial"/>
                          <a:ea typeface="Arial"/>
                          <a:cs typeface="Arial"/>
                        </a:rPr>
                        <a:t>Approach</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Mechanism</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Typical limitation</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571500">
                <a:tc>
                  <a:txBody>
                    <a:bodyPr lIns="114300" tIns="76200" rIns="114300" bIns="76200">
                      <a:noAutofit/>
                    </a:bodyPr>
                    <a:lstStyle/>
                    <a:p>
                      <a:r>
                        <a:rPr sz="1425" b="0">
                          <a:solidFill>
                            <a:srgbClr val="17324D"/>
                          </a:solidFill>
                          <a:latin typeface="Arial"/>
                          <a:ea typeface="Arial"/>
                          <a:cs typeface="Arial"/>
                        </a:rPr>
                        <a:t>DWA / DWB</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Score candidate velocity motions</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Sampling and critic tuning</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571500">
                <a:tc>
                  <a:txBody>
                    <a:bodyPr lIns="114300" tIns="76200" rIns="114300" bIns="76200">
                      <a:noAutofit/>
                    </a:bodyPr>
                    <a:lstStyle/>
                    <a:p>
                      <a:r>
                        <a:rPr sz="1425" b="0">
                          <a:solidFill>
                            <a:srgbClr val="17324D"/>
                          </a:solidFill>
                          <a:latin typeface="Arial"/>
                          <a:ea typeface="Arial"/>
                          <a:cs typeface="Arial"/>
                        </a:rPr>
                        <a:t>MPC</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Optimize predicted controls</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Model error and solve budget</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571500">
                <a:tc>
                  <a:txBody>
                    <a:bodyPr lIns="114300" tIns="76200" rIns="114300" bIns="76200">
                      <a:noAutofit/>
                    </a:bodyPr>
                    <a:lstStyle/>
                    <a:p>
                      <a:r>
                        <a:rPr sz="1425" b="0">
                          <a:solidFill>
                            <a:srgbClr val="17324D"/>
                          </a:solidFill>
                          <a:latin typeface="Arial"/>
                          <a:ea typeface="Arial"/>
                          <a:cs typeface="Arial"/>
                        </a:rPr>
                        <a:t>MPPI</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Improve sampled control sequences</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Cost / noise / horizon tuning</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571500">
                <a:tc>
                  <a:txBody>
                    <a:bodyPr lIns="114300" tIns="76200" rIns="114300" bIns="76200">
                      <a:noAutofit/>
                    </a:bodyPr>
                    <a:lstStyle/>
                    <a:p>
                      <a:r>
                        <a:rPr sz="1425" b="0">
                          <a:solidFill>
                            <a:srgbClr val="17324D"/>
                          </a:solidFill>
                          <a:latin typeface="Arial"/>
                          <a:ea typeface="Arial"/>
                          <a:cs typeface="Arial"/>
                        </a:rPr>
                        <a:t>Path following</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Track a given reference</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Avoidance depends on controller</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bl>
          </a:graphicData>
        </a:graphic>
      </p:graphicFrame>
      <p:sp>
        <p:nvSpPr>
          <p:cNvPr id="5" name="Compare the MPPI-style controller (slide 44)">
            <a:extLst xmlns:a="http://schemas.openxmlformats.org/drawingml/2006/main">
              <a:ext uri="{FF2B5EF4-FFF2-40B4-BE49-F238E27FC236}">
                <a16:creationId xmlns:a16="http://schemas.microsoft.com/office/drawing/2014/main" id="{C3A70420-EF6F-423B-836E-9EC00C4EED65}"/>
              </a:ext>
            </a:extLst>
          </p:cNvPr>
          <p:cNvSpPr>
            <a:spLocks xmlns:a="http://schemas.openxmlformats.org/drawingml/2006/main" noGrp="1"/>
          </p:cNvSpPr>
          <p:nvPr/>
        </p:nvSpPr>
        <p:spPr>
          <a:xfrm xmlns:a="http://schemas.openxmlformats.org/drawingml/2006/main">
            <a:off x="523875" y="4619625"/>
            <a:ext cx="781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718c8c30a6a64f41"/>
              </a:rPr>
              <a:t>Compare the MPPI-style controller (slide 44)</a:t>
            </a:r>
          </a:p>
        </p:txBody>
      </p:sp>
    </p:spTree>
    <p:extLst>
      <p:ext uri="{BB962C8B-B14F-4D97-AF65-F5344CB8AC3E}">
        <p14:creationId xmlns:p14="http://schemas.microsoft.com/office/powerpoint/2010/main" val="135953634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47D43EB-DA6C-4773-8BBB-D2DA86753A1F}"/>
              </a:ext>
            </a:extLst>
          </p:cNvPr>
          <p:cNvPicPr>
            <a:picLocks xmlns:a="http://schemas.openxmlformats.org/drawingml/2006/main" noChangeAspect="1"/>
          </p:cNvPicPr>
          <p:nvPr/>
        </p:nvPicPr>
        <p:blipFill>
          <a:blip xmlns:r="http://schemas.openxmlformats.org/officeDocument/2006/relationships" xmlns:a="http://schemas.openxmlformats.org/drawingml/2006/main" r:embed="Ra9464bfb1da847da"/>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Prediction horizon and stopping distance">
            <a:extLst xmlns:a="http://schemas.openxmlformats.org/drawingml/2006/main">
              <a:ext uri="{FF2B5EF4-FFF2-40B4-BE49-F238E27FC236}">
                <a16:creationId xmlns:a16="http://schemas.microsoft.com/office/drawing/2014/main" id="{5EA0B8D9-3DA8-41DD-A970-F1DBDCE28A5F}"/>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Prediction horizon and stopping distance</a:t>
            </a:r>
          </a:p>
        </p:txBody>
      </p:sp>
      <p:sp>
        <p:nvSpPr>
          <p:cNvPr id="3" name="37">
            <a:extLst xmlns:a="http://schemas.openxmlformats.org/drawingml/2006/main">
              <a:ext uri="{FF2B5EF4-FFF2-40B4-BE49-F238E27FC236}">
                <a16:creationId xmlns:a16="http://schemas.microsoft.com/office/drawing/2014/main" id="{74CB0E48-B3A0-4C48-9E76-8A0FCCFBBEA7}"/>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37</a:t>
            </a:r>
          </a:p>
        </p:txBody>
      </p:sp>
      <p:sp>
        <p:nvSpPr>
          <p:cNvPr id="4" name="Distance ≈ v t_reaction + v² / (2 a_brake)">
            <a:extLst xmlns:a="http://schemas.openxmlformats.org/drawingml/2006/main">
              <a:ext uri="{FF2B5EF4-FFF2-40B4-BE49-F238E27FC236}">
                <a16:creationId xmlns:a16="http://schemas.microsoft.com/office/drawing/2014/main" id="{8F10DA67-69DF-411C-BF90-D958707C66BA}"/>
              </a:ext>
            </a:extLst>
          </p:cNvPr>
          <p:cNvSpPr>
            <a:spLocks xmlns:a="http://schemas.openxmlformats.org/drawingml/2006/main" noGrp="1"/>
          </p:cNvSpPr>
          <p:nvPr/>
        </p:nvSpPr>
        <p:spPr>
          <a:xfrm xmlns:a="http://schemas.openxmlformats.org/drawingml/2006/main">
            <a:off x="619125" y="1457325"/>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1">
                <a:solidFill>
                  <a:srgbClr val="00539F"/>
                </a:solidFill>
                <a:latin typeface="Arial"/>
                <a:ea typeface="Arial"/>
                <a:cs typeface="Arial"/>
              </a:defRPr>
            </a:defPPr>
            <a:lvl1pPr>
              <a:defRPr sz="2400" b="1">
                <a:solidFill>
                  <a:srgbClr val="00539F"/>
                </a:solidFill>
                <a:latin typeface="Arial"/>
                <a:ea typeface="Arial"/>
                <a:cs typeface="Arial"/>
              </a:defRPr>
            </a:lvl1pPr>
            <a:lvl2pPr>
              <a:defRPr sz="2400" b="1">
                <a:solidFill>
                  <a:srgbClr val="00539F"/>
                </a:solidFill>
                <a:latin typeface="Arial"/>
                <a:ea typeface="Arial"/>
                <a:cs typeface="Arial"/>
              </a:defRPr>
            </a:lvl2pPr>
            <a:lvl3pPr>
              <a:defRPr sz="2400" b="1">
                <a:solidFill>
                  <a:srgbClr val="00539F"/>
                </a:solidFill>
                <a:latin typeface="Arial"/>
                <a:ea typeface="Arial"/>
                <a:cs typeface="Arial"/>
              </a:defRPr>
            </a:lvl3pPr>
            <a:lvl4pPr>
              <a:defRPr sz="2400" b="1">
                <a:solidFill>
                  <a:srgbClr val="00539F"/>
                </a:solidFill>
                <a:latin typeface="Arial"/>
                <a:ea typeface="Arial"/>
                <a:cs typeface="Arial"/>
              </a:defRPr>
            </a:lvl4pPr>
            <a:lvl5pPr>
              <a:defRPr sz="2400" b="1">
                <a:solidFill>
                  <a:srgbClr val="00539F"/>
                </a:solidFill>
                <a:latin typeface="Arial"/>
                <a:ea typeface="Arial"/>
                <a:cs typeface="Arial"/>
              </a:defRPr>
            </a:lvl5pPr>
            <a:lvl6pPr>
              <a:defRPr sz="2400" b="1">
                <a:solidFill>
                  <a:srgbClr val="00539F"/>
                </a:solidFill>
                <a:latin typeface="Arial"/>
                <a:ea typeface="Arial"/>
                <a:cs typeface="Arial"/>
              </a:defRPr>
            </a:lvl6pPr>
            <a:lvl7pPr>
              <a:defRPr sz="2400" b="1">
                <a:solidFill>
                  <a:srgbClr val="00539F"/>
                </a:solidFill>
                <a:latin typeface="Arial"/>
                <a:ea typeface="Arial"/>
                <a:cs typeface="Arial"/>
              </a:defRPr>
            </a:lvl7pPr>
            <a:lvl8pPr>
              <a:defRPr sz="2400" b="1">
                <a:solidFill>
                  <a:srgbClr val="00539F"/>
                </a:solidFill>
                <a:latin typeface="Arial"/>
                <a:ea typeface="Arial"/>
                <a:cs typeface="Arial"/>
              </a:defRPr>
            </a:lvl8pPr>
            <a:lvl9pPr>
              <a:defRPr sz="2400" b="1">
                <a:solidFill>
                  <a:srgbClr val="00539F"/>
                </a:solidFill>
                <a:latin typeface="Arial"/>
                <a:ea typeface="Arial"/>
                <a:cs typeface="Arial"/>
              </a:defRPr>
            </a:lvl9pPr>
          </a:lstStyle>
          <a:p xmlns:a="http://schemas.openxmlformats.org/drawingml/2006/main">
            <a:pPr>
              <a:defRPr sz="2400" b="1">
                <a:solidFill>
                  <a:srgbClr val="00539F"/>
                </a:solidFill>
                <a:latin typeface="Arial"/>
                <a:ea typeface="Arial"/>
                <a:cs typeface="Arial"/>
              </a:defRPr>
            </a:pPr>
            <a:r>
              <a:rPr sz="2400" b="1">
                <a:solidFill>
                  <a:srgbClr val="00539F"/>
                </a:solidFill>
                <a:latin typeface="Arial"/>
                <a:ea typeface="Arial"/>
                <a:cs typeface="Arial"/>
              </a:rPr>
              <a:t>Distance ≈ v t_reaction + v² / (2 a_brake)</a:t>
            </a:r>
          </a:p>
        </p:txBody>
      </p:sp>
      <p:sp>
        <p:nvSpPr>
          <p:cNvPr id="5" name="Horizon distance ≈ v × prediction time">
            <a:extLst xmlns:a="http://schemas.openxmlformats.org/drawingml/2006/main">
              <a:ext uri="{FF2B5EF4-FFF2-40B4-BE49-F238E27FC236}">
                <a16:creationId xmlns:a16="http://schemas.microsoft.com/office/drawing/2014/main" id="{04FE14DC-385B-40A0-AC9F-1FA46090F2F7}"/>
              </a:ext>
            </a:extLst>
          </p:cNvPr>
          <p:cNvSpPr>
            <a:spLocks xmlns:a="http://schemas.openxmlformats.org/drawingml/2006/main" noGrp="1"/>
          </p:cNvSpPr>
          <p:nvPr/>
        </p:nvSpPr>
        <p:spPr>
          <a:xfrm xmlns:a="http://schemas.openxmlformats.org/drawingml/2006/main">
            <a:off x="619125" y="2047875"/>
            <a:ext cx="790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400" b="0">
                <a:solidFill>
                  <a:srgbClr val="00539F"/>
                </a:solidFill>
                <a:latin typeface="Arial"/>
                <a:ea typeface="Arial"/>
                <a:cs typeface="Arial"/>
              </a:defRPr>
            </a:defPPr>
            <a:lvl1pPr>
              <a:defRPr sz="2400" b="0">
                <a:solidFill>
                  <a:srgbClr val="00539F"/>
                </a:solidFill>
                <a:latin typeface="Arial"/>
                <a:ea typeface="Arial"/>
                <a:cs typeface="Arial"/>
              </a:defRPr>
            </a:lvl1pPr>
            <a:lvl2pPr>
              <a:defRPr sz="2400" b="0">
                <a:solidFill>
                  <a:srgbClr val="00539F"/>
                </a:solidFill>
                <a:latin typeface="Arial"/>
                <a:ea typeface="Arial"/>
                <a:cs typeface="Arial"/>
              </a:defRPr>
            </a:lvl2pPr>
            <a:lvl3pPr>
              <a:defRPr sz="2400" b="0">
                <a:solidFill>
                  <a:srgbClr val="00539F"/>
                </a:solidFill>
                <a:latin typeface="Arial"/>
                <a:ea typeface="Arial"/>
                <a:cs typeface="Arial"/>
              </a:defRPr>
            </a:lvl3pPr>
            <a:lvl4pPr>
              <a:defRPr sz="2400" b="0">
                <a:solidFill>
                  <a:srgbClr val="00539F"/>
                </a:solidFill>
                <a:latin typeface="Arial"/>
                <a:ea typeface="Arial"/>
                <a:cs typeface="Arial"/>
              </a:defRPr>
            </a:lvl4pPr>
            <a:lvl5pPr>
              <a:defRPr sz="2400" b="0">
                <a:solidFill>
                  <a:srgbClr val="00539F"/>
                </a:solidFill>
                <a:latin typeface="Arial"/>
                <a:ea typeface="Arial"/>
                <a:cs typeface="Arial"/>
              </a:defRPr>
            </a:lvl5pPr>
            <a:lvl6pPr>
              <a:defRPr sz="2400" b="0">
                <a:solidFill>
                  <a:srgbClr val="00539F"/>
                </a:solidFill>
                <a:latin typeface="Arial"/>
                <a:ea typeface="Arial"/>
                <a:cs typeface="Arial"/>
              </a:defRPr>
            </a:lvl6pPr>
            <a:lvl7pPr>
              <a:defRPr sz="2400" b="0">
                <a:solidFill>
                  <a:srgbClr val="00539F"/>
                </a:solidFill>
                <a:latin typeface="Arial"/>
                <a:ea typeface="Arial"/>
                <a:cs typeface="Arial"/>
              </a:defRPr>
            </a:lvl7pPr>
            <a:lvl8pPr>
              <a:defRPr sz="2400" b="0">
                <a:solidFill>
                  <a:srgbClr val="00539F"/>
                </a:solidFill>
                <a:latin typeface="Arial"/>
                <a:ea typeface="Arial"/>
                <a:cs typeface="Arial"/>
              </a:defRPr>
            </a:lvl8pPr>
            <a:lvl9pPr>
              <a:defRPr sz="2400" b="0">
                <a:solidFill>
                  <a:srgbClr val="00539F"/>
                </a:solidFill>
                <a:latin typeface="Arial"/>
                <a:ea typeface="Arial"/>
                <a:cs typeface="Arial"/>
              </a:defRPr>
            </a:lvl9pPr>
          </a:lstStyle>
          <a:p xmlns:a="http://schemas.openxmlformats.org/drawingml/2006/main">
            <a:pPr>
              <a:defRPr sz="2400" b="0">
                <a:solidFill>
                  <a:srgbClr val="00539F"/>
                </a:solidFill>
                <a:latin typeface="Arial"/>
                <a:ea typeface="Arial"/>
                <a:cs typeface="Arial"/>
              </a:defRPr>
            </a:pPr>
            <a:r>
              <a:rPr sz="2400" b="0">
                <a:solidFill>
                  <a:srgbClr val="00539F"/>
                </a:solidFill>
                <a:latin typeface="Arial"/>
                <a:ea typeface="Arial"/>
                <a:cs typeface="Arial"/>
              </a:rPr>
              <a:t>Horizon distance ≈ v × prediction time</a:t>
            </a:r>
          </a:p>
        </p:txBody>
      </p:sp>
      <p:sp>
        <p:nvSpPr>
          <p:cNvPr id="6" name="A short horizon can hide a future collision.&#10;&#10;A longer horizon c">
            <a:extLst xmlns:a="http://schemas.openxmlformats.org/drawingml/2006/main">
              <a:ext uri="{FF2B5EF4-FFF2-40B4-BE49-F238E27FC236}">
                <a16:creationId xmlns:a16="http://schemas.microsoft.com/office/drawing/2014/main" id="{21E45A7F-59DA-48B7-9D9A-8D7F29B546CA}"/>
              </a:ext>
            </a:extLst>
          </p:cNvPr>
          <p:cNvSpPr>
            <a:spLocks xmlns:a="http://schemas.openxmlformats.org/drawingml/2006/main" noGrp="1"/>
          </p:cNvSpPr>
          <p:nvPr/>
        </p:nvSpPr>
        <p:spPr>
          <a:xfrm xmlns:a="http://schemas.openxmlformats.org/drawingml/2006/main">
            <a:off x="619125" y="3476625"/>
            <a:ext cx="7905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17324D"/>
                </a:solidFill>
                <a:latin typeface="Arial"/>
                <a:ea typeface="Arial"/>
                <a:cs typeface="Arial"/>
              </a:defRPr>
            </a:defPPr>
            <a:lvl1pPr>
              <a:defRPr sz="1725" b="0">
                <a:solidFill>
                  <a:srgbClr val="17324D"/>
                </a:solidFill>
                <a:latin typeface="Arial"/>
                <a:ea typeface="Arial"/>
                <a:cs typeface="Arial"/>
              </a:defRPr>
            </a:lvl1pPr>
            <a:lvl2pPr>
              <a:defRPr sz="1725" b="0">
                <a:solidFill>
                  <a:srgbClr val="17324D"/>
                </a:solidFill>
                <a:latin typeface="Arial"/>
                <a:ea typeface="Arial"/>
                <a:cs typeface="Arial"/>
              </a:defRPr>
            </a:lvl2pPr>
            <a:lvl3pPr>
              <a:defRPr sz="1725" b="0">
                <a:solidFill>
                  <a:srgbClr val="17324D"/>
                </a:solidFill>
                <a:latin typeface="Arial"/>
                <a:ea typeface="Arial"/>
                <a:cs typeface="Arial"/>
              </a:defRPr>
            </a:lvl3pPr>
            <a:lvl4pPr>
              <a:defRPr sz="1725" b="0">
                <a:solidFill>
                  <a:srgbClr val="17324D"/>
                </a:solidFill>
                <a:latin typeface="Arial"/>
                <a:ea typeface="Arial"/>
                <a:cs typeface="Arial"/>
              </a:defRPr>
            </a:lvl4pPr>
            <a:lvl5pPr>
              <a:defRPr sz="1725" b="0">
                <a:solidFill>
                  <a:srgbClr val="17324D"/>
                </a:solidFill>
                <a:latin typeface="Arial"/>
                <a:ea typeface="Arial"/>
                <a:cs typeface="Arial"/>
              </a:defRPr>
            </a:lvl5pPr>
            <a:lvl6pPr>
              <a:defRPr sz="1725" b="0">
                <a:solidFill>
                  <a:srgbClr val="17324D"/>
                </a:solidFill>
                <a:latin typeface="Arial"/>
                <a:ea typeface="Arial"/>
                <a:cs typeface="Arial"/>
              </a:defRPr>
            </a:lvl6pPr>
            <a:lvl7pPr>
              <a:defRPr sz="1725" b="0">
                <a:solidFill>
                  <a:srgbClr val="17324D"/>
                </a:solidFill>
                <a:latin typeface="Arial"/>
                <a:ea typeface="Arial"/>
                <a:cs typeface="Arial"/>
              </a:defRPr>
            </a:lvl7pPr>
            <a:lvl8pPr>
              <a:defRPr sz="1725" b="0">
                <a:solidFill>
                  <a:srgbClr val="17324D"/>
                </a:solidFill>
                <a:latin typeface="Arial"/>
                <a:ea typeface="Arial"/>
                <a:cs typeface="Arial"/>
              </a:defRPr>
            </a:lvl8pPr>
            <a:lvl9pPr>
              <a:defRPr sz="1725" b="0">
                <a:solidFill>
                  <a:srgbClr val="17324D"/>
                </a:solidFill>
                <a:latin typeface="Arial"/>
                <a:ea typeface="Arial"/>
                <a:cs typeface="Arial"/>
              </a:defRPr>
            </a:lvl9pPr>
          </a:lstStyle>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A short horizon can hide a future collision.</a:t>
            </a:r>
          </a:p>
          <a:p xmlns:a="http://schemas.openxmlformats.org/drawingml/2006/main">
            <a:r>
              <a:t/>
            </a:r>
          </a:p>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A longer horizon costs more computation and needs useful predictions.</a:t>
            </a:r>
          </a:p>
        </p:txBody>
      </p:sp>
    </p:spTree>
    <p:extLst>
      <p:ext uri="{BB962C8B-B14F-4D97-AF65-F5344CB8AC3E}">
        <p14:creationId xmlns:p14="http://schemas.microsoft.com/office/powerpoint/2010/main" val="29134157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0E99A3D8-ACEA-4EE6-8DFB-38C9C80AE531}"/>
              </a:ext>
            </a:extLst>
          </p:cNvPr>
          <p:cNvPicPr>
            <a:picLocks xmlns:a="http://schemas.openxmlformats.org/drawingml/2006/main" noChangeAspect="1"/>
          </p:cNvPicPr>
          <p:nvPr/>
        </p:nvPicPr>
        <p:blipFill>
          <a:blip xmlns:r="http://schemas.openxmlformats.org/officeDocument/2006/relationships" xmlns:a="http://schemas.openxmlformats.org/drawingml/2006/main" r:embed="Rf11b238816ba48c7"/>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Planning in different environments">
            <a:extLst xmlns:a="http://schemas.openxmlformats.org/drawingml/2006/main">
              <a:ext uri="{FF2B5EF4-FFF2-40B4-BE49-F238E27FC236}">
                <a16:creationId xmlns:a16="http://schemas.microsoft.com/office/drawing/2014/main" id="{2C67ACF1-123E-4512-B617-65B83D2FFFC9}"/>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Planning in different environments</a:t>
            </a:r>
          </a:p>
        </p:txBody>
      </p:sp>
      <p:sp>
        <p:nvSpPr>
          <p:cNvPr id="3" name="38">
            <a:extLst xmlns:a="http://schemas.openxmlformats.org/drawingml/2006/main">
              <a:ext uri="{FF2B5EF4-FFF2-40B4-BE49-F238E27FC236}">
                <a16:creationId xmlns:a16="http://schemas.microsoft.com/office/drawing/2014/main" id="{E056E485-259D-4C11-95FE-1856EEE28607}"/>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38</a:t>
            </a:r>
          </a:p>
        </p:txBody>
      </p:sp>
      <p:graphicFrame>
        <p:nvGraphicFramePr>
          <p:cNvPr id="4" name="">
            <a:extLst xmlns:a="http://schemas.openxmlformats.org/drawingml/2006/main">
              <a:ext uri="{FF2B5EF4-FFF2-40B4-BE49-F238E27FC236}">
                <a16:creationId xmlns:a16="http://schemas.microsoft.com/office/drawing/2014/main" id="{0D6D017A-F46E-45A1-9725-4B45E762246B}"/>
              </a:ext>
            </a:extLst>
          </p:cNvPr>
          <p:cNvGraphicFramePr/>
          <p:nvPr/>
        </p:nvGraphicFramePr>
        <p:xfrm>
          <a:off xmlns:a="http://schemas.openxmlformats.org/drawingml/2006/main" x="523875" y="1438275"/>
          <a:ext xmlns:a="http://schemas.openxmlformats.org/drawingml/2006/main" cx="8096250" cy="2857500"/>
        </p:xfrm>
        <a:graphic xmlns:a="http://schemas.openxmlformats.org/drawingml/2006/main">
          <a:graphicData uri="http://schemas.openxmlformats.org/drawingml/2006/table">
            <a:tbl>
              <a:tblPr/>
              <a:tblGrid>
                <a:gridCol w="1952625"/>
                <a:gridCol w="3000375"/>
                <a:gridCol w="3143250"/>
              </a:tblGrid>
              <a:tr h="571500">
                <a:tc>
                  <a:txBody>
                    <a:bodyPr lIns="114300" tIns="76200" rIns="114300" bIns="76200">
                      <a:noAutofit/>
                    </a:bodyPr>
                    <a:lstStyle/>
                    <a:p>
                      <a:r>
                        <a:rPr sz="1425" b="1">
                          <a:solidFill>
                            <a:srgbClr val="FFFFFF"/>
                          </a:solidFill>
                          <a:latin typeface="Arial"/>
                          <a:ea typeface="Arial"/>
                          <a:cs typeface="Arial"/>
                        </a:rPr>
                        <a:t>Environment</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Planning emphasis</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Common failure</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571500">
                <a:tc>
                  <a:txBody>
                    <a:bodyPr lIns="114300" tIns="76200" rIns="114300" bIns="76200">
                      <a:noAutofit/>
                    </a:bodyPr>
                    <a:lstStyle/>
                    <a:p>
                      <a:r>
                        <a:rPr sz="1425" b="0">
                          <a:solidFill>
                            <a:srgbClr val="17324D"/>
                          </a:solidFill>
                          <a:latin typeface="Arial"/>
                          <a:ea typeface="Arial"/>
                          <a:cs typeface="Arial"/>
                        </a:rPr>
                        <a:t>Static warehouse</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Map search and footprint</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Narrow aisles / loaded robot</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571500">
                <a:tc>
                  <a:txBody>
                    <a:bodyPr lIns="114300" tIns="76200" rIns="114300" bIns="76200">
                      <a:noAutofit/>
                    </a:bodyPr>
                    <a:lstStyle/>
                    <a:p>
                      <a:r>
                        <a:rPr sz="1425" b="0">
                          <a:solidFill>
                            <a:srgbClr val="17324D"/>
                          </a:solidFill>
                          <a:latin typeface="Arial"/>
                          <a:ea typeface="Arial"/>
                          <a:cs typeface="Arial"/>
                        </a:rPr>
                        <a:t>People in a corridor</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Local prediction and stopping</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Wrong motion forecast</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571500">
                <a:tc>
                  <a:txBody>
                    <a:bodyPr lIns="114300" tIns="76200" rIns="114300" bIns="76200">
                      <a:noAutofit/>
                    </a:bodyPr>
                    <a:lstStyle/>
                    <a:p>
                      <a:r>
                        <a:rPr sz="1425" b="0">
                          <a:solidFill>
                            <a:srgbClr val="17324D"/>
                          </a:solidFill>
                          <a:latin typeface="Arial"/>
                          <a:ea typeface="Arial"/>
                          <a:cs typeface="Arial"/>
                        </a:rPr>
                        <a:t>Outdoor rough terrain</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Traversability and replanning</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Map misses slope / traction</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571500">
                <a:tc>
                  <a:txBody>
                    <a:bodyPr lIns="114300" tIns="76200" rIns="114300" bIns="76200">
                      <a:noAutofit/>
                    </a:bodyPr>
                    <a:lstStyle/>
                    <a:p>
                      <a:r>
                        <a:rPr sz="1425" b="0">
                          <a:solidFill>
                            <a:srgbClr val="17324D"/>
                          </a:solidFill>
                          <a:latin typeface="Arial"/>
                          <a:ea typeface="Arial"/>
                          <a:cs typeface="Arial"/>
                        </a:rPr>
                        <a:t>Road vehicle</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Feasible timed maneuvers</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Grid corner / crossing actor</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bl>
          </a:graphicData>
        </a:graphic>
      </p:graphicFrame>
    </p:spTree>
    <p:extLst>
      <p:ext uri="{BB962C8B-B14F-4D97-AF65-F5344CB8AC3E}">
        <p14:creationId xmlns:p14="http://schemas.microsoft.com/office/powerpoint/2010/main" val="39909495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D561DA1-1060-48E4-A6B7-827AD672334C}"/>
              </a:ext>
            </a:extLst>
          </p:cNvPr>
          <p:cNvPicPr>
            <a:picLocks xmlns:a="http://schemas.openxmlformats.org/drawingml/2006/main" noChangeAspect="1"/>
          </p:cNvPicPr>
          <p:nvPr/>
        </p:nvPicPr>
        <p:blipFill>
          <a:blip xmlns:r="http://schemas.openxmlformats.org/officeDocument/2006/relationships" xmlns:a="http://schemas.openxmlformats.org/drawingml/2006/main" r:embed="R679185f8ed214716"/>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Greg Chirikjian’s Robot Imagination">
            <a:extLst xmlns:a="http://schemas.openxmlformats.org/drawingml/2006/main">
              <a:ext uri="{FF2B5EF4-FFF2-40B4-BE49-F238E27FC236}">
                <a16:creationId xmlns:a16="http://schemas.microsoft.com/office/drawing/2014/main" id="{0308E777-00C8-429B-BE3F-BA6CC333E550}"/>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Greg Chirikjian’s Robot Imagination</a:t>
            </a:r>
          </a:p>
        </p:txBody>
      </p:sp>
      <p:sp>
        <p:nvSpPr>
          <p:cNvPr id="3" name="39">
            <a:extLst xmlns:a="http://schemas.openxmlformats.org/drawingml/2006/main">
              <a:ext uri="{FF2B5EF4-FFF2-40B4-BE49-F238E27FC236}">
                <a16:creationId xmlns:a16="http://schemas.microsoft.com/office/drawing/2014/main" id="{C3F1F59F-9B82-4FB7-8079-F8B3CFD97470}"/>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39</a:t>
            </a:r>
          </a:p>
        </p:txBody>
      </p:sp>
      <p:sp>
        <p:nvSpPr>
          <p:cNvPr id="4" name="Reconstruct an unfamiliar object for simulation.">
            <a:extLst xmlns:a="http://schemas.openxmlformats.org/drawingml/2006/main">
              <a:ext uri="{FF2B5EF4-FFF2-40B4-BE49-F238E27FC236}">
                <a16:creationId xmlns:a16="http://schemas.microsoft.com/office/drawing/2014/main" id="{B96B1455-58FB-4DA6-B3B8-F6BC578ABDDF}"/>
              </a:ext>
            </a:extLst>
          </p:cNvPr>
          <p:cNvSpPr>
            <a:spLocks xmlns:a="http://schemas.openxmlformats.org/drawingml/2006/main" noGrp="1"/>
          </p:cNvSpPr>
          <p:nvPr/>
        </p:nvSpPr>
        <p:spPr>
          <a:xfrm xmlns:a="http://schemas.openxmlformats.org/drawingml/2006/main">
            <a:off x="619125" y="1438275"/>
            <a:ext cx="7905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Reconstruct an unfamiliar object for simulation.</a:t>
            </a:r>
          </a:p>
        </p:txBody>
      </p:sp>
      <p:sp>
        <p:nvSpPr>
          <p:cNvPr id="5" name="Test candidate physical interactions and evaluate their outcomes">
            <a:extLst xmlns:a="http://schemas.openxmlformats.org/drawingml/2006/main">
              <a:ext uri="{FF2B5EF4-FFF2-40B4-BE49-F238E27FC236}">
                <a16:creationId xmlns:a16="http://schemas.microsoft.com/office/drawing/2014/main" id="{7443C883-95A8-4AF4-AA39-4FC2C3EF9E4A}"/>
              </a:ext>
            </a:extLst>
          </p:cNvPr>
          <p:cNvSpPr>
            <a:spLocks xmlns:a="http://schemas.openxmlformats.org/drawingml/2006/main" noGrp="1"/>
          </p:cNvSpPr>
          <p:nvPr/>
        </p:nvSpPr>
        <p:spPr>
          <a:xfrm xmlns:a="http://schemas.openxmlformats.org/drawingml/2006/main">
            <a:off x="619125" y="2381250"/>
            <a:ext cx="7905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Test candidate physical interactions and evaluate their outcomes.</a:t>
            </a:r>
          </a:p>
        </p:txBody>
      </p:sp>
      <p:sp>
        <p:nvSpPr>
          <p:cNvPr id="6" name="Use the resulting affordance to guide a real action.">
            <a:extLst xmlns:a="http://schemas.openxmlformats.org/drawingml/2006/main">
              <a:ext uri="{FF2B5EF4-FFF2-40B4-BE49-F238E27FC236}">
                <a16:creationId xmlns:a16="http://schemas.microsoft.com/office/drawing/2014/main" id="{06886807-8DA3-42A6-9CCA-4845CBBC0665}"/>
              </a:ext>
            </a:extLst>
          </p:cNvPr>
          <p:cNvSpPr>
            <a:spLocks xmlns:a="http://schemas.openxmlformats.org/drawingml/2006/main" noGrp="1"/>
          </p:cNvSpPr>
          <p:nvPr/>
        </p:nvSpPr>
        <p:spPr>
          <a:xfrm xmlns:a="http://schemas.openxmlformats.org/drawingml/2006/main">
            <a:off x="619125" y="3324225"/>
            <a:ext cx="7905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Use the resulting affordance to guide a real action.</a:t>
            </a:r>
          </a:p>
        </p:txBody>
      </p:sp>
    </p:spTree>
    <p:extLst>
      <p:ext uri="{BB962C8B-B14F-4D97-AF65-F5344CB8AC3E}">
        <p14:creationId xmlns:p14="http://schemas.microsoft.com/office/powerpoint/2010/main" val="65288531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289D064-4421-4AD4-893A-90BD99522C0A}"/>
              </a:ext>
            </a:extLst>
          </p:cNvPr>
          <p:cNvPicPr>
            <a:picLocks xmlns:a="http://schemas.openxmlformats.org/drawingml/2006/main" noChangeAspect="1"/>
          </p:cNvPicPr>
          <p:nvPr/>
        </p:nvPicPr>
        <p:blipFill>
          <a:blip xmlns:r="http://schemas.openxmlformats.org/officeDocument/2006/relationships" xmlns:a="http://schemas.openxmlformats.org/drawingml/2006/main" r:embed="Rca51f884124a4c75"/>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Imagination and motion planning">
            <a:extLst xmlns:a="http://schemas.openxmlformats.org/drawingml/2006/main">
              <a:ext uri="{FF2B5EF4-FFF2-40B4-BE49-F238E27FC236}">
                <a16:creationId xmlns:a16="http://schemas.microsoft.com/office/drawing/2014/main" id="{9B9A12A3-E034-45D4-8F02-34684DF895E0}"/>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Imagination and motion planning</a:t>
            </a:r>
          </a:p>
        </p:txBody>
      </p:sp>
      <p:sp>
        <p:nvSpPr>
          <p:cNvPr id="3" name="40">
            <a:extLst xmlns:a="http://schemas.openxmlformats.org/drawingml/2006/main">
              <a:ext uri="{FF2B5EF4-FFF2-40B4-BE49-F238E27FC236}">
                <a16:creationId xmlns:a16="http://schemas.microsoft.com/office/drawing/2014/main" id="{88470E16-5074-40F9-BF31-2E46A8348179}"/>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40</a:t>
            </a:r>
          </a:p>
        </p:txBody>
      </p:sp>
      <p:sp>
        <p:nvSpPr>
          <p:cNvPr id="4" name="PRIMP learns distributions of demonstrated end-effector motions.">
            <a:extLst xmlns:a="http://schemas.openxmlformats.org/drawingml/2006/main">
              <a:ext uri="{FF2B5EF4-FFF2-40B4-BE49-F238E27FC236}">
                <a16:creationId xmlns:a16="http://schemas.microsoft.com/office/drawing/2014/main" id="{86C91A0D-A2D1-47E8-A410-9A26AFEA38DA}"/>
              </a:ext>
            </a:extLst>
          </p:cNvPr>
          <p:cNvSpPr>
            <a:spLocks xmlns:a="http://schemas.openxmlformats.org/drawingml/2006/main" noGrp="1"/>
          </p:cNvSpPr>
          <p:nvPr/>
        </p:nvSpPr>
        <p:spPr>
          <a:xfrm xmlns:a="http://schemas.openxmlformats.org/drawingml/2006/main">
            <a:off x="619125" y="1438275"/>
            <a:ext cx="7905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PRIMP learns distributions of demonstrated end-effector motions.</a:t>
            </a:r>
          </a:p>
        </p:txBody>
      </p:sp>
      <p:sp>
        <p:nvSpPr>
          <p:cNvPr id="5" name="Planning uses those distributions to adapt motions around new ob">
            <a:extLst xmlns:a="http://schemas.openxmlformats.org/drawingml/2006/main">
              <a:ext uri="{FF2B5EF4-FFF2-40B4-BE49-F238E27FC236}">
                <a16:creationId xmlns:a16="http://schemas.microsoft.com/office/drawing/2014/main" id="{B2626A07-B2AE-4E3F-BF23-DA35AC67F637}"/>
              </a:ext>
            </a:extLst>
          </p:cNvPr>
          <p:cNvSpPr>
            <a:spLocks xmlns:a="http://schemas.openxmlformats.org/drawingml/2006/main" noGrp="1"/>
          </p:cNvSpPr>
          <p:nvPr/>
        </p:nvSpPr>
        <p:spPr>
          <a:xfrm xmlns:a="http://schemas.openxmlformats.org/drawingml/2006/main">
            <a:off x="619125" y="2381250"/>
            <a:ext cx="7905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Planning uses those distributions to adapt motions around new obstacles.</a:t>
            </a:r>
          </a:p>
        </p:txBody>
      </p:sp>
      <p:sp>
        <p:nvSpPr>
          <p:cNvPr id="6" name="RAIL combines language-based reasoning with simulated affordance">
            <a:extLst xmlns:a="http://schemas.openxmlformats.org/drawingml/2006/main">
              <a:ext uri="{FF2B5EF4-FFF2-40B4-BE49-F238E27FC236}">
                <a16:creationId xmlns:a16="http://schemas.microsoft.com/office/drawing/2014/main" id="{CB9AB094-B68B-4F5E-A2F1-EB7AB7CB81FB}"/>
              </a:ext>
            </a:extLst>
          </p:cNvPr>
          <p:cNvSpPr>
            <a:spLocks xmlns:a="http://schemas.openxmlformats.org/drawingml/2006/main" noGrp="1"/>
          </p:cNvSpPr>
          <p:nvPr/>
        </p:nvSpPr>
        <p:spPr>
          <a:xfrm xmlns:a="http://schemas.openxmlformats.org/drawingml/2006/main">
            <a:off x="619125" y="3324225"/>
            <a:ext cx="7905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RAIL combines language-based reasoning with simulated affordance tests.</a:t>
            </a:r>
          </a:p>
        </p:txBody>
      </p:sp>
    </p:spTree>
    <p:extLst>
      <p:ext uri="{BB962C8B-B14F-4D97-AF65-F5344CB8AC3E}">
        <p14:creationId xmlns:p14="http://schemas.microsoft.com/office/powerpoint/2010/main" val="140567085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5913124-47C3-4187-A6ED-296CD74F04DE}"/>
              </a:ext>
            </a:extLst>
          </p:cNvPr>
          <p:cNvPicPr>
            <a:picLocks xmlns:a="http://schemas.openxmlformats.org/drawingml/2006/main" noChangeAspect="1"/>
          </p:cNvPicPr>
          <p:nvPr/>
        </p:nvPicPr>
        <p:blipFill>
          <a:blip xmlns:r="http://schemas.openxmlformats.org/officeDocument/2006/relationships" xmlns:a="http://schemas.openxmlformats.org/drawingml/2006/main" r:embed="Rdb1e2e4fc22647a8"/>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Demo: imagined doorway motions">
            <a:extLst xmlns:a="http://schemas.openxmlformats.org/drawingml/2006/main">
              <a:ext uri="{FF2B5EF4-FFF2-40B4-BE49-F238E27FC236}">
                <a16:creationId xmlns:a16="http://schemas.microsoft.com/office/drawing/2014/main" id="{78628185-295F-47FB-BC27-68AB40EB996E}"/>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Demo: imagined doorway motions</a:t>
            </a:r>
          </a:p>
        </p:txBody>
      </p:sp>
      <p:sp>
        <p:nvSpPr>
          <p:cNvPr id="3" name="41">
            <a:extLst xmlns:a="http://schemas.openxmlformats.org/drawingml/2006/main">
              <a:ext uri="{FF2B5EF4-FFF2-40B4-BE49-F238E27FC236}">
                <a16:creationId xmlns:a16="http://schemas.microsoft.com/office/drawing/2014/main" id="{1AA01D70-45D9-4632-B61D-C33513329986}"/>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41</a:t>
            </a:r>
          </a:p>
        </p:txBody>
      </p:sp>
      <p:pic>
        <p:nvPicPr>
          <p:cNvPr id="4" name="">
            <a:extLst xmlns:a="http://schemas.openxmlformats.org/drawingml/2006/main">
              <a:ext uri="{FF2B5EF4-FFF2-40B4-BE49-F238E27FC236}">
                <a16:creationId xmlns:a16="http://schemas.microsoft.com/office/drawing/2014/main" id="{D633FADA-D61B-45D7-8D8F-AC81900CBE4D}"/>
              </a:ext>
            </a:extLst>
          </p:cNvPr>
          <p:cNvPicPr>
            <a:picLocks xmlns:a="http://schemas.openxmlformats.org/drawingml/2006/main" noChangeAspect="1"/>
          </p:cNvPicPr>
          <p:nvPr/>
        </p:nvPicPr>
        <p:blipFill>
          <a:blip xmlns:r="http://schemas.openxmlformats.org/officeDocument/2006/relationships" xmlns:a="http://schemas.openxmlformats.org/drawingml/2006/main" r:embed="R40f2b0ee055642e4"/>
          <a:stretch xmlns:a="http://schemas.openxmlformats.org/drawingml/2006/main"/>
        </p:blipFill>
        <p:spPr>
          <a:xfrm xmlns:a="http://schemas.openxmlformats.org/drawingml/2006/main">
            <a:off x="959353" y="1400175"/>
            <a:ext cx="4358268" cy="2667000"/>
          </a:xfrm>
          <a:prstGeom xmlns:a="http://schemas.openxmlformats.org/drawingml/2006/main" prst="rect">
            <a:avLst/>
          </a:prstGeom>
        </p:spPr>
      </p:pic>
      <p:sp>
        <p:nvSpPr>
          <p:cNvPr id="5" name="The center follows the same straight route.&#10;&#10;Changing orientatio">
            <a:extLst xmlns:a="http://schemas.openxmlformats.org/drawingml/2006/main">
              <a:ext uri="{FF2B5EF4-FFF2-40B4-BE49-F238E27FC236}">
                <a16:creationId xmlns:a16="http://schemas.microsoft.com/office/drawing/2014/main" id="{FC293D16-3BAB-44B3-A271-817CF9ADD9A3}"/>
              </a:ext>
            </a:extLst>
          </p:cNvPr>
          <p:cNvSpPr>
            <a:spLocks xmlns:a="http://schemas.openxmlformats.org/drawingml/2006/main" noGrp="1"/>
          </p:cNvSpPr>
          <p:nvPr/>
        </p:nvSpPr>
        <p:spPr>
          <a:xfrm xmlns:a="http://schemas.openxmlformats.org/drawingml/2006/main">
            <a:off x="6029325" y="1428750"/>
            <a:ext cx="2619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vl1pPr>
              <a:defRPr sz="1650" b="0">
                <a:solidFill>
                  <a:srgbClr val="17324D"/>
                </a:solidFill>
                <a:latin typeface="Arial"/>
                <a:ea typeface="Arial"/>
                <a:cs typeface="Arial"/>
              </a:defRPr>
            </a:lvl1pPr>
            <a:lvl2pPr>
              <a:defRPr sz="1650" b="0">
                <a:solidFill>
                  <a:srgbClr val="17324D"/>
                </a:solidFill>
                <a:latin typeface="Arial"/>
                <a:ea typeface="Arial"/>
                <a:cs typeface="Arial"/>
              </a:defRPr>
            </a:lvl2pPr>
            <a:lvl3pPr>
              <a:defRPr sz="1650" b="0">
                <a:solidFill>
                  <a:srgbClr val="17324D"/>
                </a:solidFill>
                <a:latin typeface="Arial"/>
                <a:ea typeface="Arial"/>
                <a:cs typeface="Arial"/>
              </a:defRPr>
            </a:lvl3pPr>
            <a:lvl4pPr>
              <a:defRPr sz="1650" b="0">
                <a:solidFill>
                  <a:srgbClr val="17324D"/>
                </a:solidFill>
                <a:latin typeface="Arial"/>
                <a:ea typeface="Arial"/>
                <a:cs typeface="Arial"/>
              </a:defRPr>
            </a:lvl4pPr>
            <a:lvl5pPr>
              <a:defRPr sz="1650" b="0">
                <a:solidFill>
                  <a:srgbClr val="17324D"/>
                </a:solidFill>
                <a:latin typeface="Arial"/>
                <a:ea typeface="Arial"/>
                <a:cs typeface="Arial"/>
              </a:defRPr>
            </a:lvl5pPr>
            <a:lvl6pPr>
              <a:defRPr sz="1650" b="0">
                <a:solidFill>
                  <a:srgbClr val="17324D"/>
                </a:solidFill>
                <a:latin typeface="Arial"/>
                <a:ea typeface="Arial"/>
                <a:cs typeface="Arial"/>
              </a:defRPr>
            </a:lvl6pPr>
            <a:lvl7pPr>
              <a:defRPr sz="1650" b="0">
                <a:solidFill>
                  <a:srgbClr val="17324D"/>
                </a:solidFill>
                <a:latin typeface="Arial"/>
                <a:ea typeface="Arial"/>
                <a:cs typeface="Arial"/>
              </a:defRPr>
            </a:lvl7pPr>
            <a:lvl8pPr>
              <a:defRPr sz="1650" b="0">
                <a:solidFill>
                  <a:srgbClr val="17324D"/>
                </a:solidFill>
                <a:latin typeface="Arial"/>
                <a:ea typeface="Arial"/>
                <a:cs typeface="Arial"/>
              </a:defRPr>
            </a:lvl8pPr>
            <a:lvl9pPr>
              <a:defRPr sz="1650" b="0">
                <a:solidFill>
                  <a:srgbClr val="17324D"/>
                </a:solidFill>
                <a:latin typeface="Arial"/>
                <a:ea typeface="Arial"/>
                <a:cs typeface="Arial"/>
              </a:defRPr>
            </a:lvl9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The center follows the same straight route.</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Changing orientation changes the swept robot footprint.</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Candidate motions must pass collision checks before execution.</a:t>
            </a:r>
          </a:p>
        </p:txBody>
      </p:sp>
      <p:sp>
        <p:nvSpPr>
          <p:cNvPr id="6" name="Green / red labels: candidate fits / collides · Green rectangle:">
            <a:extLst xmlns:a="http://schemas.openxmlformats.org/drawingml/2006/main">
              <a:ext uri="{FF2B5EF4-FFF2-40B4-BE49-F238E27FC236}">
                <a16:creationId xmlns:a16="http://schemas.microsoft.com/office/drawing/2014/main" id="{C452382C-2681-42AD-90E5-F2E036BCE9E9}"/>
              </a:ext>
            </a:extLst>
          </p:cNvPr>
          <p:cNvSpPr>
            <a:spLocks xmlns:a="http://schemas.openxmlformats.org/drawingml/2006/main" noGrp="1"/>
          </p:cNvSpPr>
          <p:nvPr/>
        </p:nvSpPr>
        <p:spPr>
          <a:xfrm xmlns:a="http://schemas.openxmlformats.org/drawingml/2006/main">
            <a:off x="523875" y="417195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17324D"/>
                </a:solidFill>
                <a:latin typeface="Arial"/>
                <a:ea typeface="Arial"/>
                <a:cs typeface="Arial"/>
              </a:defRPr>
            </a:defPPr>
            <a:lvl1pPr>
              <a:defRPr sz="1350" b="0">
                <a:solidFill>
                  <a:srgbClr val="17324D"/>
                </a:solidFill>
                <a:latin typeface="Arial"/>
                <a:ea typeface="Arial"/>
                <a:cs typeface="Arial"/>
              </a:defRPr>
            </a:lvl1pPr>
            <a:lvl2pPr>
              <a:defRPr sz="1350" b="0">
                <a:solidFill>
                  <a:srgbClr val="17324D"/>
                </a:solidFill>
                <a:latin typeface="Arial"/>
                <a:ea typeface="Arial"/>
                <a:cs typeface="Arial"/>
              </a:defRPr>
            </a:lvl2pPr>
            <a:lvl3pPr>
              <a:defRPr sz="1350" b="0">
                <a:solidFill>
                  <a:srgbClr val="17324D"/>
                </a:solidFill>
                <a:latin typeface="Arial"/>
                <a:ea typeface="Arial"/>
                <a:cs typeface="Arial"/>
              </a:defRPr>
            </a:lvl3pPr>
            <a:lvl4pPr>
              <a:defRPr sz="1350" b="0">
                <a:solidFill>
                  <a:srgbClr val="17324D"/>
                </a:solidFill>
                <a:latin typeface="Arial"/>
                <a:ea typeface="Arial"/>
                <a:cs typeface="Arial"/>
              </a:defRPr>
            </a:lvl4pPr>
            <a:lvl5pPr>
              <a:defRPr sz="1350" b="0">
                <a:solidFill>
                  <a:srgbClr val="17324D"/>
                </a:solidFill>
                <a:latin typeface="Arial"/>
                <a:ea typeface="Arial"/>
                <a:cs typeface="Arial"/>
              </a:defRPr>
            </a:lvl5pPr>
            <a:lvl6pPr>
              <a:defRPr sz="1350" b="0">
                <a:solidFill>
                  <a:srgbClr val="17324D"/>
                </a:solidFill>
                <a:latin typeface="Arial"/>
                <a:ea typeface="Arial"/>
                <a:cs typeface="Arial"/>
              </a:defRPr>
            </a:lvl6pPr>
            <a:lvl7pPr>
              <a:defRPr sz="1350" b="0">
                <a:solidFill>
                  <a:srgbClr val="17324D"/>
                </a:solidFill>
                <a:latin typeface="Arial"/>
                <a:ea typeface="Arial"/>
                <a:cs typeface="Arial"/>
              </a:defRPr>
            </a:lvl7pPr>
            <a:lvl8pPr>
              <a:defRPr sz="1350" b="0">
                <a:solidFill>
                  <a:srgbClr val="17324D"/>
                </a:solidFill>
                <a:latin typeface="Arial"/>
                <a:ea typeface="Arial"/>
                <a:cs typeface="Arial"/>
              </a:defRPr>
            </a:lvl8pPr>
            <a:lvl9pPr>
              <a:defRPr sz="1350" b="0">
                <a:solidFill>
                  <a:srgbClr val="17324D"/>
                </a:solidFill>
                <a:latin typeface="Arial"/>
                <a:ea typeface="Arial"/>
                <a:cs typeface="Arial"/>
              </a:defRPr>
            </a:lvl9pPr>
          </a:lstStyle>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Green / red labels: candidate fits / collides · Green rectangle: clear pose</a:t>
            </a:r>
          </a:p>
        </p:txBody>
      </p:sp>
      <p:sp>
        <p:nvSpPr>
          <p:cNvPr id="7" name="Open interactive experiment">
            <a:extLst xmlns:a="http://schemas.openxmlformats.org/drawingml/2006/main">
              <a:ext uri="{FF2B5EF4-FFF2-40B4-BE49-F238E27FC236}">
                <a16:creationId xmlns:a16="http://schemas.microsoft.com/office/drawing/2014/main" id="{5AABD6C4-D904-484C-8E16-FCB095E1434A}"/>
              </a:ext>
            </a:extLst>
          </p:cNvPr>
          <p:cNvSpPr>
            <a:spLocks xmlns:a="http://schemas.openxmlformats.org/drawingml/2006/main" noGrp="1"/>
          </p:cNvSpPr>
          <p:nvPr/>
        </p:nvSpPr>
        <p:spPr>
          <a:xfrm xmlns:a="http://schemas.openxmlformats.org/drawingml/2006/main">
            <a:off x="523875" y="46291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92273218e0bf49e1"/>
              </a:rPr>
              <a:t>Open interactive experiment</a:t>
            </a:r>
          </a:p>
        </p:txBody>
      </p:sp>
    </p:spTree>
    <p:extLst>
      <p:ext uri="{BB962C8B-B14F-4D97-AF65-F5344CB8AC3E}">
        <p14:creationId xmlns:p14="http://schemas.microsoft.com/office/powerpoint/2010/main" val="90571660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390B6904-708D-4DD9-AC07-6CD8B2DA4926}"/>
              </a:ext>
            </a:extLst>
          </p:cNvPr>
          <p:cNvPicPr>
            <a:picLocks xmlns:a="http://schemas.openxmlformats.org/drawingml/2006/main" noChangeAspect="1"/>
          </p:cNvPicPr>
          <p:nvPr/>
        </p:nvPicPr>
        <p:blipFill>
          <a:blip xmlns:r="http://schemas.openxmlformats.org/officeDocument/2006/relationships" xmlns:a="http://schemas.openxmlformats.org/drawingml/2006/main" r:embed="Rc7ba2f518a414b34"/>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Choosing a planning approach">
            <a:extLst xmlns:a="http://schemas.openxmlformats.org/drawingml/2006/main">
              <a:ext uri="{FF2B5EF4-FFF2-40B4-BE49-F238E27FC236}">
                <a16:creationId xmlns:a16="http://schemas.microsoft.com/office/drawing/2014/main" id="{00398D2A-658D-4BA4-BFA8-B3D70AE5925B}"/>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Choosing a planning approach</a:t>
            </a:r>
          </a:p>
        </p:txBody>
      </p:sp>
      <p:sp>
        <p:nvSpPr>
          <p:cNvPr id="3" name="42">
            <a:extLst xmlns:a="http://schemas.openxmlformats.org/drawingml/2006/main">
              <a:ext uri="{FF2B5EF4-FFF2-40B4-BE49-F238E27FC236}">
                <a16:creationId xmlns:a16="http://schemas.microsoft.com/office/drawing/2014/main" id="{0C298AE7-88F8-4FE3-94B8-C9FBC7420B21}"/>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42</a:t>
            </a:r>
          </a:p>
        </p:txBody>
      </p:sp>
      <p:graphicFrame>
        <p:nvGraphicFramePr>
          <p:cNvPr id="4" name="">
            <a:extLst xmlns:a="http://schemas.openxmlformats.org/drawingml/2006/main">
              <a:ext uri="{FF2B5EF4-FFF2-40B4-BE49-F238E27FC236}">
                <a16:creationId xmlns:a16="http://schemas.microsoft.com/office/drawing/2014/main" id="{21EC3996-3DB6-48EF-A7B0-E59884B30DB8}"/>
              </a:ext>
            </a:extLst>
          </p:cNvPr>
          <p:cNvGraphicFramePr/>
          <p:nvPr/>
        </p:nvGraphicFramePr>
        <p:xfrm>
          <a:off xmlns:a="http://schemas.openxmlformats.org/drawingml/2006/main" x="523875" y="1438275"/>
          <a:ext xmlns:a="http://schemas.openxmlformats.org/drawingml/2006/main" cx="8096250" cy="3095625"/>
        </p:xfrm>
        <a:graphic xmlns:a="http://schemas.openxmlformats.org/drawingml/2006/main">
          <a:graphicData uri="http://schemas.openxmlformats.org/drawingml/2006/table">
            <a:tbl>
              <a:tblPr/>
              <a:tblGrid>
                <a:gridCol w="1952625"/>
                <a:gridCol w="3000375"/>
                <a:gridCol w="3143250"/>
              </a:tblGrid>
              <a:tr h="515938">
                <a:tc>
                  <a:txBody>
                    <a:bodyPr lIns="114300" tIns="76200" rIns="114300" bIns="76200">
                      <a:noAutofit/>
                    </a:bodyPr>
                    <a:lstStyle/>
                    <a:p>
                      <a:r>
                        <a:rPr sz="1425" b="1">
                          <a:solidFill>
                            <a:srgbClr val="FFFFFF"/>
                          </a:solidFill>
                          <a:latin typeface="Arial"/>
                          <a:ea typeface="Arial"/>
                          <a:cs typeface="Arial"/>
                        </a:rPr>
                        <a:t>Problem</a:t>
                      </a:r>
                    </a:p>
                  </a:txBody>
                  <a:tcPr marL="91440" marR="91440" marT="45720" marB="45720" anchor="ctr">
                    <a:lnL w="5715">
                      <a:solidFill>
                        <a:srgbClr val="D8E4ED"/>
                      </a:solidFill>
                      <a:prstDash val="solid"/>
                    </a:lnL>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Candidate approach</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c>
                  <a:txBody>
                    <a:bodyPr lIns="114300" tIns="76200" rIns="114300" bIns="76200">
                      <a:noAutofit/>
                    </a:bodyPr>
                    <a:lstStyle/>
                    <a:p>
                      <a:r>
                        <a:rPr sz="1425" b="1">
                          <a:solidFill>
                            <a:srgbClr val="FFFFFF"/>
                          </a:solidFill>
                          <a:latin typeface="Arial"/>
                          <a:ea typeface="Arial"/>
                          <a:cs typeface="Arial"/>
                        </a:rPr>
                        <a:t>First check</a:t>
                      </a:r>
                    </a:p>
                  </a:txBody>
                  <a:tcPr marL="91440" marR="91440" marT="45720" marB="45720" anchor="ctr">
                    <a:lnR w="5715">
                      <a:solidFill>
                        <a:srgbClr val="D8E4ED"/>
                      </a:solidFill>
                      <a:prstDash val="solid"/>
                    </a:lnR>
                    <a:lnT w="5715">
                      <a:solidFill>
                        <a:srgbClr val="D8E4ED"/>
                      </a:solidFill>
                      <a:prstDash val="solid"/>
                    </a:lnT>
                    <a:lnB w="5715">
                      <a:solidFill>
                        <a:srgbClr val="D8E4ED"/>
                      </a:solidFill>
                      <a:prstDash val="solid"/>
                    </a:lnB>
                    <a:solidFill>
                      <a:srgbClr val="00539F"/>
                    </a:solidFill>
                  </a:tcPr>
                </a:tc>
              </a:tr>
              <a:tr h="515938">
                <a:tc>
                  <a:txBody>
                    <a:bodyPr lIns="114300" tIns="76200" rIns="114300" bIns="76200">
                      <a:noAutofit/>
                    </a:bodyPr>
                    <a:lstStyle/>
                    <a:p>
                      <a:r>
                        <a:rPr sz="1425" b="0">
                          <a:solidFill>
                            <a:srgbClr val="17324D"/>
                          </a:solidFill>
                          <a:latin typeface="Arial"/>
                          <a:ea typeface="Arial"/>
                          <a:cs typeface="Arial"/>
                        </a:rPr>
                        <a:t>Known cost map</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A* / Dijkstra</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Heuristic and graph costs</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515938">
                <a:tc>
                  <a:txBody>
                    <a:bodyPr lIns="114300" tIns="76200" rIns="114300" bIns="76200">
                      <a:noAutofit/>
                    </a:bodyPr>
                    <a:lstStyle/>
                    <a:p>
                      <a:r>
                        <a:rPr sz="1425" b="0">
                          <a:solidFill>
                            <a:srgbClr val="17324D"/>
                          </a:solidFill>
                          <a:latin typeface="Arial"/>
                          <a:ea typeface="Arial"/>
                          <a:cs typeface="Arial"/>
                        </a:rPr>
                        <a:t>Changing map, same goal</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D* Lite</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Cost-change updates</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515938">
                <a:tc>
                  <a:txBody>
                    <a:bodyPr lIns="114300" tIns="76200" rIns="114300" bIns="76200">
                      <a:noAutofit/>
                    </a:bodyPr>
                    <a:lstStyle/>
                    <a:p>
                      <a:r>
                        <a:rPr sz="1425" b="0">
                          <a:solidFill>
                            <a:srgbClr val="17324D"/>
                          </a:solidFill>
                          <a:latin typeface="Arial"/>
                          <a:ea typeface="Arial"/>
                          <a:cs typeface="Arial"/>
                        </a:rPr>
                        <a:t>Arm / complex geometry</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PRM / RRT / RRT*</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Configuration collision model</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r h="515938">
                <a:tc>
                  <a:txBody>
                    <a:bodyPr lIns="114300" tIns="76200" rIns="114300" bIns="76200">
                      <a:noAutofit/>
                    </a:bodyPr>
                    <a:lstStyle/>
                    <a:p>
                      <a:r>
                        <a:rPr sz="1425" b="0">
                          <a:solidFill>
                            <a:srgbClr val="17324D"/>
                          </a:solidFill>
                          <a:latin typeface="Arial"/>
                          <a:ea typeface="Arial"/>
                          <a:cs typeface="Arial"/>
                        </a:rPr>
                        <a:t>Vehicle maneuvers</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Hybrid A* / lattice</a:t>
                      </a:r>
                    </a:p>
                  </a:txBody>
                  <a:tcPr marL="91440" marR="91440" marT="45720" marB="45720" anchor="ctr">
                    <a:lnR w="5715">
                      <a:solidFill>
                        <a:srgbClr val="D8E4ED"/>
                      </a:solidFill>
                      <a:prstDash val="solid"/>
                    </a:lnR>
                    <a:lnB w="5715">
                      <a:solidFill>
                        <a:srgbClr val="D8E4ED"/>
                      </a:solidFill>
                      <a:prstDash val="solid"/>
                    </a:lnB>
                    <a:solidFill>
                      <a:srgbClr val="F1F6FA"/>
                    </a:solidFill>
                  </a:tcPr>
                </a:tc>
                <a:tc>
                  <a:txBody>
                    <a:bodyPr lIns="114300" tIns="76200" rIns="114300" bIns="76200">
                      <a:noAutofit/>
                    </a:bodyPr>
                    <a:lstStyle/>
                    <a:p>
                      <a:r>
                        <a:rPr sz="1425" b="0">
                          <a:solidFill>
                            <a:srgbClr val="17324D"/>
                          </a:solidFill>
                          <a:latin typeface="Arial"/>
                          <a:ea typeface="Arial"/>
                          <a:cs typeface="Arial"/>
                        </a:rPr>
                        <a:t>Curvature and footprint</a:t>
                      </a:r>
                    </a:p>
                  </a:txBody>
                  <a:tcPr marL="91440" marR="91440" marT="45720" marB="45720" anchor="ctr">
                    <a:lnR w="5715">
                      <a:solidFill>
                        <a:srgbClr val="D8E4ED"/>
                      </a:solidFill>
                      <a:prstDash val="solid"/>
                    </a:lnR>
                    <a:lnB w="5715">
                      <a:solidFill>
                        <a:srgbClr val="D8E4ED"/>
                      </a:solidFill>
                      <a:prstDash val="solid"/>
                    </a:lnB>
                    <a:solidFill>
                      <a:srgbClr val="F1F6FA"/>
                    </a:solidFill>
                  </a:tcPr>
                </a:tc>
              </a:tr>
              <a:tr h="515938">
                <a:tc>
                  <a:txBody>
                    <a:bodyPr lIns="114300" tIns="76200" rIns="114300" bIns="76200">
                      <a:noAutofit/>
                    </a:bodyPr>
                    <a:lstStyle/>
                    <a:p>
                      <a:r>
                        <a:rPr sz="1425" b="0">
                          <a:solidFill>
                            <a:srgbClr val="17324D"/>
                          </a:solidFill>
                          <a:latin typeface="Arial"/>
                          <a:ea typeface="Arial"/>
                          <a:cs typeface="Arial"/>
                        </a:rPr>
                        <a:t>Moving nearby objects</a:t>
                      </a:r>
                    </a:p>
                  </a:txBody>
                  <a:tcPr marL="91440" marR="91440" marT="45720" marB="45720" anchor="ctr">
                    <a:lnL w="5715">
                      <a:solidFill>
                        <a:srgbClr val="D8E4ED"/>
                      </a:solidFill>
                      <a:prstDash val="solid"/>
                    </a:lnL>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Local prediction / optimization</a:t>
                      </a:r>
                    </a:p>
                  </a:txBody>
                  <a:tcPr marL="91440" marR="91440" marT="45720" marB="45720" anchor="ctr">
                    <a:lnR w="5715">
                      <a:solidFill>
                        <a:srgbClr val="D8E4ED"/>
                      </a:solidFill>
                      <a:prstDash val="solid"/>
                    </a:lnR>
                    <a:lnB w="5715">
                      <a:solidFill>
                        <a:srgbClr val="D8E4ED"/>
                      </a:solidFill>
                      <a:prstDash val="solid"/>
                    </a:lnB>
                    <a:solidFill>
                      <a:srgbClr val="FFFFFF"/>
                    </a:solidFill>
                  </a:tcPr>
                </a:tc>
                <a:tc>
                  <a:txBody>
                    <a:bodyPr lIns="114300" tIns="76200" rIns="114300" bIns="76200">
                      <a:noAutofit/>
                    </a:bodyPr>
                    <a:lstStyle/>
                    <a:p>
                      <a:r>
                        <a:rPr sz="1425" b="0">
                          <a:solidFill>
                            <a:srgbClr val="17324D"/>
                          </a:solidFill>
                          <a:latin typeface="Arial"/>
                          <a:ea typeface="Arial"/>
                          <a:cs typeface="Arial"/>
                        </a:rPr>
                        <a:t>Timing and stopping feasibility</a:t>
                      </a:r>
                    </a:p>
                  </a:txBody>
                  <a:tcPr marL="91440" marR="91440" marT="45720" marB="45720" anchor="ctr">
                    <a:lnR w="5715">
                      <a:solidFill>
                        <a:srgbClr val="D8E4ED"/>
                      </a:solidFill>
                      <a:prstDash val="solid"/>
                    </a:lnR>
                    <a:lnB w="5715">
                      <a:solidFill>
                        <a:srgbClr val="D8E4ED"/>
                      </a:solidFill>
                      <a:prstDash val="solid"/>
                    </a:lnB>
                    <a:solidFill>
                      <a:srgbClr val="FFFFFF"/>
                    </a:solidFill>
                  </a:tcPr>
                </a:tc>
              </a:tr>
            </a:tbl>
          </a:graphicData>
        </a:graphic>
      </p:graphicFrame>
    </p:spTree>
    <p:extLst>
      <p:ext uri="{BB962C8B-B14F-4D97-AF65-F5344CB8AC3E}">
        <p14:creationId xmlns:p14="http://schemas.microsoft.com/office/powerpoint/2010/main" val="16482509"/>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236F47AB-E65E-439D-9E47-9B0524C48C90}"/>
              </a:ext>
            </a:extLst>
          </p:cNvPr>
          <p:cNvPicPr>
            <a:picLocks xmlns:a="http://schemas.openxmlformats.org/drawingml/2006/main" noChangeAspect="1"/>
          </p:cNvPicPr>
          <p:nvPr/>
        </p:nvPicPr>
        <p:blipFill>
          <a:blip xmlns:r="http://schemas.openxmlformats.org/officeDocument/2006/relationships" xmlns:a="http://schemas.openxmlformats.org/drawingml/2006/main" r:embed="Rd67d1ad840294555"/>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Theta* and the A* reference">
            <a:extLst xmlns:a="http://schemas.openxmlformats.org/drawingml/2006/main">
              <a:ext uri="{FF2B5EF4-FFF2-40B4-BE49-F238E27FC236}">
                <a16:creationId xmlns:a16="http://schemas.microsoft.com/office/drawing/2014/main" id="{4612F746-2073-41BC-B6EE-0B6F60018F22}"/>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Theta* and the A* reference</a:t>
            </a:r>
          </a:p>
        </p:txBody>
      </p:sp>
      <p:sp>
        <p:nvSpPr>
          <p:cNvPr id="3" name="43">
            <a:extLst xmlns:a="http://schemas.openxmlformats.org/drawingml/2006/main">
              <a:ext uri="{FF2B5EF4-FFF2-40B4-BE49-F238E27FC236}">
                <a16:creationId xmlns:a16="http://schemas.microsoft.com/office/drawing/2014/main" id="{78D19F23-66E3-464C-8602-F9171E43CE95}"/>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43</a:t>
            </a:r>
          </a:p>
        </p:txBody>
      </p:sp>
      <p:pic>
        <p:nvPicPr>
          <p:cNvPr id="4" name="">
            <a:extLst xmlns:a="http://schemas.openxmlformats.org/drawingml/2006/main">
              <a:ext uri="{FF2B5EF4-FFF2-40B4-BE49-F238E27FC236}">
                <a16:creationId xmlns:a16="http://schemas.microsoft.com/office/drawing/2014/main" id="{F4B6118D-17EC-408C-9A39-9E2A7D7C6351}"/>
              </a:ext>
            </a:extLst>
          </p:cNvPr>
          <p:cNvPicPr>
            <a:picLocks xmlns:a="http://schemas.openxmlformats.org/drawingml/2006/main" noChangeAspect="1"/>
          </p:cNvPicPr>
          <p:nvPr/>
        </p:nvPicPr>
        <p:blipFill>
          <a:blip xmlns:r="http://schemas.openxmlformats.org/officeDocument/2006/relationships" xmlns:a="http://schemas.openxmlformats.org/drawingml/2006/main" r:embed="Rf1496e940b7d433c"/>
          <a:stretch xmlns:a="http://schemas.openxmlformats.org/drawingml/2006/main"/>
        </p:blipFill>
        <p:spPr>
          <a:xfrm xmlns:a="http://schemas.openxmlformats.org/drawingml/2006/main">
            <a:off x="959353" y="1400175"/>
            <a:ext cx="4358268" cy="2667000"/>
          </a:xfrm>
          <a:prstGeom xmlns:a="http://schemas.openxmlformats.org/drawingml/2006/main" prst="rect">
            <a:avLst/>
          </a:prstGeom>
        </p:spPr>
      </p:pic>
      <p:sp>
        <p:nvSpPr>
          <p:cNvPr id="5" name="Eight-neighbor A* follows grid directions.&#10;&#10;Theta* tests direct ">
            <a:extLst xmlns:a="http://schemas.openxmlformats.org/drawingml/2006/main">
              <a:ext uri="{FF2B5EF4-FFF2-40B4-BE49-F238E27FC236}">
                <a16:creationId xmlns:a16="http://schemas.microsoft.com/office/drawing/2014/main" id="{8641BF85-F5C6-4D76-994F-EAC1F7B66AE3}"/>
              </a:ext>
            </a:extLst>
          </p:cNvPr>
          <p:cNvSpPr>
            <a:spLocks xmlns:a="http://schemas.openxmlformats.org/drawingml/2006/main" noGrp="1"/>
          </p:cNvSpPr>
          <p:nvPr/>
        </p:nvSpPr>
        <p:spPr>
          <a:xfrm xmlns:a="http://schemas.openxmlformats.org/drawingml/2006/main">
            <a:off x="6029325" y="1428750"/>
            <a:ext cx="2619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vl1pPr>
              <a:defRPr sz="1650" b="0">
                <a:solidFill>
                  <a:srgbClr val="17324D"/>
                </a:solidFill>
                <a:latin typeface="Arial"/>
                <a:ea typeface="Arial"/>
                <a:cs typeface="Arial"/>
              </a:defRPr>
            </a:lvl1pPr>
            <a:lvl2pPr>
              <a:defRPr sz="1650" b="0">
                <a:solidFill>
                  <a:srgbClr val="17324D"/>
                </a:solidFill>
                <a:latin typeface="Arial"/>
                <a:ea typeface="Arial"/>
                <a:cs typeface="Arial"/>
              </a:defRPr>
            </a:lvl2pPr>
            <a:lvl3pPr>
              <a:defRPr sz="1650" b="0">
                <a:solidFill>
                  <a:srgbClr val="17324D"/>
                </a:solidFill>
                <a:latin typeface="Arial"/>
                <a:ea typeface="Arial"/>
                <a:cs typeface="Arial"/>
              </a:defRPr>
            </a:lvl3pPr>
            <a:lvl4pPr>
              <a:defRPr sz="1650" b="0">
                <a:solidFill>
                  <a:srgbClr val="17324D"/>
                </a:solidFill>
                <a:latin typeface="Arial"/>
                <a:ea typeface="Arial"/>
                <a:cs typeface="Arial"/>
              </a:defRPr>
            </a:lvl4pPr>
            <a:lvl5pPr>
              <a:defRPr sz="1650" b="0">
                <a:solidFill>
                  <a:srgbClr val="17324D"/>
                </a:solidFill>
                <a:latin typeface="Arial"/>
                <a:ea typeface="Arial"/>
                <a:cs typeface="Arial"/>
              </a:defRPr>
            </a:lvl5pPr>
            <a:lvl6pPr>
              <a:defRPr sz="1650" b="0">
                <a:solidFill>
                  <a:srgbClr val="17324D"/>
                </a:solidFill>
                <a:latin typeface="Arial"/>
                <a:ea typeface="Arial"/>
                <a:cs typeface="Arial"/>
              </a:defRPr>
            </a:lvl6pPr>
            <a:lvl7pPr>
              <a:defRPr sz="1650" b="0">
                <a:solidFill>
                  <a:srgbClr val="17324D"/>
                </a:solidFill>
                <a:latin typeface="Arial"/>
                <a:ea typeface="Arial"/>
                <a:cs typeface="Arial"/>
              </a:defRPr>
            </a:lvl7pPr>
            <a:lvl8pPr>
              <a:defRPr sz="1650" b="0">
                <a:solidFill>
                  <a:srgbClr val="17324D"/>
                </a:solidFill>
                <a:latin typeface="Arial"/>
                <a:ea typeface="Arial"/>
                <a:cs typeface="Arial"/>
              </a:defRPr>
            </a:lvl8pPr>
            <a:lvl9pPr>
              <a:defRPr sz="1650" b="0">
                <a:solidFill>
                  <a:srgbClr val="17324D"/>
                </a:solidFill>
                <a:latin typeface="Arial"/>
                <a:ea typeface="Arial"/>
                <a:cs typeface="Arial"/>
              </a:defRPr>
            </a:lvl9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Eight-neighbor A* follows grid directions.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Theta* tests direct connections through a state’s parent.</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A shorter geometric route may still violate vehicle steering limits.</a:t>
            </a:r>
          </a:p>
        </p:txBody>
      </p:sp>
      <p:sp>
        <p:nvSpPr>
          <p:cNvPr id="6" name="Dashed gray: eight-neighbor A* reference · Blue: Theta* route&#10;Cy">
            <a:extLst xmlns:a="http://schemas.openxmlformats.org/drawingml/2006/main">
              <a:ext uri="{FF2B5EF4-FFF2-40B4-BE49-F238E27FC236}">
                <a16:creationId xmlns:a16="http://schemas.microsoft.com/office/drawing/2014/main" id="{FED9C27C-0BAB-49E0-883F-32F1830C3802}"/>
              </a:ext>
            </a:extLst>
          </p:cNvPr>
          <p:cNvSpPr>
            <a:spLocks xmlns:a="http://schemas.openxmlformats.org/drawingml/2006/main" noGrp="1"/>
          </p:cNvSpPr>
          <p:nvPr/>
        </p:nvSpPr>
        <p:spPr>
          <a:xfrm xmlns:a="http://schemas.openxmlformats.org/drawingml/2006/main">
            <a:off x="523875" y="417195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17324D"/>
                </a:solidFill>
                <a:latin typeface="Arial"/>
                <a:ea typeface="Arial"/>
                <a:cs typeface="Arial"/>
              </a:defRPr>
            </a:defPPr>
            <a:lvl1pPr>
              <a:defRPr sz="1350" b="0">
                <a:solidFill>
                  <a:srgbClr val="17324D"/>
                </a:solidFill>
                <a:latin typeface="Arial"/>
                <a:ea typeface="Arial"/>
                <a:cs typeface="Arial"/>
              </a:defRPr>
            </a:lvl1pPr>
            <a:lvl2pPr>
              <a:defRPr sz="1350" b="0">
                <a:solidFill>
                  <a:srgbClr val="17324D"/>
                </a:solidFill>
                <a:latin typeface="Arial"/>
                <a:ea typeface="Arial"/>
                <a:cs typeface="Arial"/>
              </a:defRPr>
            </a:lvl2pPr>
            <a:lvl3pPr>
              <a:defRPr sz="1350" b="0">
                <a:solidFill>
                  <a:srgbClr val="17324D"/>
                </a:solidFill>
                <a:latin typeface="Arial"/>
                <a:ea typeface="Arial"/>
                <a:cs typeface="Arial"/>
              </a:defRPr>
            </a:lvl3pPr>
            <a:lvl4pPr>
              <a:defRPr sz="1350" b="0">
                <a:solidFill>
                  <a:srgbClr val="17324D"/>
                </a:solidFill>
                <a:latin typeface="Arial"/>
                <a:ea typeface="Arial"/>
                <a:cs typeface="Arial"/>
              </a:defRPr>
            </a:lvl4pPr>
            <a:lvl5pPr>
              <a:defRPr sz="1350" b="0">
                <a:solidFill>
                  <a:srgbClr val="17324D"/>
                </a:solidFill>
                <a:latin typeface="Arial"/>
                <a:ea typeface="Arial"/>
                <a:cs typeface="Arial"/>
              </a:defRPr>
            </a:lvl5pPr>
            <a:lvl6pPr>
              <a:defRPr sz="1350" b="0">
                <a:solidFill>
                  <a:srgbClr val="17324D"/>
                </a:solidFill>
                <a:latin typeface="Arial"/>
                <a:ea typeface="Arial"/>
                <a:cs typeface="Arial"/>
              </a:defRPr>
            </a:lvl6pPr>
            <a:lvl7pPr>
              <a:defRPr sz="1350" b="0">
                <a:solidFill>
                  <a:srgbClr val="17324D"/>
                </a:solidFill>
                <a:latin typeface="Arial"/>
                <a:ea typeface="Arial"/>
                <a:cs typeface="Arial"/>
              </a:defRPr>
            </a:lvl7pPr>
            <a:lvl8pPr>
              <a:defRPr sz="1350" b="0">
                <a:solidFill>
                  <a:srgbClr val="17324D"/>
                </a:solidFill>
                <a:latin typeface="Arial"/>
                <a:ea typeface="Arial"/>
                <a:cs typeface="Arial"/>
              </a:defRPr>
            </a:lvl8pPr>
            <a:lvl9pPr>
              <a:defRPr sz="1350" b="0">
                <a:solidFill>
                  <a:srgbClr val="17324D"/>
                </a:solidFill>
                <a:latin typeface="Arial"/>
                <a:ea typeface="Arial"/>
                <a:cs typeface="Arial"/>
              </a:defRPr>
            </a:lvl9pPr>
          </a:lstStyle>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Dashed gray: eight-neighbor A* reference · Blue: Theta* route</a:t>
            </a:r>
          </a:p>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Cyan: expanded cells · Dark navy: obstacles</a:t>
            </a:r>
          </a:p>
        </p:txBody>
      </p:sp>
      <p:sp>
        <p:nvSpPr>
          <p:cNvPr id="7" name="Open interactive experiment">
            <a:extLst xmlns:a="http://schemas.openxmlformats.org/drawingml/2006/main">
              <a:ext uri="{FF2B5EF4-FFF2-40B4-BE49-F238E27FC236}">
                <a16:creationId xmlns:a16="http://schemas.microsoft.com/office/drawing/2014/main" id="{134B22FE-A81B-43C5-B383-AFAA895827FB}"/>
              </a:ext>
            </a:extLst>
          </p:cNvPr>
          <p:cNvSpPr>
            <a:spLocks xmlns:a="http://schemas.openxmlformats.org/drawingml/2006/main" noGrp="1"/>
          </p:cNvSpPr>
          <p:nvPr/>
        </p:nvSpPr>
        <p:spPr>
          <a:xfrm xmlns:a="http://schemas.openxmlformats.org/drawingml/2006/main">
            <a:off x="523875" y="46291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5b29585f79994a4a"/>
              </a:rPr>
              <a:t>Open interactive experiment</a:t>
            </a:r>
          </a:p>
        </p:txBody>
      </p:sp>
    </p:spTree>
    <p:extLst>
      <p:ext uri="{BB962C8B-B14F-4D97-AF65-F5344CB8AC3E}">
        <p14:creationId xmlns:p14="http://schemas.microsoft.com/office/powerpoint/2010/main" val="70261509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AB703B5-DE70-4E55-9D6A-99FACCBB5CAA}"/>
              </a:ext>
            </a:extLst>
          </p:cNvPr>
          <p:cNvPicPr>
            <a:picLocks xmlns:a="http://schemas.openxmlformats.org/drawingml/2006/main" noChangeAspect="1"/>
          </p:cNvPicPr>
          <p:nvPr/>
        </p:nvPicPr>
        <p:blipFill>
          <a:blip xmlns:r="http://schemas.openxmlformats.org/officeDocument/2006/relationships" xmlns:a="http://schemas.openxmlformats.org/drawingml/2006/main" r:embed="R6edc07c99d8e4c65"/>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MPPI-style local sequence optimization">
            <a:extLst xmlns:a="http://schemas.openxmlformats.org/drawingml/2006/main">
              <a:ext uri="{FF2B5EF4-FFF2-40B4-BE49-F238E27FC236}">
                <a16:creationId xmlns:a16="http://schemas.microsoft.com/office/drawing/2014/main" id="{EB264857-98FC-414A-8149-D9C50F376861}"/>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MPPI-style local sequence optimization</a:t>
            </a:r>
          </a:p>
        </p:txBody>
      </p:sp>
      <p:sp>
        <p:nvSpPr>
          <p:cNvPr id="3" name="44">
            <a:extLst xmlns:a="http://schemas.openxmlformats.org/drawingml/2006/main">
              <a:ext uri="{FF2B5EF4-FFF2-40B4-BE49-F238E27FC236}">
                <a16:creationId xmlns:a16="http://schemas.microsoft.com/office/drawing/2014/main" id="{FC8A9E1B-98FC-497A-B5ED-8703D0C6925E}"/>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44</a:t>
            </a:r>
          </a:p>
        </p:txBody>
      </p:sp>
      <p:pic>
        <p:nvPicPr>
          <p:cNvPr id="4" name="">
            <a:extLst xmlns:a="http://schemas.openxmlformats.org/drawingml/2006/main">
              <a:ext uri="{FF2B5EF4-FFF2-40B4-BE49-F238E27FC236}">
                <a16:creationId xmlns:a16="http://schemas.microsoft.com/office/drawing/2014/main" id="{CCA89299-1861-4444-9BC6-8960BD820469}"/>
              </a:ext>
            </a:extLst>
          </p:cNvPr>
          <p:cNvPicPr>
            <a:picLocks xmlns:a="http://schemas.openxmlformats.org/drawingml/2006/main" noChangeAspect="1"/>
          </p:cNvPicPr>
          <p:nvPr/>
        </p:nvPicPr>
        <p:blipFill>
          <a:blip xmlns:r="http://schemas.openxmlformats.org/officeDocument/2006/relationships" xmlns:a="http://schemas.openxmlformats.org/drawingml/2006/main" r:embed="R96a1fe69b4194507"/>
          <a:stretch xmlns:a="http://schemas.openxmlformats.org/drawingml/2006/main"/>
        </p:blipFill>
        <p:spPr>
          <a:xfrm xmlns:a="http://schemas.openxmlformats.org/drawingml/2006/main">
            <a:off x="959353" y="1400175"/>
            <a:ext cx="4358268" cy="2667000"/>
          </a:xfrm>
          <a:prstGeom xmlns:a="http://schemas.openxmlformats.org/drawingml/2006/main" prst="rect">
            <a:avLst/>
          </a:prstGeom>
        </p:spPr>
      </p:pic>
      <p:sp>
        <p:nvSpPr>
          <p:cNvPr id="5" name="Perturb a sequence of speeds and turn rates.&#10;&#10;Combine controls u">
            <a:extLst xmlns:a="http://schemas.openxmlformats.org/drawingml/2006/main">
              <a:ext uri="{FF2B5EF4-FFF2-40B4-BE49-F238E27FC236}">
                <a16:creationId xmlns:a16="http://schemas.microsoft.com/office/drawing/2014/main" id="{C228371B-033E-4BF0-8000-011236F54591}"/>
              </a:ext>
            </a:extLst>
          </p:cNvPr>
          <p:cNvSpPr>
            <a:spLocks xmlns:a="http://schemas.openxmlformats.org/drawingml/2006/main" noGrp="1"/>
          </p:cNvSpPr>
          <p:nvPr/>
        </p:nvSpPr>
        <p:spPr>
          <a:xfrm xmlns:a="http://schemas.openxmlformats.org/drawingml/2006/main">
            <a:off x="6029325" y="1428750"/>
            <a:ext cx="26193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17324D"/>
                </a:solidFill>
                <a:latin typeface="Arial"/>
                <a:ea typeface="Arial"/>
                <a:cs typeface="Arial"/>
              </a:defRPr>
            </a:defPPr>
            <a:lvl1pPr>
              <a:defRPr sz="1650" b="0">
                <a:solidFill>
                  <a:srgbClr val="17324D"/>
                </a:solidFill>
                <a:latin typeface="Arial"/>
                <a:ea typeface="Arial"/>
                <a:cs typeface="Arial"/>
              </a:defRPr>
            </a:lvl1pPr>
            <a:lvl2pPr>
              <a:defRPr sz="1650" b="0">
                <a:solidFill>
                  <a:srgbClr val="17324D"/>
                </a:solidFill>
                <a:latin typeface="Arial"/>
                <a:ea typeface="Arial"/>
                <a:cs typeface="Arial"/>
              </a:defRPr>
            </a:lvl2pPr>
            <a:lvl3pPr>
              <a:defRPr sz="1650" b="0">
                <a:solidFill>
                  <a:srgbClr val="17324D"/>
                </a:solidFill>
                <a:latin typeface="Arial"/>
                <a:ea typeface="Arial"/>
                <a:cs typeface="Arial"/>
              </a:defRPr>
            </a:lvl3pPr>
            <a:lvl4pPr>
              <a:defRPr sz="1650" b="0">
                <a:solidFill>
                  <a:srgbClr val="17324D"/>
                </a:solidFill>
                <a:latin typeface="Arial"/>
                <a:ea typeface="Arial"/>
                <a:cs typeface="Arial"/>
              </a:defRPr>
            </a:lvl4pPr>
            <a:lvl5pPr>
              <a:defRPr sz="1650" b="0">
                <a:solidFill>
                  <a:srgbClr val="17324D"/>
                </a:solidFill>
                <a:latin typeface="Arial"/>
                <a:ea typeface="Arial"/>
                <a:cs typeface="Arial"/>
              </a:defRPr>
            </a:lvl5pPr>
            <a:lvl6pPr>
              <a:defRPr sz="1650" b="0">
                <a:solidFill>
                  <a:srgbClr val="17324D"/>
                </a:solidFill>
                <a:latin typeface="Arial"/>
                <a:ea typeface="Arial"/>
                <a:cs typeface="Arial"/>
              </a:defRPr>
            </a:lvl6pPr>
            <a:lvl7pPr>
              <a:defRPr sz="1650" b="0">
                <a:solidFill>
                  <a:srgbClr val="17324D"/>
                </a:solidFill>
                <a:latin typeface="Arial"/>
                <a:ea typeface="Arial"/>
                <a:cs typeface="Arial"/>
              </a:defRPr>
            </a:lvl7pPr>
            <a:lvl8pPr>
              <a:defRPr sz="1650" b="0">
                <a:solidFill>
                  <a:srgbClr val="17324D"/>
                </a:solidFill>
                <a:latin typeface="Arial"/>
                <a:ea typeface="Arial"/>
                <a:cs typeface="Arial"/>
              </a:defRPr>
            </a:lvl8pPr>
            <a:lvl9pPr>
              <a:defRPr sz="1650" b="0">
                <a:solidFill>
                  <a:srgbClr val="17324D"/>
                </a:solidFill>
                <a:latin typeface="Arial"/>
                <a:ea typeface="Arial"/>
                <a:cs typeface="Arial"/>
              </a:defRPr>
            </a:lvl9pPr>
          </a:lstStyle>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Perturb a sequence of speeds and turn rates.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Combine controls using exponential cost weights.</a:t>
            </a:r>
          </a:p>
          <a:p xmlns:a="http://schemas.openxmlformats.org/drawingml/2006/main">
            <a:r>
              <a:t/>
            </a:r>
          </a:p>
          <a:p xmlns:a="http://schemas.openxmlformats.org/drawingml/2006/main">
            <a:pPr>
              <a:defRPr sz="1650" b="0">
                <a:solidFill>
                  <a:srgbClr val="17324D"/>
                </a:solidFill>
                <a:latin typeface="Arial"/>
                <a:ea typeface="Arial"/>
                <a:cs typeface="Arial"/>
              </a:defRPr>
            </a:pPr>
            <a:r>
              <a:rPr sz="1650" b="0">
                <a:solidFill>
                  <a:srgbClr val="17324D"/>
                </a:solidFill>
                <a:latin typeface="Arial"/>
                <a:ea typeface="Arial"/>
                <a:cs typeface="Arial"/>
              </a:rPr>
              <a:t>Recheck the proposal, execute 0.1 s, and repeat.</a:t>
            </a:r>
          </a:p>
        </p:txBody>
      </p:sp>
      <p:sp>
        <p:nvSpPr>
          <p:cNvPr id="6" name="Cyan / pale red: accepted / rejected predictions · Orange: chose">
            <a:extLst xmlns:a="http://schemas.openxmlformats.org/drawingml/2006/main">
              <a:ext uri="{FF2B5EF4-FFF2-40B4-BE49-F238E27FC236}">
                <a16:creationId xmlns:a16="http://schemas.microsoft.com/office/drawing/2014/main" id="{758E3A45-84A6-4482-B864-E5DAEE8C8182}"/>
              </a:ext>
            </a:extLst>
          </p:cNvPr>
          <p:cNvSpPr>
            <a:spLocks xmlns:a="http://schemas.openxmlformats.org/drawingml/2006/main" noGrp="1"/>
          </p:cNvSpPr>
          <p:nvPr/>
        </p:nvSpPr>
        <p:spPr>
          <a:xfrm xmlns:a="http://schemas.openxmlformats.org/drawingml/2006/main">
            <a:off x="523875" y="417195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17324D"/>
                </a:solidFill>
                <a:latin typeface="Arial"/>
                <a:ea typeface="Arial"/>
                <a:cs typeface="Arial"/>
              </a:defRPr>
            </a:defPPr>
            <a:lvl1pPr>
              <a:defRPr sz="1350" b="0">
                <a:solidFill>
                  <a:srgbClr val="17324D"/>
                </a:solidFill>
                <a:latin typeface="Arial"/>
                <a:ea typeface="Arial"/>
                <a:cs typeface="Arial"/>
              </a:defRPr>
            </a:lvl1pPr>
            <a:lvl2pPr>
              <a:defRPr sz="1350" b="0">
                <a:solidFill>
                  <a:srgbClr val="17324D"/>
                </a:solidFill>
                <a:latin typeface="Arial"/>
                <a:ea typeface="Arial"/>
                <a:cs typeface="Arial"/>
              </a:defRPr>
            </a:lvl2pPr>
            <a:lvl3pPr>
              <a:defRPr sz="1350" b="0">
                <a:solidFill>
                  <a:srgbClr val="17324D"/>
                </a:solidFill>
                <a:latin typeface="Arial"/>
                <a:ea typeface="Arial"/>
                <a:cs typeface="Arial"/>
              </a:defRPr>
            </a:lvl3pPr>
            <a:lvl4pPr>
              <a:defRPr sz="1350" b="0">
                <a:solidFill>
                  <a:srgbClr val="17324D"/>
                </a:solidFill>
                <a:latin typeface="Arial"/>
                <a:ea typeface="Arial"/>
                <a:cs typeface="Arial"/>
              </a:defRPr>
            </a:lvl4pPr>
            <a:lvl5pPr>
              <a:defRPr sz="1350" b="0">
                <a:solidFill>
                  <a:srgbClr val="17324D"/>
                </a:solidFill>
                <a:latin typeface="Arial"/>
                <a:ea typeface="Arial"/>
                <a:cs typeface="Arial"/>
              </a:defRPr>
            </a:lvl5pPr>
            <a:lvl6pPr>
              <a:defRPr sz="1350" b="0">
                <a:solidFill>
                  <a:srgbClr val="17324D"/>
                </a:solidFill>
                <a:latin typeface="Arial"/>
                <a:ea typeface="Arial"/>
                <a:cs typeface="Arial"/>
              </a:defRPr>
            </a:lvl6pPr>
            <a:lvl7pPr>
              <a:defRPr sz="1350" b="0">
                <a:solidFill>
                  <a:srgbClr val="17324D"/>
                </a:solidFill>
                <a:latin typeface="Arial"/>
                <a:ea typeface="Arial"/>
                <a:cs typeface="Arial"/>
              </a:defRPr>
            </a:lvl7pPr>
            <a:lvl8pPr>
              <a:defRPr sz="1350" b="0">
                <a:solidFill>
                  <a:srgbClr val="17324D"/>
                </a:solidFill>
                <a:latin typeface="Arial"/>
                <a:ea typeface="Arial"/>
                <a:cs typeface="Arial"/>
              </a:defRPr>
            </a:lvl8pPr>
            <a:lvl9pPr>
              <a:defRPr sz="1350" b="0">
                <a:solidFill>
                  <a:srgbClr val="17324D"/>
                </a:solidFill>
                <a:latin typeface="Arial"/>
                <a:ea typeface="Arial"/>
                <a:cs typeface="Arial"/>
              </a:defRPr>
            </a:lvl9pPr>
          </a:lstStyle>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Cyan / pale red: accepted / rejected predictions · Orange: chosen prediction</a:t>
            </a:r>
          </a:p>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Blue: global route · Green: executed motion · Solid red: obstacle now</a:t>
            </a:r>
          </a:p>
        </p:txBody>
      </p:sp>
      <p:sp>
        <p:nvSpPr>
          <p:cNvPr id="7" name="Open interactive experiment">
            <a:extLst xmlns:a="http://schemas.openxmlformats.org/drawingml/2006/main">
              <a:ext uri="{FF2B5EF4-FFF2-40B4-BE49-F238E27FC236}">
                <a16:creationId xmlns:a16="http://schemas.microsoft.com/office/drawing/2014/main" id="{1560E304-FCE1-4B2B-8890-D6CF8021BCF4}"/>
              </a:ext>
            </a:extLst>
          </p:cNvPr>
          <p:cNvSpPr>
            <a:spLocks xmlns:a="http://schemas.openxmlformats.org/drawingml/2006/main" noGrp="1"/>
          </p:cNvSpPr>
          <p:nvPr/>
        </p:nvSpPr>
        <p:spPr>
          <a:xfrm xmlns:a="http://schemas.openxmlformats.org/drawingml/2006/main">
            <a:off x="523875" y="4629150"/>
            <a:ext cx="762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c77a73b32e4c414f"/>
              </a:rPr>
              <a:t>Open interactive experiment</a:t>
            </a:r>
          </a:p>
        </p:txBody>
      </p:sp>
    </p:spTree>
    <p:extLst>
      <p:ext uri="{BB962C8B-B14F-4D97-AF65-F5344CB8AC3E}">
        <p14:creationId xmlns:p14="http://schemas.microsoft.com/office/powerpoint/2010/main" val="731182340"/>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679F43F-19EC-4130-933E-A4D2E287A584}"/>
              </a:ext>
            </a:extLst>
          </p:cNvPr>
          <p:cNvPicPr>
            <a:picLocks xmlns:a="http://schemas.openxmlformats.org/drawingml/2006/main" noChangeAspect="1"/>
          </p:cNvPicPr>
          <p:nvPr/>
        </p:nvPicPr>
        <p:blipFill>
          <a:blip xmlns:r="http://schemas.openxmlformats.org/officeDocument/2006/relationships" xmlns:a="http://schemas.openxmlformats.org/drawingml/2006/main" r:embed="Rc2f639f86b9d4efd"/>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Interactive experiments">
            <a:extLst xmlns:a="http://schemas.openxmlformats.org/drawingml/2006/main">
              <a:ext uri="{FF2B5EF4-FFF2-40B4-BE49-F238E27FC236}">
                <a16:creationId xmlns:a16="http://schemas.microsoft.com/office/drawing/2014/main" id="{6FD38810-92F4-4AA3-9B26-B91A78EB988B}"/>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Interactive experiments</a:t>
            </a:r>
          </a:p>
        </p:txBody>
      </p:sp>
      <p:sp>
        <p:nvSpPr>
          <p:cNvPr id="3" name="45">
            <a:extLst xmlns:a="http://schemas.openxmlformats.org/drawingml/2006/main">
              <a:ext uri="{FF2B5EF4-FFF2-40B4-BE49-F238E27FC236}">
                <a16:creationId xmlns:a16="http://schemas.microsoft.com/office/drawing/2014/main" id="{CBD7988D-8377-4D29-99B0-B41827ABBE16}"/>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45</a:t>
            </a:r>
          </a:p>
        </p:txBody>
      </p:sp>
      <p:sp>
        <p:nvSpPr>
          <p:cNvPr id="4" name="1">
            <a:extLst xmlns:a="http://schemas.openxmlformats.org/drawingml/2006/main">
              <a:ext uri="{FF2B5EF4-FFF2-40B4-BE49-F238E27FC236}">
                <a16:creationId xmlns:a16="http://schemas.microsoft.com/office/drawing/2014/main" id="{4F920D24-23C9-4DD2-A20D-F8B5C7A1BE30}"/>
              </a:ext>
            </a:extLst>
          </p:cNvPr>
          <p:cNvSpPr>
            <a:spLocks xmlns:a="http://schemas.openxmlformats.org/drawingml/2006/main" noGrp="1"/>
          </p:cNvSpPr>
          <p:nvPr/>
        </p:nvSpPr>
        <p:spPr>
          <a:xfrm xmlns:a="http://schemas.openxmlformats.org/drawingml/2006/main">
            <a:off x="523875" y="1438275"/>
            <a:ext cx="333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00539F"/>
                </a:solidFill>
                <a:latin typeface="Arial"/>
                <a:ea typeface="Arial"/>
                <a:cs typeface="Arial"/>
              </a:defRPr>
            </a:defPPr>
            <a:lvl1pPr>
              <a:defRPr sz="2175" b="1">
                <a:solidFill>
                  <a:srgbClr val="00539F"/>
                </a:solidFill>
                <a:latin typeface="Arial"/>
                <a:ea typeface="Arial"/>
                <a:cs typeface="Arial"/>
              </a:defRPr>
            </a:lvl1pPr>
            <a:lvl2pPr>
              <a:defRPr sz="2175" b="1">
                <a:solidFill>
                  <a:srgbClr val="00539F"/>
                </a:solidFill>
                <a:latin typeface="Arial"/>
                <a:ea typeface="Arial"/>
                <a:cs typeface="Arial"/>
              </a:defRPr>
            </a:lvl2pPr>
            <a:lvl3pPr>
              <a:defRPr sz="2175" b="1">
                <a:solidFill>
                  <a:srgbClr val="00539F"/>
                </a:solidFill>
                <a:latin typeface="Arial"/>
                <a:ea typeface="Arial"/>
                <a:cs typeface="Arial"/>
              </a:defRPr>
            </a:lvl3pPr>
            <a:lvl4pPr>
              <a:defRPr sz="2175" b="1">
                <a:solidFill>
                  <a:srgbClr val="00539F"/>
                </a:solidFill>
                <a:latin typeface="Arial"/>
                <a:ea typeface="Arial"/>
                <a:cs typeface="Arial"/>
              </a:defRPr>
            </a:lvl4pPr>
            <a:lvl5pPr>
              <a:defRPr sz="2175" b="1">
                <a:solidFill>
                  <a:srgbClr val="00539F"/>
                </a:solidFill>
                <a:latin typeface="Arial"/>
                <a:ea typeface="Arial"/>
                <a:cs typeface="Arial"/>
              </a:defRPr>
            </a:lvl5pPr>
            <a:lvl6pPr>
              <a:defRPr sz="2175" b="1">
                <a:solidFill>
                  <a:srgbClr val="00539F"/>
                </a:solidFill>
                <a:latin typeface="Arial"/>
                <a:ea typeface="Arial"/>
                <a:cs typeface="Arial"/>
              </a:defRPr>
            </a:lvl6pPr>
            <a:lvl7pPr>
              <a:defRPr sz="2175" b="1">
                <a:solidFill>
                  <a:srgbClr val="00539F"/>
                </a:solidFill>
                <a:latin typeface="Arial"/>
                <a:ea typeface="Arial"/>
                <a:cs typeface="Arial"/>
              </a:defRPr>
            </a:lvl7pPr>
            <a:lvl8pPr>
              <a:defRPr sz="2175" b="1">
                <a:solidFill>
                  <a:srgbClr val="00539F"/>
                </a:solidFill>
                <a:latin typeface="Arial"/>
                <a:ea typeface="Arial"/>
                <a:cs typeface="Arial"/>
              </a:defRPr>
            </a:lvl8pPr>
            <a:lvl9pPr>
              <a:defRPr sz="2175" b="1">
                <a:solidFill>
                  <a:srgbClr val="00539F"/>
                </a:solidFill>
                <a:latin typeface="Arial"/>
                <a:ea typeface="Arial"/>
                <a:cs typeface="Arial"/>
              </a:defRPr>
            </a:lvl9pPr>
          </a:lstStyle>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1</a:t>
            </a:r>
          </a:p>
        </p:txBody>
      </p:sp>
      <p:sp>
        <p:nvSpPr>
          <p:cNvPr id="5" name="Search: compare BFS, Dijkstra and A* across terrain. Record path">
            <a:extLst xmlns:a="http://schemas.openxmlformats.org/drawingml/2006/main">
              <a:ext uri="{FF2B5EF4-FFF2-40B4-BE49-F238E27FC236}">
                <a16:creationId xmlns:a16="http://schemas.microsoft.com/office/drawing/2014/main" id="{7070F8B5-5CCD-4DB2-9D44-35A73CD5CB2F}"/>
              </a:ext>
            </a:extLst>
          </p:cNvPr>
          <p:cNvSpPr>
            <a:spLocks xmlns:a="http://schemas.openxmlformats.org/drawingml/2006/main" noGrp="1"/>
          </p:cNvSpPr>
          <p:nvPr/>
        </p:nvSpPr>
        <p:spPr>
          <a:xfrm xmlns:a="http://schemas.openxmlformats.org/drawingml/2006/main">
            <a:off x="1000125" y="1438275"/>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7324D"/>
                </a:solidFill>
                <a:latin typeface="Arial"/>
                <a:ea typeface="Arial"/>
                <a:cs typeface="Arial"/>
              </a:defRPr>
            </a:defPPr>
            <a:lvl1pPr>
              <a:defRPr sz="1800" b="0">
                <a:solidFill>
                  <a:srgbClr val="17324D"/>
                </a:solidFill>
                <a:latin typeface="Arial"/>
                <a:ea typeface="Arial"/>
                <a:cs typeface="Arial"/>
              </a:defRPr>
            </a:lvl1pPr>
            <a:lvl2pPr>
              <a:defRPr sz="1800" b="0">
                <a:solidFill>
                  <a:srgbClr val="17324D"/>
                </a:solidFill>
                <a:latin typeface="Arial"/>
                <a:ea typeface="Arial"/>
                <a:cs typeface="Arial"/>
              </a:defRPr>
            </a:lvl2pPr>
            <a:lvl3pPr>
              <a:defRPr sz="1800" b="0">
                <a:solidFill>
                  <a:srgbClr val="17324D"/>
                </a:solidFill>
                <a:latin typeface="Arial"/>
                <a:ea typeface="Arial"/>
                <a:cs typeface="Arial"/>
              </a:defRPr>
            </a:lvl3pPr>
            <a:lvl4pPr>
              <a:defRPr sz="1800" b="0">
                <a:solidFill>
                  <a:srgbClr val="17324D"/>
                </a:solidFill>
                <a:latin typeface="Arial"/>
                <a:ea typeface="Arial"/>
                <a:cs typeface="Arial"/>
              </a:defRPr>
            </a:lvl4pPr>
            <a:lvl5pPr>
              <a:defRPr sz="1800" b="0">
                <a:solidFill>
                  <a:srgbClr val="17324D"/>
                </a:solidFill>
                <a:latin typeface="Arial"/>
                <a:ea typeface="Arial"/>
                <a:cs typeface="Arial"/>
              </a:defRPr>
            </a:lvl5pPr>
            <a:lvl6pPr>
              <a:defRPr sz="1800" b="0">
                <a:solidFill>
                  <a:srgbClr val="17324D"/>
                </a:solidFill>
                <a:latin typeface="Arial"/>
                <a:ea typeface="Arial"/>
                <a:cs typeface="Arial"/>
              </a:defRPr>
            </a:lvl6pPr>
            <a:lvl7pPr>
              <a:defRPr sz="1800" b="0">
                <a:solidFill>
                  <a:srgbClr val="17324D"/>
                </a:solidFill>
                <a:latin typeface="Arial"/>
                <a:ea typeface="Arial"/>
                <a:cs typeface="Arial"/>
              </a:defRPr>
            </a:lvl7pPr>
            <a:lvl8pPr>
              <a:defRPr sz="1800" b="0">
                <a:solidFill>
                  <a:srgbClr val="17324D"/>
                </a:solidFill>
                <a:latin typeface="Arial"/>
                <a:ea typeface="Arial"/>
                <a:cs typeface="Arial"/>
              </a:defRPr>
            </a:lvl8pPr>
            <a:lvl9pPr>
              <a:defRPr sz="1800" b="0">
                <a:solidFill>
                  <a:srgbClr val="17324D"/>
                </a:solidFill>
                <a:latin typeface="Arial"/>
                <a:ea typeface="Arial"/>
                <a:cs typeface="Arial"/>
              </a:defRPr>
            </a:lvl9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Search: compare BFS, Dijkstra and A* across terrain. Record path cost and expansions.</a:t>
            </a:r>
          </a:p>
        </p:txBody>
      </p:sp>
      <p:sp>
        <p:nvSpPr>
          <p:cNvPr id="6" name="2">
            <a:extLst xmlns:a="http://schemas.openxmlformats.org/drawingml/2006/main">
              <a:ext uri="{FF2B5EF4-FFF2-40B4-BE49-F238E27FC236}">
                <a16:creationId xmlns:a16="http://schemas.microsoft.com/office/drawing/2014/main" id="{76D71EC4-F9A4-4E29-8BF6-65ED5BC8E453}"/>
              </a:ext>
            </a:extLst>
          </p:cNvPr>
          <p:cNvSpPr>
            <a:spLocks xmlns:a="http://schemas.openxmlformats.org/drawingml/2006/main" noGrp="1"/>
          </p:cNvSpPr>
          <p:nvPr/>
        </p:nvSpPr>
        <p:spPr>
          <a:xfrm xmlns:a="http://schemas.openxmlformats.org/drawingml/2006/main">
            <a:off x="523875" y="2152650"/>
            <a:ext cx="333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00539F"/>
                </a:solidFill>
                <a:latin typeface="Arial"/>
                <a:ea typeface="Arial"/>
                <a:cs typeface="Arial"/>
              </a:defRPr>
            </a:defPPr>
            <a:lvl1pPr>
              <a:defRPr sz="2175" b="1">
                <a:solidFill>
                  <a:srgbClr val="00539F"/>
                </a:solidFill>
                <a:latin typeface="Arial"/>
                <a:ea typeface="Arial"/>
                <a:cs typeface="Arial"/>
              </a:defRPr>
            </a:lvl1pPr>
            <a:lvl2pPr>
              <a:defRPr sz="2175" b="1">
                <a:solidFill>
                  <a:srgbClr val="00539F"/>
                </a:solidFill>
                <a:latin typeface="Arial"/>
                <a:ea typeface="Arial"/>
                <a:cs typeface="Arial"/>
              </a:defRPr>
            </a:lvl2pPr>
            <a:lvl3pPr>
              <a:defRPr sz="2175" b="1">
                <a:solidFill>
                  <a:srgbClr val="00539F"/>
                </a:solidFill>
                <a:latin typeface="Arial"/>
                <a:ea typeface="Arial"/>
                <a:cs typeface="Arial"/>
              </a:defRPr>
            </a:lvl3pPr>
            <a:lvl4pPr>
              <a:defRPr sz="2175" b="1">
                <a:solidFill>
                  <a:srgbClr val="00539F"/>
                </a:solidFill>
                <a:latin typeface="Arial"/>
                <a:ea typeface="Arial"/>
                <a:cs typeface="Arial"/>
              </a:defRPr>
            </a:lvl4pPr>
            <a:lvl5pPr>
              <a:defRPr sz="2175" b="1">
                <a:solidFill>
                  <a:srgbClr val="00539F"/>
                </a:solidFill>
                <a:latin typeface="Arial"/>
                <a:ea typeface="Arial"/>
                <a:cs typeface="Arial"/>
              </a:defRPr>
            </a:lvl5pPr>
            <a:lvl6pPr>
              <a:defRPr sz="2175" b="1">
                <a:solidFill>
                  <a:srgbClr val="00539F"/>
                </a:solidFill>
                <a:latin typeface="Arial"/>
                <a:ea typeface="Arial"/>
                <a:cs typeface="Arial"/>
              </a:defRPr>
            </a:lvl6pPr>
            <a:lvl7pPr>
              <a:defRPr sz="2175" b="1">
                <a:solidFill>
                  <a:srgbClr val="00539F"/>
                </a:solidFill>
                <a:latin typeface="Arial"/>
                <a:ea typeface="Arial"/>
                <a:cs typeface="Arial"/>
              </a:defRPr>
            </a:lvl7pPr>
            <a:lvl8pPr>
              <a:defRPr sz="2175" b="1">
                <a:solidFill>
                  <a:srgbClr val="00539F"/>
                </a:solidFill>
                <a:latin typeface="Arial"/>
                <a:ea typeface="Arial"/>
                <a:cs typeface="Arial"/>
              </a:defRPr>
            </a:lvl8pPr>
            <a:lvl9pPr>
              <a:defRPr sz="2175" b="1">
                <a:solidFill>
                  <a:srgbClr val="00539F"/>
                </a:solidFill>
                <a:latin typeface="Arial"/>
                <a:ea typeface="Arial"/>
                <a:cs typeface="Arial"/>
              </a:defRPr>
            </a:lvl9pPr>
          </a:lstStyle>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2</a:t>
            </a:r>
          </a:p>
        </p:txBody>
      </p:sp>
      <p:sp>
        <p:nvSpPr>
          <p:cNvPr id="7" name="Replanning: block and reopen a route cell. Compare D* Lite with ">
            <a:extLst xmlns:a="http://schemas.openxmlformats.org/drawingml/2006/main">
              <a:ext uri="{FF2B5EF4-FFF2-40B4-BE49-F238E27FC236}">
                <a16:creationId xmlns:a16="http://schemas.microsoft.com/office/drawing/2014/main" id="{D37120DC-18D9-447E-967E-19F66EA24460}"/>
              </a:ext>
            </a:extLst>
          </p:cNvPr>
          <p:cNvSpPr>
            <a:spLocks xmlns:a="http://schemas.openxmlformats.org/drawingml/2006/main" noGrp="1"/>
          </p:cNvSpPr>
          <p:nvPr/>
        </p:nvSpPr>
        <p:spPr>
          <a:xfrm xmlns:a="http://schemas.openxmlformats.org/drawingml/2006/main">
            <a:off x="1000125" y="2152650"/>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7324D"/>
                </a:solidFill>
                <a:latin typeface="Arial"/>
                <a:ea typeface="Arial"/>
                <a:cs typeface="Arial"/>
              </a:defRPr>
            </a:defPPr>
            <a:lvl1pPr>
              <a:defRPr sz="1800" b="0">
                <a:solidFill>
                  <a:srgbClr val="17324D"/>
                </a:solidFill>
                <a:latin typeface="Arial"/>
                <a:ea typeface="Arial"/>
                <a:cs typeface="Arial"/>
              </a:defRPr>
            </a:lvl1pPr>
            <a:lvl2pPr>
              <a:defRPr sz="1800" b="0">
                <a:solidFill>
                  <a:srgbClr val="17324D"/>
                </a:solidFill>
                <a:latin typeface="Arial"/>
                <a:ea typeface="Arial"/>
                <a:cs typeface="Arial"/>
              </a:defRPr>
            </a:lvl2pPr>
            <a:lvl3pPr>
              <a:defRPr sz="1800" b="0">
                <a:solidFill>
                  <a:srgbClr val="17324D"/>
                </a:solidFill>
                <a:latin typeface="Arial"/>
                <a:ea typeface="Arial"/>
                <a:cs typeface="Arial"/>
              </a:defRPr>
            </a:lvl3pPr>
            <a:lvl4pPr>
              <a:defRPr sz="1800" b="0">
                <a:solidFill>
                  <a:srgbClr val="17324D"/>
                </a:solidFill>
                <a:latin typeface="Arial"/>
                <a:ea typeface="Arial"/>
                <a:cs typeface="Arial"/>
              </a:defRPr>
            </a:lvl4pPr>
            <a:lvl5pPr>
              <a:defRPr sz="1800" b="0">
                <a:solidFill>
                  <a:srgbClr val="17324D"/>
                </a:solidFill>
                <a:latin typeface="Arial"/>
                <a:ea typeface="Arial"/>
                <a:cs typeface="Arial"/>
              </a:defRPr>
            </a:lvl5pPr>
            <a:lvl6pPr>
              <a:defRPr sz="1800" b="0">
                <a:solidFill>
                  <a:srgbClr val="17324D"/>
                </a:solidFill>
                <a:latin typeface="Arial"/>
                <a:ea typeface="Arial"/>
                <a:cs typeface="Arial"/>
              </a:defRPr>
            </a:lvl6pPr>
            <a:lvl7pPr>
              <a:defRPr sz="1800" b="0">
                <a:solidFill>
                  <a:srgbClr val="17324D"/>
                </a:solidFill>
                <a:latin typeface="Arial"/>
                <a:ea typeface="Arial"/>
                <a:cs typeface="Arial"/>
              </a:defRPr>
            </a:lvl7pPr>
            <a:lvl8pPr>
              <a:defRPr sz="1800" b="0">
                <a:solidFill>
                  <a:srgbClr val="17324D"/>
                </a:solidFill>
                <a:latin typeface="Arial"/>
                <a:ea typeface="Arial"/>
                <a:cs typeface="Arial"/>
              </a:defRPr>
            </a:lvl8pPr>
            <a:lvl9pPr>
              <a:defRPr sz="1800" b="0">
                <a:solidFill>
                  <a:srgbClr val="17324D"/>
                </a:solidFill>
                <a:latin typeface="Arial"/>
                <a:ea typeface="Arial"/>
                <a:cs typeface="Arial"/>
              </a:defRPr>
            </a:lvl9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Replanning: block and reopen a route cell. Compare D* Lite with fresh A*.</a:t>
            </a:r>
          </a:p>
        </p:txBody>
      </p:sp>
      <p:sp>
        <p:nvSpPr>
          <p:cNvPr id="8" name="3">
            <a:extLst xmlns:a="http://schemas.openxmlformats.org/drawingml/2006/main">
              <a:ext uri="{FF2B5EF4-FFF2-40B4-BE49-F238E27FC236}">
                <a16:creationId xmlns:a16="http://schemas.microsoft.com/office/drawing/2014/main" id="{3B8C64A5-7965-415D-84D9-C3654FE13199}"/>
              </a:ext>
            </a:extLst>
          </p:cNvPr>
          <p:cNvSpPr>
            <a:spLocks xmlns:a="http://schemas.openxmlformats.org/drawingml/2006/main" noGrp="1"/>
          </p:cNvSpPr>
          <p:nvPr/>
        </p:nvSpPr>
        <p:spPr>
          <a:xfrm xmlns:a="http://schemas.openxmlformats.org/drawingml/2006/main">
            <a:off x="523875" y="2867025"/>
            <a:ext cx="333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00539F"/>
                </a:solidFill>
                <a:latin typeface="Arial"/>
                <a:ea typeface="Arial"/>
                <a:cs typeface="Arial"/>
              </a:defRPr>
            </a:defPPr>
            <a:lvl1pPr>
              <a:defRPr sz="2175" b="1">
                <a:solidFill>
                  <a:srgbClr val="00539F"/>
                </a:solidFill>
                <a:latin typeface="Arial"/>
                <a:ea typeface="Arial"/>
                <a:cs typeface="Arial"/>
              </a:defRPr>
            </a:lvl1pPr>
            <a:lvl2pPr>
              <a:defRPr sz="2175" b="1">
                <a:solidFill>
                  <a:srgbClr val="00539F"/>
                </a:solidFill>
                <a:latin typeface="Arial"/>
                <a:ea typeface="Arial"/>
                <a:cs typeface="Arial"/>
              </a:defRPr>
            </a:lvl2pPr>
            <a:lvl3pPr>
              <a:defRPr sz="2175" b="1">
                <a:solidFill>
                  <a:srgbClr val="00539F"/>
                </a:solidFill>
                <a:latin typeface="Arial"/>
                <a:ea typeface="Arial"/>
                <a:cs typeface="Arial"/>
              </a:defRPr>
            </a:lvl3pPr>
            <a:lvl4pPr>
              <a:defRPr sz="2175" b="1">
                <a:solidFill>
                  <a:srgbClr val="00539F"/>
                </a:solidFill>
                <a:latin typeface="Arial"/>
                <a:ea typeface="Arial"/>
                <a:cs typeface="Arial"/>
              </a:defRPr>
            </a:lvl4pPr>
            <a:lvl5pPr>
              <a:defRPr sz="2175" b="1">
                <a:solidFill>
                  <a:srgbClr val="00539F"/>
                </a:solidFill>
                <a:latin typeface="Arial"/>
                <a:ea typeface="Arial"/>
                <a:cs typeface="Arial"/>
              </a:defRPr>
            </a:lvl5pPr>
            <a:lvl6pPr>
              <a:defRPr sz="2175" b="1">
                <a:solidFill>
                  <a:srgbClr val="00539F"/>
                </a:solidFill>
                <a:latin typeface="Arial"/>
                <a:ea typeface="Arial"/>
                <a:cs typeface="Arial"/>
              </a:defRPr>
            </a:lvl6pPr>
            <a:lvl7pPr>
              <a:defRPr sz="2175" b="1">
                <a:solidFill>
                  <a:srgbClr val="00539F"/>
                </a:solidFill>
                <a:latin typeface="Arial"/>
                <a:ea typeface="Arial"/>
                <a:cs typeface="Arial"/>
              </a:defRPr>
            </a:lvl7pPr>
            <a:lvl8pPr>
              <a:defRPr sz="2175" b="1">
                <a:solidFill>
                  <a:srgbClr val="00539F"/>
                </a:solidFill>
                <a:latin typeface="Arial"/>
                <a:ea typeface="Arial"/>
                <a:cs typeface="Arial"/>
              </a:defRPr>
            </a:lvl8pPr>
            <a:lvl9pPr>
              <a:defRPr sz="2175" b="1">
                <a:solidFill>
                  <a:srgbClr val="00539F"/>
                </a:solidFill>
                <a:latin typeface="Arial"/>
                <a:ea typeface="Arial"/>
                <a:cs typeface="Arial"/>
              </a:defRPr>
            </a:lvl9pPr>
          </a:lstStyle>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3</a:t>
            </a:r>
          </a:p>
        </p:txBody>
      </p:sp>
      <p:sp>
        <p:nvSpPr>
          <p:cNvPr id="9" name="Geometry: grow the footprint, then rotate a rectangle at the doo">
            <a:extLst xmlns:a="http://schemas.openxmlformats.org/drawingml/2006/main">
              <a:ext uri="{FF2B5EF4-FFF2-40B4-BE49-F238E27FC236}">
                <a16:creationId xmlns:a16="http://schemas.microsoft.com/office/drawing/2014/main" id="{C584D2C6-D1BC-4667-B1DA-DB8469F071A9}"/>
              </a:ext>
            </a:extLst>
          </p:cNvPr>
          <p:cNvSpPr>
            <a:spLocks xmlns:a="http://schemas.openxmlformats.org/drawingml/2006/main" noGrp="1"/>
          </p:cNvSpPr>
          <p:nvPr/>
        </p:nvSpPr>
        <p:spPr>
          <a:xfrm xmlns:a="http://schemas.openxmlformats.org/drawingml/2006/main">
            <a:off x="1000125" y="2867025"/>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7324D"/>
                </a:solidFill>
                <a:latin typeface="Arial"/>
                <a:ea typeface="Arial"/>
                <a:cs typeface="Arial"/>
              </a:defRPr>
            </a:defPPr>
            <a:lvl1pPr>
              <a:defRPr sz="1800" b="0">
                <a:solidFill>
                  <a:srgbClr val="17324D"/>
                </a:solidFill>
                <a:latin typeface="Arial"/>
                <a:ea typeface="Arial"/>
                <a:cs typeface="Arial"/>
              </a:defRPr>
            </a:lvl1pPr>
            <a:lvl2pPr>
              <a:defRPr sz="1800" b="0">
                <a:solidFill>
                  <a:srgbClr val="17324D"/>
                </a:solidFill>
                <a:latin typeface="Arial"/>
                <a:ea typeface="Arial"/>
                <a:cs typeface="Arial"/>
              </a:defRPr>
            </a:lvl2pPr>
            <a:lvl3pPr>
              <a:defRPr sz="1800" b="0">
                <a:solidFill>
                  <a:srgbClr val="17324D"/>
                </a:solidFill>
                <a:latin typeface="Arial"/>
                <a:ea typeface="Arial"/>
                <a:cs typeface="Arial"/>
              </a:defRPr>
            </a:lvl3pPr>
            <a:lvl4pPr>
              <a:defRPr sz="1800" b="0">
                <a:solidFill>
                  <a:srgbClr val="17324D"/>
                </a:solidFill>
                <a:latin typeface="Arial"/>
                <a:ea typeface="Arial"/>
                <a:cs typeface="Arial"/>
              </a:defRPr>
            </a:lvl4pPr>
            <a:lvl5pPr>
              <a:defRPr sz="1800" b="0">
                <a:solidFill>
                  <a:srgbClr val="17324D"/>
                </a:solidFill>
                <a:latin typeface="Arial"/>
                <a:ea typeface="Arial"/>
                <a:cs typeface="Arial"/>
              </a:defRPr>
            </a:lvl5pPr>
            <a:lvl6pPr>
              <a:defRPr sz="1800" b="0">
                <a:solidFill>
                  <a:srgbClr val="17324D"/>
                </a:solidFill>
                <a:latin typeface="Arial"/>
                <a:ea typeface="Arial"/>
                <a:cs typeface="Arial"/>
              </a:defRPr>
            </a:lvl6pPr>
            <a:lvl7pPr>
              <a:defRPr sz="1800" b="0">
                <a:solidFill>
                  <a:srgbClr val="17324D"/>
                </a:solidFill>
                <a:latin typeface="Arial"/>
                <a:ea typeface="Arial"/>
                <a:cs typeface="Arial"/>
              </a:defRPr>
            </a:lvl7pPr>
            <a:lvl8pPr>
              <a:defRPr sz="1800" b="0">
                <a:solidFill>
                  <a:srgbClr val="17324D"/>
                </a:solidFill>
                <a:latin typeface="Arial"/>
                <a:ea typeface="Arial"/>
                <a:cs typeface="Arial"/>
              </a:defRPr>
            </a:lvl8pPr>
            <a:lvl9pPr>
              <a:defRPr sz="1800" b="0">
                <a:solidFill>
                  <a:srgbClr val="17324D"/>
                </a:solidFill>
                <a:latin typeface="Arial"/>
                <a:ea typeface="Arial"/>
                <a:cs typeface="Arial"/>
              </a:defRPr>
            </a:lvl9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Geometry: grow the footprint, then rotate a rectangle at the doorway.</a:t>
            </a:r>
          </a:p>
        </p:txBody>
      </p:sp>
      <p:sp>
        <p:nvSpPr>
          <p:cNvPr id="10" name="4">
            <a:extLst xmlns:a="http://schemas.openxmlformats.org/drawingml/2006/main">
              <a:ext uri="{FF2B5EF4-FFF2-40B4-BE49-F238E27FC236}">
                <a16:creationId xmlns:a16="http://schemas.microsoft.com/office/drawing/2014/main" id="{5E667C15-582C-4F23-BD6C-9AA429FB9782}"/>
              </a:ext>
            </a:extLst>
          </p:cNvPr>
          <p:cNvSpPr>
            <a:spLocks xmlns:a="http://schemas.openxmlformats.org/drawingml/2006/main" noGrp="1"/>
          </p:cNvSpPr>
          <p:nvPr/>
        </p:nvSpPr>
        <p:spPr>
          <a:xfrm xmlns:a="http://schemas.openxmlformats.org/drawingml/2006/main">
            <a:off x="523875" y="3581400"/>
            <a:ext cx="333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00539F"/>
                </a:solidFill>
                <a:latin typeface="Arial"/>
                <a:ea typeface="Arial"/>
                <a:cs typeface="Arial"/>
              </a:defRPr>
            </a:defPPr>
            <a:lvl1pPr>
              <a:defRPr sz="2175" b="1">
                <a:solidFill>
                  <a:srgbClr val="00539F"/>
                </a:solidFill>
                <a:latin typeface="Arial"/>
                <a:ea typeface="Arial"/>
                <a:cs typeface="Arial"/>
              </a:defRPr>
            </a:lvl1pPr>
            <a:lvl2pPr>
              <a:defRPr sz="2175" b="1">
                <a:solidFill>
                  <a:srgbClr val="00539F"/>
                </a:solidFill>
                <a:latin typeface="Arial"/>
                <a:ea typeface="Arial"/>
                <a:cs typeface="Arial"/>
              </a:defRPr>
            </a:lvl2pPr>
            <a:lvl3pPr>
              <a:defRPr sz="2175" b="1">
                <a:solidFill>
                  <a:srgbClr val="00539F"/>
                </a:solidFill>
                <a:latin typeface="Arial"/>
                <a:ea typeface="Arial"/>
                <a:cs typeface="Arial"/>
              </a:defRPr>
            </a:lvl3pPr>
            <a:lvl4pPr>
              <a:defRPr sz="2175" b="1">
                <a:solidFill>
                  <a:srgbClr val="00539F"/>
                </a:solidFill>
                <a:latin typeface="Arial"/>
                <a:ea typeface="Arial"/>
                <a:cs typeface="Arial"/>
              </a:defRPr>
            </a:lvl4pPr>
            <a:lvl5pPr>
              <a:defRPr sz="2175" b="1">
                <a:solidFill>
                  <a:srgbClr val="00539F"/>
                </a:solidFill>
                <a:latin typeface="Arial"/>
                <a:ea typeface="Arial"/>
                <a:cs typeface="Arial"/>
              </a:defRPr>
            </a:lvl5pPr>
            <a:lvl6pPr>
              <a:defRPr sz="2175" b="1">
                <a:solidFill>
                  <a:srgbClr val="00539F"/>
                </a:solidFill>
                <a:latin typeface="Arial"/>
                <a:ea typeface="Arial"/>
                <a:cs typeface="Arial"/>
              </a:defRPr>
            </a:lvl6pPr>
            <a:lvl7pPr>
              <a:defRPr sz="2175" b="1">
                <a:solidFill>
                  <a:srgbClr val="00539F"/>
                </a:solidFill>
                <a:latin typeface="Arial"/>
                <a:ea typeface="Arial"/>
                <a:cs typeface="Arial"/>
              </a:defRPr>
            </a:lvl7pPr>
            <a:lvl8pPr>
              <a:defRPr sz="2175" b="1">
                <a:solidFill>
                  <a:srgbClr val="00539F"/>
                </a:solidFill>
                <a:latin typeface="Arial"/>
                <a:ea typeface="Arial"/>
                <a:cs typeface="Arial"/>
              </a:defRPr>
            </a:lvl8pPr>
            <a:lvl9pPr>
              <a:defRPr sz="2175" b="1">
                <a:solidFill>
                  <a:srgbClr val="00539F"/>
                </a:solidFill>
                <a:latin typeface="Arial"/>
                <a:ea typeface="Arial"/>
                <a:cs typeface="Arial"/>
              </a:defRPr>
            </a:lvl9pPr>
          </a:lstStyle>
          <a:p xmlns:a="http://schemas.openxmlformats.org/drawingml/2006/main">
            <a:pPr>
              <a:defRPr sz="2175" b="1">
                <a:solidFill>
                  <a:srgbClr val="00539F"/>
                </a:solidFill>
                <a:latin typeface="Arial"/>
                <a:ea typeface="Arial"/>
                <a:cs typeface="Arial"/>
              </a:defRPr>
            </a:pPr>
            <a:r>
              <a:rPr sz="2175" b="1">
                <a:solidFill>
                  <a:srgbClr val="00539F"/>
                </a:solidFill>
                <a:latin typeface="Arial"/>
                <a:ea typeface="Arial"/>
                <a:cs typeface="Arial"/>
              </a:rPr>
              <a:t>4</a:t>
            </a:r>
          </a:p>
        </p:txBody>
      </p:sp>
      <p:sp>
        <p:nvSpPr>
          <p:cNvPr id="11" name="Local motion: change horizon and obstacle motion. Explain reject">
            <a:extLst xmlns:a="http://schemas.openxmlformats.org/drawingml/2006/main">
              <a:ext uri="{FF2B5EF4-FFF2-40B4-BE49-F238E27FC236}">
                <a16:creationId xmlns:a16="http://schemas.microsoft.com/office/drawing/2014/main" id="{7BE25D8C-C3BB-4AC7-96CC-00C3B9D1F767}"/>
              </a:ext>
            </a:extLst>
          </p:cNvPr>
          <p:cNvSpPr>
            <a:spLocks xmlns:a="http://schemas.openxmlformats.org/drawingml/2006/main" noGrp="1"/>
          </p:cNvSpPr>
          <p:nvPr/>
        </p:nvSpPr>
        <p:spPr>
          <a:xfrm xmlns:a="http://schemas.openxmlformats.org/drawingml/2006/main">
            <a:off x="1000125" y="3581400"/>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17324D"/>
                </a:solidFill>
                <a:latin typeface="Arial"/>
                <a:ea typeface="Arial"/>
                <a:cs typeface="Arial"/>
              </a:defRPr>
            </a:defPPr>
            <a:lvl1pPr>
              <a:defRPr sz="1800" b="0">
                <a:solidFill>
                  <a:srgbClr val="17324D"/>
                </a:solidFill>
                <a:latin typeface="Arial"/>
                <a:ea typeface="Arial"/>
                <a:cs typeface="Arial"/>
              </a:defRPr>
            </a:lvl1pPr>
            <a:lvl2pPr>
              <a:defRPr sz="1800" b="0">
                <a:solidFill>
                  <a:srgbClr val="17324D"/>
                </a:solidFill>
                <a:latin typeface="Arial"/>
                <a:ea typeface="Arial"/>
                <a:cs typeface="Arial"/>
              </a:defRPr>
            </a:lvl2pPr>
            <a:lvl3pPr>
              <a:defRPr sz="1800" b="0">
                <a:solidFill>
                  <a:srgbClr val="17324D"/>
                </a:solidFill>
                <a:latin typeface="Arial"/>
                <a:ea typeface="Arial"/>
                <a:cs typeface="Arial"/>
              </a:defRPr>
            </a:lvl3pPr>
            <a:lvl4pPr>
              <a:defRPr sz="1800" b="0">
                <a:solidFill>
                  <a:srgbClr val="17324D"/>
                </a:solidFill>
                <a:latin typeface="Arial"/>
                <a:ea typeface="Arial"/>
                <a:cs typeface="Arial"/>
              </a:defRPr>
            </a:lvl4pPr>
            <a:lvl5pPr>
              <a:defRPr sz="1800" b="0">
                <a:solidFill>
                  <a:srgbClr val="17324D"/>
                </a:solidFill>
                <a:latin typeface="Arial"/>
                <a:ea typeface="Arial"/>
                <a:cs typeface="Arial"/>
              </a:defRPr>
            </a:lvl5pPr>
            <a:lvl6pPr>
              <a:defRPr sz="1800" b="0">
                <a:solidFill>
                  <a:srgbClr val="17324D"/>
                </a:solidFill>
                <a:latin typeface="Arial"/>
                <a:ea typeface="Arial"/>
                <a:cs typeface="Arial"/>
              </a:defRPr>
            </a:lvl6pPr>
            <a:lvl7pPr>
              <a:defRPr sz="1800" b="0">
                <a:solidFill>
                  <a:srgbClr val="17324D"/>
                </a:solidFill>
                <a:latin typeface="Arial"/>
                <a:ea typeface="Arial"/>
                <a:cs typeface="Arial"/>
              </a:defRPr>
            </a:lvl7pPr>
            <a:lvl8pPr>
              <a:defRPr sz="1800" b="0">
                <a:solidFill>
                  <a:srgbClr val="17324D"/>
                </a:solidFill>
                <a:latin typeface="Arial"/>
                <a:ea typeface="Arial"/>
                <a:cs typeface="Arial"/>
              </a:defRPr>
            </a:lvl8pPr>
            <a:lvl9pPr>
              <a:defRPr sz="1800" b="0">
                <a:solidFill>
                  <a:srgbClr val="17324D"/>
                </a:solidFill>
                <a:latin typeface="Arial"/>
                <a:ea typeface="Arial"/>
                <a:cs typeface="Arial"/>
              </a:defRPr>
            </a:lvl9pPr>
          </a:lstStyle>
          <a:p xmlns:a="http://schemas.openxmlformats.org/drawingml/2006/main">
            <a:pPr>
              <a:defRPr sz="1800" b="0">
                <a:solidFill>
                  <a:srgbClr val="17324D"/>
                </a:solidFill>
                <a:latin typeface="Arial"/>
                <a:ea typeface="Arial"/>
                <a:cs typeface="Arial"/>
              </a:defRPr>
            </a:pPr>
            <a:r>
              <a:rPr sz="1800" b="0">
                <a:solidFill>
                  <a:srgbClr val="17324D"/>
                </a:solidFill>
                <a:latin typeface="Arial"/>
                <a:ea typeface="Arial"/>
                <a:cs typeface="Arial"/>
              </a:rPr>
              <a:t>Local motion: change horizon and obstacle motion. Explain rejected candidates.</a:t>
            </a:r>
          </a:p>
        </p:txBody>
      </p:sp>
      <p:sp>
        <p:nvSpPr>
          <p:cNvPr id="12" name="Open interactive experiment">
            <a:extLst xmlns:a="http://schemas.openxmlformats.org/drawingml/2006/main">
              <a:ext uri="{FF2B5EF4-FFF2-40B4-BE49-F238E27FC236}">
                <a16:creationId xmlns:a16="http://schemas.microsoft.com/office/drawing/2014/main" id="{7D9CEB22-6EA2-408A-A02F-887BB454D2E3}"/>
              </a:ext>
            </a:extLst>
          </p:cNvPr>
          <p:cNvSpPr>
            <a:spLocks xmlns:a="http://schemas.openxmlformats.org/drawingml/2006/main" noGrp="1"/>
          </p:cNvSpPr>
          <p:nvPr/>
        </p:nvSpPr>
        <p:spPr>
          <a:xfrm xmlns:a="http://schemas.openxmlformats.org/drawingml/2006/main">
            <a:off x="619125" y="4476750"/>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a84a43b37d0547a0"/>
              </a:rPr>
              <a:t>Open interactive experiment</a:t>
            </a:r>
          </a:p>
        </p:txBody>
      </p:sp>
    </p:spTree>
    <p:extLst>
      <p:ext uri="{BB962C8B-B14F-4D97-AF65-F5344CB8AC3E}">
        <p14:creationId xmlns:p14="http://schemas.microsoft.com/office/powerpoint/2010/main" val="22299420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39E121F1-0F98-4714-BF9E-39A9D0ED68B1}"/>
              </a:ext>
            </a:extLst>
          </p:cNvPr>
          <p:cNvPicPr>
            <a:picLocks xmlns:a="http://schemas.openxmlformats.org/drawingml/2006/main" noChangeAspect="1"/>
          </p:cNvPicPr>
          <p:nvPr/>
        </p:nvPicPr>
        <p:blipFill>
          <a:blip xmlns:r="http://schemas.openxmlformats.org/officeDocument/2006/relationships" xmlns:a="http://schemas.openxmlformats.org/drawingml/2006/main" r:embed="Rab2df61540514270"/>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Discussion and exit questions">
            <a:extLst xmlns:a="http://schemas.openxmlformats.org/drawingml/2006/main">
              <a:ext uri="{FF2B5EF4-FFF2-40B4-BE49-F238E27FC236}">
                <a16:creationId xmlns:a16="http://schemas.microsoft.com/office/drawing/2014/main" id="{64E2302B-5337-495B-932E-76F10B944A07}"/>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Discussion and exit questions</a:t>
            </a:r>
          </a:p>
        </p:txBody>
      </p:sp>
      <p:sp>
        <p:nvSpPr>
          <p:cNvPr id="3" name="46">
            <a:extLst xmlns:a="http://schemas.openxmlformats.org/drawingml/2006/main">
              <a:ext uri="{FF2B5EF4-FFF2-40B4-BE49-F238E27FC236}">
                <a16:creationId xmlns:a16="http://schemas.microsoft.com/office/drawing/2014/main" id="{394FDFD1-B730-4582-B3B3-BE86A7090FF4}"/>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46</a:t>
            </a:r>
          </a:p>
        </p:txBody>
      </p:sp>
      <p:sp>
        <p:nvSpPr>
          <p:cNvPr id="4" name="Why can an optimal A* path still be unsafe for a vehicle?">
            <a:extLst xmlns:a="http://schemas.openxmlformats.org/drawingml/2006/main">
              <a:ext uri="{FF2B5EF4-FFF2-40B4-BE49-F238E27FC236}">
                <a16:creationId xmlns:a16="http://schemas.microsoft.com/office/drawing/2014/main" id="{86D1F267-9DF8-4BC7-8CE7-C45EED2C6101}"/>
              </a:ext>
            </a:extLst>
          </p:cNvPr>
          <p:cNvSpPr>
            <a:spLocks xmlns:a="http://schemas.openxmlformats.org/drawingml/2006/main" noGrp="1"/>
          </p:cNvSpPr>
          <p:nvPr/>
        </p:nvSpPr>
        <p:spPr>
          <a:xfrm xmlns:a="http://schemas.openxmlformats.org/drawingml/2006/main">
            <a:off x="619125" y="1438275"/>
            <a:ext cx="7905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Why can an optimal A* path still be unsafe for a vehicle?</a:t>
            </a:r>
          </a:p>
        </p:txBody>
      </p:sp>
      <p:sp>
        <p:nvSpPr>
          <p:cNvPr id="5" name="When might D* Lite repair cost more work than a fresh search?">
            <a:extLst xmlns:a="http://schemas.openxmlformats.org/drawingml/2006/main">
              <a:ext uri="{FF2B5EF4-FFF2-40B4-BE49-F238E27FC236}">
                <a16:creationId xmlns:a16="http://schemas.microsoft.com/office/drawing/2014/main" id="{352E37AA-0B19-45DA-9B71-E475BBA83C56}"/>
              </a:ext>
            </a:extLst>
          </p:cNvPr>
          <p:cNvSpPr>
            <a:spLocks xmlns:a="http://schemas.openxmlformats.org/drawingml/2006/main" noGrp="1"/>
          </p:cNvSpPr>
          <p:nvPr/>
        </p:nvSpPr>
        <p:spPr>
          <a:xfrm xmlns:a="http://schemas.openxmlformats.org/drawingml/2006/main">
            <a:off x="619125" y="2152650"/>
            <a:ext cx="7905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When might D* Lite repair cost more work than a fresh search?</a:t>
            </a:r>
          </a:p>
        </p:txBody>
      </p:sp>
      <p:sp>
        <p:nvSpPr>
          <p:cNvPr id="6" name="Why can a local planner stop while a global route still exists?">
            <a:extLst xmlns:a="http://schemas.openxmlformats.org/drawingml/2006/main">
              <a:ext uri="{FF2B5EF4-FFF2-40B4-BE49-F238E27FC236}">
                <a16:creationId xmlns:a16="http://schemas.microsoft.com/office/drawing/2014/main" id="{0AE3B633-2794-4474-8BAB-3FD6F7C979BD}"/>
              </a:ext>
            </a:extLst>
          </p:cNvPr>
          <p:cNvSpPr>
            <a:spLocks xmlns:a="http://schemas.openxmlformats.org/drawingml/2006/main" noGrp="1"/>
          </p:cNvSpPr>
          <p:nvPr/>
        </p:nvSpPr>
        <p:spPr>
          <a:xfrm xmlns:a="http://schemas.openxmlformats.org/drawingml/2006/main">
            <a:off x="619125" y="2867025"/>
            <a:ext cx="7905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Why can a local planner stop while a global route still exists?</a:t>
            </a:r>
          </a:p>
        </p:txBody>
      </p:sp>
      <p:sp>
        <p:nvSpPr>
          <p:cNvPr id="7" name="Which assumptions would an imagination model need before real ex">
            <a:extLst xmlns:a="http://schemas.openxmlformats.org/drawingml/2006/main">
              <a:ext uri="{FF2B5EF4-FFF2-40B4-BE49-F238E27FC236}">
                <a16:creationId xmlns:a16="http://schemas.microsoft.com/office/drawing/2014/main" id="{BBA7FCA5-13FD-43A8-842D-5DAA8DD53C1F}"/>
              </a:ext>
            </a:extLst>
          </p:cNvPr>
          <p:cNvSpPr>
            <a:spLocks xmlns:a="http://schemas.openxmlformats.org/drawingml/2006/main" noGrp="1"/>
          </p:cNvSpPr>
          <p:nvPr/>
        </p:nvSpPr>
        <p:spPr>
          <a:xfrm xmlns:a="http://schemas.openxmlformats.org/drawingml/2006/main">
            <a:off x="619125" y="3581400"/>
            <a:ext cx="7905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7324D"/>
                </a:solidFill>
                <a:latin typeface="Arial"/>
                <a:ea typeface="Arial"/>
                <a:cs typeface="Arial"/>
              </a:defRPr>
            </a:defPPr>
            <a:lvl1pPr>
              <a:defRPr sz="1950" b="0">
                <a:solidFill>
                  <a:srgbClr val="17324D"/>
                </a:solidFill>
                <a:latin typeface="Arial"/>
                <a:ea typeface="Arial"/>
                <a:cs typeface="Arial"/>
              </a:defRPr>
            </a:lvl1pPr>
            <a:lvl2pPr>
              <a:defRPr sz="1950" b="0">
                <a:solidFill>
                  <a:srgbClr val="17324D"/>
                </a:solidFill>
                <a:latin typeface="Arial"/>
                <a:ea typeface="Arial"/>
                <a:cs typeface="Arial"/>
              </a:defRPr>
            </a:lvl2pPr>
            <a:lvl3pPr>
              <a:defRPr sz="1950" b="0">
                <a:solidFill>
                  <a:srgbClr val="17324D"/>
                </a:solidFill>
                <a:latin typeface="Arial"/>
                <a:ea typeface="Arial"/>
                <a:cs typeface="Arial"/>
              </a:defRPr>
            </a:lvl3pPr>
            <a:lvl4pPr>
              <a:defRPr sz="1950" b="0">
                <a:solidFill>
                  <a:srgbClr val="17324D"/>
                </a:solidFill>
                <a:latin typeface="Arial"/>
                <a:ea typeface="Arial"/>
                <a:cs typeface="Arial"/>
              </a:defRPr>
            </a:lvl4pPr>
            <a:lvl5pPr>
              <a:defRPr sz="1950" b="0">
                <a:solidFill>
                  <a:srgbClr val="17324D"/>
                </a:solidFill>
                <a:latin typeface="Arial"/>
                <a:ea typeface="Arial"/>
                <a:cs typeface="Arial"/>
              </a:defRPr>
            </a:lvl5pPr>
            <a:lvl6pPr>
              <a:defRPr sz="1950" b="0">
                <a:solidFill>
                  <a:srgbClr val="17324D"/>
                </a:solidFill>
                <a:latin typeface="Arial"/>
                <a:ea typeface="Arial"/>
                <a:cs typeface="Arial"/>
              </a:defRPr>
            </a:lvl6pPr>
            <a:lvl7pPr>
              <a:defRPr sz="1950" b="0">
                <a:solidFill>
                  <a:srgbClr val="17324D"/>
                </a:solidFill>
                <a:latin typeface="Arial"/>
                <a:ea typeface="Arial"/>
                <a:cs typeface="Arial"/>
              </a:defRPr>
            </a:lvl7pPr>
            <a:lvl8pPr>
              <a:defRPr sz="1950" b="0">
                <a:solidFill>
                  <a:srgbClr val="17324D"/>
                </a:solidFill>
                <a:latin typeface="Arial"/>
                <a:ea typeface="Arial"/>
                <a:cs typeface="Arial"/>
              </a:defRPr>
            </a:lvl8pPr>
            <a:lvl9pPr>
              <a:defRPr sz="1950" b="0">
                <a:solidFill>
                  <a:srgbClr val="17324D"/>
                </a:solidFill>
                <a:latin typeface="Arial"/>
                <a:ea typeface="Arial"/>
                <a:cs typeface="Arial"/>
              </a:defRPr>
            </a:lvl9pPr>
          </a:lstStyle>
          <a:p xmlns:a="http://schemas.openxmlformats.org/drawingml/2006/main">
            <a:pPr>
              <a:defRPr sz="1950" b="0">
                <a:solidFill>
                  <a:srgbClr val="17324D"/>
                </a:solidFill>
                <a:latin typeface="Arial"/>
                <a:ea typeface="Arial"/>
                <a:cs typeface="Arial"/>
              </a:defRPr>
            </a:pPr>
            <a:r>
              <a:rPr sz="1950" b="0">
                <a:solidFill>
                  <a:srgbClr val="17324D"/>
                </a:solidFill>
                <a:latin typeface="Arial"/>
                <a:ea typeface="Arial"/>
                <a:cs typeface="Arial"/>
              </a:rPr>
              <a:t>Which assumptions would an imagination model need before real execution?</a:t>
            </a:r>
          </a:p>
        </p:txBody>
      </p:sp>
    </p:spTree>
    <p:extLst>
      <p:ext uri="{BB962C8B-B14F-4D97-AF65-F5344CB8AC3E}">
        <p14:creationId xmlns:p14="http://schemas.microsoft.com/office/powerpoint/2010/main" val="1062739250"/>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FAEEF30-A76A-4D39-9458-728C45671C9C}"/>
              </a:ext>
            </a:extLst>
          </p:cNvPr>
          <p:cNvPicPr>
            <a:picLocks xmlns:a="http://schemas.openxmlformats.org/drawingml/2006/main" noChangeAspect="1"/>
          </p:cNvPicPr>
          <p:nvPr/>
        </p:nvPicPr>
        <p:blipFill>
          <a:blip xmlns:r="http://schemas.openxmlformats.org/officeDocument/2006/relationships" xmlns:a="http://schemas.openxmlformats.org/drawingml/2006/main" r:embed="R2599ae5138d84744"/>
          <a:stretch xmlns:a="http://schemas.openxmlformats.org/drawingml/2006/main"/>
        </p:blipFill>
        <p:spPr>
          <a:xfrm xmlns:a="http://schemas.openxmlformats.org/drawingml/2006/main">
            <a:off x="8747093" y="0"/>
            <a:ext cx="396907" cy="396907"/>
          </a:xfrm>
          <a:prstGeom xmlns:a="http://schemas.openxmlformats.org/drawingml/2006/main" prst="rect">
            <a:avLst/>
          </a:prstGeom>
        </p:spPr>
      </p:pic>
      <p:sp>
        <p:nvSpPr>
          <p:cNvPr id="2" name="Reading and resources">
            <a:extLst xmlns:a="http://schemas.openxmlformats.org/drawingml/2006/main">
              <a:ext uri="{FF2B5EF4-FFF2-40B4-BE49-F238E27FC236}">
                <a16:creationId xmlns:a16="http://schemas.microsoft.com/office/drawing/2014/main" id="{A0E428C6-F31B-47E6-BFA1-E7B979C3D9B0}"/>
              </a:ext>
            </a:extLst>
          </p:cNvPr>
          <p:cNvSpPr>
            <a:spLocks xmlns:a="http://schemas.openxmlformats.org/drawingml/2006/main" noGrp="1"/>
          </p:cNvSpPr>
          <p:nvPr/>
        </p:nvSpPr>
        <p:spPr>
          <a:xfrm xmlns:a="http://schemas.openxmlformats.org/drawingml/2006/main">
            <a:off x="495300" y="628650"/>
            <a:ext cx="8096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550" b="0">
                <a:solidFill>
                  <a:srgbClr val="00A0DF"/>
                </a:solidFill>
                <a:latin typeface="Arial"/>
                <a:ea typeface="Arial"/>
                <a:cs typeface="Arial"/>
              </a:defRPr>
            </a:defPPr>
            <a:lvl1pPr>
              <a:defRPr sz="2550" b="0">
                <a:solidFill>
                  <a:srgbClr val="00A0DF"/>
                </a:solidFill>
                <a:latin typeface="Arial"/>
                <a:ea typeface="Arial"/>
                <a:cs typeface="Arial"/>
              </a:defRPr>
            </a:lvl1pPr>
            <a:lvl2pPr>
              <a:defRPr sz="2550" b="0">
                <a:solidFill>
                  <a:srgbClr val="00A0DF"/>
                </a:solidFill>
                <a:latin typeface="Arial"/>
                <a:ea typeface="Arial"/>
                <a:cs typeface="Arial"/>
              </a:defRPr>
            </a:lvl2pPr>
            <a:lvl3pPr>
              <a:defRPr sz="2550" b="0">
                <a:solidFill>
                  <a:srgbClr val="00A0DF"/>
                </a:solidFill>
                <a:latin typeface="Arial"/>
                <a:ea typeface="Arial"/>
                <a:cs typeface="Arial"/>
              </a:defRPr>
            </a:lvl3pPr>
            <a:lvl4pPr>
              <a:defRPr sz="2550" b="0">
                <a:solidFill>
                  <a:srgbClr val="00A0DF"/>
                </a:solidFill>
                <a:latin typeface="Arial"/>
                <a:ea typeface="Arial"/>
                <a:cs typeface="Arial"/>
              </a:defRPr>
            </a:lvl4pPr>
            <a:lvl5pPr>
              <a:defRPr sz="2550" b="0">
                <a:solidFill>
                  <a:srgbClr val="00A0DF"/>
                </a:solidFill>
                <a:latin typeface="Arial"/>
                <a:ea typeface="Arial"/>
                <a:cs typeface="Arial"/>
              </a:defRPr>
            </a:lvl5pPr>
            <a:lvl6pPr>
              <a:defRPr sz="2550" b="0">
                <a:solidFill>
                  <a:srgbClr val="00A0DF"/>
                </a:solidFill>
                <a:latin typeface="Arial"/>
                <a:ea typeface="Arial"/>
                <a:cs typeface="Arial"/>
              </a:defRPr>
            </a:lvl6pPr>
            <a:lvl7pPr>
              <a:defRPr sz="2550" b="0">
                <a:solidFill>
                  <a:srgbClr val="00A0DF"/>
                </a:solidFill>
                <a:latin typeface="Arial"/>
                <a:ea typeface="Arial"/>
                <a:cs typeface="Arial"/>
              </a:defRPr>
            </a:lvl7pPr>
            <a:lvl8pPr>
              <a:defRPr sz="2550" b="0">
                <a:solidFill>
                  <a:srgbClr val="00A0DF"/>
                </a:solidFill>
                <a:latin typeface="Arial"/>
                <a:ea typeface="Arial"/>
                <a:cs typeface="Arial"/>
              </a:defRPr>
            </a:lvl8pPr>
            <a:lvl9pPr>
              <a:defRPr sz="2550" b="0">
                <a:solidFill>
                  <a:srgbClr val="00A0DF"/>
                </a:solidFill>
                <a:latin typeface="Arial"/>
                <a:ea typeface="Arial"/>
                <a:cs typeface="Arial"/>
              </a:defRPr>
            </a:lvl9pPr>
          </a:lstStyle>
          <a:p xmlns:a="http://schemas.openxmlformats.org/drawingml/2006/main">
            <a:pPr>
              <a:defRPr sz="2550" b="0">
                <a:solidFill>
                  <a:srgbClr val="00A0DF"/>
                </a:solidFill>
                <a:latin typeface="Arial"/>
                <a:ea typeface="Arial"/>
                <a:cs typeface="Arial"/>
              </a:defRPr>
            </a:pPr>
            <a:r>
              <a:rPr sz="2550" b="0">
                <a:solidFill>
                  <a:srgbClr val="00A0DF"/>
                </a:solidFill>
                <a:latin typeface="Arial"/>
                <a:ea typeface="Arial"/>
                <a:cs typeface="Arial"/>
              </a:rPr>
              <a:t>Reading and resources</a:t>
            </a:r>
          </a:p>
        </p:txBody>
      </p:sp>
      <p:sp>
        <p:nvSpPr>
          <p:cNvPr id="3" name="47">
            <a:extLst xmlns:a="http://schemas.openxmlformats.org/drawingml/2006/main">
              <a:ext uri="{FF2B5EF4-FFF2-40B4-BE49-F238E27FC236}">
                <a16:creationId xmlns:a16="http://schemas.microsoft.com/office/drawing/2014/main" id="{B8A805E9-33BB-4FB3-9C88-8D70F4B2B4CC}"/>
              </a:ext>
            </a:extLst>
          </p:cNvPr>
          <p:cNvSpPr>
            <a:spLocks xmlns:a="http://schemas.openxmlformats.org/drawingml/2006/main" noGrp="1"/>
          </p:cNvSpPr>
          <p:nvPr/>
        </p:nvSpPr>
        <p:spPr>
          <a:xfrm xmlns:a="http://schemas.openxmlformats.org/drawingml/2006/main">
            <a:off x="8429625" y="48387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00539F"/>
                </a:solidFill>
                <a:latin typeface="Arial"/>
                <a:ea typeface="Arial"/>
                <a:cs typeface="Arial"/>
              </a:defRPr>
            </a:defPPr>
            <a:lvl1pPr>
              <a:defRPr sz="1200" b="0">
                <a:solidFill>
                  <a:srgbClr val="00539F"/>
                </a:solidFill>
                <a:latin typeface="Arial"/>
                <a:ea typeface="Arial"/>
                <a:cs typeface="Arial"/>
              </a:defRPr>
            </a:lvl1pPr>
            <a:lvl2pPr>
              <a:defRPr sz="1200" b="0">
                <a:solidFill>
                  <a:srgbClr val="00539F"/>
                </a:solidFill>
                <a:latin typeface="Arial"/>
                <a:ea typeface="Arial"/>
                <a:cs typeface="Arial"/>
              </a:defRPr>
            </a:lvl2pPr>
            <a:lvl3pPr>
              <a:defRPr sz="1200" b="0">
                <a:solidFill>
                  <a:srgbClr val="00539F"/>
                </a:solidFill>
                <a:latin typeface="Arial"/>
                <a:ea typeface="Arial"/>
                <a:cs typeface="Arial"/>
              </a:defRPr>
            </a:lvl3pPr>
            <a:lvl4pPr>
              <a:defRPr sz="1200" b="0">
                <a:solidFill>
                  <a:srgbClr val="00539F"/>
                </a:solidFill>
                <a:latin typeface="Arial"/>
                <a:ea typeface="Arial"/>
                <a:cs typeface="Arial"/>
              </a:defRPr>
            </a:lvl4pPr>
            <a:lvl5pPr>
              <a:defRPr sz="1200" b="0">
                <a:solidFill>
                  <a:srgbClr val="00539F"/>
                </a:solidFill>
                <a:latin typeface="Arial"/>
                <a:ea typeface="Arial"/>
                <a:cs typeface="Arial"/>
              </a:defRPr>
            </a:lvl5pPr>
            <a:lvl6pPr>
              <a:defRPr sz="1200" b="0">
                <a:solidFill>
                  <a:srgbClr val="00539F"/>
                </a:solidFill>
                <a:latin typeface="Arial"/>
                <a:ea typeface="Arial"/>
                <a:cs typeface="Arial"/>
              </a:defRPr>
            </a:lvl6pPr>
            <a:lvl7pPr>
              <a:defRPr sz="1200" b="0">
                <a:solidFill>
                  <a:srgbClr val="00539F"/>
                </a:solidFill>
                <a:latin typeface="Arial"/>
                <a:ea typeface="Arial"/>
                <a:cs typeface="Arial"/>
              </a:defRPr>
            </a:lvl7pPr>
            <a:lvl8pPr>
              <a:defRPr sz="1200" b="0">
                <a:solidFill>
                  <a:srgbClr val="00539F"/>
                </a:solidFill>
                <a:latin typeface="Arial"/>
                <a:ea typeface="Arial"/>
                <a:cs typeface="Arial"/>
              </a:defRPr>
            </a:lvl8pPr>
            <a:lvl9pPr>
              <a:defRPr sz="1200" b="0">
                <a:solidFill>
                  <a:srgbClr val="00539F"/>
                </a:solidFill>
                <a:latin typeface="Arial"/>
                <a:ea typeface="Arial"/>
                <a:cs typeface="Arial"/>
              </a:defRPr>
            </a:lvl9pPr>
          </a:lstStyle>
          <a:p xmlns:a="http://schemas.openxmlformats.org/drawingml/2006/main">
            <a:pPr>
              <a:defRPr sz="1200" b="0">
                <a:solidFill>
                  <a:srgbClr val="00539F"/>
                </a:solidFill>
                <a:latin typeface="Arial"/>
                <a:ea typeface="Arial"/>
                <a:cs typeface="Arial"/>
              </a:defRPr>
            </a:pPr>
            <a:r>
              <a:rPr sz="1200" b="0">
                <a:solidFill>
                  <a:srgbClr val="00539F"/>
                </a:solidFill>
                <a:latin typeface="Arial"/>
                <a:ea typeface="Arial"/>
                <a:cs typeface="Arial"/>
              </a:rPr>
              <a:t>47</a:t>
            </a:r>
          </a:p>
        </p:txBody>
      </p:sp>
      <p:sp>
        <p:nvSpPr>
          <p:cNvPr id="4" name="LaValle, Planning Algorithms: search, configuration space, sampl">
            <a:extLst xmlns:a="http://schemas.openxmlformats.org/drawingml/2006/main">
              <a:ext uri="{FF2B5EF4-FFF2-40B4-BE49-F238E27FC236}">
                <a16:creationId xmlns:a16="http://schemas.microsoft.com/office/drawing/2014/main" id="{707FDF02-2313-4F74-87FB-8ABCE697245B}"/>
              </a:ext>
            </a:extLst>
          </p:cNvPr>
          <p:cNvSpPr>
            <a:spLocks xmlns:a="http://schemas.openxmlformats.org/drawingml/2006/main" noGrp="1"/>
          </p:cNvSpPr>
          <p:nvPr/>
        </p:nvSpPr>
        <p:spPr>
          <a:xfrm xmlns:a="http://schemas.openxmlformats.org/drawingml/2006/main">
            <a:off x="619125" y="1428750"/>
            <a:ext cx="7905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17324D"/>
                </a:solidFill>
                <a:latin typeface="Arial"/>
                <a:ea typeface="Arial"/>
                <a:cs typeface="Arial"/>
              </a:defRPr>
            </a:defPPr>
            <a:lvl1pPr>
              <a:defRPr sz="1725" b="0">
                <a:solidFill>
                  <a:srgbClr val="17324D"/>
                </a:solidFill>
                <a:latin typeface="Arial"/>
                <a:ea typeface="Arial"/>
                <a:cs typeface="Arial"/>
              </a:defRPr>
            </a:lvl1pPr>
            <a:lvl2pPr>
              <a:defRPr sz="1725" b="0">
                <a:solidFill>
                  <a:srgbClr val="17324D"/>
                </a:solidFill>
                <a:latin typeface="Arial"/>
                <a:ea typeface="Arial"/>
                <a:cs typeface="Arial"/>
              </a:defRPr>
            </a:lvl2pPr>
            <a:lvl3pPr>
              <a:defRPr sz="1725" b="0">
                <a:solidFill>
                  <a:srgbClr val="17324D"/>
                </a:solidFill>
                <a:latin typeface="Arial"/>
                <a:ea typeface="Arial"/>
                <a:cs typeface="Arial"/>
              </a:defRPr>
            </a:lvl3pPr>
            <a:lvl4pPr>
              <a:defRPr sz="1725" b="0">
                <a:solidFill>
                  <a:srgbClr val="17324D"/>
                </a:solidFill>
                <a:latin typeface="Arial"/>
                <a:ea typeface="Arial"/>
                <a:cs typeface="Arial"/>
              </a:defRPr>
            </a:lvl4pPr>
            <a:lvl5pPr>
              <a:defRPr sz="1725" b="0">
                <a:solidFill>
                  <a:srgbClr val="17324D"/>
                </a:solidFill>
                <a:latin typeface="Arial"/>
                <a:ea typeface="Arial"/>
                <a:cs typeface="Arial"/>
              </a:defRPr>
            </a:lvl5pPr>
            <a:lvl6pPr>
              <a:defRPr sz="1725" b="0">
                <a:solidFill>
                  <a:srgbClr val="17324D"/>
                </a:solidFill>
                <a:latin typeface="Arial"/>
                <a:ea typeface="Arial"/>
                <a:cs typeface="Arial"/>
              </a:defRPr>
            </a:lvl6pPr>
            <a:lvl7pPr>
              <a:defRPr sz="1725" b="0">
                <a:solidFill>
                  <a:srgbClr val="17324D"/>
                </a:solidFill>
                <a:latin typeface="Arial"/>
                <a:ea typeface="Arial"/>
                <a:cs typeface="Arial"/>
              </a:defRPr>
            </a:lvl7pPr>
            <a:lvl8pPr>
              <a:defRPr sz="1725" b="0">
                <a:solidFill>
                  <a:srgbClr val="17324D"/>
                </a:solidFill>
                <a:latin typeface="Arial"/>
                <a:ea typeface="Arial"/>
                <a:cs typeface="Arial"/>
              </a:defRPr>
            </a:lvl8pPr>
            <a:lvl9pPr>
              <a:defRPr sz="1725" b="0">
                <a:solidFill>
                  <a:srgbClr val="17324D"/>
                </a:solidFill>
                <a:latin typeface="Arial"/>
                <a:ea typeface="Arial"/>
                <a:cs typeface="Arial"/>
              </a:defRPr>
            </a:lvl9pPr>
          </a:lstStyle>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LaValle, Planning Algorithms: search, configuration space, sampling, feedback.</a:t>
            </a:r>
          </a:p>
        </p:txBody>
      </p:sp>
      <p:sp>
        <p:nvSpPr>
          <p:cNvPr id="5" name="Stentz: D*. Koenig and Likhachev: D* Lite.">
            <a:extLst xmlns:a="http://schemas.openxmlformats.org/drawingml/2006/main">
              <a:ext uri="{FF2B5EF4-FFF2-40B4-BE49-F238E27FC236}">
                <a16:creationId xmlns:a16="http://schemas.microsoft.com/office/drawing/2014/main" id="{40C49DEF-BD94-4F04-BF40-0FA2C6AC32D2}"/>
              </a:ext>
            </a:extLst>
          </p:cNvPr>
          <p:cNvSpPr>
            <a:spLocks xmlns:a="http://schemas.openxmlformats.org/drawingml/2006/main" noGrp="1"/>
          </p:cNvSpPr>
          <p:nvPr/>
        </p:nvSpPr>
        <p:spPr>
          <a:xfrm xmlns:a="http://schemas.openxmlformats.org/drawingml/2006/main">
            <a:off x="619125" y="2085975"/>
            <a:ext cx="7905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17324D"/>
                </a:solidFill>
                <a:latin typeface="Arial"/>
                <a:ea typeface="Arial"/>
                <a:cs typeface="Arial"/>
              </a:defRPr>
            </a:defPPr>
            <a:lvl1pPr>
              <a:defRPr sz="1725" b="0">
                <a:solidFill>
                  <a:srgbClr val="17324D"/>
                </a:solidFill>
                <a:latin typeface="Arial"/>
                <a:ea typeface="Arial"/>
                <a:cs typeface="Arial"/>
              </a:defRPr>
            </a:lvl1pPr>
            <a:lvl2pPr>
              <a:defRPr sz="1725" b="0">
                <a:solidFill>
                  <a:srgbClr val="17324D"/>
                </a:solidFill>
                <a:latin typeface="Arial"/>
                <a:ea typeface="Arial"/>
                <a:cs typeface="Arial"/>
              </a:defRPr>
            </a:lvl2pPr>
            <a:lvl3pPr>
              <a:defRPr sz="1725" b="0">
                <a:solidFill>
                  <a:srgbClr val="17324D"/>
                </a:solidFill>
                <a:latin typeface="Arial"/>
                <a:ea typeface="Arial"/>
                <a:cs typeface="Arial"/>
              </a:defRPr>
            </a:lvl3pPr>
            <a:lvl4pPr>
              <a:defRPr sz="1725" b="0">
                <a:solidFill>
                  <a:srgbClr val="17324D"/>
                </a:solidFill>
                <a:latin typeface="Arial"/>
                <a:ea typeface="Arial"/>
                <a:cs typeface="Arial"/>
              </a:defRPr>
            </a:lvl4pPr>
            <a:lvl5pPr>
              <a:defRPr sz="1725" b="0">
                <a:solidFill>
                  <a:srgbClr val="17324D"/>
                </a:solidFill>
                <a:latin typeface="Arial"/>
                <a:ea typeface="Arial"/>
                <a:cs typeface="Arial"/>
              </a:defRPr>
            </a:lvl5pPr>
            <a:lvl6pPr>
              <a:defRPr sz="1725" b="0">
                <a:solidFill>
                  <a:srgbClr val="17324D"/>
                </a:solidFill>
                <a:latin typeface="Arial"/>
                <a:ea typeface="Arial"/>
                <a:cs typeface="Arial"/>
              </a:defRPr>
            </a:lvl6pPr>
            <a:lvl7pPr>
              <a:defRPr sz="1725" b="0">
                <a:solidFill>
                  <a:srgbClr val="17324D"/>
                </a:solidFill>
                <a:latin typeface="Arial"/>
                <a:ea typeface="Arial"/>
                <a:cs typeface="Arial"/>
              </a:defRPr>
            </a:lvl7pPr>
            <a:lvl8pPr>
              <a:defRPr sz="1725" b="0">
                <a:solidFill>
                  <a:srgbClr val="17324D"/>
                </a:solidFill>
                <a:latin typeface="Arial"/>
                <a:ea typeface="Arial"/>
                <a:cs typeface="Arial"/>
              </a:defRPr>
            </a:lvl8pPr>
            <a:lvl9pPr>
              <a:defRPr sz="1725" b="0">
                <a:solidFill>
                  <a:srgbClr val="17324D"/>
                </a:solidFill>
                <a:latin typeface="Arial"/>
                <a:ea typeface="Arial"/>
                <a:cs typeface="Arial"/>
              </a:defRPr>
            </a:lvl9pPr>
          </a:lstStyle>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Stentz: D*. Koenig and Likhachev: D* Lite.</a:t>
            </a:r>
          </a:p>
        </p:txBody>
      </p:sp>
      <p:sp>
        <p:nvSpPr>
          <p:cNvPr id="6" name="Nav2 documentation: planners, controllers, footprints, and cost ">
            <a:extLst xmlns:a="http://schemas.openxmlformats.org/drawingml/2006/main">
              <a:ext uri="{FF2B5EF4-FFF2-40B4-BE49-F238E27FC236}">
                <a16:creationId xmlns:a16="http://schemas.microsoft.com/office/drawing/2014/main" id="{4607D0AD-9462-4E5D-81CF-7E1D3D5C5CDE}"/>
              </a:ext>
            </a:extLst>
          </p:cNvPr>
          <p:cNvSpPr>
            <a:spLocks xmlns:a="http://schemas.openxmlformats.org/drawingml/2006/main" noGrp="1"/>
          </p:cNvSpPr>
          <p:nvPr/>
        </p:nvSpPr>
        <p:spPr>
          <a:xfrm xmlns:a="http://schemas.openxmlformats.org/drawingml/2006/main">
            <a:off x="619125" y="2743200"/>
            <a:ext cx="7905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17324D"/>
                </a:solidFill>
                <a:latin typeface="Arial"/>
                <a:ea typeface="Arial"/>
                <a:cs typeface="Arial"/>
              </a:defRPr>
            </a:defPPr>
            <a:lvl1pPr>
              <a:defRPr sz="1725" b="0">
                <a:solidFill>
                  <a:srgbClr val="17324D"/>
                </a:solidFill>
                <a:latin typeface="Arial"/>
                <a:ea typeface="Arial"/>
                <a:cs typeface="Arial"/>
              </a:defRPr>
            </a:lvl1pPr>
            <a:lvl2pPr>
              <a:defRPr sz="1725" b="0">
                <a:solidFill>
                  <a:srgbClr val="17324D"/>
                </a:solidFill>
                <a:latin typeface="Arial"/>
                <a:ea typeface="Arial"/>
                <a:cs typeface="Arial"/>
              </a:defRPr>
            </a:lvl2pPr>
            <a:lvl3pPr>
              <a:defRPr sz="1725" b="0">
                <a:solidFill>
                  <a:srgbClr val="17324D"/>
                </a:solidFill>
                <a:latin typeface="Arial"/>
                <a:ea typeface="Arial"/>
                <a:cs typeface="Arial"/>
              </a:defRPr>
            </a:lvl3pPr>
            <a:lvl4pPr>
              <a:defRPr sz="1725" b="0">
                <a:solidFill>
                  <a:srgbClr val="17324D"/>
                </a:solidFill>
                <a:latin typeface="Arial"/>
                <a:ea typeface="Arial"/>
                <a:cs typeface="Arial"/>
              </a:defRPr>
            </a:lvl4pPr>
            <a:lvl5pPr>
              <a:defRPr sz="1725" b="0">
                <a:solidFill>
                  <a:srgbClr val="17324D"/>
                </a:solidFill>
                <a:latin typeface="Arial"/>
                <a:ea typeface="Arial"/>
                <a:cs typeface="Arial"/>
              </a:defRPr>
            </a:lvl5pPr>
            <a:lvl6pPr>
              <a:defRPr sz="1725" b="0">
                <a:solidFill>
                  <a:srgbClr val="17324D"/>
                </a:solidFill>
                <a:latin typeface="Arial"/>
                <a:ea typeface="Arial"/>
                <a:cs typeface="Arial"/>
              </a:defRPr>
            </a:lvl6pPr>
            <a:lvl7pPr>
              <a:defRPr sz="1725" b="0">
                <a:solidFill>
                  <a:srgbClr val="17324D"/>
                </a:solidFill>
                <a:latin typeface="Arial"/>
                <a:ea typeface="Arial"/>
                <a:cs typeface="Arial"/>
              </a:defRPr>
            </a:lvl7pPr>
            <a:lvl8pPr>
              <a:defRPr sz="1725" b="0">
                <a:solidFill>
                  <a:srgbClr val="17324D"/>
                </a:solidFill>
                <a:latin typeface="Arial"/>
                <a:ea typeface="Arial"/>
                <a:cs typeface="Arial"/>
              </a:defRPr>
            </a:lvl8pPr>
            <a:lvl9pPr>
              <a:defRPr sz="1725" b="0">
                <a:solidFill>
                  <a:srgbClr val="17324D"/>
                </a:solidFill>
                <a:latin typeface="Arial"/>
                <a:ea typeface="Arial"/>
                <a:cs typeface="Arial"/>
              </a:defRPr>
            </a:lvl9pPr>
          </a:lstStyle>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Nav2 documentation: planners, controllers, footprints, and cost tuning.</a:t>
            </a:r>
          </a:p>
        </p:txBody>
      </p:sp>
      <p:sp>
        <p:nvSpPr>
          <p:cNvPr id="7" name="Chirikjian and collaborators: Robot Imagination, PRIMP, and RAIL">
            <a:extLst xmlns:a="http://schemas.openxmlformats.org/drawingml/2006/main">
              <a:ext uri="{FF2B5EF4-FFF2-40B4-BE49-F238E27FC236}">
                <a16:creationId xmlns:a16="http://schemas.microsoft.com/office/drawing/2014/main" id="{E8A890E9-232D-4DB9-988D-3B31D641CED4}"/>
              </a:ext>
            </a:extLst>
          </p:cNvPr>
          <p:cNvSpPr>
            <a:spLocks xmlns:a="http://schemas.openxmlformats.org/drawingml/2006/main" noGrp="1"/>
          </p:cNvSpPr>
          <p:nvPr/>
        </p:nvSpPr>
        <p:spPr>
          <a:xfrm xmlns:a="http://schemas.openxmlformats.org/drawingml/2006/main">
            <a:off x="619125" y="3400425"/>
            <a:ext cx="7905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17324D"/>
                </a:solidFill>
                <a:latin typeface="Arial"/>
                <a:ea typeface="Arial"/>
                <a:cs typeface="Arial"/>
              </a:defRPr>
            </a:defPPr>
            <a:lvl1pPr>
              <a:defRPr sz="1725" b="0">
                <a:solidFill>
                  <a:srgbClr val="17324D"/>
                </a:solidFill>
                <a:latin typeface="Arial"/>
                <a:ea typeface="Arial"/>
                <a:cs typeface="Arial"/>
              </a:defRPr>
            </a:lvl1pPr>
            <a:lvl2pPr>
              <a:defRPr sz="1725" b="0">
                <a:solidFill>
                  <a:srgbClr val="17324D"/>
                </a:solidFill>
                <a:latin typeface="Arial"/>
                <a:ea typeface="Arial"/>
                <a:cs typeface="Arial"/>
              </a:defRPr>
            </a:lvl2pPr>
            <a:lvl3pPr>
              <a:defRPr sz="1725" b="0">
                <a:solidFill>
                  <a:srgbClr val="17324D"/>
                </a:solidFill>
                <a:latin typeface="Arial"/>
                <a:ea typeface="Arial"/>
                <a:cs typeface="Arial"/>
              </a:defRPr>
            </a:lvl3pPr>
            <a:lvl4pPr>
              <a:defRPr sz="1725" b="0">
                <a:solidFill>
                  <a:srgbClr val="17324D"/>
                </a:solidFill>
                <a:latin typeface="Arial"/>
                <a:ea typeface="Arial"/>
                <a:cs typeface="Arial"/>
              </a:defRPr>
            </a:lvl4pPr>
            <a:lvl5pPr>
              <a:defRPr sz="1725" b="0">
                <a:solidFill>
                  <a:srgbClr val="17324D"/>
                </a:solidFill>
                <a:latin typeface="Arial"/>
                <a:ea typeface="Arial"/>
                <a:cs typeface="Arial"/>
              </a:defRPr>
            </a:lvl5pPr>
            <a:lvl6pPr>
              <a:defRPr sz="1725" b="0">
                <a:solidFill>
                  <a:srgbClr val="17324D"/>
                </a:solidFill>
                <a:latin typeface="Arial"/>
                <a:ea typeface="Arial"/>
                <a:cs typeface="Arial"/>
              </a:defRPr>
            </a:lvl6pPr>
            <a:lvl7pPr>
              <a:defRPr sz="1725" b="0">
                <a:solidFill>
                  <a:srgbClr val="17324D"/>
                </a:solidFill>
                <a:latin typeface="Arial"/>
                <a:ea typeface="Arial"/>
                <a:cs typeface="Arial"/>
              </a:defRPr>
            </a:lvl7pPr>
            <a:lvl8pPr>
              <a:defRPr sz="1725" b="0">
                <a:solidFill>
                  <a:srgbClr val="17324D"/>
                </a:solidFill>
                <a:latin typeface="Arial"/>
                <a:ea typeface="Arial"/>
                <a:cs typeface="Arial"/>
              </a:defRPr>
            </a:lvl8pPr>
            <a:lvl9pPr>
              <a:defRPr sz="1725" b="0">
                <a:solidFill>
                  <a:srgbClr val="17324D"/>
                </a:solidFill>
                <a:latin typeface="Arial"/>
                <a:ea typeface="Arial"/>
                <a:cs typeface="Arial"/>
              </a:defRPr>
            </a:lvl9pPr>
          </a:lstStyle>
          <a:p xmlns:a="http://schemas.openxmlformats.org/drawingml/2006/main">
            <a:pPr>
              <a:defRPr sz="1725" b="0">
                <a:solidFill>
                  <a:srgbClr val="17324D"/>
                </a:solidFill>
                <a:latin typeface="Arial"/>
                <a:ea typeface="Arial"/>
                <a:cs typeface="Arial"/>
              </a:defRPr>
            </a:pPr>
            <a:r>
              <a:rPr sz="1725" b="0">
                <a:solidFill>
                  <a:srgbClr val="17324D"/>
                </a:solidFill>
                <a:latin typeface="Arial"/>
                <a:ea typeface="Arial"/>
                <a:cs typeface="Arial"/>
              </a:rPr>
              <a:t>Chirikjian and collaborators: Robot Imagination, PRIMP, and RAIL.</a:t>
            </a:r>
          </a:p>
        </p:txBody>
      </p:sp>
      <p:sp>
        <p:nvSpPr>
          <p:cNvPr id="8" name="Open the nine interactive experiment families">
            <a:extLst xmlns:a="http://schemas.openxmlformats.org/drawingml/2006/main">
              <a:ext uri="{FF2B5EF4-FFF2-40B4-BE49-F238E27FC236}">
                <a16:creationId xmlns:a16="http://schemas.microsoft.com/office/drawing/2014/main" id="{83BD0B42-2F05-4E75-BF2E-43C5B5D53838}"/>
              </a:ext>
            </a:extLst>
          </p:cNvPr>
          <p:cNvSpPr>
            <a:spLocks xmlns:a="http://schemas.openxmlformats.org/drawingml/2006/main" noGrp="1"/>
          </p:cNvSpPr>
          <p:nvPr/>
        </p:nvSpPr>
        <p:spPr>
          <a:xfrm xmlns:a="http://schemas.openxmlformats.org/drawingml/2006/main">
            <a:off x="619125" y="4371975"/>
            <a:ext cx="790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0">
                <a:solidFill>
                  <a:srgbClr val="00539F"/>
                </a:solidFill>
                <a:latin typeface="Arial"/>
                <a:ea typeface="Arial"/>
                <a:cs typeface="Arial"/>
              </a:defRPr>
            </a:defPPr>
            <a:lvl1pPr>
              <a:defRPr sz="1425" b="0">
                <a:solidFill>
                  <a:srgbClr val="00539F"/>
                </a:solidFill>
                <a:latin typeface="Arial"/>
                <a:ea typeface="Arial"/>
                <a:cs typeface="Arial"/>
              </a:defRPr>
            </a:lvl1pPr>
            <a:lvl2pPr>
              <a:defRPr sz="1425" b="0">
                <a:solidFill>
                  <a:srgbClr val="00539F"/>
                </a:solidFill>
                <a:latin typeface="Arial"/>
                <a:ea typeface="Arial"/>
                <a:cs typeface="Arial"/>
              </a:defRPr>
            </a:lvl2pPr>
            <a:lvl3pPr>
              <a:defRPr sz="1425" b="0">
                <a:solidFill>
                  <a:srgbClr val="00539F"/>
                </a:solidFill>
                <a:latin typeface="Arial"/>
                <a:ea typeface="Arial"/>
                <a:cs typeface="Arial"/>
              </a:defRPr>
            </a:lvl3pPr>
            <a:lvl4pPr>
              <a:defRPr sz="1425" b="0">
                <a:solidFill>
                  <a:srgbClr val="00539F"/>
                </a:solidFill>
                <a:latin typeface="Arial"/>
                <a:ea typeface="Arial"/>
                <a:cs typeface="Arial"/>
              </a:defRPr>
            </a:lvl4pPr>
            <a:lvl5pPr>
              <a:defRPr sz="1425" b="0">
                <a:solidFill>
                  <a:srgbClr val="00539F"/>
                </a:solidFill>
                <a:latin typeface="Arial"/>
                <a:ea typeface="Arial"/>
                <a:cs typeface="Arial"/>
              </a:defRPr>
            </a:lvl5pPr>
            <a:lvl6pPr>
              <a:defRPr sz="1425" b="0">
                <a:solidFill>
                  <a:srgbClr val="00539F"/>
                </a:solidFill>
                <a:latin typeface="Arial"/>
                <a:ea typeface="Arial"/>
                <a:cs typeface="Arial"/>
              </a:defRPr>
            </a:lvl6pPr>
            <a:lvl7pPr>
              <a:defRPr sz="1425" b="0">
                <a:solidFill>
                  <a:srgbClr val="00539F"/>
                </a:solidFill>
                <a:latin typeface="Arial"/>
                <a:ea typeface="Arial"/>
                <a:cs typeface="Arial"/>
              </a:defRPr>
            </a:lvl7pPr>
            <a:lvl8pPr>
              <a:defRPr sz="1425" b="0">
                <a:solidFill>
                  <a:srgbClr val="00539F"/>
                </a:solidFill>
                <a:latin typeface="Arial"/>
                <a:ea typeface="Arial"/>
                <a:cs typeface="Arial"/>
              </a:defRPr>
            </a:lvl8pPr>
            <a:lvl9pPr>
              <a:defRPr sz="1425" b="0">
                <a:solidFill>
                  <a:srgbClr val="00539F"/>
                </a:solidFill>
                <a:latin typeface="Arial"/>
                <a:ea typeface="Arial"/>
                <a:cs typeface="Arial"/>
              </a:defRPr>
            </a:lvl9pPr>
          </a:lstStyle>
          <a:p xmlns:a="http://schemas.openxmlformats.org/drawingml/2006/main">
            <a:pPr>
              <a:defRPr sz="1425" b="0">
                <a:solidFill>
                  <a:srgbClr val="00539F"/>
                </a:solidFill>
                <a:latin typeface="Arial"/>
                <a:ea typeface="Arial"/>
                <a:cs typeface="Arial"/>
              </a:defRPr>
            </a:pPr>
            <a:r>
              <a:rPr u="sng">
                <a:hlinkClick xmlns:r="http://schemas.openxmlformats.org/officeDocument/2006/relationships" r:id="Rf8b4e6d2569b480c"/>
              </a:rPr>
              <a:t>Open the nine interactive experiment families</a:t>
            </a:r>
          </a:p>
        </p:txBody>
      </p:sp>
    </p:spTree>
    <p:extLst>
      <p:ext uri="{BB962C8B-B14F-4D97-AF65-F5344CB8AC3E}">
        <p14:creationId xmlns:p14="http://schemas.microsoft.com/office/powerpoint/2010/main" val="5829640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2026-10-27T20:49:42.4890000Z</dcterms:created>
  <dcterms:modified xsi:type="dcterms:W3CDTF">2026-10-27T20:49:42.4890000Z</dcterms:modified>
</coreProperties>
</file>