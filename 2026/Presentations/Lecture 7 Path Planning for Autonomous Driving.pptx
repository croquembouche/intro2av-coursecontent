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gif" ContentType="image/gif"/>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db1423569b44294" /><Relationship Type="http://schemas.openxmlformats.org/officeDocument/2006/relationships/extended-properties" Target="/docProps/app.xml" Id="R2066aac54c134650" /><Relationship Type="http://schemas.openxmlformats.org/officeDocument/2006/relationships/officeDocument" Target="/ppt/presentation.xml" Id="R3a3d07ac1c7e408f" /></Relationships>
</file>

<file path=ppt/presentation.xml><?xml version="1.0" encoding="utf-8"?>
<p:presentation xmlns:p="http://schemas.openxmlformats.org/presentationml/2006/main">
  <p:sldMasterIdLst>
    <p:sldMasterId xmlns:r="http://schemas.openxmlformats.org/officeDocument/2006/relationships" id="2147483648" r:id="R8ea6ffb58eca4a3d"/>
  </p:sldMasterIdLst>
  <p:notesMasterIdLst>
    <p:notesMasterId xmlns:r="http://schemas.openxmlformats.org/officeDocument/2006/relationships" r:id="Rf4896071328a42ff"/>
  </p:notesMasterIdLst>
  <p:sldIdLst>
    <p:sldId xmlns:r="http://schemas.openxmlformats.org/officeDocument/2006/relationships" id="256" r:id="Rbe7742ab59bd4de1"/>
    <p:sldId xmlns:r="http://schemas.openxmlformats.org/officeDocument/2006/relationships" id="257" r:id="R289304a77eeb4d36"/>
    <p:sldId xmlns:r="http://schemas.openxmlformats.org/officeDocument/2006/relationships" id="258" r:id="R0cebfb070b3a4776"/>
    <p:sldId xmlns:r="http://schemas.openxmlformats.org/officeDocument/2006/relationships" id="259" r:id="R9daa8d2c428d4ad6"/>
    <p:sldId xmlns:r="http://schemas.openxmlformats.org/officeDocument/2006/relationships" id="260" r:id="Rb1d2d88f18b54bf2"/>
    <p:sldId xmlns:r="http://schemas.openxmlformats.org/officeDocument/2006/relationships" id="261" r:id="R03158caf766e4a6f"/>
    <p:sldId xmlns:r="http://schemas.openxmlformats.org/officeDocument/2006/relationships" id="262" r:id="Rcb1b1c7bc4414e16"/>
    <p:sldId xmlns:r="http://schemas.openxmlformats.org/officeDocument/2006/relationships" id="263" r:id="R27cde22e0ec94804"/>
    <p:sldId xmlns:r="http://schemas.openxmlformats.org/officeDocument/2006/relationships" id="264" r:id="Rf9f17b90d07845d5"/>
    <p:sldId xmlns:r="http://schemas.openxmlformats.org/officeDocument/2006/relationships" id="265" r:id="Rb87c8e06742e46bf"/>
    <p:sldId xmlns:r="http://schemas.openxmlformats.org/officeDocument/2006/relationships" id="266" r:id="R50fa08e8606043af"/>
    <p:sldId xmlns:r="http://schemas.openxmlformats.org/officeDocument/2006/relationships" id="267" r:id="R1b67d11eecb34366"/>
    <p:sldId xmlns:r="http://schemas.openxmlformats.org/officeDocument/2006/relationships" id="268" r:id="Rc495639842774fec"/>
    <p:sldId xmlns:r="http://schemas.openxmlformats.org/officeDocument/2006/relationships" id="269" r:id="Rd5627d18fc3e4bcf"/>
    <p:sldId xmlns:r="http://schemas.openxmlformats.org/officeDocument/2006/relationships" id="270" r:id="R4bc3243fcba248de"/>
    <p:sldId xmlns:r="http://schemas.openxmlformats.org/officeDocument/2006/relationships" id="271" r:id="R7aff4f5805c9440a"/>
    <p:sldId xmlns:r="http://schemas.openxmlformats.org/officeDocument/2006/relationships" id="272" r:id="R6b79e1cc358540cd"/>
    <p:sldId xmlns:r="http://schemas.openxmlformats.org/officeDocument/2006/relationships" id="273" r:id="R430533fdeab948a7"/>
    <p:sldId xmlns:r="http://schemas.openxmlformats.org/officeDocument/2006/relationships" id="274" r:id="R869e263592ea4207"/>
    <p:sldId xmlns:r="http://schemas.openxmlformats.org/officeDocument/2006/relationships" id="275" r:id="Rd91fb8b5d9fa4a77"/>
    <p:sldId xmlns:r="http://schemas.openxmlformats.org/officeDocument/2006/relationships" id="276" r:id="Re5a8da9484f24125"/>
    <p:sldId xmlns:r="http://schemas.openxmlformats.org/officeDocument/2006/relationships" id="277" r:id="R3888e27e35fe4e32"/>
    <p:sldId xmlns:r="http://schemas.openxmlformats.org/officeDocument/2006/relationships" id="278" r:id="Rbb5d744147d94e02"/>
    <p:sldId xmlns:r="http://schemas.openxmlformats.org/officeDocument/2006/relationships" id="279" r:id="Rb33a5f385c324598"/>
    <p:sldId xmlns:r="http://schemas.openxmlformats.org/officeDocument/2006/relationships" id="280" r:id="R7e7eb5f799624a01"/>
    <p:sldId xmlns:r="http://schemas.openxmlformats.org/officeDocument/2006/relationships" id="281" r:id="Rac077271442149f9"/>
    <p:sldId xmlns:r="http://schemas.openxmlformats.org/officeDocument/2006/relationships" id="282" r:id="R77e68de4caf240b5"/>
    <p:sldId xmlns:r="http://schemas.openxmlformats.org/officeDocument/2006/relationships" id="283" r:id="Rf5a0746ae2ae4349"/>
    <p:sldId xmlns:r="http://schemas.openxmlformats.org/officeDocument/2006/relationships" id="284" r:id="Re16a57170d9448a3"/>
    <p:sldId xmlns:r="http://schemas.openxmlformats.org/officeDocument/2006/relationships" id="285" r:id="R94f753786c65465d"/>
    <p:sldId xmlns:r="http://schemas.openxmlformats.org/officeDocument/2006/relationships" id="286" r:id="Rd546b66e560940ca"/>
    <p:sldId xmlns:r="http://schemas.openxmlformats.org/officeDocument/2006/relationships" id="287" r:id="R3599aab5fc454d64"/>
    <p:sldId xmlns:r="http://schemas.openxmlformats.org/officeDocument/2006/relationships" id="288" r:id="R5d4d11b7a0474d95"/>
    <p:sldId xmlns:r="http://schemas.openxmlformats.org/officeDocument/2006/relationships" id="289" r:id="Rbd26a71e7b1c40af"/>
    <p:sldId xmlns:r="http://schemas.openxmlformats.org/officeDocument/2006/relationships" id="290" r:id="Rc3936a33b8024d5e"/>
    <p:sldId xmlns:r="http://schemas.openxmlformats.org/officeDocument/2006/relationships" id="291" r:id="R6f968685be0348e4"/>
    <p:sldId xmlns:r="http://schemas.openxmlformats.org/officeDocument/2006/relationships" id="292" r:id="Rf0fcde3037d94d95"/>
    <p:sldId xmlns:r="http://schemas.openxmlformats.org/officeDocument/2006/relationships" id="293" r:id="R370d4a8b32b24543"/>
    <p:sldId xmlns:r="http://schemas.openxmlformats.org/officeDocument/2006/relationships" id="294" r:id="Rb55280d004c94704"/>
    <p:sldId xmlns:r="http://schemas.openxmlformats.org/officeDocument/2006/relationships" id="295" r:id="R1c46dea8da7b40ab"/>
    <p:sldId xmlns:r="http://schemas.openxmlformats.org/officeDocument/2006/relationships" id="296" r:id="R5b183340fed04ecf"/>
    <p:sldId xmlns:r="http://schemas.openxmlformats.org/officeDocument/2006/relationships" id="297" r:id="R7202d6bd74694760"/>
    <p:sldId xmlns:r="http://schemas.openxmlformats.org/officeDocument/2006/relationships" id="298" r:id="Rdf0c6208343342ec"/>
    <p:sldId xmlns:r="http://schemas.openxmlformats.org/officeDocument/2006/relationships" id="299" r:id="Rf336e46d389d4156"/>
    <p:sldId xmlns:r="http://schemas.openxmlformats.org/officeDocument/2006/relationships" id="300" r:id="R4395a7477aab4d56"/>
  </p:sldIdLst>
  <p:sldSz cx="9144000" cy="514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0872bb5e95d4986" /><Relationship Type="http://schemas.openxmlformats.org/officeDocument/2006/relationships/slideMaster" Target="/ppt/slideMasters/slideMaster1.xml" Id="R8ea6ffb58eca4a3d" /><Relationship Type="http://schemas.openxmlformats.org/officeDocument/2006/relationships/notesMaster" Target="/ppt/notesMasters/notesMaster1.xml" Id="Rf4896071328a42ff" /><Relationship Type="http://schemas.openxmlformats.org/officeDocument/2006/relationships/presProps" Target="/ppt/presProps.xml" Id="R5b1e83e402354559" /><Relationship Type="http://schemas.openxmlformats.org/officeDocument/2006/relationships/tableStyles" Target="/ppt/tableStyles.xml" Id="R22b4154b8d284526" /><Relationship Type="http://schemas.openxmlformats.org/officeDocument/2006/relationships/slide" Target="/ppt/slides/slide1.xml" Id="Rbe7742ab59bd4de1" /><Relationship Type="http://schemas.openxmlformats.org/officeDocument/2006/relationships/slide" Target="/ppt/slides/slide2.xml" Id="R289304a77eeb4d36" /><Relationship Type="http://schemas.openxmlformats.org/officeDocument/2006/relationships/slide" Target="/ppt/slides/slide3.xml" Id="R0cebfb070b3a4776" /><Relationship Type="http://schemas.openxmlformats.org/officeDocument/2006/relationships/slide" Target="/ppt/slides/slide4.xml" Id="R9daa8d2c428d4ad6" /><Relationship Type="http://schemas.openxmlformats.org/officeDocument/2006/relationships/slide" Target="/ppt/slides/slide5.xml" Id="Rb1d2d88f18b54bf2" /><Relationship Type="http://schemas.openxmlformats.org/officeDocument/2006/relationships/slide" Target="/ppt/slides/slide6.xml" Id="R03158caf766e4a6f" /><Relationship Type="http://schemas.openxmlformats.org/officeDocument/2006/relationships/slide" Target="/ppt/slides/slide7.xml" Id="Rcb1b1c7bc4414e16" /><Relationship Type="http://schemas.openxmlformats.org/officeDocument/2006/relationships/slide" Target="/ppt/slides/slide8.xml" Id="R27cde22e0ec94804" /><Relationship Type="http://schemas.openxmlformats.org/officeDocument/2006/relationships/slide" Target="/ppt/slides/slide9.xml" Id="Rf9f17b90d07845d5" /><Relationship Type="http://schemas.openxmlformats.org/officeDocument/2006/relationships/slide" Target="/ppt/slides/slide10.xml" Id="Rb87c8e06742e46bf" /><Relationship Type="http://schemas.openxmlformats.org/officeDocument/2006/relationships/slide" Target="/ppt/slides/slide11.xml" Id="R50fa08e8606043af" /><Relationship Type="http://schemas.openxmlformats.org/officeDocument/2006/relationships/slide" Target="/ppt/slides/slide12.xml" Id="R1b67d11eecb34366" /><Relationship Type="http://schemas.openxmlformats.org/officeDocument/2006/relationships/slide" Target="/ppt/slides/slide13.xml" Id="Rc495639842774fec" /><Relationship Type="http://schemas.openxmlformats.org/officeDocument/2006/relationships/slide" Target="/ppt/slides/slide14.xml" Id="Rd5627d18fc3e4bcf" /><Relationship Type="http://schemas.openxmlformats.org/officeDocument/2006/relationships/slide" Target="/ppt/slides/slide15.xml" Id="R4bc3243fcba248de" /><Relationship Type="http://schemas.openxmlformats.org/officeDocument/2006/relationships/slide" Target="/ppt/slides/slide16.xml" Id="R7aff4f5805c9440a" /><Relationship Type="http://schemas.openxmlformats.org/officeDocument/2006/relationships/slide" Target="/ppt/slides/slide17.xml" Id="R6b79e1cc358540cd" /><Relationship Type="http://schemas.openxmlformats.org/officeDocument/2006/relationships/slide" Target="/ppt/slides/slide18.xml" Id="R430533fdeab948a7" /><Relationship Type="http://schemas.openxmlformats.org/officeDocument/2006/relationships/slide" Target="/ppt/slides/slide19.xml" Id="R869e263592ea4207" /><Relationship Type="http://schemas.openxmlformats.org/officeDocument/2006/relationships/slide" Target="/ppt/slides/slide20.xml" Id="Rd91fb8b5d9fa4a77" /><Relationship Type="http://schemas.openxmlformats.org/officeDocument/2006/relationships/slide" Target="/ppt/slides/slide21.xml" Id="Re5a8da9484f24125" /><Relationship Type="http://schemas.openxmlformats.org/officeDocument/2006/relationships/slide" Target="/ppt/slides/slide22.xml" Id="R3888e27e35fe4e32" /><Relationship Type="http://schemas.openxmlformats.org/officeDocument/2006/relationships/slide" Target="/ppt/slides/slide23.xml" Id="Rbb5d744147d94e02" /><Relationship Type="http://schemas.openxmlformats.org/officeDocument/2006/relationships/slide" Target="/ppt/slides/slide24.xml" Id="Rb33a5f385c324598" /><Relationship Type="http://schemas.openxmlformats.org/officeDocument/2006/relationships/slide" Target="/ppt/slides/slide25.xml" Id="R7e7eb5f799624a01" /><Relationship Type="http://schemas.openxmlformats.org/officeDocument/2006/relationships/slide" Target="/ppt/slides/slide26.xml" Id="Rac077271442149f9" /><Relationship Type="http://schemas.openxmlformats.org/officeDocument/2006/relationships/slide" Target="/ppt/slides/slide27.xml" Id="R77e68de4caf240b5" /><Relationship Type="http://schemas.openxmlformats.org/officeDocument/2006/relationships/slide" Target="/ppt/slides/slide28.xml" Id="Rf5a0746ae2ae4349" /><Relationship Type="http://schemas.openxmlformats.org/officeDocument/2006/relationships/slide" Target="/ppt/slides/slide29.xml" Id="Re16a57170d9448a3" /><Relationship Type="http://schemas.openxmlformats.org/officeDocument/2006/relationships/slide" Target="/ppt/slides/slide30.xml" Id="R94f753786c65465d" /><Relationship Type="http://schemas.openxmlformats.org/officeDocument/2006/relationships/slide" Target="/ppt/slides/slide31.xml" Id="Rd546b66e560940ca" /><Relationship Type="http://schemas.openxmlformats.org/officeDocument/2006/relationships/slide" Target="/ppt/slides/slide32.xml" Id="R3599aab5fc454d64" /><Relationship Type="http://schemas.openxmlformats.org/officeDocument/2006/relationships/slide" Target="/ppt/slides/slide33.xml" Id="R5d4d11b7a0474d95" /><Relationship Type="http://schemas.openxmlformats.org/officeDocument/2006/relationships/slide" Target="/ppt/slides/slide34.xml" Id="Rbd26a71e7b1c40af" /><Relationship Type="http://schemas.openxmlformats.org/officeDocument/2006/relationships/slide" Target="/ppt/slides/slide35.xml" Id="Rc3936a33b8024d5e" /><Relationship Type="http://schemas.openxmlformats.org/officeDocument/2006/relationships/slide" Target="/ppt/slides/slide36.xml" Id="R6f968685be0348e4" /><Relationship Type="http://schemas.openxmlformats.org/officeDocument/2006/relationships/slide" Target="/ppt/slides/slide37.xml" Id="Rf0fcde3037d94d95" /><Relationship Type="http://schemas.openxmlformats.org/officeDocument/2006/relationships/slide" Target="/ppt/slides/slide38.xml" Id="R370d4a8b32b24543" /><Relationship Type="http://schemas.openxmlformats.org/officeDocument/2006/relationships/slide" Target="/ppt/slides/slide39.xml" Id="Rb55280d004c94704" /><Relationship Type="http://schemas.openxmlformats.org/officeDocument/2006/relationships/slide" Target="/ppt/slides/slide40.xml" Id="R1c46dea8da7b40ab" /><Relationship Type="http://schemas.openxmlformats.org/officeDocument/2006/relationships/slide" Target="/ppt/slides/slide41.xml" Id="R5b183340fed04ecf" /><Relationship Type="http://schemas.openxmlformats.org/officeDocument/2006/relationships/slide" Target="/ppt/slides/slide42.xml" Id="R7202d6bd74694760" /><Relationship Type="http://schemas.openxmlformats.org/officeDocument/2006/relationships/slide" Target="/ppt/slides/slide43.xml" Id="Rdf0c6208343342ec" /><Relationship Type="http://schemas.openxmlformats.org/officeDocument/2006/relationships/slide" Target="/ppt/slides/slide44.xml" Id="Rf336e46d389d4156" /><Relationship Type="http://schemas.openxmlformats.org/officeDocument/2006/relationships/slide" Target="/ppt/slides/slide45.xml" Id="R4395a7477aab4d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97ab61ae274f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704ac932b974a0a" /><Relationship Type="http://schemas.openxmlformats.org/officeDocument/2006/relationships/notesMaster" Target="/ppt/notesMasters/notesMaster1.xml" Id="Rfbbcc01bb5b744c8" /></Relationships>
</file>

<file path=ppt/notesSlides/_rels/notesSlide2.xml.rels>&#65279;<?xml version="1.0" encoding="utf-8"?><Relationships xmlns="http://schemas.openxmlformats.org/package/2006/relationships"><Relationship Type="http://schemas.openxmlformats.org/officeDocument/2006/relationships/slide" Target="/ppt/slides/slide2.xml" Id="Rda312c15150a4255" /><Relationship Type="http://schemas.openxmlformats.org/officeDocument/2006/relationships/notesMaster" Target="/ppt/notesMasters/notesMaster1.xml" Id="R7d4cfaf2f60843fd" /></Relationships>
</file>

<file path=ppt/notesSlides/_rels/notesSlide3.xml.rels>&#65279;<?xml version="1.0" encoding="utf-8"?><Relationships xmlns="http://schemas.openxmlformats.org/package/2006/relationships"><Relationship Type="http://schemas.openxmlformats.org/officeDocument/2006/relationships/slide" Target="/ppt/slides/slide3.xml" Id="R089333a1d1b44a23" /><Relationship Type="http://schemas.openxmlformats.org/officeDocument/2006/relationships/notesMaster" Target="/ppt/notesMasters/notesMaster1.xml" Id="Re795f55d693b4e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221b224c1b3a4bd0" /><Relationship Type="http://schemas.openxmlformats.org/officeDocument/2006/relationships/notesMaster" Target="/ppt/notesMasters/notesMaster1.xml" Id="R9f5b59a4ae104924" /></Relationships>
</file>

<file path=ppt/notesSlides/_rels/notesSlide5.xml.rels>&#65279;<?xml version="1.0" encoding="utf-8"?><Relationships xmlns="http://schemas.openxmlformats.org/package/2006/relationships"><Relationship Type="http://schemas.openxmlformats.org/officeDocument/2006/relationships/slide" Target="/ppt/slides/slide5.xml" Id="R13968208d8cd4db4" /><Relationship Type="http://schemas.openxmlformats.org/officeDocument/2006/relationships/notesMaster" Target="/ppt/notesMasters/notesMaster1.xml" Id="R4be62280bdf84281" /></Relationships>
</file>

<file path=ppt/notesSlides/_rels/notesSlide6.xml.rels>&#65279;<?xml version="1.0" encoding="utf-8"?><Relationships xmlns="http://schemas.openxmlformats.org/package/2006/relationships"><Relationship Type="http://schemas.openxmlformats.org/officeDocument/2006/relationships/slide" Target="/ppt/slides/slide6.xml" Id="R761eff13395b4fa0" /><Relationship Type="http://schemas.openxmlformats.org/officeDocument/2006/relationships/notesMaster" Target="/ppt/notesMasters/notesMaster1.xml" Id="Ra1e2cf6d3d10465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3e3d098b9b44da" /><Relationship Type="http://schemas.openxmlformats.org/officeDocument/2006/relationships/notesMaster" Target="/ppt/notesMasters/notesMaster1.xml" Id="R2047e60595eb404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38e14d0cbd24e72" /><Relationship Type="http://schemas.openxmlformats.org/officeDocument/2006/relationships/notesMaster" Target="/ppt/notesMasters/notesMaster1.xml" Id="Rfe6baef740c94c74" /></Relationships>
</file>

<file path=ppt/notesSlides/_rels/notesSlide9.xml.rels>&#65279;<?xml version="1.0" encoding="utf-8"?><Relationships xmlns="http://schemas.openxmlformats.org/package/2006/relationships"><Relationship Type="http://schemas.openxmlformats.org/officeDocument/2006/relationships/slide" Target="/ppt/slides/slide9.xml" Id="R8f5a304f5ec349cd" /><Relationship Type="http://schemas.openxmlformats.org/officeDocument/2006/relationships/notesMaster" Target="/ppt/notesMasters/notesMaster1.xml" Id="Rcfe853ee3d134aa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e0c3ff08f374b61" /><Relationship Type="http://schemas.openxmlformats.org/officeDocument/2006/relationships/notesMaster" Target="/ppt/notesMasters/notesMaster1.xml" Id="R6a71b9e00200480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7a2b95e2e61477c" /><Relationship Type="http://schemas.openxmlformats.org/officeDocument/2006/relationships/notesMaster" Target="/ppt/notesMasters/notesMaster1.xml" Id="R49348bef89d0409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80d4296c5f54b10" /><Relationship Type="http://schemas.openxmlformats.org/officeDocument/2006/relationships/notesMaster" Target="/ppt/notesMasters/notesMaster1.xml" Id="R42bd5893e1a5494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d2a38972ed7442f" /><Relationship Type="http://schemas.openxmlformats.org/officeDocument/2006/relationships/notesMaster" Target="/ppt/notesMasters/notesMaster1.xml" Id="Rfa3d94c536d249a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b9c021fde7c4f69" /><Relationship Type="http://schemas.openxmlformats.org/officeDocument/2006/relationships/notesMaster" Target="/ppt/notesMasters/notesMaster1.xml" Id="R8f1a985e90a1499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972cd5120204d2c" /><Relationship Type="http://schemas.openxmlformats.org/officeDocument/2006/relationships/notesMaster" Target="/ppt/notesMasters/notesMaster1.xml" Id="Recd01338f6844ba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8a3371418e549d0" /><Relationship Type="http://schemas.openxmlformats.org/officeDocument/2006/relationships/notesMaster" Target="/ppt/notesMasters/notesMaster1.xml" Id="Rf2c2db72d10e414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e6ac3bea25c4558" /><Relationship Type="http://schemas.openxmlformats.org/officeDocument/2006/relationships/notesMaster" Target="/ppt/notesMasters/notesMaster1.xml" Id="R2d5f754ebb8f4c9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e216a00b8ff4584" /><Relationship Type="http://schemas.openxmlformats.org/officeDocument/2006/relationships/notesMaster" Target="/ppt/notesMasters/notesMaster1.xml" Id="R63d5c0b8064942b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f378c5866f94c0d" /><Relationship Type="http://schemas.openxmlformats.org/officeDocument/2006/relationships/notesMaster" Target="/ppt/notesMasters/notesMaster1.xml" Id="R010e823041e849e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d4d2961127c4625" /><Relationship Type="http://schemas.openxmlformats.org/officeDocument/2006/relationships/notesMaster" Target="/ppt/notesMasters/notesMaster1.xml" Id="Rab1075c326244d3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5b69e96a9334fd6" /><Relationship Type="http://schemas.openxmlformats.org/officeDocument/2006/relationships/notesMaster" Target="/ppt/notesMasters/notesMaster1.xml" Id="R8f6233f4915a414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cd88f6e8f174299" /><Relationship Type="http://schemas.openxmlformats.org/officeDocument/2006/relationships/notesMaster" Target="/ppt/notesMasters/notesMaster1.xml" Id="R88a16fbc5351415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01a2a4f0f474b67" /><Relationship Type="http://schemas.openxmlformats.org/officeDocument/2006/relationships/notesMaster" Target="/ppt/notesMasters/notesMaster1.xml" Id="R9de4d15189364f3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a801f4928fc47de" /><Relationship Type="http://schemas.openxmlformats.org/officeDocument/2006/relationships/notesMaster" Target="/ppt/notesMasters/notesMaster1.xml" Id="R50d0c6a744a2441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2a7fc5083474954" /><Relationship Type="http://schemas.openxmlformats.org/officeDocument/2006/relationships/notesMaster" Target="/ppt/notesMasters/notesMaster1.xml" Id="R7b30c9bc7c714b0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fb725299a564bee" /><Relationship Type="http://schemas.openxmlformats.org/officeDocument/2006/relationships/notesMaster" Target="/ppt/notesMasters/notesMaster1.xml" Id="Rfe89712fbf8b47f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2fe542e4b804ab3" /><Relationship Type="http://schemas.openxmlformats.org/officeDocument/2006/relationships/notesMaster" Target="/ppt/notesMasters/notesMaster1.xml" Id="R9b4c8cfe5ac34d5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7cbce69460a4210" /><Relationship Type="http://schemas.openxmlformats.org/officeDocument/2006/relationships/notesMaster" Target="/ppt/notesMasters/notesMaster1.xml" Id="R5f1fe2445e46481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3672f2dc46f40e0" /><Relationship Type="http://schemas.openxmlformats.org/officeDocument/2006/relationships/notesMaster" Target="/ppt/notesMasters/notesMaster1.xml" Id="R40ea349424df42f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47654a576f44b2c" /><Relationship Type="http://schemas.openxmlformats.org/officeDocument/2006/relationships/notesMaster" Target="/ppt/notesMasters/notesMaster1.xml" Id="R619c0fcf88f348d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b8b1dea84c84b33" /><Relationship Type="http://schemas.openxmlformats.org/officeDocument/2006/relationships/notesMaster" Target="/ppt/notesMasters/notesMaster1.xml" Id="R5169f4407ee04f7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1709cde35324794" /><Relationship Type="http://schemas.openxmlformats.org/officeDocument/2006/relationships/notesMaster" Target="/ppt/notesMasters/notesMaster1.xml" Id="Re7065d55a16f4da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bdee42f59f449c8" /><Relationship Type="http://schemas.openxmlformats.org/officeDocument/2006/relationships/notesMaster" Target="/ppt/notesMasters/notesMaster1.xml" Id="Rea1eeba457944119"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58c2bf8c3b94f26" /><Relationship Type="http://schemas.openxmlformats.org/officeDocument/2006/relationships/notesMaster" Target="/ppt/notesMasters/notesMaster1.xml" Id="R0383fa983c87471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28b06dd59a84258" /><Relationship Type="http://schemas.openxmlformats.org/officeDocument/2006/relationships/notesMaster" Target="/ppt/notesMasters/notesMaster1.xml" Id="R0ec3af16865d4dc7"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c3f3c5c6e8b44e1" /><Relationship Type="http://schemas.openxmlformats.org/officeDocument/2006/relationships/notesMaster" Target="/ppt/notesMasters/notesMaster1.xml" Id="R1d97d38776864c3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717cc21230ba492d" /><Relationship Type="http://schemas.openxmlformats.org/officeDocument/2006/relationships/notesMaster" Target="/ppt/notesMasters/notesMaster1.xml" Id="Ref7356845f6b47a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f9e4d7de633484a" /><Relationship Type="http://schemas.openxmlformats.org/officeDocument/2006/relationships/notesMaster" Target="/ppt/notesMasters/notesMaster1.xml" Id="R1a8416773bfd4023"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4a7f9d7458e4318" /><Relationship Type="http://schemas.openxmlformats.org/officeDocument/2006/relationships/notesMaster" Target="/ppt/notesMasters/notesMaster1.xml" Id="Ra200c2654dec477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935a6ef74be45b7" /><Relationship Type="http://schemas.openxmlformats.org/officeDocument/2006/relationships/notesMaster" Target="/ppt/notesMasters/notesMaster1.xml" Id="R80f8bc1b14644d5b"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8e605330a944518" /><Relationship Type="http://schemas.openxmlformats.org/officeDocument/2006/relationships/notesMaster" Target="/ppt/notesMasters/notesMaster1.xml" Id="Rd2676e08e2fb4577"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4862e5adc05c4d1b" /><Relationship Type="http://schemas.openxmlformats.org/officeDocument/2006/relationships/notesMaster" Target="/ppt/notesMasters/notesMaster1.xml" Id="Ra18f6b3d8a144f41"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4d22a6171bf4a2a" /><Relationship Type="http://schemas.openxmlformats.org/officeDocument/2006/relationships/notesMaster" Target="/ppt/notesMasters/notesMaster1.xml" Id="R4bd10071531a427f"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1e144b4aa4a46c3" /><Relationship Type="http://schemas.openxmlformats.org/officeDocument/2006/relationships/notesMaster" Target="/ppt/notesMasters/notesMaster1.xml" Id="Rf181863bca474b33"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c4ad262d6474d74" /><Relationship Type="http://schemas.openxmlformats.org/officeDocument/2006/relationships/notesMaster" Target="/ppt/notesMasters/notesMaster1.xml" Id="R8e82b8e7ff2449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pacing: 90–105 minutes including 20 minutes of interactive exploration. Begin with the mapping lecture: knowing the map does not tell us which motion to execute. Use a warehouse doorway and a vehicle encountering a road closure as recurring examples.</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https://docs.nav2.org/jazzy/getting_started/navigation_concepts/navigation_servers/</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should connect an algorithm choice to an assumption. Ask whether the challenge comes from the search, the map, the representation of the robot, or the execution model. These causes can produce similar visible symptoms.</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https://lavalle.pl/planning/ch4.pdf</a:t>
            </a:r>
          </a:p>
          <a:p xmlns:a="http://schemas.openxmlformats.org/drawingml/2006/main">
            <a:r>
              <a:t>https://docs.nav2.org/jazzy/getting_started/navigation_concepts/navigation_servers/</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Connect explicitly to Lectures 4–6. A localization error moves the robot footprint relative to every mapped obstacle. A planner may search correctly yet collide because its input geometry or timing is wrong. The demo uses exact synthetic states so that algorithm behavior is visible.</a:t>
            </a:r>
          </a:p>
          <a:p xmlns:a="http://schemas.openxmlformats.org/drawingml/2006/main">
            <a:r>
              <a:t/>
            </a:r>
          </a:p>
          <a:p xmlns:a="http://schemas.openxmlformats.org/drawingml/2006/main">
            <a:r>
              <a:t>[Sources]</a:t>
            </a:r>
          </a:p>
          <a:p xmlns:a="http://schemas.openxmlformats.org/drawingml/2006/main">
            <a:r>
              <a:t>https://docs.nav2.org/jazzy/getting_started/navigation_concepts/navigation_servers/</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path is a sequence or continuous curve of configurations. A trajectory adds time, which defines speed and acceleration. A controller produces inputs using the current state. In some systems the local planner and controller share one optimization loop. A lane-center path alone cannot say whether crossing traffic is safe at a particular time.</a:t>
            </a:r>
          </a:p>
          <a:p xmlns:a="http://schemas.openxmlformats.org/drawingml/2006/main">
            <a:r>
              <a:t/>
            </a:r>
          </a:p>
          <a:p xmlns:a="http://schemas.openxmlformats.org/drawingml/2006/main">
            <a:r>
              <a:t>[Sources]</a:t>
            </a:r>
          </a:p>
          <a:p xmlns:a="http://schemas.openxmlformats.org/drawingml/2006/main">
            <a:r>
              <a:t>https://lavalle.pl/planning/ch13.pdf</a:t>
            </a:r>
          </a:p>
          <a:p xmlns:a="http://schemas.openxmlformats.org/drawingml/2006/main">
            <a:r>
              <a:t>https://docs.nav2.org/jazzy/getting_started/navigation_concepts/navigation_servers/</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Global and local describe scope and function rather than one mandatory algorithm. A global map can include live updates. A global plan can respect vehicle constraints. Local planners can reason predictively and need not be simple reflexes. Rates depend on the system, so the table uses relative horizons rather than fixed frequencies.</a:t>
            </a:r>
          </a:p>
          <a:p xmlns:a="http://schemas.openxmlformats.org/drawingml/2006/main">
            <a:r>
              <a:t/>
            </a:r>
          </a:p>
          <a:p xmlns:a="http://schemas.openxmlformats.org/drawingml/2006/main">
            <a:r>
              <a:t>[Sources]</a:t>
            </a:r>
          </a:p>
          <a:p xmlns:a="http://schemas.openxmlformats.org/drawingml/2006/main">
            <a:r>
              <a:t>https://docs.nav2.org/jazzy/getting_started/navigation_concepts/navigation_servers/</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four-neighbor grid uses unit moves and a terrain entry cost of 1 or 6. The state count and connectivity change the optimization problem. A continuous shortest path may cut between these cells, but that path is outside this graph. Start and goal markers refer to cell centers.</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../Labs/PathPlanning/index.html#search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BFS treats every edge equally. Dijkstra uses a priority queue ordered by accumulated cost. On this demo, a weighted priority implementation with unit costs gives BFS-equivalent shortest-edge behavior. Both can explore broadly because neither uses the goal direction. Nonnegative costs are essential for Dijkstra’s settled-distance argument.</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screenshots use the same start, goal and terrain. Yellow cells cost 6 on entry. The blue paths are computed results. Ask students to count steps separately from total cost. The objective function, rather than the algorithm name alone, defines what counts as a good route.</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../Labs/PathPlanning/index.html#search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animation shows actual expansion order on the two-wall map. The heuristic points toward the goal, while the accumulated cost prevents greedy commitment to an expensive route. A* still searches around walls because a straight-line estimate cannot predict the detour.</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../Labs/PathPlanning/index.html#search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worked arithmetic example, not a result from the rendered map. Candidate A has g=6 and h=11. Candidate B has g=9 and h=8. A consistent Manhattan heuristic with four-neighbor moves satisfies the unit-cost lower bound. Keep heuristic units compatible with edge costs.</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Admissibility means h never exceeds the true remaining optimal cost. Consistency means h(u) is at most c(u,v)+h(v). For graph search without reopening, consistency provides the standard guarantee. With admissible but inconsistent heuristics, improved states must reopen. If the minimum move cost is lower than one, rescale Manhattan distance. Manhattan can overestimate when diagonal moves are allowed.</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parent links to reconstruct a route only after the goal is selected for expansion. Discovering the goal as a neighbor is not the general optimal stopping condition. A robust implementation handles stale queue entries and reopens improved states when required.</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screenshots show actual expanded cells on the same two-wall map. Cyan indicates processed states. Both algorithms use the same costs and return the same minimum route cost. Expansion savings depend on the heuristic and scene. Compare work counts rather than assuming a fixed speedup.</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../Labs/PathPlanning/index.html#search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finite demo graph has positive costs and a consistent heuristic. Its shortest path does not claim continuous shortest length, feasible vehicle dynamics, or safety against future obstacle motion. Weighted A* uses f=g+w h for w&gt;1 and can expand fewer states at the expense of exact optimality. A* failure to find a path on a graph does not prove that no physical path exists.</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../Labs/PathPlanning/index.html#search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 originated with Stentz in 1994. Present the road-closure example: the destination remains the same while the robot advances and its knowledge changes. A robot must still detect the blockage and stop safely. Incremental graph search addresses recomputation after changes, not perception or collision prediction.</a:t>
            </a:r>
          </a:p>
          <a:p xmlns:a="http://schemas.openxmlformats.org/drawingml/2006/main">
            <a:r>
              <a:t/>
            </a:r>
          </a:p>
          <a:p xmlns:a="http://schemas.openxmlformats.org/drawingml/2006/main">
            <a:r>
              <a:t>[Sources]</a:t>
            </a:r>
          </a:p>
          <a:p xmlns:a="http://schemas.openxmlformats.org/drawingml/2006/main">
            <a:r>
              <a:t>https://publications.ri.cmu.edu/the-d-algorithm-for-real-time-planning-of-optimal-traverses</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../Labs/PathPlanning/index.html#replan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 Lite is algorithmically distinct from D*. It builds on Lifelong Planning A* and produces a similar replanning behavior. The demo implements D* Lite, so name it accurately when explaining the code. Both belong to incremental graph search. Neither automatically reasons about the time at which a moving object will intersect the robot.</a:t>
            </a:r>
          </a:p>
          <a:p xmlns:a="http://schemas.openxmlformats.org/drawingml/2006/main">
            <a:r>
              <a:t/>
            </a:r>
          </a:p>
          <a:p xmlns:a="http://schemas.openxmlformats.org/drawingml/2006/main">
            <a:r>
              <a:t>[Sources]</a:t>
            </a:r>
          </a:p>
          <a:p xmlns:a="http://schemas.openxmlformats.org/drawingml/2006/main">
            <a:r>
              <a:t>https://publications.ri.cmu.edu/the-d-algorithm-for-real-time-planning-of-optimal-traverses</a:t>
            </a:r>
          </a:p>
          <a:p xmlns:a="http://schemas.openxmlformats.org/drawingml/2006/main">
            <a:r>
              <a:t>https://idm-lab.org/bib/abstracts/papers/aaai02b.pdf</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 Lite initializes rhs(goal)=0, searches backward, and processes inconsistent states by a two-part priority key. The start-dependent heuristic and km adjustment allow the start to move while retaining estimates. This slide shows the local consistency relation rather than the full algorithm. The engine updates both endpoints affected by a cell/cost edit.</a:t>
            </a:r>
          </a:p>
          <a:p xmlns:a="http://schemas.openxmlformats.org/drawingml/2006/main">
            <a:r>
              <a:t/>
            </a:r>
          </a:p>
          <a:p xmlns:a="http://schemas.openxmlformats.org/drawingml/2006/main">
            <a:r>
              <a:t>[Sources]</a:t>
            </a:r>
          </a:p>
          <a:p xmlns:a="http://schemas.openxmlformats.org/drawingml/2006/main">
            <a:r>
              <a:t>https://idm-lab.org/bib/abstracts/papers/aaai02b.pdf</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after screenshot comes from a real click on the route, followed by D* Lite repair. Earlier g and rhs arrays remain in memory. Both final costs agree with the same graph optimum. Initial search and latest repair counts are distinct, and cumulative D* work remains visible. Some map changes can make repair more expensive than a new search.</a:t>
            </a:r>
          </a:p>
          <a:p xmlns:a="http://schemas.openxmlformats.org/drawingml/2006/main">
            <a:r>
              <a:t/>
            </a:r>
          </a:p>
          <a:p xmlns:a="http://schemas.openxmlformats.org/drawingml/2006/main">
            <a:r>
              <a:t>[Sources]</a:t>
            </a:r>
          </a:p>
          <a:p xmlns:a="http://schemas.openxmlformats.org/drawingml/2006/main">
            <a:r>
              <a:t>https://idm-lab.org/bib/abstracts/papers/aaai02b.pdf</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../Labs/PathPlanning/index.html#replan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Small localized changes often let incremental search reuse much of its earlier computation. Changed goals, major remapping and altered state spaces can reduce that benefit or require reinitialization. Fast replanning also depends on how many sensor changes reach the costmap. Repeatedly flipping occupancy from noisy observations can create excessive work.</a:t>
            </a:r>
          </a:p>
          <a:p xmlns:a="http://schemas.openxmlformats.org/drawingml/2006/main">
            <a:r>
              <a:t/>
            </a:r>
          </a:p>
          <a:p xmlns:a="http://schemas.openxmlformats.org/drawingml/2006/main">
            <a:r>
              <a:t>[Sources]</a:t>
            </a:r>
          </a:p>
          <a:p xmlns:a="http://schemas.openxmlformats.org/drawingml/2006/main">
            <a:r>
              <a:t>https://publications.ri.cmu.edu/the-d-algorithm-for-real-time-planning-of-optimal-traverses</a:t>
            </a:r>
          </a:p>
          <a:p xmlns:a="http://schemas.openxmlformats.org/drawingml/2006/main">
            <a:r>
              <a:t>https://idm-lab.org/bib/abstracts/papers/aaai02b.pdf</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families, not a ranking. Graph search needs a useful discretization. Sampling methods become attractive as configuration dimension grows. Optimization can encode smoothness and dynamics, but often needs a good initial guess. Many deployed systems combine a coarse global search with local optimization.</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https://lavalle.pl/planning/ch5.pdf</a:t>
            </a:r>
          </a:p>
          <a:p xmlns:a="http://schemas.openxmlformats.org/drawingml/2006/main">
            <a:r>
              <a:t>https://docs.nav2.org/rolling/configuration_and_development/configuration_guide/controller_plugins/mppi_controller/configuring_mppic/</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PRM samples free configurations and connects nearby samples to form a roadmap, often for repeated queries in a largely static environment. RRT incrementally extends toward random samples. The animation is the actual seeded RRT implementation in this demo. Narrow passages receive relatively few random samples.</a:t>
            </a:r>
          </a:p>
          <a:p xmlns:a="http://schemas.openxmlformats.org/drawingml/2006/main">
            <a:r>
              <a:t/>
            </a:r>
          </a:p>
          <a:p xmlns:a="http://schemas.openxmlformats.org/drawingml/2006/main">
            <a:r>
              <a:t>[Sources]</a:t>
            </a:r>
          </a:p>
          <a:p xmlns:a="http://schemas.openxmlformats.org/drawingml/2006/main">
            <a:r>
              <a:t>https://lavalle.pl/planning/ch5.pdf</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../Labs/PathPlanning/index.html#sampling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Probabilistic completeness is an asymptotic property under assumptions, not a finite-time success guarantee. RRT* asymptotic optimality also requires its prescribed connection strategy and regularity assumptions. The demo implements basic RRT with fixed extension length and goal bias, without RRT* rewiring. It checks sampled segments with a small disk radius.</a:t>
            </a:r>
          </a:p>
          <a:p xmlns:a="http://schemas.openxmlformats.org/drawingml/2006/main">
            <a:r>
              <a:t/>
            </a:r>
          </a:p>
          <a:p xmlns:a="http://schemas.openxmlformats.org/drawingml/2006/main">
            <a:r>
              <a:t>[Sources]</a:t>
            </a:r>
          </a:p>
          <a:p xmlns:a="http://schemas.openxmlformats.org/drawingml/2006/main">
            <a:r>
              <a:t>https://lavalle.pl/planning/ch5.pdf</a:t>
            </a:r>
          </a:p>
          <a:p xmlns:a="http://schemas.openxmlformats.org/drawingml/2006/main">
            <a:r>
              <a:t>https://arxiv.org/abs/1105.1186</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../Labs/PathPlanning/index.html#sampling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 planar rigid body, q=(x,y,theta). An arm needs joint angles. An obstacle can block different configurations at different orientations. Configuration-space planning accounts for the entire robot body, including attached tools and loads. The exact geometry changes when the robot rotates.</a:t>
            </a:r>
          </a:p>
          <a:p xmlns:a="http://schemas.openxmlformats.org/drawingml/2006/main">
            <a:r>
              <a:t/>
            </a:r>
          </a:p>
          <a:p xmlns:a="http://schemas.openxmlformats.org/drawingml/2006/main">
            <a:r>
              <a:t>[Sources]</a:t>
            </a:r>
          </a:p>
          <a:p xmlns:a="http://schemas.openxmlformats.org/drawingml/2006/main">
            <a:r>
              <a:t>https://lavalle.pl/planning/ch4.pdf</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../Labs/PathPlanning/index.html#imagination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translation at fixed orientation, the configuration obstacle is O ⊕ (−R), where the negative reflects the robot footprint about the reference point. For a symmetric disk this reflection has no visible effect. An orientation-dependent footprint needs a different expansion at each theta or direct footprint checking. Inflation does not compensate for arbitrarily wrong localization.</a:t>
            </a:r>
          </a:p>
          <a:p xmlns:a="http://schemas.openxmlformats.org/drawingml/2006/main">
            <a:r>
              <a:t/>
            </a:r>
          </a:p>
          <a:p xmlns:a="http://schemas.openxmlformats.org/drawingml/2006/main">
            <a:r>
              <a:t>[Sources]</a:t>
            </a:r>
          </a:p>
          <a:p xmlns:a="http://schemas.openxmlformats.org/drawingml/2006/main">
            <a:r>
              <a:t>https://lavalle.pl/planning/ch4.pdf</a:t>
            </a:r>
          </a:p>
          <a:p xmlns:a="http://schemas.openxmlformats.org/drawingml/2006/main">
            <a:r>
              <a:t>https://github.com/ros-navigation/docs.nav2.org/blob/rolling/docs/configuration_and_development/tuning_guide.md</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Orange cells show conservative forbidden occupancy. The obstacle cells are unit squares, and any grid cell that intersects their Minkowski expansion is excluded. This whole-cell representation can reject a physically feasible route near a tight threshold. Reducing resolution or checking continuous geometry can distinguish a grid artifact from actual collision.</a:t>
            </a:r>
          </a:p>
          <a:p xmlns:a="http://schemas.openxmlformats.org/drawingml/2006/main">
            <a:r>
              <a:t/>
            </a:r>
          </a:p>
          <a:p xmlns:a="http://schemas.openxmlformats.org/drawingml/2006/main">
            <a:r>
              <a:t>[Sources]</a:t>
            </a:r>
          </a:p>
          <a:p xmlns:a="http://schemas.openxmlformats.org/drawingml/2006/main">
            <a:r>
              <a:t>https://lavalle.pl/planning/ch4.pdf</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../Labs/PathPlanning/index.html#clearance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Hard constraints exclude collisions. A soft cost encourages wider clearance among feasible paths. Nav2 inflation includes lethal/inscribed behavior and a graded cost region, with footprint handling varying by plugin. A simple radius threshold is not a complete account of the Nav2 inflation layer. Large cost penalties can discourage progress through otherwise feasible narrow passages.</a:t>
            </a:r>
          </a:p>
          <a:p xmlns:a="http://schemas.openxmlformats.org/drawingml/2006/main">
            <a:r>
              <a:t/>
            </a:r>
          </a:p>
          <a:p xmlns:a="http://schemas.openxmlformats.org/drawingml/2006/main">
            <a:r>
              <a:t>[Sources]</a:t>
            </a:r>
          </a:p>
          <a:p xmlns:a="http://schemas.openxmlformats.org/drawingml/2006/main">
            <a:r>
              <a:t>https://github.com/ros-navigation/docs.nav2.org/blob/rolling/docs/configuration_and_development/tuning_guide.md</a:t>
            </a:r>
          </a:p>
          <a:p xmlns:a="http://schemas.openxmlformats.org/drawingml/2006/main">
            <a:r>
              <a:t>https://docs.nav2.org/rolling/configuration_and_development/configuration_guide/controller_plugins/mppi_controller/configuring_mppic/</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bicycle-model turning-radius relation, with wheelbase L and steering delta. A 90-degree grid corner has a direction discontinuity. Smoothing might still violate obstacles or turning radius. A differential-drive robot and an Ackermann vehicle have different allowed transitions. Reverse maneuvers also change the search.</a:t>
            </a:r>
          </a:p>
          <a:p xmlns:a="http://schemas.openxmlformats.org/drawingml/2006/main">
            <a:r>
              <a:t/>
            </a:r>
          </a:p>
          <a:p xmlns:a="http://schemas.openxmlformats.org/drawingml/2006/main">
            <a:r>
              <a:t>[Sources]</a:t>
            </a:r>
          </a:p>
          <a:p xmlns:a="http://schemas.openxmlformats.org/drawingml/2006/main">
            <a:r>
              <a:t>https://lavalle.pl/planning/ch13.pdf</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Hybrid A* propagates continuous vehicle motions while using discretized search bookkeeping. State lattices connect states through predefined feasible motion primitives. Both can include reverse driving and heading. Their exact guarantees depend on discretization, primitive coverage, costs and implementation. Nav2 lists Smac Hybrid-A* and lattice planners for relevant robot kinematics.</a:t>
            </a:r>
          </a:p>
          <a:p xmlns:a="http://schemas.openxmlformats.org/drawingml/2006/main">
            <a:r>
              <a:t/>
            </a:r>
          </a:p>
          <a:p xmlns:a="http://schemas.openxmlformats.org/drawingml/2006/main">
            <a:r>
              <a:t>[Sources]</a:t>
            </a:r>
          </a:p>
          <a:p xmlns:a="http://schemas.openxmlformats.org/drawingml/2006/main">
            <a:r>
              <a:t>https://docs.nav2.org/rolling/configuration_and_development/navigation_plugins/</a:t>
            </a:r>
          </a:p>
          <a:p xmlns:a="http://schemas.openxmlformats.org/drawingml/2006/main">
            <a:r>
              <a:t>https://lavalle.pl/planning/ch13.pdf</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open-scene screenshot. The short blue-gray strokes indicate net force direction, and the executed blue trace bends around the obstacle. The physical robot still needs a motion controller and collision checks. A potential gradient in x/y alone does not automatically satisfy car kinematics.</a:t>
            </a:r>
          </a:p>
          <a:p xmlns:a="http://schemas.openxmlformats.org/drawingml/2006/main">
            <a:r>
              <a:t/>
            </a:r>
          </a:p>
          <a:p xmlns:a="http://schemas.openxmlformats.org/drawingml/2006/main">
            <a:r>
              <a:t>[Sources]</a:t>
            </a:r>
          </a:p>
          <a:p xmlns:a="http://schemas.openxmlformats.org/drawingml/2006/main">
            <a:r>
              <a:t>https://lavalle.pl/planning/ch8.pdf</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../Labs/PathPlanning/index.html#field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common elementary potential construction. d is clearance to an obstacle, d0 is its influence range, and eta sets repulsion strength. Apply repulsion only when d&lt;d0. The demo sums circular obstacle contributions and caps integration steps. Discuss units and gain tuning without suggesting this construction has a general global convergence guarantee.</a:t>
            </a:r>
          </a:p>
          <a:p xmlns:a="http://schemas.openxmlformats.org/drawingml/2006/main">
            <a:r>
              <a:t/>
            </a:r>
          </a:p>
          <a:p xmlns:a="http://schemas.openxmlformats.org/drawingml/2006/main">
            <a:r>
              <a:t>[Sources]</a:t>
            </a:r>
          </a:p>
          <a:p xmlns:a="http://schemas.openxmlformats.org/drawingml/2006/main">
            <a:r>
              <a:t>https://lavalle.pl/planning/ch8.pdf</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animation computes the robot’s motion and net force in the U-shaped scene. The symmetric start makes the competing forces particularly clear. Here force magnitude approaches zero while distance to the goal stays large. An asymmetric perturbation may change this particular outcome but does not give the general method a completeness guarantee.</a:t>
            </a:r>
          </a:p>
          <a:p xmlns:a="http://schemas.openxmlformats.org/drawingml/2006/main">
            <a:r>
              <a:t/>
            </a:r>
          </a:p>
          <a:p xmlns:a="http://schemas.openxmlformats.org/drawingml/2006/main">
            <a:r>
              <a:t>[Sources]</a:t>
            </a:r>
          </a:p>
          <a:p xmlns:a="http://schemas.openxmlformats.org/drawingml/2006/main">
            <a:r>
              <a:t>https://lavalle.pl/planning/ch8.pdf</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../Labs/PathPlanning/index.html#field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short controller that only descends a scalar potential cannot see that temporarily moving away from the goal may enable eventual progress. Random perturbations, wall-following or changing intermediate goals can help individual scenes. Each response needs explicit safety and progress checks. Specialized navigation functions have stronger properties under restrictive construction assumptions.</a:t>
            </a:r>
          </a:p>
          <a:p xmlns:a="http://schemas.openxmlformats.org/drawingml/2006/main">
            <a:r>
              <a:t/>
            </a:r>
          </a:p>
          <a:p xmlns:a="http://schemas.openxmlformats.org/drawingml/2006/main">
            <a:r>
              <a:t>[Sources]</a:t>
            </a:r>
          </a:p>
          <a:p xmlns:a="http://schemas.openxmlformats.org/drawingml/2006/main">
            <a:r>
              <a:t>https://lavalle.pl/planning/ch8.pdf</a:t>
            </a:r>
          </a:p>
          <a:p xmlns:a="http://schemas.openxmlformats.org/drawingml/2006/main">
            <a:r>
              <a:t>https://docs.nav2.org/jazzy/getting_started/navigation_concepts/navigation_servers/</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robot repeatedly closes this loop. Routes, local trajectories and commands should use consistent frames and timestamps. A local planner can stop even while the global route remains visible, because nearby sensed geometry differs from the global map. Stopping can be a valid action, but indefinite stopping requires a progress/recovery policy.</a:t>
            </a:r>
          </a:p>
          <a:p xmlns:a="http://schemas.openxmlformats.org/drawingml/2006/main">
            <a:r>
              <a:t/>
            </a:r>
          </a:p>
          <a:p xmlns:a="http://schemas.openxmlformats.org/drawingml/2006/main">
            <a:r>
              <a:t>[Sources]</a:t>
            </a:r>
          </a:p>
          <a:p xmlns:a="http://schemas.openxmlformats.org/drawingml/2006/main">
            <a:r>
              <a:t>https://docs.nav2.org/jazzy/getting_started/navigation_concepts/navigation_servers/</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screenshot shows actual unicycle rollouts from the current pose. Orange marks the chosen candidate. Cyan/red mark admissible/rejected predictions. The controller executes only the first 0.1 second, then samples again. It uses an ideal sinusoidal obstacle model. This is DWA-like sampling, without the acceleration-reachable dynamic window or full Nav2 implementation.</a:t>
            </a:r>
          </a:p>
          <a:p xmlns:a="http://schemas.openxmlformats.org/drawingml/2006/main">
            <a:r>
              <a:t/>
            </a:r>
          </a:p>
          <a:p xmlns:a="http://schemas.openxmlformats.org/drawingml/2006/main">
            <a:r>
              <a:t>[Sources]</a:t>
            </a:r>
          </a:p>
          <a:p xmlns:a="http://schemas.openxmlformats.org/drawingml/2006/main">
            <a:r>
              <a:t>https://docs.nav2.org/jazzy/getting_started/navigation_concepts/navigation_servers/</a:t>
            </a:r>
          </a:p>
          <a:p xmlns:a="http://schemas.openxmlformats.org/drawingml/2006/main">
            <a:r>
              <a:t>https://docs.nav2.org/rolling/configuration_and_development/configuration_guide/controller_plugins/mppi_controller/configuring_mppic/</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../Labs/PathPlanning/index.html#local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two screenshots use the same initial route and 30 seconds of simulated control. The moving scene predicts the sinusoidal obstacle and progresses after it clears. The stationary scene stops before collision. Use Update global map and replan to run A* with the current obstacle occupancy. A route built from a snapshot of a moving object can become stale, so local prediction remains necessary.</a:t>
            </a:r>
          </a:p>
          <a:p xmlns:a="http://schemas.openxmlformats.org/drawingml/2006/main">
            <a:r>
              <a:t/>
            </a:r>
          </a:p>
          <a:p xmlns:a="http://schemas.openxmlformats.org/drawingml/2006/main">
            <a:r>
              <a:t>[Sources]</a:t>
            </a:r>
          </a:p>
          <a:p xmlns:a="http://schemas.openxmlformats.org/drawingml/2006/main">
            <a:r>
              <a:t>https://docs.nav2.org/jazzy/getting_started/navigation_concepts/navigation_servers/</a:t>
            </a:r>
          </a:p>
          <a:p xmlns:a="http://schemas.openxmlformats.org/drawingml/2006/main">
            <a:r>
              <a:t>https://docs.nav2.org/rolling/configuration_and_development/configuration_guide/controller_plugins/mppi_controller/configuring_mppic/</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../Labs/PathPlanning/index.html#local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DWA constrains sampled velocities by the robot’s dynamic reachability and braking feasibility. The demo uses only a simplified bounded sample set. MPC repeatedly solves a finite-horizon control problem. MPPI uses sampled control sequences with weighted updates to improve a sequence. A pure path follower needs its own collision handling when the scene changes.</a:t>
            </a:r>
          </a:p>
          <a:p xmlns:a="http://schemas.openxmlformats.org/drawingml/2006/main">
            <a:r>
              <a:t/>
            </a:r>
          </a:p>
          <a:p xmlns:a="http://schemas.openxmlformats.org/drawingml/2006/main">
            <a:r>
              <a:t>[Sources]</a:t>
            </a:r>
          </a:p>
          <a:p xmlns:a="http://schemas.openxmlformats.org/drawingml/2006/main">
            <a:r>
              <a:t>https://docs.nav2.org/jazzy/getting_started/navigation_concepts/navigation_servers/</a:t>
            </a:r>
          </a:p>
          <a:p xmlns:a="http://schemas.openxmlformats.org/drawingml/2006/main">
            <a:r>
              <a:t>https://docs.nav2.org/rolling/configuration_and_development/configuration_guide/controller_plugins/mppi_controller/configuring_mppic/</a:t>
            </a:r>
          </a:p>
          <a:p xmlns:a="http://schemas.openxmlformats.org/drawingml/2006/main">
            <a:r>
              <a:t>https://docs.nav2.org/rolling/configuration_and_development/navigation_plugins/</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Reaction time includes sensing, communication and control latency. The simple distance relation assumes constant speed during reaction and constant braking deceleration afterward on a suitable surface. The demo does not model this braking envelope, so it must not claim hardware safety. The execution guard catches sampled collisions and supports teaching the distinction between planning and safety enforcement.</a:t>
            </a:r>
          </a:p>
          <a:p xmlns:a="http://schemas.openxmlformats.org/drawingml/2006/main">
            <a:r>
              <a:t/>
            </a:r>
          </a:p>
          <a:p xmlns:a="http://schemas.openxmlformats.org/drawingml/2006/main">
            <a:r>
              <a:t>[Sources]</a:t>
            </a:r>
          </a:p>
          <a:p xmlns:a="http://schemas.openxmlformats.org/drawingml/2006/main">
            <a:r>
              <a:t>https://lavalle.pl/planning/ch13.pdf</a:t>
            </a:r>
          </a:p>
          <a:p xmlns:a="http://schemas.openxmlformats.org/drawingml/2006/main">
            <a:r>
              <a:t>https://docs.nav2.org/rolling/configuration_and_development/configuration_guide/controller_plugins/mppi_controller/configuring_mppic/</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qualitative fit examples, not empirical rankings. Indoor geometry can be known while people move unpredictably. Outdoor terrain adds traversal costs and larger maps. A road vehicle requires kinematics, rules and actor prediction. Rapidly changing scenes can invalidate a graph path immediately after computation. Name the missing evidence before switching algorithms.</a:t>
            </a:r>
          </a:p>
          <a:p xmlns:a="http://schemas.openxmlformats.org/drawingml/2006/main">
            <a:r>
              <a:t/>
            </a:r>
          </a:p>
          <a:p xmlns:a="http://schemas.openxmlformats.org/drawingml/2006/main">
            <a:r>
              <a:t>[Sources]</a:t>
            </a:r>
          </a:p>
          <a:p xmlns:a="http://schemas.openxmlformats.org/drawingml/2006/main">
            <a:r>
              <a:t>https://docs.nav2.org/jazzy/getting_started/navigation_concepts/navigation_servers/</a:t>
            </a:r>
          </a:p>
          <a:p xmlns:a="http://schemas.openxmlformats.org/drawingml/2006/main">
            <a:r>
              <a:t>https://lavalle.pl/planning/ch5.pdf</a:t>
            </a:r>
          </a:p>
          <a:p xmlns:a="http://schemas.openxmlformats.org/drawingml/2006/main">
            <a:r>
              <a:t>https://lavalle.pl/planning/ch13.pdf</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University of Delaware reference is Gregory S. Chirikjian’s Robot Imagination work, documented in his 2024 seminar. Affordance means a possible useful interaction, such as sitting on an object or using a tool. Physical simulation can test whether a candidate interaction works before execution. This extends planning from finding free-space routes to choosing useful actions with objects. Avoid asserting a current faculty appointment from the historical seminar.</a:t>
            </a:r>
          </a:p>
          <a:p xmlns:a="http://schemas.openxmlformats.org/drawingml/2006/main">
            <a:r>
              <a:t/>
            </a:r>
          </a:p>
          <a:p xmlns:a="http://schemas.openxmlformats.org/drawingml/2006/main">
            <a:r>
              <a:t>[Sources]</a:t>
            </a:r>
          </a:p>
          <a:p xmlns:a="http://schemas.openxmlformats.org/drawingml/2006/main">
            <a:r>
              <a:t>https://ame.nd.edu/events/from-state-estimation-to-affordance-learning-and-robot-imagination/</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PRIMP represents both end-effector position and orientation in six-dimensional workspace and guides optimization-based motion planning. RAIL generates and evaluates simulated interactions to infer object functionality and functional poses. These examples show how task reasoning, geometry and motion planning connect. Neither establishes an unconditional navigation or safety guarantee.</a:t>
            </a:r>
          </a:p>
          <a:p xmlns:a="http://schemas.openxmlformats.org/drawingml/2006/main">
            <a:r>
              <a:t/>
            </a:r>
          </a:p>
          <a:p xmlns:a="http://schemas.openxmlformats.org/drawingml/2006/main">
            <a:r>
              <a:t>[Sources]</a:t>
            </a:r>
          </a:p>
          <a:p xmlns:a="http://schemas.openxmlformats.org/drawingml/2006/main">
            <a:r>
              <a:t>https://arxiv.org/abs/2305.15761</a:t>
            </a:r>
          </a:p>
          <a:p xmlns:a="http://schemas.openxmlformats.org/drawingml/2006/main">
            <a:r>
              <a:t>https://arxiv.org/abs/2403.19369</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demo tests seven fixed orientations, each with sampled translation poses through the door. It illustrates evaluating candidate actions, but omits physical contact, object affordance inference, learned motion distributions and language models. A collision-free center line alone is insufficient. Ask why a rectangle with its short side across the doorway fits while the rotated version collides.</a:t>
            </a:r>
          </a:p>
          <a:p xmlns:a="http://schemas.openxmlformats.org/drawingml/2006/main">
            <a:r>
              <a:t/>
            </a:r>
          </a:p>
          <a:p xmlns:a="http://schemas.openxmlformats.org/drawingml/2006/main">
            <a:r>
              <a:t>[Sources]</a:t>
            </a:r>
          </a:p>
          <a:p xmlns:a="http://schemas.openxmlformats.org/drawingml/2006/main">
            <a:r>
              <a:t>https://lavalle.pl/planning/ch4.pdf</a:t>
            </a:r>
          </a:p>
          <a:p xmlns:a="http://schemas.openxmlformats.org/drawingml/2006/main">
            <a:r>
              <a:t>https://ame.nd.edu/events/from-state-estimation-to-affordance-learning-and-robot-imagination/</a:t>
            </a:r>
          </a:p>
          <a:p xmlns:a="http://schemas.openxmlformats.org/drawingml/2006/main">
            <a:r>
              <a:t>https://arxiv.org/abs/2305.15761</a:t>
            </a:r>
          </a:p>
          <a:p xmlns:a="http://schemas.openxmlformats.org/drawingml/2006/main">
            <a:r>
              <a:t/>
            </a:r>
          </a:p>
          <a:p xmlns:a="http://schemas.openxmlformats.org/drawingml/2006/main">
            <a:r>
              <a:t>[Visuals]</a:t>
            </a:r>
          </a:p>
          <a:p xmlns:a="http://schemas.openxmlformats.org/drawingml/2006/main">
            <a:r>
              <a:t>Actual screenshots or animations computed by the companion synthetic Path Planning demo. Synthetic scenes and expansion counts are teaching evidence, not performance benchmarks.</a:t>
            </a:r>
          </a:p>
          <a:p xmlns:a="http://schemas.openxmlformats.org/drawingml/2006/main">
            <a:r>
              <a:t/>
            </a:r>
          </a:p>
          <a:p xmlns:a="http://schemas.openxmlformats.org/drawingml/2006/main">
            <a:r>
              <a:t>[Companion demo]</a:t>
            </a:r>
          </a:p>
          <a:p xmlns:a="http://schemas.openxmlformats.org/drawingml/2006/main">
            <a:r>
              <a:t>Open ../Labs/PathPlanning/index.html#imagination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students to state the model before the name of an algorithm. A known grid can support A*. Localized cost updates can justify D* Lite. Higher-dimensional configuration spaces can favor sampling. A car requires allowed steering motions. Dynamic obstacles require temporal prediction and feedback in addition to whichever global method is selected.</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https://idm-lab.org/bib/abstracts/papers/aaai02b.pdf</a:t>
            </a:r>
          </a:p>
          <a:p xmlns:a="http://schemas.openxmlformats.org/drawingml/2006/main">
            <a:r>
              <a:t>https://lavalle.pl/planning/ch5.pdf</a:t>
            </a:r>
          </a:p>
          <a:p xmlns:a="http://schemas.openxmlformats.org/drawingml/2006/main">
            <a:r>
              <a:t>https://lavalle.pl/planning/ch13.pdf</a:t>
            </a:r>
          </a:p>
          <a:p xmlns:a="http://schemas.openxmlformats.org/drawingml/2006/main">
            <a:r>
              <a:t>https://docs.nav2.org/jazzy/getting_started/navigation_concepts/navigation_servers/</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offline package or open the companion HTML page. Students should submit a brief table of settings, observations and explanations, with one screenshot for a failure case. They should distinguish modeled infeasibility from missing representation, poor tuning and execution-model error. The README contains exact starting settings and interpretation questions.</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https://idm-lab.org/bib/abstracts/papers/aaai02b.pdf</a:t>
            </a:r>
          </a:p>
          <a:p xmlns:a="http://schemas.openxmlformats.org/drawingml/2006/main">
            <a:r>
              <a:t>https://lavalle.pl/planning/ch4.pdf</a:t>
            </a:r>
          </a:p>
          <a:p xmlns:a="http://schemas.openxmlformats.org/drawingml/2006/main">
            <a:r>
              <a:t>https://docs.nav2.org/jazzy/getting_started/navigation_concepts/navigation_servers/</a:t>
            </a:r>
          </a:p>
          <a:p xmlns:a="http://schemas.openxmlformats.org/drawingml/2006/main">
            <a:r>
              <a:t/>
            </a:r>
          </a:p>
          <a:p xmlns:a="http://schemas.openxmlformats.org/drawingml/2006/main">
            <a:r>
              <a:t>[Visuals]</a:t>
            </a:r>
          </a:p>
          <a:p xmlns:a="http://schemas.openxmlformats.org/drawingml/2006/main">
            <a:r>
              <a:t>Editable course text, equations, or comparison table.</a:t>
            </a:r>
          </a:p>
          <a:p xmlns:a="http://schemas.openxmlformats.org/drawingml/2006/main">
            <a:r>
              <a:t/>
            </a:r>
          </a:p>
          <a:p xmlns:a="http://schemas.openxmlformats.org/drawingml/2006/main">
            <a:r>
              <a:t>[Companion demo]</a:t>
            </a:r>
          </a:p>
          <a:p xmlns:a="http://schemas.openxmlformats.org/drawingml/2006/main">
            <a:r>
              <a:t>Open ../Labs/PathPlanning/index.html#search relative to this presentation. Extract the offline package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answers: graph optimality is relative to representation and cost; large changes can invalidate extensive prior search; local geometry, prediction and horizon can differ from the global model; and simulated geometry, contact, dynamics and uncertainty must correspond to the real situation. Use these questions to assess reasoning rather than memorized names.</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https://idm-lab.org/bib/abstracts/papers/aaai02b.pdf</a:t>
            </a:r>
          </a:p>
          <a:p xmlns:a="http://schemas.openxmlformats.org/drawingml/2006/main">
            <a:r>
              <a:t>https://docs.nav2.org/jazzy/getting_started/navigation_concepts/navigation_servers/</a:t>
            </a:r>
          </a:p>
          <a:p xmlns:a="http://schemas.openxmlformats.org/drawingml/2006/main">
            <a:r>
              <a:t>https://ame.nd.edu/events/from-state-estimation-to-affordance-learning-and-robot-imagination/</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References on this slide and in the speaker notes link to primary research and official documentation. Course screenshots are actual synthetic-demo computations. The demo is self-contained and requires no ROS installation. The slides remain editable, with sources and teaching explanations in their notes.</a:t>
            </a:r>
          </a:p>
          <a:p xmlns:a="http://schemas.openxmlformats.org/drawingml/2006/main">
            <a:r>
              <a:t/>
            </a:r>
          </a:p>
          <a:p xmlns:a="http://schemas.openxmlformats.org/drawingml/2006/main">
            <a:r>
              <a:t>[Sources]</a:t>
            </a:r>
          </a:p>
          <a:p xmlns:a="http://schemas.openxmlformats.org/drawingml/2006/main">
            <a:r>
              <a:t>https://lavalle.pl/planning/ch2.pdf</a:t>
            </a:r>
          </a:p>
          <a:p xmlns:a="http://schemas.openxmlformats.org/drawingml/2006/main">
            <a:r>
              <a:t>https://lavalle.pl/planning/ch4.pdf</a:t>
            </a:r>
          </a:p>
          <a:p xmlns:a="http://schemas.openxmlformats.org/drawingml/2006/main">
            <a:r>
              <a:t>https://lavalle.pl/planning/ch5.pdf</a:t>
            </a:r>
          </a:p>
          <a:p xmlns:a="http://schemas.openxmlformats.org/drawingml/2006/main">
            <a:r>
              <a:t>https://lavalle.pl/planning/ch8.pdf</a:t>
            </a:r>
          </a:p>
          <a:p xmlns:a="http://schemas.openxmlformats.org/drawingml/2006/main">
            <a:r>
              <a:t>https://publications.ri.cmu.edu/the-d-algorithm-for-real-time-planning-of-optimal-traverses</a:t>
            </a:r>
          </a:p>
          <a:p xmlns:a="http://schemas.openxmlformats.org/drawingml/2006/main">
            <a:r>
              <a:t>https://idm-lab.org/bib/abstracts/papers/aaai02b.pdf</a:t>
            </a:r>
          </a:p>
          <a:p xmlns:a="http://schemas.openxmlformats.org/drawingml/2006/main">
            <a:r>
              <a:t>https://docs.nav2.org/jazzy/getting_started/navigation_concepts/navigation_servers/</a:t>
            </a:r>
          </a:p>
          <a:p xmlns:a="http://schemas.openxmlformats.org/drawingml/2006/main">
            <a:r>
              <a:t>https://arxiv.org/abs/2305.15761</a:t>
            </a:r>
          </a:p>
          <a:p xmlns:a="http://schemas.openxmlformats.org/drawingml/2006/main">
            <a:r>
              <a:t>https://arxiv.org/abs/2403.19369</a:t>
            </a:r>
          </a:p>
          <a:p xmlns:a="http://schemas.openxmlformats.org/drawingml/2006/main">
            <a:r>
              <a:t/>
            </a:r>
          </a:p>
          <a:p xmlns:a="http://schemas.openxmlformats.org/drawingml/2006/main">
            <a:r>
              <a:t>[Visuals]</a:t>
            </a:r>
          </a:p>
          <a:p xmlns:a="http://schemas.openxmlformats.org/drawingml/2006/main">
            <a:r>
              <a:t>Editable course text, equations, or comparison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c59c76fe578426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e25b215a7b04bf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93b94f76281446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22c4896e8564ef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464bc04a1834a0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51104e30b524d9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1349A0-05FA-4B8A-BF18-BC6060472268}"/>
              </a:ext>
            </a:extLst>
          </p:cNvPr>
          <p:cNvSpPr>
            <a:spLocks xmlns:a="http://schemas.openxmlformats.org/drawingml/2006/main" noGrp="1"/>
          </p:cNvSpPr>
          <p:nvPr>
            <p:ph type="title" idx="0"/>
          </p:nvPr>
        </p:nvSpPr>
        <p:spPr>
          <a:xfrm xmlns:a="http://schemas.openxmlformats.org/drawingml/2006/main">
            <a:off x="914400" y="1943100"/>
            <a:ext cx="7315200" cy="7429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438455D-D097-41FB-8080-A2B57BC7877A}"/>
              </a:ext>
            </a:extLst>
          </p:cNvPr>
          <p:cNvSpPr>
            <a:spLocks xmlns:a="http://schemas.openxmlformats.org/drawingml/2006/main" noGrp="1"/>
          </p:cNvSpPr>
          <p:nvPr>
            <p:ph type="subTitle" idx="1"/>
          </p:nvPr>
        </p:nvSpPr>
        <p:spPr>
          <a:xfrm xmlns:a="http://schemas.openxmlformats.org/drawingml/2006/main">
            <a:off x="1371600" y="2828925"/>
            <a:ext cx="6400800" cy="571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C68C2C4-FF4E-432C-B30F-C2D7105799AC}"/>
              </a:ext>
            </a:extLst>
          </p:cNvPr>
          <p:cNvSpPr>
            <a:spLocks xmlns:a="http://schemas.openxmlformats.org/drawingml/2006/main" noGrp="1"/>
          </p:cNvSpPr>
          <p:nvPr>
            <p:ph type="title" idx="0"/>
          </p:nvPr>
        </p:nvSpPr>
        <p:spPr>
          <a:xfrm xmlns:a="http://schemas.openxmlformats.org/drawingml/2006/main">
            <a:off x="914400" y="2143125"/>
            <a:ext cx="7315200" cy="857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C7F8275-78AF-4940-B763-62464401315E}"/>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A5E5C8A-0E4D-4072-BEAF-EEA3CE0AF0D5}"/>
              </a:ext>
            </a:extLst>
          </p:cNvPr>
          <p:cNvSpPr>
            <a:spLocks xmlns:a="http://schemas.openxmlformats.org/drawingml/2006/main" noGrp="1"/>
          </p:cNvSpPr>
          <p:nvPr>
            <p:ph type="body" idx="1"/>
          </p:nvPr>
        </p:nvSpPr>
        <p:spPr>
          <a:xfrm xmlns:a="http://schemas.openxmlformats.org/drawingml/2006/main">
            <a:off x="514350" y="1428750"/>
            <a:ext cx="81153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171450" indent="-171450">
              <a:lnSpc>
                <a:spcPct val="110000"/>
              </a:lnSpc>
              <a:spcBef>
                <a:spcPts val="0"/>
              </a:spcBef>
              <a:spcAft>
                <a:spcPts val="900"/>
              </a:spcAft>
              <a:buChar char="•"/>
            </a:lvl1pPr>
            <a:lvl2pPr marL="400050" indent="-171450">
              <a:lnSpc>
                <a:spcPct val="110000"/>
              </a:lnSpc>
              <a:spcBef>
                <a:spcPts val="0"/>
              </a:spcBef>
              <a:spcAft>
                <a:spcPts val="900"/>
              </a:spcAft>
              <a:buChar char="•"/>
            </a:lvl2pPr>
            <a:lvl3pPr marL="628650" indent="-171450">
              <a:lnSpc>
                <a:spcPct val="110000"/>
              </a:lnSpc>
              <a:spcBef>
                <a:spcPts val="0"/>
              </a:spcBef>
              <a:spcAft>
                <a:spcPts val="900"/>
              </a:spcAft>
              <a:buChar char="•"/>
            </a:lvl3pPr>
            <a:lvl4pPr marL="857250" indent="-171450">
              <a:lnSpc>
                <a:spcPct val="110000"/>
              </a:lnSpc>
              <a:spcBef>
                <a:spcPts val="0"/>
              </a:spcBef>
              <a:spcAft>
                <a:spcPts val="900"/>
              </a:spcAft>
              <a:buChar char="•"/>
            </a:lvl4pPr>
            <a:lvl5pPr marL="1085850" indent="-171450">
              <a:lnSpc>
                <a:spcPct val="110000"/>
              </a:lnSpc>
              <a:spcBef>
                <a:spcPts val="0"/>
              </a:spcBef>
              <a:spcAft>
                <a:spcPts val="900"/>
              </a:spcAft>
              <a:buChar char="•"/>
            </a:lvl5pPr>
            <a:lvl6pPr marL="1314450" indent="-171450">
              <a:lnSpc>
                <a:spcPct val="110000"/>
              </a:lnSpc>
              <a:spcBef>
                <a:spcPts val="0"/>
              </a:spcBef>
              <a:spcAft>
                <a:spcPts val="900"/>
              </a:spcAft>
              <a:buChar char="•"/>
            </a:lvl6pPr>
            <a:lvl7pPr marL="1543050" indent="-171450">
              <a:lnSpc>
                <a:spcPct val="110000"/>
              </a:lnSpc>
              <a:spcBef>
                <a:spcPts val="0"/>
              </a:spcBef>
              <a:spcAft>
                <a:spcPts val="900"/>
              </a:spcAft>
              <a:buChar char="•"/>
            </a:lvl7pPr>
            <a:lvl8pPr marL="1771650" indent="-171450">
              <a:lnSpc>
                <a:spcPct val="110000"/>
              </a:lnSpc>
              <a:spcBef>
                <a:spcPts val="0"/>
              </a:spcBef>
              <a:spcAft>
                <a:spcPts val="900"/>
              </a:spcAft>
              <a:buChar char="•"/>
            </a:lvl8pPr>
            <a:lvl9pPr marL="2000250" indent="-171450">
              <a:lnSpc>
                <a:spcPct val="110000"/>
              </a:lnSpc>
              <a:spcBef>
                <a:spcPts val="0"/>
              </a:spcBef>
              <a:spcAft>
                <a:spcPts val="9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5CC168E-7EFD-4ED6-AF93-56597140B7CE}"/>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8EB5558-6213-4705-93BE-BF651B932FB5}"/>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171450" indent="-171450">
              <a:lnSpc>
                <a:spcPct val="110000"/>
              </a:lnSpc>
              <a:spcBef>
                <a:spcPts val="0"/>
              </a:spcBef>
              <a:spcAft>
                <a:spcPts val="900"/>
              </a:spcAft>
              <a:buChar char="•"/>
            </a:lvl1pPr>
            <a:lvl2pPr marL="400050" indent="-171450">
              <a:lnSpc>
                <a:spcPct val="110000"/>
              </a:lnSpc>
              <a:spcBef>
                <a:spcPts val="0"/>
              </a:spcBef>
              <a:spcAft>
                <a:spcPts val="900"/>
              </a:spcAft>
              <a:buChar char="•"/>
            </a:lvl2pPr>
            <a:lvl3pPr marL="628650" indent="-171450">
              <a:lnSpc>
                <a:spcPct val="110000"/>
              </a:lnSpc>
              <a:spcBef>
                <a:spcPts val="0"/>
              </a:spcBef>
              <a:spcAft>
                <a:spcPts val="900"/>
              </a:spcAft>
              <a:buChar char="•"/>
            </a:lvl3pPr>
            <a:lvl4pPr marL="857250" indent="-171450">
              <a:lnSpc>
                <a:spcPct val="110000"/>
              </a:lnSpc>
              <a:spcBef>
                <a:spcPts val="0"/>
              </a:spcBef>
              <a:spcAft>
                <a:spcPts val="900"/>
              </a:spcAft>
              <a:buChar char="•"/>
            </a:lvl4pPr>
            <a:lvl5pPr marL="1085850" indent="-171450">
              <a:lnSpc>
                <a:spcPct val="110000"/>
              </a:lnSpc>
              <a:spcBef>
                <a:spcPts val="0"/>
              </a:spcBef>
              <a:spcAft>
                <a:spcPts val="900"/>
              </a:spcAft>
              <a:buChar char="•"/>
            </a:lvl5pPr>
            <a:lvl6pPr marL="1314450" indent="-171450">
              <a:lnSpc>
                <a:spcPct val="110000"/>
              </a:lnSpc>
              <a:spcBef>
                <a:spcPts val="0"/>
              </a:spcBef>
              <a:spcAft>
                <a:spcPts val="900"/>
              </a:spcAft>
              <a:buChar char="•"/>
            </a:lvl6pPr>
            <a:lvl7pPr marL="1543050" indent="-171450">
              <a:lnSpc>
                <a:spcPct val="110000"/>
              </a:lnSpc>
              <a:spcBef>
                <a:spcPts val="0"/>
              </a:spcBef>
              <a:spcAft>
                <a:spcPts val="900"/>
              </a:spcAft>
              <a:buChar char="•"/>
            </a:lvl7pPr>
            <a:lvl8pPr marL="1771650" indent="-171450">
              <a:lnSpc>
                <a:spcPct val="110000"/>
              </a:lnSpc>
              <a:spcBef>
                <a:spcPts val="0"/>
              </a:spcBef>
              <a:spcAft>
                <a:spcPts val="900"/>
              </a:spcAft>
              <a:buChar char="•"/>
            </a:lvl8pPr>
            <a:lvl9pPr marL="2000250" indent="-171450">
              <a:lnSpc>
                <a:spcPct val="110000"/>
              </a:lnSpc>
              <a:spcBef>
                <a:spcPts val="0"/>
              </a:spcBef>
              <a:spcAft>
                <a:spcPts val="9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C21AE7E-3B6F-4CD7-AB7F-2676BC86E0AF}"/>
              </a:ext>
            </a:extLst>
          </p:cNvPr>
          <p:cNvSpPr>
            <a:spLocks xmlns:a="http://schemas.openxmlformats.org/drawingml/2006/main" noGrp="1"/>
          </p:cNvSpPr>
          <p:nvPr>
            <p:ph type="body" idx="2"/>
          </p:nvPr>
        </p:nvSpPr>
        <p:spPr>
          <a:xfrm xmlns:a="http://schemas.openxmlformats.org/drawingml/2006/main">
            <a:off x="48577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171450" indent="-171450">
              <a:lnSpc>
                <a:spcPct val="110000"/>
              </a:lnSpc>
              <a:spcBef>
                <a:spcPts val="0"/>
              </a:spcBef>
              <a:spcAft>
                <a:spcPts val="900"/>
              </a:spcAft>
              <a:buChar char="•"/>
            </a:lvl1pPr>
            <a:lvl2pPr marL="400050" indent="-171450">
              <a:lnSpc>
                <a:spcPct val="110000"/>
              </a:lnSpc>
              <a:spcBef>
                <a:spcPts val="0"/>
              </a:spcBef>
              <a:spcAft>
                <a:spcPts val="900"/>
              </a:spcAft>
              <a:buChar char="•"/>
            </a:lvl2pPr>
            <a:lvl3pPr marL="628650" indent="-171450">
              <a:lnSpc>
                <a:spcPct val="110000"/>
              </a:lnSpc>
              <a:spcBef>
                <a:spcPts val="0"/>
              </a:spcBef>
              <a:spcAft>
                <a:spcPts val="900"/>
              </a:spcAft>
              <a:buChar char="•"/>
            </a:lvl3pPr>
            <a:lvl4pPr marL="857250" indent="-171450">
              <a:lnSpc>
                <a:spcPct val="110000"/>
              </a:lnSpc>
              <a:spcBef>
                <a:spcPts val="0"/>
              </a:spcBef>
              <a:spcAft>
                <a:spcPts val="900"/>
              </a:spcAft>
              <a:buChar char="•"/>
            </a:lvl4pPr>
            <a:lvl5pPr marL="1085850" indent="-171450">
              <a:lnSpc>
                <a:spcPct val="110000"/>
              </a:lnSpc>
              <a:spcBef>
                <a:spcPts val="0"/>
              </a:spcBef>
              <a:spcAft>
                <a:spcPts val="900"/>
              </a:spcAft>
              <a:buChar char="•"/>
            </a:lvl5pPr>
            <a:lvl6pPr marL="1314450" indent="-171450">
              <a:lnSpc>
                <a:spcPct val="110000"/>
              </a:lnSpc>
              <a:spcBef>
                <a:spcPts val="0"/>
              </a:spcBef>
              <a:spcAft>
                <a:spcPts val="900"/>
              </a:spcAft>
              <a:buChar char="•"/>
            </a:lvl6pPr>
            <a:lvl7pPr marL="1543050" indent="-171450">
              <a:lnSpc>
                <a:spcPct val="110000"/>
              </a:lnSpc>
              <a:spcBef>
                <a:spcPts val="0"/>
              </a:spcBef>
              <a:spcAft>
                <a:spcPts val="900"/>
              </a:spcAft>
              <a:buChar char="•"/>
            </a:lvl7pPr>
            <a:lvl8pPr marL="1771650" indent="-171450">
              <a:lnSpc>
                <a:spcPct val="110000"/>
              </a:lnSpc>
              <a:spcBef>
                <a:spcPts val="0"/>
              </a:spcBef>
              <a:spcAft>
                <a:spcPts val="900"/>
              </a:spcAft>
              <a:buChar char="•"/>
            </a:lvl8pPr>
            <a:lvl9pPr marL="2000250" indent="-171450">
              <a:lnSpc>
                <a:spcPct val="110000"/>
              </a:lnSpc>
              <a:spcBef>
                <a:spcPts val="0"/>
              </a:spcBef>
              <a:spcAft>
                <a:spcPts val="9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F278489-EB52-46A3-BDFA-E4B2B7827E8F}"/>
              </a:ext>
            </a:extLst>
          </p:cNvPr>
          <p:cNvSpPr>
            <a:spLocks xmlns:a="http://schemas.openxmlformats.org/drawingml/2006/main" noGrp="1"/>
          </p:cNvSpPr>
          <p:nvPr>
            <p:ph type="title" idx="0"/>
          </p:nvPr>
        </p:nvSpPr>
        <p:spPr>
          <a:xfrm xmlns:a="http://schemas.openxmlformats.org/drawingml/2006/main">
            <a:off x="514350" y="400050"/>
            <a:ext cx="8115300" cy="6286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B441409-4AA5-4B59-8699-AD47A5428163}"/>
              </a:ext>
            </a:extLst>
          </p:cNvPr>
          <p:cNvSpPr>
            <a:spLocks xmlns:a="http://schemas.openxmlformats.org/drawingml/2006/main" noGrp="1"/>
          </p:cNvSpPr>
          <p:nvPr>
            <p:ph type="body" idx="1"/>
          </p:nvPr>
        </p:nvSpPr>
        <p:spPr>
          <a:xfrm xmlns:a="http://schemas.openxmlformats.org/drawingml/2006/main">
            <a:off x="514350" y="1428750"/>
            <a:ext cx="3771900" cy="32004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171450" indent="-171450">
              <a:lnSpc>
                <a:spcPct val="110000"/>
              </a:lnSpc>
              <a:spcBef>
                <a:spcPts val="0"/>
              </a:spcBef>
              <a:spcAft>
                <a:spcPts val="900"/>
              </a:spcAft>
              <a:buChar char="•"/>
            </a:lvl1pPr>
            <a:lvl2pPr marL="400050" indent="-171450">
              <a:lnSpc>
                <a:spcPct val="110000"/>
              </a:lnSpc>
              <a:spcBef>
                <a:spcPts val="0"/>
              </a:spcBef>
              <a:spcAft>
                <a:spcPts val="900"/>
              </a:spcAft>
              <a:buChar char="•"/>
            </a:lvl2pPr>
            <a:lvl3pPr marL="628650" indent="-171450">
              <a:lnSpc>
                <a:spcPct val="110000"/>
              </a:lnSpc>
              <a:spcBef>
                <a:spcPts val="0"/>
              </a:spcBef>
              <a:spcAft>
                <a:spcPts val="900"/>
              </a:spcAft>
              <a:buChar char="•"/>
            </a:lvl3pPr>
            <a:lvl4pPr marL="857250" indent="-171450">
              <a:lnSpc>
                <a:spcPct val="110000"/>
              </a:lnSpc>
              <a:spcBef>
                <a:spcPts val="0"/>
              </a:spcBef>
              <a:spcAft>
                <a:spcPts val="900"/>
              </a:spcAft>
              <a:buChar char="•"/>
            </a:lvl4pPr>
            <a:lvl5pPr marL="1085850" indent="-171450">
              <a:lnSpc>
                <a:spcPct val="110000"/>
              </a:lnSpc>
              <a:spcBef>
                <a:spcPts val="0"/>
              </a:spcBef>
              <a:spcAft>
                <a:spcPts val="900"/>
              </a:spcAft>
              <a:buChar char="•"/>
            </a:lvl5pPr>
            <a:lvl6pPr marL="1314450" indent="-171450">
              <a:lnSpc>
                <a:spcPct val="110000"/>
              </a:lnSpc>
              <a:spcBef>
                <a:spcPts val="0"/>
              </a:spcBef>
              <a:spcAft>
                <a:spcPts val="900"/>
              </a:spcAft>
              <a:buChar char="•"/>
            </a:lvl6pPr>
            <a:lvl7pPr marL="1543050" indent="-171450">
              <a:lnSpc>
                <a:spcPct val="110000"/>
              </a:lnSpc>
              <a:spcBef>
                <a:spcPts val="0"/>
              </a:spcBef>
              <a:spcAft>
                <a:spcPts val="900"/>
              </a:spcAft>
              <a:buChar char="•"/>
            </a:lvl7pPr>
            <a:lvl8pPr marL="1771650" indent="-171450">
              <a:lnSpc>
                <a:spcPct val="110000"/>
              </a:lnSpc>
              <a:spcBef>
                <a:spcPts val="0"/>
              </a:spcBef>
              <a:spcAft>
                <a:spcPts val="900"/>
              </a:spcAft>
              <a:buChar char="•"/>
            </a:lvl8pPr>
            <a:lvl9pPr marL="2000250" indent="-171450">
              <a:lnSpc>
                <a:spcPct val="110000"/>
              </a:lnSpc>
              <a:spcBef>
                <a:spcPts val="0"/>
              </a:spcBef>
              <a:spcAft>
                <a:spcPts val="9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0b29b23fb504c55" /><Relationship Type="http://schemas.openxmlformats.org/officeDocument/2006/relationships/slideLayout" Target="/ppt/slideLayouts/slideLayout1.xml" Id="Rb1d305acb4f442e3" /><Relationship Type="http://schemas.openxmlformats.org/officeDocument/2006/relationships/slideLayout" Target="/ppt/slideLayouts/slideLayout2.xml" Id="R760ae6baf2634aa2" /><Relationship Type="http://schemas.openxmlformats.org/officeDocument/2006/relationships/slideLayout" Target="/ppt/slideLayouts/slideLayout3.xml" Id="Re03f746dffd44f29" /><Relationship Type="http://schemas.openxmlformats.org/officeDocument/2006/relationships/slideLayout" Target="/ppt/slideLayouts/slideLayout4.xml" Id="R4543bada5fd44c58" /><Relationship Type="http://schemas.openxmlformats.org/officeDocument/2006/relationships/slideLayout" Target="/ppt/slideLayouts/slideLayout5.xml" Id="Re012a1fd78ac4095" /><Relationship Type="http://schemas.openxmlformats.org/officeDocument/2006/relationships/slideLayout" Target="/ppt/slideLayouts/slideLayout6.xml" Id="R47049e792a4f4c2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1d305acb4f442e3"/>
    <p:sldLayoutId xmlns:r="http://schemas.openxmlformats.org/officeDocument/2006/relationships" id="2147483650" r:id="R760ae6baf2634aa2"/>
    <p:sldLayoutId xmlns:r="http://schemas.openxmlformats.org/officeDocument/2006/relationships" id="2147483651" r:id="Re03f746dffd44f29"/>
    <p:sldLayoutId xmlns:r="http://schemas.openxmlformats.org/officeDocument/2006/relationships" id="2147483652" r:id="R4543bada5fd44c58"/>
    <p:sldLayoutId xmlns:r="http://schemas.openxmlformats.org/officeDocument/2006/relationships" id="2147483653" r:id="Re012a1fd78ac4095"/>
    <p:sldLayoutId xmlns:r="http://schemas.openxmlformats.org/officeDocument/2006/relationships" id="2147483654" r:id="R47049e792a4f4c2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1ce8ef6e9bc4234" /><Relationship Type="http://schemas.openxmlformats.org/officeDocument/2006/relationships/image" Target="/ppt/media/image.jpeg" Id="Rb4f81a1361534454" /><Relationship Type="http://schemas.openxmlformats.org/officeDocument/2006/relationships/notesSlide" Target="/ppt/notesSlides/notesSlide1.xml" Id="Ra4bc22c2c12347f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3c2338f699b44a7" /><Relationship Type="http://schemas.openxmlformats.org/officeDocument/2006/relationships/image" Target="/ppt/media/image.png" Id="Rdcb58eb5f6e340b0" /><Relationship Type="http://schemas.openxmlformats.org/officeDocument/2006/relationships/notesSlide" Target="/ppt/notesSlides/notesSlide2.xml" Id="R99aa1c54f2614c2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dd5f67681a34b89" /><Relationship Type="http://schemas.openxmlformats.org/officeDocument/2006/relationships/image" Target="/ppt/media/image2.png" Id="Ra3daba7c3469400f" /><Relationship Type="http://schemas.openxmlformats.org/officeDocument/2006/relationships/notesSlide" Target="/ppt/notesSlides/notesSlide3.xml" Id="Rb36c82b5336643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6a2be83a3dc44e5" /><Relationship Type="http://schemas.openxmlformats.org/officeDocument/2006/relationships/image" Target="/ppt/media/image3.png" Id="R20b697ea2f7a487a" /><Relationship Type="http://schemas.openxmlformats.org/officeDocument/2006/relationships/notesSlide" Target="/ppt/notesSlides/notesSlide4.xml" Id="Rf14d6272eb5741f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ff9226ca89b4653" /><Relationship Type="http://schemas.openxmlformats.org/officeDocument/2006/relationships/image" Target="/ppt/media/image4.png" Id="R1251534adb694615" /><Relationship Type="http://schemas.openxmlformats.org/officeDocument/2006/relationships/notesSlide" Target="/ppt/notesSlides/notesSlide5.xml" Id="Rdadebb96c35442e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43a5f17a3b3429f" /><Relationship Type="http://schemas.openxmlformats.org/officeDocument/2006/relationships/image" Target="/ppt/media/image5.png" Id="Rc3fc5dd8599a47da" /><Relationship Type="http://schemas.openxmlformats.org/officeDocument/2006/relationships/image" Target="/ppt/media/image6.png" Id="R30821f937ab0445d" /><Relationship Type="http://schemas.openxmlformats.org/officeDocument/2006/relationships/hyperlink" Target="../Labs/PathPlanning/index.html#search" TargetMode="External" Id="R3afb893db8f04872" /><Relationship Type="http://schemas.openxmlformats.org/officeDocument/2006/relationships/notesSlide" Target="/ppt/notesSlides/notesSlide6.xml" Id="Ra9489b60bf1444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6ed3c53188714e65" /><Relationship Type="http://schemas.openxmlformats.org/officeDocument/2006/relationships/image" Target="/ppt/media/image7.png" Id="R5420a97e98d64da8" /><Relationship Type="http://schemas.openxmlformats.org/officeDocument/2006/relationships/notesSlide" Target="/ppt/notesSlides/notesSlide7.xml" Id="R1eb1f9f8e75e4b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7b5991f56984c8f" /><Relationship Type="http://schemas.openxmlformats.org/officeDocument/2006/relationships/image" Target="/ppt/media/image8.png" Id="R3da5407ee7684efa" /><Relationship Type="http://schemas.openxmlformats.org/officeDocument/2006/relationships/image" Target="/ppt/media/image9.png" Id="Ra192a97955c64632" /><Relationship Type="http://schemas.openxmlformats.org/officeDocument/2006/relationships/image" Target="/ppt/media/image10.png" Id="R37fc09f435cc497e" /><Relationship Type="http://schemas.openxmlformats.org/officeDocument/2006/relationships/hyperlink" Target="../Labs/PathPlanning/index.html#search" TargetMode="External" Id="Rb69f4ef08f04489c" /><Relationship Type="http://schemas.openxmlformats.org/officeDocument/2006/relationships/notesSlide" Target="/ppt/notesSlides/notesSlide8.xml" Id="Rd29fc80fcfd04f6c"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761617175504513" /><Relationship Type="http://schemas.openxmlformats.org/officeDocument/2006/relationships/image" Target="/ppt/media/image11.png" Id="R8dd552cd266d4e9b" /><Relationship Type="http://schemas.openxmlformats.org/officeDocument/2006/relationships/image" Target="/ppt/media/image.gif" Id="R17709e3f6e9949ff" /><Relationship Type="http://schemas.openxmlformats.org/officeDocument/2006/relationships/hyperlink" Target="../Labs/PathPlanning/index.html#search" TargetMode="External" Id="R117753ba450e45e9" /><Relationship Type="http://schemas.openxmlformats.org/officeDocument/2006/relationships/notesSlide" Target="/ppt/notesSlides/notesSlide9.xml" Id="R7ba1a06203db458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37a4e1e6d9e4a71" /><Relationship Type="http://schemas.openxmlformats.org/officeDocument/2006/relationships/image" Target="/ppt/media/image12.png" Id="Rc4763f6c739646b2" /><Relationship Type="http://schemas.openxmlformats.org/officeDocument/2006/relationships/notesSlide" Target="/ppt/notesSlides/notesSlide10.xml" Id="R6a860595ed584f0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3ce74164d90e4037" /><Relationship Type="http://schemas.openxmlformats.org/officeDocument/2006/relationships/image" Target="/ppt/media/image13.png" Id="R667794d6b28f44ab" /><Relationship Type="http://schemas.openxmlformats.org/officeDocument/2006/relationships/notesSlide" Target="/ppt/notesSlides/notesSlide11.xml" Id="R9f2af0bfe7964ac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5136297ad8b4875" /><Relationship Type="http://schemas.openxmlformats.org/officeDocument/2006/relationships/image" Target="/ppt/media/image14.png" Id="Rba2edd96089a472c" /><Relationship Type="http://schemas.openxmlformats.org/officeDocument/2006/relationships/notesSlide" Target="/ppt/notesSlides/notesSlide12.xml" Id="Ree158a31bf674ed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1bfaee2faaf04e74" /><Relationship Type="http://schemas.openxmlformats.org/officeDocument/2006/relationships/image" Target="/ppt/media/image15.png" Id="R36e55b7878934cfd" /><Relationship Type="http://schemas.openxmlformats.org/officeDocument/2006/relationships/image" Target="/ppt/media/image16.png" Id="R1b12beebdc04499f" /><Relationship Type="http://schemas.openxmlformats.org/officeDocument/2006/relationships/image" Target="/ppt/media/image17.png" Id="R16ed0ba62e2e4c86" /><Relationship Type="http://schemas.openxmlformats.org/officeDocument/2006/relationships/hyperlink" Target="../Labs/PathPlanning/index.html#search" TargetMode="External" Id="R280201760b1c46e4" /><Relationship Type="http://schemas.openxmlformats.org/officeDocument/2006/relationships/notesSlide" Target="/ppt/notesSlides/notesSlide13.xml" Id="R7128305141034a8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29a3e09112f4ef6" /><Relationship Type="http://schemas.openxmlformats.org/officeDocument/2006/relationships/image" Target="/ppt/media/image18.png" Id="R8c55a4ff8e764363" /><Relationship Type="http://schemas.openxmlformats.org/officeDocument/2006/relationships/image" Target="/ppt/media/image19.png" Id="Rc9606416b3df4f15" /><Relationship Type="http://schemas.openxmlformats.org/officeDocument/2006/relationships/hyperlink" Target="../Labs/PathPlanning/index.html#search" TargetMode="External" Id="R64a7bccf46d94743" /><Relationship Type="http://schemas.openxmlformats.org/officeDocument/2006/relationships/notesSlide" Target="/ppt/notesSlides/notesSlide14.xml" Id="Raa3bd78ee1dc4f6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a54451e817d4022" /><Relationship Type="http://schemas.openxmlformats.org/officeDocument/2006/relationships/image" Target="/ppt/media/image20.png" Id="Rafb1a79e739d499b" /><Relationship Type="http://schemas.openxmlformats.org/officeDocument/2006/relationships/image" Target="/ppt/media/image21.png" Id="R68f64e2b56cf460c" /><Relationship Type="http://schemas.openxmlformats.org/officeDocument/2006/relationships/hyperlink" Target="../Labs/PathPlanning/index.html#replan" TargetMode="External" Id="Ra15518e6a25c4026" /><Relationship Type="http://schemas.openxmlformats.org/officeDocument/2006/relationships/notesSlide" Target="/ppt/notesSlides/notesSlide15.xml" Id="R555dcf3b6234487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5eaa6d990d34d17" /><Relationship Type="http://schemas.openxmlformats.org/officeDocument/2006/relationships/image" Target="/ppt/media/image22.png" Id="Rdb661e9da407461d" /><Relationship Type="http://schemas.openxmlformats.org/officeDocument/2006/relationships/notesSlide" Target="/ppt/notesSlides/notesSlide16.xml" Id="Rb4be0370ad4d49d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7c0de39e12e449b" /><Relationship Type="http://schemas.openxmlformats.org/officeDocument/2006/relationships/image" Target="/ppt/media/image23.png" Id="R142c4fd6b5fb45e6" /><Relationship Type="http://schemas.openxmlformats.org/officeDocument/2006/relationships/notesSlide" Target="/ppt/notesSlides/notesSlide17.xml" Id="R189b3a184ff94a8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8a12f5b9b644bc4" /><Relationship Type="http://schemas.openxmlformats.org/officeDocument/2006/relationships/image" Target="/ppt/media/image24.png" Id="R9499d29549494b56" /><Relationship Type="http://schemas.openxmlformats.org/officeDocument/2006/relationships/image" Target="/ppt/media/image25.png" Id="R4722303ee1f1450c" /><Relationship Type="http://schemas.openxmlformats.org/officeDocument/2006/relationships/hyperlink" Target="../Labs/PathPlanning/index.html#replan" TargetMode="External" Id="R57bf336994ee4fc2" /><Relationship Type="http://schemas.openxmlformats.org/officeDocument/2006/relationships/notesSlide" Target="/ppt/notesSlides/notesSlide18.xml" Id="R861a6029edad4cd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70c42dfbce6648c2" /><Relationship Type="http://schemas.openxmlformats.org/officeDocument/2006/relationships/image" Target="/ppt/media/image26.png" Id="R820d35376bdf4cea" /><Relationship Type="http://schemas.openxmlformats.org/officeDocument/2006/relationships/notesSlide" Target="/ppt/notesSlides/notesSlide19.xml" Id="Rf30558f9c056449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3094868bc0f04da1" /><Relationship Type="http://schemas.openxmlformats.org/officeDocument/2006/relationships/image" Target="/ppt/media/image27.png" Id="Rcd91c51d37704cd5" /><Relationship Type="http://schemas.openxmlformats.org/officeDocument/2006/relationships/notesSlide" Target="/ppt/notesSlides/notesSlide20.xml" Id="R733ebd88e7d84c8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54c48b34b34d4262" /><Relationship Type="http://schemas.openxmlformats.org/officeDocument/2006/relationships/image" Target="/ppt/media/image28.png" Id="R693e06e1160e4d09" /><Relationship Type="http://schemas.openxmlformats.org/officeDocument/2006/relationships/image" Target="/ppt/media/image2.gif" Id="R58baf251fd414c62" /><Relationship Type="http://schemas.openxmlformats.org/officeDocument/2006/relationships/hyperlink" Target="../Labs/PathPlanning/index.html#sampling" TargetMode="External" Id="R16e7e1dc997d41e3" /><Relationship Type="http://schemas.openxmlformats.org/officeDocument/2006/relationships/notesSlide" Target="/ppt/notesSlides/notesSlide21.xml" Id="Re136762c4e4445e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5b332f5d900241dd" /><Relationship Type="http://schemas.openxmlformats.org/officeDocument/2006/relationships/image" Target="/ppt/media/image29.png" Id="Ra310ed63a4f54fb5" /><Relationship Type="http://schemas.openxmlformats.org/officeDocument/2006/relationships/image" Target="/ppt/media/image30.png" Id="R73503ce5d9bd4cca" /><Relationship Type="http://schemas.openxmlformats.org/officeDocument/2006/relationships/hyperlink" Target="../Labs/PathPlanning/index.html#sampling" TargetMode="External" Id="Rca9fea4009f545b7" /><Relationship Type="http://schemas.openxmlformats.org/officeDocument/2006/relationships/notesSlide" Target="/ppt/notesSlides/notesSlide22.xml" Id="Ra5d3e369e29c47a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72b45b114cb482f" /><Relationship Type="http://schemas.openxmlformats.org/officeDocument/2006/relationships/image" Target="/ppt/media/image31.png" Id="Rcf4adad5da73452c" /><Relationship Type="http://schemas.openxmlformats.org/officeDocument/2006/relationships/image" Target="/ppt/media/image32.png" Id="Rcb3ffccc21e94628" /><Relationship Type="http://schemas.openxmlformats.org/officeDocument/2006/relationships/hyperlink" Target="../Labs/PathPlanning/index.html#imagination" TargetMode="External" Id="R1f0749e1a9d54ffd" /><Relationship Type="http://schemas.openxmlformats.org/officeDocument/2006/relationships/notesSlide" Target="/ppt/notesSlides/notesSlide23.xml" Id="R3337c91a250b4b7d"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898c18e8c1634477" /><Relationship Type="http://schemas.openxmlformats.org/officeDocument/2006/relationships/image" Target="/ppt/media/image33.png" Id="R9e05f779e23546b9" /><Relationship Type="http://schemas.openxmlformats.org/officeDocument/2006/relationships/notesSlide" Target="/ppt/notesSlides/notesSlide24.xml" Id="Re2cd9232ffeb49c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5cbabae7dcf4158" /><Relationship Type="http://schemas.openxmlformats.org/officeDocument/2006/relationships/image" Target="/ppt/media/image34.png" Id="R427ceecaf90b4346" /><Relationship Type="http://schemas.openxmlformats.org/officeDocument/2006/relationships/image" Target="/ppt/media/image35.png" Id="Rfc39df0bedb043e5" /><Relationship Type="http://schemas.openxmlformats.org/officeDocument/2006/relationships/image" Target="/ppt/media/image36.png" Id="R514546cc42b040bf" /><Relationship Type="http://schemas.openxmlformats.org/officeDocument/2006/relationships/hyperlink" Target="../Labs/PathPlanning/index.html#clearance" TargetMode="External" Id="R8dbc423f612c4cfa" /><Relationship Type="http://schemas.openxmlformats.org/officeDocument/2006/relationships/notesSlide" Target="/ppt/notesSlides/notesSlide25.xml" Id="R9c8d10e57a59405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4c9be54beb184395" /><Relationship Type="http://schemas.openxmlformats.org/officeDocument/2006/relationships/image" Target="/ppt/media/image37.png" Id="R24054a5a49214d81" /><Relationship Type="http://schemas.openxmlformats.org/officeDocument/2006/relationships/notesSlide" Target="/ppt/notesSlides/notesSlide26.xml" Id="Ra6342d000dae435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d34adec8bd3b4fa3" /><Relationship Type="http://schemas.openxmlformats.org/officeDocument/2006/relationships/image" Target="/ppt/media/image38.png" Id="R538388d21fa04239" /><Relationship Type="http://schemas.openxmlformats.org/officeDocument/2006/relationships/notesSlide" Target="/ppt/notesSlides/notesSlide27.xml" Id="R38d5e9557443472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5ceb892cb56641c0" /><Relationship Type="http://schemas.openxmlformats.org/officeDocument/2006/relationships/image" Target="/ppt/media/image39.png" Id="R408f508f41f040b6" /><Relationship Type="http://schemas.openxmlformats.org/officeDocument/2006/relationships/notesSlide" Target="/ppt/notesSlides/notesSlide28.xml" Id="Ra1f1e93316374a3a"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1a22b2616c034cce" /><Relationship Type="http://schemas.openxmlformats.org/officeDocument/2006/relationships/image" Target="/ppt/media/image40.png" Id="Rfe2dbdaac1824b3b" /><Relationship Type="http://schemas.openxmlformats.org/officeDocument/2006/relationships/image" Target="/ppt/media/image41.png" Id="R94adbdabbb9c415c" /><Relationship Type="http://schemas.openxmlformats.org/officeDocument/2006/relationships/hyperlink" Target="../Labs/PathPlanning/index.html#field" TargetMode="External" Id="Recff25d8b42541c4" /><Relationship Type="http://schemas.openxmlformats.org/officeDocument/2006/relationships/notesSlide" Target="/ppt/notesSlides/notesSlide29.xml" Id="R97f21889025e4d66"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7c026e7123c94cf2" /><Relationship Type="http://schemas.openxmlformats.org/officeDocument/2006/relationships/image" Target="/ppt/media/image42.png" Id="Rd7939867e76d4445" /><Relationship Type="http://schemas.openxmlformats.org/officeDocument/2006/relationships/notesSlide" Target="/ppt/notesSlides/notesSlide30.xml" Id="R4886923bfa2c443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7c57e01a9ee4481" /><Relationship Type="http://schemas.openxmlformats.org/officeDocument/2006/relationships/image" Target="/ppt/media/image43.png" Id="Rf4bee54eee694d5b" /><Relationship Type="http://schemas.openxmlformats.org/officeDocument/2006/relationships/image" Target="/ppt/media/image3.gif" Id="R3a08e30fdbc04a28" /><Relationship Type="http://schemas.openxmlformats.org/officeDocument/2006/relationships/hyperlink" Target="../Labs/PathPlanning/index.html#field" TargetMode="External" Id="Rf40bcc074cde40fc" /><Relationship Type="http://schemas.openxmlformats.org/officeDocument/2006/relationships/notesSlide" Target="/ppt/notesSlides/notesSlide31.xml" Id="R6fce87ab52b149b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e566a052dee140bd" /><Relationship Type="http://schemas.openxmlformats.org/officeDocument/2006/relationships/image" Target="/ppt/media/image44.png" Id="R46e9855a542d46df" /><Relationship Type="http://schemas.openxmlformats.org/officeDocument/2006/relationships/notesSlide" Target="/ppt/notesSlides/notesSlide32.xml" Id="R2ecffecd0e0d4953"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6717038f6589426f" /><Relationship Type="http://schemas.openxmlformats.org/officeDocument/2006/relationships/image" Target="/ppt/media/image45.png" Id="R3c95fb3462c64d35" /><Relationship Type="http://schemas.openxmlformats.org/officeDocument/2006/relationships/notesSlide" Target="/ppt/notesSlides/notesSlide33.xml" Id="R451decbf65ee4d9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b19416286524c58" /><Relationship Type="http://schemas.openxmlformats.org/officeDocument/2006/relationships/image" Target="/ppt/media/image46.png" Id="R858ebd4703164063" /><Relationship Type="http://schemas.openxmlformats.org/officeDocument/2006/relationships/image" Target="/ppt/media/image47.png" Id="R7b91ef80611a4c41" /><Relationship Type="http://schemas.openxmlformats.org/officeDocument/2006/relationships/hyperlink" Target="../Labs/PathPlanning/index.html#local" TargetMode="External" Id="R17565850951a4321" /><Relationship Type="http://schemas.openxmlformats.org/officeDocument/2006/relationships/notesSlide" Target="/ppt/notesSlides/notesSlide34.xml" Id="Rea95df29163c4c40"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66b4b473c4174574" /><Relationship Type="http://schemas.openxmlformats.org/officeDocument/2006/relationships/image" Target="/ppt/media/image48.png" Id="R2e689c665edf4ea2" /><Relationship Type="http://schemas.openxmlformats.org/officeDocument/2006/relationships/image" Target="/ppt/media/image49.png" Id="Re19953456505402b" /><Relationship Type="http://schemas.openxmlformats.org/officeDocument/2006/relationships/image" Target="/ppt/media/image50.png" Id="Rc05057d445874a89" /><Relationship Type="http://schemas.openxmlformats.org/officeDocument/2006/relationships/hyperlink" Target="../Labs/PathPlanning/index.html#local" TargetMode="External" Id="R10b654aa3e76401b" /><Relationship Type="http://schemas.openxmlformats.org/officeDocument/2006/relationships/notesSlide" Target="/ppt/notesSlides/notesSlide35.xml" Id="R1fddc45fb4f9470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9743c36cac3c4eba" /><Relationship Type="http://schemas.openxmlformats.org/officeDocument/2006/relationships/image" Target="/ppt/media/image51.png" Id="Re962e49029d44613" /><Relationship Type="http://schemas.openxmlformats.org/officeDocument/2006/relationships/notesSlide" Target="/ppt/notesSlides/notesSlide36.xml" Id="R0d8217b9397b485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90c6c3432f684b78" /><Relationship Type="http://schemas.openxmlformats.org/officeDocument/2006/relationships/image" Target="/ppt/media/image52.png" Id="R59c5043f8b15450a" /><Relationship Type="http://schemas.openxmlformats.org/officeDocument/2006/relationships/notesSlide" Target="/ppt/notesSlides/notesSlide37.xml" Id="R3674cefae8d64dc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0ab95f94b614784" /><Relationship Type="http://schemas.openxmlformats.org/officeDocument/2006/relationships/image" Target="/ppt/media/image53.png" Id="R4e0684211d2c477a" /><Relationship Type="http://schemas.openxmlformats.org/officeDocument/2006/relationships/notesSlide" Target="/ppt/notesSlides/notesSlide38.xml" Id="R6e9d1d07a422421f"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2937b0dc6e54313" /><Relationship Type="http://schemas.openxmlformats.org/officeDocument/2006/relationships/image" Target="/ppt/media/image54.png" Id="R65ebc7ff33bb414f" /><Relationship Type="http://schemas.openxmlformats.org/officeDocument/2006/relationships/notesSlide" Target="/ppt/notesSlides/notesSlide39.xml" Id="R15ddb6333e434b56"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0399b554b2c40e9" /><Relationship Type="http://schemas.openxmlformats.org/officeDocument/2006/relationships/image" Target="/ppt/media/image55.png" Id="Rf1a46d0532954116" /><Relationship Type="http://schemas.openxmlformats.org/officeDocument/2006/relationships/notesSlide" Target="/ppt/notesSlides/notesSlide40.xml" Id="R9c977086e99648a3"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b13d642caca543ce" /><Relationship Type="http://schemas.openxmlformats.org/officeDocument/2006/relationships/image" Target="/ppt/media/image56.png" Id="Rbc8b9baaf24b4651" /><Relationship Type="http://schemas.openxmlformats.org/officeDocument/2006/relationships/image" Target="/ppt/media/image57.png" Id="R2d18196cfcf14007" /><Relationship Type="http://schemas.openxmlformats.org/officeDocument/2006/relationships/hyperlink" Target="../Labs/PathPlanning/index.html#imagination" TargetMode="External" Id="R444e978e1ec24941" /><Relationship Type="http://schemas.openxmlformats.org/officeDocument/2006/relationships/notesSlide" Target="/ppt/notesSlides/notesSlide41.xml" Id="R11cfcae0e1c84224"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cd343fd0d7564237" /><Relationship Type="http://schemas.openxmlformats.org/officeDocument/2006/relationships/image" Target="/ppt/media/image58.png" Id="R29777719b377481f" /><Relationship Type="http://schemas.openxmlformats.org/officeDocument/2006/relationships/notesSlide" Target="/ppt/notesSlides/notesSlide42.xml" Id="Rfd3ea11cceb2411e"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1ab2c2dc636c46f6" /><Relationship Type="http://schemas.openxmlformats.org/officeDocument/2006/relationships/image" Target="/ppt/media/image59.png" Id="R24c060372eb14a1c" /><Relationship Type="http://schemas.openxmlformats.org/officeDocument/2006/relationships/hyperlink" Target="../Labs/PathPlanning/index.html#search" TargetMode="External" Id="R18232228e50f4c66" /><Relationship Type="http://schemas.openxmlformats.org/officeDocument/2006/relationships/notesSlide" Target="/ppt/notesSlides/notesSlide43.xml" Id="R7cc09531c7aa4e12"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f61b58beed934b9f" /><Relationship Type="http://schemas.openxmlformats.org/officeDocument/2006/relationships/image" Target="/ppt/media/image60.png" Id="Red0eebd6faa3430f" /><Relationship Type="http://schemas.openxmlformats.org/officeDocument/2006/relationships/notesSlide" Target="/ppt/notesSlides/notesSlide44.xml" Id="R1019791b8bc348ce"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d3d4ca070483461e" /><Relationship Type="http://schemas.openxmlformats.org/officeDocument/2006/relationships/image" Target="/ppt/media/image61.png" Id="R72927523c89044bd" /><Relationship Type="http://schemas.openxmlformats.org/officeDocument/2006/relationships/hyperlink" Target="../Labs/PathPlanning/index.html#search" TargetMode="External" Id="R023b75f148e540ef" /><Relationship Type="http://schemas.openxmlformats.org/officeDocument/2006/relationships/notesSlide" Target="/ppt/notesSlides/notesSlide45.xml" Id="R6eb0cb361f664e6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b4f81a1361534454"/>
          <a:stretch xmlns:a="http://schemas.openxmlformats.org/drawingml/2006/main"/>
        </p:blipFill>
        <p:spPr>
          <a:xfrm xmlns:a="http://schemas.openxmlformats.org/drawingml/2006/main">
            <a:off x="0" y="0"/>
            <a:ext cx="9144000" cy="5143500"/>
          </a:xfrm>
          <a:prstGeom xmlns:a="http://schemas.openxmlformats.org/drawingml/2006/main" prst="rect">
            <a:avLst/>
          </a:prstGeom>
        </p:spPr>
      </p:pic>
      <p:sp>
        <p:nvSpPr>
          <p:cNvPr id="2" name="LECTURE 7">
            <a:extLst xmlns:a="http://schemas.openxmlformats.org/drawingml/2006/main">
              <a:ext uri="{FF2B5EF4-FFF2-40B4-BE49-F238E27FC236}">
                <a16:creationId xmlns:a16="http://schemas.microsoft.com/office/drawing/2014/main" id="{94935E45-B870-4DB2-BA66-662EF683D6F7}"/>
              </a:ext>
            </a:extLst>
          </p:cNvPr>
          <p:cNvSpPr>
            <a:spLocks xmlns:a="http://schemas.openxmlformats.org/drawingml/2006/main" noGrp="1"/>
          </p:cNvSpPr>
          <p:nvPr/>
        </p:nvSpPr>
        <p:spPr>
          <a:xfrm xmlns:a="http://schemas.openxmlformats.org/drawingml/2006/main">
            <a:off x="619125" y="904875"/>
            <a:ext cx="762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LECTURE 7</a:t>
            </a:r>
          </a:p>
        </p:txBody>
      </p:sp>
      <p:sp>
        <p:nvSpPr>
          <p:cNvPr id="3" name="Path planning">
            <a:extLst xmlns:a="http://schemas.openxmlformats.org/drawingml/2006/main">
              <a:ext uri="{FF2B5EF4-FFF2-40B4-BE49-F238E27FC236}">
                <a16:creationId xmlns:a16="http://schemas.microsoft.com/office/drawing/2014/main" id="{850CA6BF-154E-4397-AC95-2A0D5165D4D5}"/>
              </a:ext>
            </a:extLst>
          </p:cNvPr>
          <p:cNvSpPr>
            <a:spLocks xmlns:a="http://schemas.openxmlformats.org/drawingml/2006/main" noGrp="1"/>
          </p:cNvSpPr>
          <p:nvPr/>
        </p:nvSpPr>
        <p:spPr>
          <a:xfrm xmlns:a="http://schemas.openxmlformats.org/drawingml/2006/main">
            <a:off x="619125" y="1524000"/>
            <a:ext cx="771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3900" b="1">
                <a:solidFill>
                  <a:srgbClr val="FFFFFF"/>
                </a:solidFill>
                <a:latin typeface="Arial"/>
                <a:ea typeface="Arial"/>
                <a:cs typeface="Arial"/>
              </a:defRPr>
            </a:pPr>
            <a:r>
              <a:rPr sz="3900" b="1">
                <a:solidFill>
                  <a:srgbClr val="FFFFFF"/>
                </a:solidFill>
                <a:latin typeface="Arial"/>
                <a:ea typeface="Arial"/>
                <a:cs typeface="Arial"/>
              </a:rPr>
              <a:t>Path planning</a:t>
            </a:r>
          </a:p>
        </p:txBody>
      </p:sp>
      <p:sp>
        <p:nvSpPr>
          <p:cNvPr id="4" name="for autonomous driving">
            <a:extLst xmlns:a="http://schemas.openxmlformats.org/drawingml/2006/main">
              <a:ext uri="{FF2B5EF4-FFF2-40B4-BE49-F238E27FC236}">
                <a16:creationId xmlns:a16="http://schemas.microsoft.com/office/drawing/2014/main" id="{1D296440-6F5C-41A0-8DD1-6B45668A8DEE}"/>
              </a:ext>
            </a:extLst>
          </p:cNvPr>
          <p:cNvSpPr>
            <a:spLocks xmlns:a="http://schemas.openxmlformats.org/drawingml/2006/main" noGrp="1"/>
          </p:cNvSpPr>
          <p:nvPr/>
        </p:nvSpPr>
        <p:spPr>
          <a:xfrm xmlns:a="http://schemas.openxmlformats.org/drawingml/2006/main">
            <a:off x="619125" y="2333625"/>
            <a:ext cx="771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775" b="0">
                <a:solidFill>
                  <a:srgbClr val="FFFFFF"/>
                </a:solidFill>
                <a:latin typeface="Arial"/>
                <a:ea typeface="Arial"/>
                <a:cs typeface="Arial"/>
              </a:defRPr>
            </a:pPr>
            <a:r>
              <a:rPr sz="2775" b="0">
                <a:solidFill>
                  <a:srgbClr val="FFFFFF"/>
                </a:solidFill>
                <a:latin typeface="Arial"/>
                <a:ea typeface="Arial"/>
                <a:cs typeface="Arial"/>
              </a:rPr>
              <a:t>for autonomous driving</a:t>
            </a:r>
          </a:p>
        </p:txBody>
      </p:sp>
      <p:sp>
        <p:nvSpPr>
          <p:cNvPr id="5" name="Search, robot geometry, and navigation">
            <a:extLst xmlns:a="http://schemas.openxmlformats.org/drawingml/2006/main">
              <a:ext uri="{FF2B5EF4-FFF2-40B4-BE49-F238E27FC236}">
                <a16:creationId xmlns:a16="http://schemas.microsoft.com/office/drawing/2014/main" id="{53324B4E-1FE1-412C-A54B-5147ABA71433}"/>
              </a:ext>
            </a:extLst>
          </p:cNvPr>
          <p:cNvSpPr>
            <a:spLocks xmlns:a="http://schemas.openxmlformats.org/drawingml/2006/main" noGrp="1"/>
          </p:cNvSpPr>
          <p:nvPr/>
        </p:nvSpPr>
        <p:spPr>
          <a:xfrm xmlns:a="http://schemas.openxmlformats.org/drawingml/2006/main">
            <a:off x="619125" y="3143250"/>
            <a:ext cx="7715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FFFFFF"/>
                </a:solidFill>
                <a:latin typeface="Arial"/>
                <a:ea typeface="Arial"/>
                <a:cs typeface="Arial"/>
              </a:defRPr>
            </a:pPr>
            <a:r>
              <a:rPr sz="1950" b="0">
                <a:solidFill>
                  <a:srgbClr val="FFFFFF"/>
                </a:solidFill>
                <a:latin typeface="Arial"/>
                <a:ea typeface="Arial"/>
                <a:cs typeface="Arial"/>
              </a:rPr>
              <a:t>Search, robot geometry, and navigation</a:t>
            </a:r>
          </a:p>
        </p:txBody>
      </p:sp>
      <p:sp>
        <p:nvSpPr>
          <p:cNvPr id="6" name="Introduction to Autonomous Driving · Fall 2026">
            <a:extLst xmlns:a="http://schemas.openxmlformats.org/drawingml/2006/main">
              <a:ext uri="{FF2B5EF4-FFF2-40B4-BE49-F238E27FC236}">
                <a16:creationId xmlns:a16="http://schemas.microsoft.com/office/drawing/2014/main" id="{97766CA3-5741-4D97-8CB1-505594FDCB2C}"/>
              </a:ext>
            </a:extLst>
          </p:cNvPr>
          <p:cNvSpPr>
            <a:spLocks xmlns:a="http://schemas.openxmlformats.org/drawingml/2006/main" noGrp="1"/>
          </p:cNvSpPr>
          <p:nvPr/>
        </p:nvSpPr>
        <p:spPr>
          <a:xfrm xmlns:a="http://schemas.openxmlformats.org/drawingml/2006/main">
            <a:off x="619125" y="4000500"/>
            <a:ext cx="7715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Introduction to Autonomous Driving · Fall 2026</a:t>
            </a:r>
          </a:p>
        </p:txBody>
      </p:sp>
      <p:sp>
        <p:nvSpPr>
          <p:cNvPr id="7" name="1">
            <a:extLst xmlns:a="http://schemas.openxmlformats.org/drawingml/2006/main">
              <a:ext uri="{FF2B5EF4-FFF2-40B4-BE49-F238E27FC236}">
                <a16:creationId xmlns:a16="http://schemas.microsoft.com/office/drawing/2014/main" id="{98DD5B14-D5D7-4F62-A89B-B89E8D4AEA0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FFFFFF"/>
                </a:solidFill>
                <a:latin typeface="Arial"/>
                <a:ea typeface="Arial"/>
                <a:cs typeface="Arial"/>
              </a:defRPr>
            </a:pPr>
            <a:r>
              <a:rPr sz="1200" b="0">
                <a:solidFill>
                  <a:srgbClr val="FFFFFF"/>
                </a:solidFill>
                <a:latin typeface="Arial"/>
                <a:ea typeface="Arial"/>
                <a:cs typeface="Arial"/>
              </a:rPr>
              <a:t>1</a:t>
            </a:r>
          </a:p>
        </p:txBody>
      </p:sp>
    </p:spTree>
    <p:extLst>
      <p:ext uri="{BB962C8B-B14F-4D97-AF65-F5344CB8AC3E}">
        <p14:creationId xmlns:p14="http://schemas.microsoft.com/office/powerpoint/2010/main" val="132606116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dcb58eb5f6e340b0"/>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Learning goals">
            <a:extLst xmlns:a="http://schemas.openxmlformats.org/drawingml/2006/main">
              <a:ext uri="{FF2B5EF4-FFF2-40B4-BE49-F238E27FC236}">
                <a16:creationId xmlns:a16="http://schemas.microsoft.com/office/drawing/2014/main" id="{4840847C-86DC-46E2-A7AC-04874695E7E7}"/>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Learning goals</a:t>
            </a:r>
          </a:p>
        </p:txBody>
      </p:sp>
      <p:sp>
        <p:nvSpPr>
          <p:cNvPr id="3" name="2">
            <a:extLst xmlns:a="http://schemas.openxmlformats.org/drawingml/2006/main">
              <a:ext uri="{FF2B5EF4-FFF2-40B4-BE49-F238E27FC236}">
                <a16:creationId xmlns:a16="http://schemas.microsoft.com/office/drawing/2014/main" id="{648FB201-4B48-4043-B504-29652AF9AF2F}"/>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a:t>
            </a:r>
          </a:p>
        </p:txBody>
      </p:sp>
      <p:sp>
        <p:nvSpPr>
          <p:cNvPr id="4" name="Explain how A* and D* use a graph and its costs.">
            <a:extLst xmlns:a="http://schemas.openxmlformats.org/drawingml/2006/main">
              <a:ext uri="{FF2B5EF4-FFF2-40B4-BE49-F238E27FC236}">
                <a16:creationId xmlns:a16="http://schemas.microsoft.com/office/drawing/2014/main" id="{F114BBBF-278D-4DB3-852D-4F6D7F25B00F}"/>
              </a:ext>
            </a:extLst>
          </p:cNvPr>
          <p:cNvSpPr>
            <a:spLocks xmlns:a="http://schemas.openxmlformats.org/drawingml/2006/main" noGrp="1"/>
          </p:cNvSpPr>
          <p:nvPr/>
        </p:nvSpPr>
        <p:spPr>
          <a:xfrm xmlns:a="http://schemas.openxmlformats.org/drawingml/2006/main">
            <a:off x="619125" y="1438275"/>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Explain how A* and D* use a graph and its costs.</a:t>
            </a:r>
          </a:p>
        </p:txBody>
      </p:sp>
      <p:sp>
        <p:nvSpPr>
          <p:cNvPr id="5" name="Predict when an algorithm succeeds, slows down, or returns an un">
            <a:extLst xmlns:a="http://schemas.openxmlformats.org/drawingml/2006/main">
              <a:ext uri="{FF2B5EF4-FFF2-40B4-BE49-F238E27FC236}">
                <a16:creationId xmlns:a16="http://schemas.microsoft.com/office/drawing/2014/main" id="{E9E4C1B7-978F-4F60-BFF6-7E5A08FA1EA7}"/>
              </a:ext>
            </a:extLst>
          </p:cNvPr>
          <p:cNvSpPr>
            <a:spLocks xmlns:a="http://schemas.openxmlformats.org/drawingml/2006/main" noGrp="1"/>
          </p:cNvSpPr>
          <p:nvPr/>
        </p:nvSpPr>
        <p:spPr>
          <a:xfrm xmlns:a="http://schemas.openxmlformats.org/drawingml/2006/main">
            <a:off x="619125" y="2381250"/>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Predict when an algorithm succeeds, slows down, or returns an unusable path.</a:t>
            </a:r>
          </a:p>
        </p:txBody>
      </p:sp>
      <p:sp>
        <p:nvSpPr>
          <p:cNvPr id="6" name="Connect obstacle clearance and vehicle motion to global and loca">
            <a:extLst xmlns:a="http://schemas.openxmlformats.org/drawingml/2006/main">
              <a:ext uri="{FF2B5EF4-FFF2-40B4-BE49-F238E27FC236}">
                <a16:creationId xmlns:a16="http://schemas.microsoft.com/office/drawing/2014/main" id="{E6C9215E-48F7-4B74-8A78-ABF24B707DD9}"/>
              </a:ext>
            </a:extLst>
          </p:cNvPr>
          <p:cNvSpPr>
            <a:spLocks xmlns:a="http://schemas.openxmlformats.org/drawingml/2006/main" noGrp="1"/>
          </p:cNvSpPr>
          <p:nvPr/>
        </p:nvSpPr>
        <p:spPr>
          <a:xfrm xmlns:a="http://schemas.openxmlformats.org/drawingml/2006/main">
            <a:off x="619125" y="3324225"/>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Connect obstacle clearance and vehicle motion to global and local planning.</a:t>
            </a:r>
          </a:p>
        </p:txBody>
      </p:sp>
    </p:spTree>
    <p:extLst>
      <p:ext uri="{BB962C8B-B14F-4D97-AF65-F5344CB8AC3E}">
        <p14:creationId xmlns:p14="http://schemas.microsoft.com/office/powerpoint/2010/main" val="34611526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3daba7c3469400f"/>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Planning in the autonomy stack">
            <a:extLst xmlns:a="http://schemas.openxmlformats.org/drawingml/2006/main">
              <a:ext uri="{FF2B5EF4-FFF2-40B4-BE49-F238E27FC236}">
                <a16:creationId xmlns:a16="http://schemas.microsoft.com/office/drawing/2014/main" id="{81A11829-42C1-4A2D-8302-A96A8A2D391D}"/>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Planning in the autonomy stack</a:t>
            </a:r>
          </a:p>
        </p:txBody>
      </p:sp>
      <p:sp>
        <p:nvSpPr>
          <p:cNvPr id="3" name="3">
            <a:extLst xmlns:a="http://schemas.openxmlformats.org/drawingml/2006/main">
              <a:ext uri="{FF2B5EF4-FFF2-40B4-BE49-F238E27FC236}">
                <a16:creationId xmlns:a16="http://schemas.microsoft.com/office/drawing/2014/main" id="{D141F577-FC82-4B44-B7E2-A9C2538574B9}"/>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a:t>
            </a:r>
          </a:p>
        </p:txBody>
      </p:sp>
      <p:sp>
        <p:nvSpPr>
          <p:cNvPr id="4" name="Perception estimates nearby objects and free space.">
            <a:extLst xmlns:a="http://schemas.openxmlformats.org/drawingml/2006/main">
              <a:ext uri="{FF2B5EF4-FFF2-40B4-BE49-F238E27FC236}">
                <a16:creationId xmlns:a16="http://schemas.microsoft.com/office/drawing/2014/main" id="{874B433E-1E26-4339-9F7F-871DBC29BE8E}"/>
              </a:ext>
            </a:extLst>
          </p:cNvPr>
          <p:cNvSpPr>
            <a:spLocks xmlns:a="http://schemas.openxmlformats.org/drawingml/2006/main" noGrp="1"/>
          </p:cNvSpPr>
          <p:nvPr/>
        </p:nvSpPr>
        <p:spPr>
          <a:xfrm xmlns:a="http://schemas.openxmlformats.org/drawingml/2006/main">
            <a:off x="619125" y="1438275"/>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Perception estimates nearby objects and free space.</a:t>
            </a:r>
          </a:p>
        </p:txBody>
      </p:sp>
      <p:sp>
        <p:nvSpPr>
          <p:cNvPr id="5" name="Localization and mapping place the robot in an environment.">
            <a:extLst xmlns:a="http://schemas.openxmlformats.org/drawingml/2006/main">
              <a:ext uri="{FF2B5EF4-FFF2-40B4-BE49-F238E27FC236}">
                <a16:creationId xmlns:a16="http://schemas.microsoft.com/office/drawing/2014/main" id="{959CA15D-FD97-4F4D-947E-B807791BD423}"/>
              </a:ext>
            </a:extLst>
          </p:cNvPr>
          <p:cNvSpPr>
            <a:spLocks xmlns:a="http://schemas.openxmlformats.org/drawingml/2006/main" noGrp="1"/>
          </p:cNvSpPr>
          <p:nvPr/>
        </p:nvSpPr>
        <p:spPr>
          <a:xfrm xmlns:a="http://schemas.openxmlformats.org/drawingml/2006/main">
            <a:off x="619125" y="2381250"/>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Localization and mapping place the robot in an environment.</a:t>
            </a:r>
          </a:p>
        </p:txBody>
      </p:sp>
      <p:sp>
        <p:nvSpPr>
          <p:cNvPr id="6" name="Planning chooses a route and motion. Control tracks that motion.">
            <a:extLst xmlns:a="http://schemas.openxmlformats.org/drawingml/2006/main">
              <a:ext uri="{FF2B5EF4-FFF2-40B4-BE49-F238E27FC236}">
                <a16:creationId xmlns:a16="http://schemas.microsoft.com/office/drawing/2014/main" id="{CA770066-A269-4E2D-96E6-674E420A133C}"/>
              </a:ext>
            </a:extLst>
          </p:cNvPr>
          <p:cNvSpPr>
            <a:spLocks xmlns:a="http://schemas.openxmlformats.org/drawingml/2006/main" noGrp="1"/>
          </p:cNvSpPr>
          <p:nvPr/>
        </p:nvSpPr>
        <p:spPr>
          <a:xfrm xmlns:a="http://schemas.openxmlformats.org/drawingml/2006/main">
            <a:off x="619125" y="3324225"/>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Planning chooses a route and motion. Control tracks that motion.</a:t>
            </a:r>
          </a:p>
        </p:txBody>
      </p:sp>
    </p:spTree>
    <p:extLst>
      <p:ext uri="{BB962C8B-B14F-4D97-AF65-F5344CB8AC3E}">
        <p14:creationId xmlns:p14="http://schemas.microsoft.com/office/powerpoint/2010/main" val="161957694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20b697ea2f7a487a"/>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Path, trajectory, and control">
            <a:extLst xmlns:a="http://schemas.openxmlformats.org/drawingml/2006/main">
              <a:ext uri="{FF2B5EF4-FFF2-40B4-BE49-F238E27FC236}">
                <a16:creationId xmlns:a16="http://schemas.microsoft.com/office/drawing/2014/main" id="{158C5EE1-F3D2-459D-9384-A698905BA829}"/>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Path, trajectory, and control</a:t>
            </a:r>
          </a:p>
        </p:txBody>
      </p:sp>
      <p:sp>
        <p:nvSpPr>
          <p:cNvPr id="3" name="4">
            <a:extLst xmlns:a="http://schemas.openxmlformats.org/drawingml/2006/main">
              <a:ext uri="{FF2B5EF4-FFF2-40B4-BE49-F238E27FC236}">
                <a16:creationId xmlns:a16="http://schemas.microsoft.com/office/drawing/2014/main" id="{5BEC777D-9592-4526-8DA5-794686C4960A}"/>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4</a:t>
            </a:r>
          </a:p>
        </p:txBody>
      </p:sp>
      <p:graphicFrame>
        <p:nvGraphicFramePr>
          <p:cNvPr id="8" name=""/>
          <p:cNvGraphicFramePr/>
          <p:nvPr/>
        </p:nvGraphicFramePr>
        <p:xfrm>
          <a:off xmlns:a="http://schemas.openxmlformats.org/drawingml/2006/main" x="523875" y="1438275"/>
          <a:ext xmlns:a="http://schemas.openxmlformats.org/drawingml/2006/main" cx="8096250" cy="2857500"/>
        </p:xfrm>
        <a:graphic xmlns:a="http://schemas.openxmlformats.org/drawingml/2006/main">
          <a:graphicData uri="http://schemas.openxmlformats.org/drawingml/2006/table">
            <a:tbl>
              <a:tblPr/>
              <a:tblGrid>
                <a:gridCol w="1952625"/>
                <a:gridCol w="3000375"/>
                <a:gridCol w="3143250"/>
              </a:tblGrid>
              <a:tr h="714375">
                <a:tc>
                  <a:txBody>
                    <a:bodyPr lIns="114300" tIns="76200" rIns="114300" bIns="76200">
                      <a:noAutofit/>
                    </a:bodyPr>
                    <a:lstStyle/>
                    <a:p>
                      <a:r>
                        <a:rPr sz="1425" b="1">
                          <a:solidFill>
                            <a:srgbClr val="FFFFFF"/>
                          </a:solidFill>
                          <a:latin typeface="Arial"/>
                          <a:ea typeface="Arial"/>
                          <a:cs typeface="Arial"/>
                        </a:rPr>
                        <a:t>Object</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Describes</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Example</a:t>
                      </a:r>
                    </a:p>
                  </a:txBody>
                  <a:tcPr marL="91440" marR="91440" marT="45720" marB="45720" anchor="ctr">
                    <a:solidFill>
                      <a:srgbClr val="00539F"/>
                    </a:solidFill>
                  </a:tcPr>
                </a:tc>
              </a:tr>
              <a:tr h="714375">
                <a:tc>
                  <a:txBody>
                    <a:bodyPr lIns="114300" tIns="76200" rIns="114300" bIns="76200">
                      <a:noAutofit/>
                    </a:bodyPr>
                    <a:lstStyle/>
                    <a:p>
                      <a:r>
                        <a:rPr sz="1425" b="0">
                          <a:solidFill>
                            <a:srgbClr val="17324D"/>
                          </a:solidFill>
                          <a:latin typeface="Arial"/>
                          <a:ea typeface="Arial"/>
                          <a:cs typeface="Arial"/>
                        </a:rPr>
                        <a:t>Path</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Where the robot can move</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Positions and headings</a:t>
                      </a:r>
                    </a:p>
                  </a:txBody>
                  <a:tcPr marL="91440" marR="91440" marT="45720" marB="45720" anchor="ctr">
                    <a:solidFill>
                      <a:srgbClr val="FFFFFF"/>
                    </a:solidFill>
                  </a:tcPr>
                </a:tc>
              </a:tr>
              <a:tr h="714375">
                <a:tc>
                  <a:txBody>
                    <a:bodyPr lIns="114300" tIns="76200" rIns="114300" bIns="76200">
                      <a:noAutofit/>
                    </a:bodyPr>
                    <a:lstStyle/>
                    <a:p>
                      <a:r>
                        <a:rPr sz="1425" b="0">
                          <a:solidFill>
                            <a:srgbClr val="17324D"/>
                          </a:solidFill>
                          <a:latin typeface="Arial"/>
                          <a:ea typeface="Arial"/>
                          <a:cs typeface="Arial"/>
                        </a:rPr>
                        <a:t>Trajectory</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Where and when it moves</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Pose and speed over time</a:t>
                      </a:r>
                    </a:p>
                  </a:txBody>
                  <a:tcPr marL="91440" marR="91440" marT="45720" marB="45720" anchor="ctr">
                    <a:solidFill>
                      <a:srgbClr val="F1F6FA"/>
                    </a:solidFill>
                  </a:tcPr>
                </a:tc>
              </a:tr>
              <a:tr h="714375">
                <a:tc>
                  <a:txBody>
                    <a:bodyPr lIns="114300" tIns="76200" rIns="114300" bIns="76200">
                      <a:noAutofit/>
                    </a:bodyPr>
                    <a:lstStyle/>
                    <a:p>
                      <a:r>
                        <a:rPr sz="1425" b="0">
                          <a:solidFill>
                            <a:srgbClr val="17324D"/>
                          </a:solidFill>
                          <a:latin typeface="Arial"/>
                          <a:ea typeface="Arial"/>
                          <a:cs typeface="Arial"/>
                        </a:rPr>
                        <a:t>Control</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Inputs applied now</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Steering, throttle, braking</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161259242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1251534adb694615"/>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Global and local planning">
            <a:extLst xmlns:a="http://schemas.openxmlformats.org/drawingml/2006/main">
              <a:ext uri="{FF2B5EF4-FFF2-40B4-BE49-F238E27FC236}">
                <a16:creationId xmlns:a16="http://schemas.microsoft.com/office/drawing/2014/main" id="{ED487FA0-3077-4232-9EA2-DABCB21DE1EA}"/>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Global and local planning</a:t>
            </a:r>
          </a:p>
        </p:txBody>
      </p:sp>
      <p:sp>
        <p:nvSpPr>
          <p:cNvPr id="3" name="5">
            <a:extLst xmlns:a="http://schemas.openxmlformats.org/drawingml/2006/main">
              <a:ext uri="{FF2B5EF4-FFF2-40B4-BE49-F238E27FC236}">
                <a16:creationId xmlns:a16="http://schemas.microsoft.com/office/drawing/2014/main" id="{3AD8135F-6456-480C-A280-3082D7552123}"/>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5</a:t>
            </a:r>
          </a:p>
        </p:txBody>
      </p:sp>
      <p:graphicFrame>
        <p:nvGraphicFramePr>
          <p:cNvPr id="8" name=""/>
          <p:cNvGraphicFramePr/>
          <p:nvPr/>
        </p:nvGraphicFramePr>
        <p:xfrm>
          <a:off xmlns:a="http://schemas.openxmlformats.org/drawingml/2006/main" x="523875" y="1438275"/>
          <a:ext xmlns:a="http://schemas.openxmlformats.org/drawingml/2006/main" cx="8096250" cy="3095625"/>
        </p:xfrm>
        <a:graphic xmlns:a="http://schemas.openxmlformats.org/drawingml/2006/main">
          <a:graphicData uri="http://schemas.openxmlformats.org/drawingml/2006/table">
            <a:tbl>
              <a:tblPr/>
              <a:tblGrid>
                <a:gridCol w="1714500"/>
                <a:gridCol w="3190875"/>
                <a:gridCol w="3190875"/>
              </a:tblGrid>
              <a:tr h="515938">
                <a:tc>
                  <a:txBody>
                    <a:bodyPr lIns="114300" tIns="76200" rIns="114300" bIns="76200">
                      <a:noAutofit/>
                    </a:bodyPr>
                    <a:lstStyle/>
                    <a:p>
                      <a:r>
                        <a:rPr sz="1425" b="1">
                          <a:solidFill>
                            <a:srgbClr val="FFFFFF"/>
                          </a:solidFill>
                          <a:latin typeface="Arial"/>
                          <a:ea typeface="Arial"/>
                          <a:cs typeface="Arial"/>
                        </a:rPr>
                        <a:t>Dimension</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Global planning</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Local planning / control</a:t>
                      </a:r>
                    </a:p>
                  </a:txBody>
                  <a:tcPr marL="91440" marR="91440" marT="45720" marB="45720" anchor="ctr">
                    <a:solidFill>
                      <a:srgbClr val="00539F"/>
                    </a:solidFill>
                  </a:tcPr>
                </a:tc>
              </a:tr>
              <a:tr h="515938">
                <a:tc>
                  <a:txBody>
                    <a:bodyPr lIns="114300" tIns="76200" rIns="114300" bIns="76200">
                      <a:noAutofit/>
                    </a:bodyPr>
                    <a:lstStyle/>
                    <a:p>
                      <a:r>
                        <a:rPr sz="1425" b="0">
                          <a:solidFill>
                            <a:srgbClr val="17324D"/>
                          </a:solidFill>
                          <a:latin typeface="Arial"/>
                          <a:ea typeface="Arial"/>
                          <a:cs typeface="Arial"/>
                        </a:rPr>
                        <a:t>Question</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Which route reaches the goal?</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Which motion is feasible now?</a:t>
                      </a:r>
                    </a:p>
                  </a:txBody>
                  <a:tcPr marL="91440" marR="91440" marT="45720" marB="45720" anchor="ctr">
                    <a:solidFill>
                      <a:srgbClr val="FFFFFF"/>
                    </a:solidFill>
                  </a:tcPr>
                </a:tc>
              </a:tr>
              <a:tr h="515938">
                <a:tc>
                  <a:txBody>
                    <a:bodyPr lIns="114300" tIns="76200" rIns="114300" bIns="76200">
                      <a:noAutofit/>
                    </a:bodyPr>
                    <a:lstStyle/>
                    <a:p>
                      <a:r>
                        <a:rPr sz="1425" b="0">
                          <a:solidFill>
                            <a:srgbClr val="17324D"/>
                          </a:solidFill>
                          <a:latin typeface="Arial"/>
                          <a:ea typeface="Arial"/>
                          <a:cs typeface="Arial"/>
                        </a:rPr>
                        <a:t>Inputs</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Map, start, destination</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State, nearby objects, route</a:t>
                      </a:r>
                    </a:p>
                  </a:txBody>
                  <a:tcPr marL="91440" marR="91440" marT="45720" marB="45720" anchor="ctr">
                    <a:solidFill>
                      <a:srgbClr val="F1F6FA"/>
                    </a:solidFill>
                  </a:tcPr>
                </a:tc>
              </a:tr>
              <a:tr h="515938">
                <a:tc>
                  <a:txBody>
                    <a:bodyPr lIns="114300" tIns="76200" rIns="114300" bIns="76200">
                      <a:noAutofit/>
                    </a:bodyPr>
                    <a:lstStyle/>
                    <a:p>
                      <a:r>
                        <a:rPr sz="1425" b="0">
                          <a:solidFill>
                            <a:srgbClr val="17324D"/>
                          </a:solidFill>
                          <a:latin typeface="Arial"/>
                          <a:ea typeface="Arial"/>
                          <a:cs typeface="Arial"/>
                        </a:rPr>
                        <a:t>Output</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Route or reference path</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Short trajectory / command</a:t>
                      </a:r>
                    </a:p>
                  </a:txBody>
                  <a:tcPr marL="91440" marR="91440" marT="45720" marB="45720" anchor="ctr">
                    <a:solidFill>
                      <a:srgbClr val="FFFFFF"/>
                    </a:solidFill>
                  </a:tcPr>
                </a:tc>
              </a:tr>
              <a:tr h="515938">
                <a:tc>
                  <a:txBody>
                    <a:bodyPr lIns="114300" tIns="76200" rIns="114300" bIns="76200">
                      <a:noAutofit/>
                    </a:bodyPr>
                    <a:lstStyle/>
                    <a:p>
                      <a:r>
                        <a:rPr sz="1425" b="0">
                          <a:solidFill>
                            <a:srgbClr val="17324D"/>
                          </a:solidFill>
                          <a:latin typeface="Arial"/>
                          <a:ea typeface="Arial"/>
                          <a:cs typeface="Arial"/>
                        </a:rPr>
                        <a:t>Horizon</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Whole task or map region</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Limited distance or time</a:t>
                      </a:r>
                    </a:p>
                  </a:txBody>
                  <a:tcPr marL="91440" marR="91440" marT="45720" marB="45720" anchor="ctr">
                    <a:solidFill>
                      <a:srgbClr val="F1F6FA"/>
                    </a:solidFill>
                  </a:tcPr>
                </a:tc>
              </a:tr>
              <a:tr h="515938">
                <a:tc>
                  <a:txBody>
                    <a:bodyPr lIns="114300" tIns="76200" rIns="114300" bIns="76200">
                      <a:noAutofit/>
                    </a:bodyPr>
                    <a:lstStyle/>
                    <a:p>
                      <a:r>
                        <a:rPr sz="1425" b="0">
                          <a:solidFill>
                            <a:srgbClr val="17324D"/>
                          </a:solidFill>
                          <a:latin typeface="Arial"/>
                          <a:ea typeface="Arial"/>
                          <a:cs typeface="Arial"/>
                        </a:rPr>
                        <a:t>Update trigger</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Goal or route/map changes</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New state and observations</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84395120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3fc5dd8599a47da"/>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 map becomes a search graph">
            <a:extLst xmlns:a="http://schemas.openxmlformats.org/drawingml/2006/main">
              <a:ext uri="{FF2B5EF4-FFF2-40B4-BE49-F238E27FC236}">
                <a16:creationId xmlns:a16="http://schemas.microsoft.com/office/drawing/2014/main" id="{1F9E29BC-C6CB-4B50-8E87-0E09BD12236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 map becomes a search graph</a:t>
            </a:r>
          </a:p>
        </p:txBody>
      </p:sp>
      <p:sp>
        <p:nvSpPr>
          <p:cNvPr id="3" name="6">
            <a:extLst xmlns:a="http://schemas.openxmlformats.org/drawingml/2006/main">
              <a:ext uri="{FF2B5EF4-FFF2-40B4-BE49-F238E27FC236}">
                <a16:creationId xmlns:a16="http://schemas.microsoft.com/office/drawing/2014/main" id="{1D01C3F0-EE1A-4810-B51A-1F58AB6245A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6</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0821f937ab0445d"/>
          <a:stretch xmlns:a="http://schemas.openxmlformats.org/drawingml/2006/main"/>
        </p:blipFill>
        <p:spPr>
          <a:xfrm xmlns:a="http://schemas.openxmlformats.org/drawingml/2006/main">
            <a:off x="729044" y="1400175"/>
            <a:ext cx="4818888" cy="2952750"/>
          </a:xfrm>
          <a:prstGeom xmlns:a="http://schemas.openxmlformats.org/drawingml/2006/main" prst="rect">
            <a:avLst/>
          </a:prstGeom>
        </p:spPr>
      </p:pic>
      <p:sp>
        <p:nvSpPr>
          <p:cNvPr id="5" name="Nodes represent candidate robot states.&#10;&#10;Edges represent allowed">
            <a:extLst xmlns:a="http://schemas.openxmlformats.org/drawingml/2006/main">
              <a:ext uri="{FF2B5EF4-FFF2-40B4-BE49-F238E27FC236}">
                <a16:creationId xmlns:a16="http://schemas.microsoft.com/office/drawing/2014/main" id="{D63D87C3-A2A2-45CB-BAB0-1E748F394A7F}"/>
              </a:ext>
            </a:extLst>
          </p:cNvPr>
          <p:cNvSpPr>
            <a:spLocks xmlns:a="http://schemas.openxmlformats.org/drawingml/2006/main" noGrp="1"/>
          </p:cNvSpPr>
          <p:nvPr/>
        </p:nvSpPr>
        <p:spPr>
          <a:xfrm xmlns:a="http://schemas.openxmlformats.org/drawingml/2006/main">
            <a:off x="6029325" y="1428750"/>
            <a:ext cx="26193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Nodes represent candidate robot states.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Edges represent allowed transitions.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Costs express distance, terrain, risk, or time.</a:t>
            </a:r>
          </a:p>
        </p:txBody>
      </p:sp>
      <p:sp>
        <p:nvSpPr>
          <p:cNvPr id="6" name="Open interactive experiment">
            <a:extLst xmlns:a="http://schemas.openxmlformats.org/drawingml/2006/main">
              <a:ext uri="{FF2B5EF4-FFF2-40B4-BE49-F238E27FC236}">
                <a16:creationId xmlns:a16="http://schemas.microsoft.com/office/drawing/2014/main" id="{0F06678C-0194-44F9-A43E-36635CDEA76A}"/>
              </a:ext>
            </a:extLst>
          </p:cNvPr>
          <p:cNvSpPr>
            <a:spLocks xmlns:a="http://schemas.openxmlformats.org/drawingml/2006/main" noGrp="1"/>
          </p:cNvSpPr>
          <p:nvPr/>
        </p:nvSpPr>
        <p:spPr>
          <a:xfrm xmlns:a="http://schemas.openxmlformats.org/drawingml/2006/main">
            <a:off x="523875" y="44862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3afb893db8f04872"/>
              </a:rPr>
              <a:t>Open interactive experiment</a:t>
            </a:r>
          </a:p>
        </p:txBody>
      </p:sp>
    </p:spTree>
    <p:extLst>
      <p:ext uri="{BB962C8B-B14F-4D97-AF65-F5344CB8AC3E}">
        <p14:creationId xmlns:p14="http://schemas.microsoft.com/office/powerpoint/2010/main" val="133556767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5420a97e98d64da8"/>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BFS and Dijkstra">
            <a:extLst xmlns:a="http://schemas.openxmlformats.org/drawingml/2006/main">
              <a:ext uri="{FF2B5EF4-FFF2-40B4-BE49-F238E27FC236}">
                <a16:creationId xmlns:a16="http://schemas.microsoft.com/office/drawing/2014/main" id="{F1622164-CBAD-4D35-B2B2-1A094E8AD0F5}"/>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BFS and Dijkstra</a:t>
            </a:r>
          </a:p>
        </p:txBody>
      </p:sp>
      <p:sp>
        <p:nvSpPr>
          <p:cNvPr id="3" name="7">
            <a:extLst xmlns:a="http://schemas.openxmlformats.org/drawingml/2006/main">
              <a:ext uri="{FF2B5EF4-FFF2-40B4-BE49-F238E27FC236}">
                <a16:creationId xmlns:a16="http://schemas.microsoft.com/office/drawing/2014/main" id="{64E61C92-7EE9-4FF7-AAD6-2A680BCA1EC9}"/>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7</a:t>
            </a:r>
          </a:p>
        </p:txBody>
      </p:sp>
      <p:graphicFrame>
        <p:nvGraphicFramePr>
          <p:cNvPr id="8" name=""/>
          <p:cNvGraphicFramePr/>
          <p:nvPr/>
        </p:nvGraphicFramePr>
        <p:xfrm>
          <a:off xmlns:a="http://schemas.openxmlformats.org/drawingml/2006/main" x="523875" y="1438275"/>
          <a:ext xmlns:a="http://schemas.openxmlformats.org/drawingml/2006/main" cx="8096250" cy="2857500"/>
        </p:xfrm>
        <a:graphic xmlns:a="http://schemas.openxmlformats.org/drawingml/2006/main">
          <a:graphicData uri="http://schemas.openxmlformats.org/drawingml/2006/table">
            <a:tbl>
              <a:tblPr/>
              <a:tblGrid>
                <a:gridCol w="1952625"/>
                <a:gridCol w="3000375"/>
                <a:gridCol w="3143250"/>
              </a:tblGrid>
              <a:tr h="714375">
                <a:tc>
                  <a:txBody>
                    <a:bodyPr lIns="114300" tIns="76200" rIns="114300" bIns="76200">
                      <a:noAutofit/>
                    </a:bodyPr>
                    <a:lstStyle/>
                    <a:p>
                      <a:r>
                        <a:rPr sz="1425" b="1">
                          <a:solidFill>
                            <a:srgbClr val="FFFFFF"/>
                          </a:solidFill>
                          <a:latin typeface="Arial"/>
                          <a:ea typeface="Arial"/>
                          <a:cs typeface="Arial"/>
                        </a:rPr>
                        <a:t>Method</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Next state priority</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Useful when</a:t>
                      </a:r>
                    </a:p>
                  </a:txBody>
                  <a:tcPr marL="91440" marR="91440" marT="45720" marB="45720" anchor="ctr">
                    <a:solidFill>
                      <a:srgbClr val="00539F"/>
                    </a:solidFill>
                  </a:tcPr>
                </a:tc>
              </a:tr>
              <a:tr h="714375">
                <a:tc>
                  <a:txBody>
                    <a:bodyPr lIns="114300" tIns="76200" rIns="114300" bIns="76200">
                      <a:noAutofit/>
                    </a:bodyPr>
                    <a:lstStyle/>
                    <a:p>
                      <a:r>
                        <a:rPr sz="1425" b="0">
                          <a:solidFill>
                            <a:srgbClr val="17324D"/>
                          </a:solidFill>
                          <a:latin typeface="Arial"/>
                          <a:ea typeface="Arial"/>
                          <a:cs typeface="Arial"/>
                        </a:rPr>
                        <a:t>Breadth-first search</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Fewest edges from start</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All edges have equal cost</a:t>
                      </a:r>
                    </a:p>
                  </a:txBody>
                  <a:tcPr marL="91440" marR="91440" marT="45720" marB="45720" anchor="ctr">
                    <a:solidFill>
                      <a:srgbClr val="FFFFFF"/>
                    </a:solidFill>
                  </a:tcPr>
                </a:tc>
              </a:tr>
              <a:tr h="714375">
                <a:tc>
                  <a:txBody>
                    <a:bodyPr lIns="114300" tIns="76200" rIns="114300" bIns="76200">
                      <a:noAutofit/>
                    </a:bodyPr>
                    <a:lstStyle/>
                    <a:p>
                      <a:r>
                        <a:rPr sz="1425" b="0">
                          <a:solidFill>
                            <a:srgbClr val="17324D"/>
                          </a:solidFill>
                          <a:latin typeface="Arial"/>
                          <a:ea typeface="Arial"/>
                          <a:cs typeface="Arial"/>
                        </a:rPr>
                        <a:t>Dijkstra</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Lowest accumulated cost g</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Nonnegative unequal costs</a:t>
                      </a:r>
                    </a:p>
                  </a:txBody>
                  <a:tcPr marL="91440" marR="91440" marT="45720" marB="45720" anchor="ctr">
                    <a:solidFill>
                      <a:srgbClr val="F1F6FA"/>
                    </a:solidFill>
                  </a:tcPr>
                </a:tc>
              </a:tr>
              <a:tr h="714375">
                <a:tc>
                  <a:txBody>
                    <a:bodyPr lIns="114300" tIns="76200" rIns="114300" bIns="76200">
                      <a:noAutofit/>
                    </a:bodyPr>
                    <a:lstStyle/>
                    <a:p>
                      <a:r>
                        <a:rPr sz="1425" b="0">
                          <a:solidFill>
                            <a:srgbClr val="17324D"/>
                          </a:solidFill>
                          <a:latin typeface="Arial"/>
                          <a:ea typeface="Arial"/>
                          <a:cs typeface="Arial"/>
                        </a:rPr>
                        <a:t>Shared limitation</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Search can spread widely</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Large graphs consume memory</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86420649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da5407ee7684efa"/>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Distance and terrain cost">
            <a:extLst xmlns:a="http://schemas.openxmlformats.org/drawingml/2006/main">
              <a:ext uri="{FF2B5EF4-FFF2-40B4-BE49-F238E27FC236}">
                <a16:creationId xmlns:a16="http://schemas.microsoft.com/office/drawing/2014/main" id="{5D867D01-39C2-4DFD-8AFF-BE208E640D06}"/>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Distance and terrain cost</a:t>
            </a:r>
          </a:p>
        </p:txBody>
      </p:sp>
      <p:sp>
        <p:nvSpPr>
          <p:cNvPr id="3" name="8">
            <a:extLst xmlns:a="http://schemas.openxmlformats.org/drawingml/2006/main">
              <a:ext uri="{FF2B5EF4-FFF2-40B4-BE49-F238E27FC236}">
                <a16:creationId xmlns:a16="http://schemas.microsoft.com/office/drawing/2014/main" id="{60F2A24D-7131-4CFD-83B9-34E3F221C34F}"/>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8</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a192a97955c64632"/>
          <a:stretch xmlns:a="http://schemas.openxmlformats.org/drawingml/2006/main"/>
        </p:blipFill>
        <p:spPr>
          <a:xfrm xmlns:a="http://schemas.openxmlformats.org/drawingml/2006/main">
            <a:off x="540677" y="1409700"/>
            <a:ext cx="3824021" cy="2343150"/>
          </a:xfrm>
          <a:prstGeom xmlns:a="http://schemas.openxmlformats.org/drawingml/2006/main" prst="rect">
            <a:avLst/>
          </a:prstGeom>
        </p:spPr>
      </p:pic>
      <p:sp>
        <p:nvSpPr>
          <p:cNvPr id="5" name="BFS: shortest in number of edges">
            <a:extLst xmlns:a="http://schemas.openxmlformats.org/drawingml/2006/main">
              <a:ext uri="{FF2B5EF4-FFF2-40B4-BE49-F238E27FC236}">
                <a16:creationId xmlns:a16="http://schemas.microsoft.com/office/drawing/2014/main" id="{5E40B061-4F1E-41BB-B733-BF60889E8FA4}"/>
              </a:ext>
            </a:extLst>
          </p:cNvPr>
          <p:cNvSpPr>
            <a:spLocks xmlns:a="http://schemas.openxmlformats.org/drawingml/2006/main" noGrp="1"/>
          </p:cNvSpPr>
          <p:nvPr/>
        </p:nvSpPr>
        <p:spPr>
          <a:xfrm xmlns:a="http://schemas.openxmlformats.org/drawingml/2006/main">
            <a:off x="523875" y="3790950"/>
            <a:ext cx="3857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BFS: shortest in number of edges</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37fc09f435cc497e"/>
          <a:stretch xmlns:a="http://schemas.openxmlformats.org/drawingml/2006/main"/>
        </p:blipFill>
        <p:spPr>
          <a:xfrm xmlns:a="http://schemas.openxmlformats.org/drawingml/2006/main">
            <a:off x="4779302" y="1409700"/>
            <a:ext cx="3824021" cy="2343150"/>
          </a:xfrm>
          <a:prstGeom xmlns:a="http://schemas.openxmlformats.org/drawingml/2006/main" prst="rect">
            <a:avLst/>
          </a:prstGeom>
        </p:spPr>
      </p:pic>
      <p:sp>
        <p:nvSpPr>
          <p:cNvPr id="7" name="A*: lower total terrain cost">
            <a:extLst xmlns:a="http://schemas.openxmlformats.org/drawingml/2006/main">
              <a:ext uri="{FF2B5EF4-FFF2-40B4-BE49-F238E27FC236}">
                <a16:creationId xmlns:a16="http://schemas.microsoft.com/office/drawing/2014/main" id="{9BC6AF9A-52DF-434E-9E12-FD14C01281D2}"/>
              </a:ext>
            </a:extLst>
          </p:cNvPr>
          <p:cNvSpPr>
            <a:spLocks xmlns:a="http://schemas.openxmlformats.org/drawingml/2006/main" noGrp="1"/>
          </p:cNvSpPr>
          <p:nvPr/>
        </p:nvSpPr>
        <p:spPr>
          <a:xfrm xmlns:a="http://schemas.openxmlformats.org/drawingml/2006/main">
            <a:off x="4762500" y="3790950"/>
            <a:ext cx="3857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A*: lower total terrain cost</a:t>
            </a:r>
          </a:p>
        </p:txBody>
      </p:sp>
      <p:sp>
        <p:nvSpPr>
          <p:cNvPr id="8" name="BFS crosses rough ground to use fewer steps.&#10;A* takes a longer r">
            <a:extLst xmlns:a="http://schemas.openxmlformats.org/drawingml/2006/main">
              <a:ext uri="{FF2B5EF4-FFF2-40B4-BE49-F238E27FC236}">
                <a16:creationId xmlns:a16="http://schemas.microsoft.com/office/drawing/2014/main" id="{8B4C9452-10D4-4878-B7CE-C7E381CB5068}"/>
              </a:ext>
            </a:extLst>
          </p:cNvPr>
          <p:cNvSpPr>
            <a:spLocks xmlns:a="http://schemas.openxmlformats.org/drawingml/2006/main" noGrp="1"/>
          </p:cNvSpPr>
          <p:nvPr/>
        </p:nvSpPr>
        <p:spPr>
          <a:xfrm xmlns:a="http://schemas.openxmlformats.org/drawingml/2006/main">
            <a:off x="523875" y="4171950"/>
            <a:ext cx="8096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BFS crosses rough ground to use fewer steps.</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A* takes a longer route with lower modeled cost.</a:t>
            </a:r>
          </a:p>
        </p:txBody>
      </p:sp>
      <p:sp>
        <p:nvSpPr>
          <p:cNvPr id="9" name="Open interactive experiment">
            <a:extLst xmlns:a="http://schemas.openxmlformats.org/drawingml/2006/main">
              <a:ext uri="{FF2B5EF4-FFF2-40B4-BE49-F238E27FC236}">
                <a16:creationId xmlns:a16="http://schemas.microsoft.com/office/drawing/2014/main" id="{007454F4-C5FF-4F04-AE2E-1E4C256EA524}"/>
              </a:ext>
            </a:extLst>
          </p:cNvPr>
          <p:cNvSpPr>
            <a:spLocks xmlns:a="http://schemas.openxmlformats.org/drawingml/2006/main" noGrp="1"/>
          </p:cNvSpPr>
          <p:nvPr/>
        </p:nvSpPr>
        <p:spPr>
          <a:xfrm xmlns:a="http://schemas.openxmlformats.org/drawingml/2006/main">
            <a:off x="523875" y="466725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b69f4ef08f04489c"/>
              </a:rPr>
              <a:t>Open interactive experiment</a:t>
            </a:r>
          </a:p>
        </p:txBody>
      </p:sp>
    </p:spTree>
    <p:extLst>
      <p:ext uri="{BB962C8B-B14F-4D97-AF65-F5344CB8AC3E}">
        <p14:creationId xmlns:p14="http://schemas.microsoft.com/office/powerpoint/2010/main" val="32968905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dd552cd266d4e9b"/>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 search">
            <a:extLst xmlns:a="http://schemas.openxmlformats.org/drawingml/2006/main">
              <a:ext uri="{FF2B5EF4-FFF2-40B4-BE49-F238E27FC236}">
                <a16:creationId xmlns:a16="http://schemas.microsoft.com/office/drawing/2014/main" id="{913CFCD8-44E9-40CC-83EA-3505CE59443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 search</a:t>
            </a:r>
          </a:p>
        </p:txBody>
      </p:sp>
      <p:sp>
        <p:nvSpPr>
          <p:cNvPr id="3" name="9">
            <a:extLst xmlns:a="http://schemas.openxmlformats.org/drawingml/2006/main">
              <a:ext uri="{FF2B5EF4-FFF2-40B4-BE49-F238E27FC236}">
                <a16:creationId xmlns:a16="http://schemas.microsoft.com/office/drawing/2014/main" id="{52E98DDF-0B38-414B-AF94-D6469B044729}"/>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9</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17709e3f6e9949ff"/>
          <a:stretch xmlns:a="http://schemas.openxmlformats.org/drawingml/2006/main"/>
        </p:blipFill>
        <p:spPr>
          <a:xfrm xmlns:a="http://schemas.openxmlformats.org/drawingml/2006/main">
            <a:off x="721031" y="1400175"/>
            <a:ext cx="4834912" cy="2952750"/>
          </a:xfrm>
          <a:prstGeom xmlns:a="http://schemas.openxmlformats.org/drawingml/2006/main" prst="rect">
            <a:avLst/>
          </a:prstGeom>
        </p:spPr>
      </p:pic>
      <p:sp>
        <p:nvSpPr>
          <p:cNvPr id="5" name="g measures the cost already spent.&#10;&#10;h estimates the remaining co">
            <a:extLst xmlns:a="http://schemas.openxmlformats.org/drawingml/2006/main">
              <a:ext uri="{FF2B5EF4-FFF2-40B4-BE49-F238E27FC236}">
                <a16:creationId xmlns:a16="http://schemas.microsoft.com/office/drawing/2014/main" id="{00345025-2A03-4108-9276-8ED01C7844A5}"/>
              </a:ext>
            </a:extLst>
          </p:cNvPr>
          <p:cNvSpPr>
            <a:spLocks xmlns:a="http://schemas.openxmlformats.org/drawingml/2006/main" noGrp="1"/>
          </p:cNvSpPr>
          <p:nvPr/>
        </p:nvSpPr>
        <p:spPr>
          <a:xfrm xmlns:a="http://schemas.openxmlformats.org/drawingml/2006/main">
            <a:off x="6029325" y="1428750"/>
            <a:ext cx="26193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g measures the cost already spent.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h estimates the remaining cost.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expands the state with the lowest g + h.</a:t>
            </a:r>
          </a:p>
        </p:txBody>
      </p:sp>
      <p:sp>
        <p:nvSpPr>
          <p:cNvPr id="6" name="Open interactive experiment">
            <a:extLst xmlns:a="http://schemas.openxmlformats.org/drawingml/2006/main">
              <a:ext uri="{FF2B5EF4-FFF2-40B4-BE49-F238E27FC236}">
                <a16:creationId xmlns:a16="http://schemas.microsoft.com/office/drawing/2014/main" id="{6DDC56F1-E697-45E5-A848-13977DF5A8E5}"/>
              </a:ext>
            </a:extLst>
          </p:cNvPr>
          <p:cNvSpPr>
            <a:spLocks xmlns:a="http://schemas.openxmlformats.org/drawingml/2006/main" noGrp="1"/>
          </p:cNvSpPr>
          <p:nvPr/>
        </p:nvSpPr>
        <p:spPr>
          <a:xfrm xmlns:a="http://schemas.openxmlformats.org/drawingml/2006/main">
            <a:off x="523875" y="44862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117753ba450e45e9"/>
              </a:rPr>
              <a:t>Open interactive experiment</a:t>
            </a:r>
          </a:p>
        </p:txBody>
      </p:sp>
    </p:spTree>
    <p:extLst>
      <p:ext uri="{BB962C8B-B14F-4D97-AF65-F5344CB8AC3E}">
        <p14:creationId xmlns:p14="http://schemas.microsoft.com/office/powerpoint/2010/main" val="189681756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4763f6c739646b2"/>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 priority calculation">
            <a:extLst xmlns:a="http://schemas.openxmlformats.org/drawingml/2006/main">
              <a:ext uri="{FF2B5EF4-FFF2-40B4-BE49-F238E27FC236}">
                <a16:creationId xmlns:a16="http://schemas.microsoft.com/office/drawing/2014/main" id="{21657FCD-2DEC-4753-9665-F95174A2C62D}"/>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 priority calculation</a:t>
            </a:r>
          </a:p>
        </p:txBody>
      </p:sp>
      <p:sp>
        <p:nvSpPr>
          <p:cNvPr id="3" name="10">
            <a:extLst xmlns:a="http://schemas.openxmlformats.org/drawingml/2006/main">
              <a:ext uri="{FF2B5EF4-FFF2-40B4-BE49-F238E27FC236}">
                <a16:creationId xmlns:a16="http://schemas.microsoft.com/office/drawing/2014/main" id="{FB990140-8F87-450B-8462-4F83107F2691}"/>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10</a:t>
            </a:r>
          </a:p>
        </p:txBody>
      </p:sp>
      <p:sp>
        <p:nvSpPr>
          <p:cNvPr id="4" name="f(n) = g(n) + h(n)">
            <a:extLst xmlns:a="http://schemas.openxmlformats.org/drawingml/2006/main">
              <a:ext uri="{FF2B5EF4-FFF2-40B4-BE49-F238E27FC236}">
                <a16:creationId xmlns:a16="http://schemas.microsoft.com/office/drawing/2014/main" id="{F617148F-39AE-40B9-BAC4-8B0484357AB1}"/>
              </a:ext>
            </a:extLst>
          </p:cNvPr>
          <p:cNvSpPr>
            <a:spLocks xmlns:a="http://schemas.openxmlformats.org/drawingml/2006/main" noGrp="1"/>
          </p:cNvSpPr>
          <p:nvPr/>
        </p:nvSpPr>
        <p:spPr>
          <a:xfrm xmlns:a="http://schemas.openxmlformats.org/drawingml/2006/main">
            <a:off x="619125" y="145732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1">
                <a:solidFill>
                  <a:srgbClr val="00539F"/>
                </a:solidFill>
                <a:latin typeface="Arial"/>
                <a:ea typeface="Arial"/>
                <a:cs typeface="Arial"/>
              </a:defRPr>
            </a:pPr>
            <a:r>
              <a:rPr sz="2400" b="1">
                <a:solidFill>
                  <a:srgbClr val="00539F"/>
                </a:solidFill>
                <a:latin typeface="Arial"/>
                <a:ea typeface="Arial"/>
                <a:cs typeface="Arial"/>
              </a:rPr>
              <a:t>f(n) = g(n) + h(n)</a:t>
            </a:r>
          </a:p>
        </p:txBody>
      </p:sp>
      <p:sp>
        <p:nvSpPr>
          <p:cNvPr id="5" name="A: 6 + 11 = 17       B: 9 + 8 = 17">
            <a:extLst xmlns:a="http://schemas.openxmlformats.org/drawingml/2006/main">
              <a:ext uri="{FF2B5EF4-FFF2-40B4-BE49-F238E27FC236}">
                <a16:creationId xmlns:a16="http://schemas.microsoft.com/office/drawing/2014/main" id="{C9CC59EE-FE3C-4627-87D4-9C2326A7D2CF}"/>
              </a:ext>
            </a:extLst>
          </p:cNvPr>
          <p:cNvSpPr>
            <a:spLocks xmlns:a="http://schemas.openxmlformats.org/drawingml/2006/main" noGrp="1"/>
          </p:cNvSpPr>
          <p:nvPr/>
        </p:nvSpPr>
        <p:spPr>
          <a:xfrm xmlns:a="http://schemas.openxmlformats.org/drawingml/2006/main">
            <a:off x="619125" y="204787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A: 6 + 11 = 17       B: 9 + 8 = 17</a:t>
            </a:r>
          </a:p>
        </p:txBody>
      </p:sp>
      <p:sp>
        <p:nvSpPr>
          <p:cNvPr id="6" name="Both candidates have a priority of 17.&#10;&#10;Tie breaking affects exp">
            <a:extLst xmlns:a="http://schemas.openxmlformats.org/drawingml/2006/main">
              <a:ext uri="{FF2B5EF4-FFF2-40B4-BE49-F238E27FC236}">
                <a16:creationId xmlns:a16="http://schemas.microsoft.com/office/drawing/2014/main" id="{072D926E-F6ED-4485-B8E6-AB56A158AAEC}"/>
              </a:ext>
            </a:extLst>
          </p:cNvPr>
          <p:cNvSpPr>
            <a:spLocks xmlns:a="http://schemas.openxmlformats.org/drawingml/2006/main" noGrp="1"/>
          </p:cNvSpPr>
          <p:nvPr/>
        </p:nvSpPr>
        <p:spPr>
          <a:xfrm xmlns:a="http://schemas.openxmlformats.org/drawingml/2006/main">
            <a:off x="619125" y="3476625"/>
            <a:ext cx="790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Both candidates have a priority of 17.</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Tie breaking affects expansion order, even when the optimal cost is unchanged.</a:t>
            </a:r>
          </a:p>
        </p:txBody>
      </p:sp>
    </p:spTree>
    <p:extLst>
      <p:ext uri="{BB962C8B-B14F-4D97-AF65-F5344CB8AC3E}">
        <p14:creationId xmlns:p14="http://schemas.microsoft.com/office/powerpoint/2010/main" val="87190441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667794d6b28f44ab"/>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Heuristic assumptions">
            <a:extLst xmlns:a="http://schemas.openxmlformats.org/drawingml/2006/main">
              <a:ext uri="{FF2B5EF4-FFF2-40B4-BE49-F238E27FC236}">
                <a16:creationId xmlns:a16="http://schemas.microsoft.com/office/drawing/2014/main" id="{B4336D80-2D64-42CA-B58C-B8B912F9C0E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Heuristic assumptions</a:t>
            </a:r>
          </a:p>
        </p:txBody>
      </p:sp>
      <p:sp>
        <p:nvSpPr>
          <p:cNvPr id="3" name="11">
            <a:extLst xmlns:a="http://schemas.openxmlformats.org/drawingml/2006/main">
              <a:ext uri="{FF2B5EF4-FFF2-40B4-BE49-F238E27FC236}">
                <a16:creationId xmlns:a16="http://schemas.microsoft.com/office/drawing/2014/main" id="{D48A05EB-7790-4064-816E-6C7F494EF287}"/>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11</a:t>
            </a:r>
          </a:p>
        </p:txBody>
      </p:sp>
      <p:graphicFrame>
        <p:nvGraphicFramePr>
          <p:cNvPr id="8" name=""/>
          <p:cNvGraphicFramePr/>
          <p:nvPr/>
        </p:nvGraphicFramePr>
        <p:xfrm>
          <a:off xmlns:a="http://schemas.openxmlformats.org/drawingml/2006/main" x="523875" y="1438275"/>
          <a:ext xmlns:a="http://schemas.openxmlformats.org/drawingml/2006/main" cx="8096250" cy="2857500"/>
        </p:xfrm>
        <a:graphic xmlns:a="http://schemas.openxmlformats.org/drawingml/2006/main">
          <a:graphicData uri="http://schemas.openxmlformats.org/drawingml/2006/table">
            <a:tbl>
              <a:tblPr/>
              <a:tblGrid>
                <a:gridCol w="1952625"/>
                <a:gridCol w="3000375"/>
                <a:gridCol w="3143250"/>
              </a:tblGrid>
              <a:tr h="571500">
                <a:tc>
                  <a:txBody>
                    <a:bodyPr lIns="114300" tIns="76200" rIns="114300" bIns="76200">
                      <a:noAutofit/>
                    </a:bodyPr>
                    <a:lstStyle/>
                    <a:p>
                      <a:r>
                        <a:rPr sz="1425" b="1">
                          <a:solidFill>
                            <a:srgbClr val="FFFFFF"/>
                          </a:solidFill>
                          <a:latin typeface="Arial"/>
                          <a:ea typeface="Arial"/>
                          <a:cs typeface="Arial"/>
                        </a:rPr>
                        <a:t>Graph</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Lower-bound heuristic</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Condition</a:t>
                      </a:r>
                    </a:p>
                  </a:txBody>
                  <a:tcPr marL="91440" marR="91440" marT="45720" marB="45720" anchor="ctr">
                    <a:solidFill>
                      <a:srgbClr val="00539F"/>
                    </a:solidFill>
                  </a:tcPr>
                </a:tc>
              </a:tr>
              <a:tr h="571500">
                <a:tc>
                  <a:txBody>
                    <a:bodyPr lIns="114300" tIns="76200" rIns="114300" bIns="76200">
                      <a:noAutofit/>
                    </a:bodyPr>
                    <a:lstStyle/>
                    <a:p>
                      <a:r>
                        <a:rPr sz="1425" b="0">
                          <a:solidFill>
                            <a:srgbClr val="17324D"/>
                          </a:solidFill>
                          <a:latin typeface="Arial"/>
                          <a:ea typeface="Arial"/>
                          <a:cs typeface="Arial"/>
                        </a:rPr>
                        <a:t>4-neighbor grid</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Manhattan distance</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Unit minimum step cost</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8-neighbor grid</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Octile distance</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Diagonal cost √2</a:t>
                      </a:r>
                    </a:p>
                  </a:txBody>
                  <a:tcPr marL="91440" marR="91440" marT="45720" marB="45720" anchor="ctr">
                    <a:solidFill>
                      <a:srgbClr val="F1F6FA"/>
                    </a:solidFill>
                  </a:tcPr>
                </a:tc>
              </a:tr>
              <a:tr h="571500">
                <a:tc>
                  <a:txBody>
                    <a:bodyPr lIns="114300" tIns="76200" rIns="114300" bIns="76200">
                      <a:noAutofit/>
                    </a:bodyPr>
                    <a:lstStyle/>
                    <a:p>
                      <a:r>
                        <a:rPr sz="1425" b="0">
                          <a:solidFill>
                            <a:srgbClr val="17324D"/>
                          </a:solidFill>
                          <a:latin typeface="Arial"/>
                          <a:ea typeface="Arial"/>
                          <a:cs typeface="Arial"/>
                        </a:rPr>
                        <a:t>Euclidean motion</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Straight-line distance</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Cost ≥ geometric length</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Changed cost model</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Recheck the lower bound</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Match units and transitions</a:t>
                      </a:r>
                    </a:p>
                  </a:txBody>
                  <a:tcPr marL="91440" marR="91440" marT="45720" marB="45720" anchor="ctr">
                    <a:solidFill>
                      <a:srgbClr val="F1F6FA"/>
                    </a:solidFill>
                  </a:tcPr>
                </a:tc>
              </a:tr>
            </a:tbl>
          </a:graphicData>
        </a:graphic>
      </p:graphicFrame>
    </p:spTree>
    <p:extLst>
      <p:ext uri="{BB962C8B-B14F-4D97-AF65-F5344CB8AC3E}">
        <p14:creationId xmlns:p14="http://schemas.microsoft.com/office/powerpoint/2010/main" val="189835018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ba2edd96089a472c"/>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The A* search loop">
            <a:extLst xmlns:a="http://schemas.openxmlformats.org/drawingml/2006/main">
              <a:ext uri="{FF2B5EF4-FFF2-40B4-BE49-F238E27FC236}">
                <a16:creationId xmlns:a16="http://schemas.microsoft.com/office/drawing/2014/main" id="{07F6CD8A-0D22-4A30-84AB-489B4E75D007}"/>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A* search loop</a:t>
            </a:r>
          </a:p>
        </p:txBody>
      </p:sp>
      <p:sp>
        <p:nvSpPr>
          <p:cNvPr id="3" name="12">
            <a:extLst xmlns:a="http://schemas.openxmlformats.org/drawingml/2006/main">
              <a:ext uri="{FF2B5EF4-FFF2-40B4-BE49-F238E27FC236}">
                <a16:creationId xmlns:a16="http://schemas.microsoft.com/office/drawing/2014/main" id="{7C19A60F-4BFA-474C-9999-8BF97D33C29F}"/>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12</a:t>
            </a:r>
          </a:p>
        </p:txBody>
      </p:sp>
      <p:sp>
        <p:nvSpPr>
          <p:cNvPr id="4" name="1">
            <a:extLst xmlns:a="http://schemas.openxmlformats.org/drawingml/2006/main">
              <a:ext uri="{FF2B5EF4-FFF2-40B4-BE49-F238E27FC236}">
                <a16:creationId xmlns:a16="http://schemas.microsoft.com/office/drawing/2014/main" id="{220F0954-C3A5-483C-BD5D-D3FE05EDD2F4}"/>
              </a:ext>
            </a:extLst>
          </p:cNvPr>
          <p:cNvSpPr>
            <a:spLocks xmlns:a="http://schemas.openxmlformats.org/drawingml/2006/main" noGrp="1"/>
          </p:cNvSpPr>
          <p:nvPr/>
        </p:nvSpPr>
        <p:spPr>
          <a:xfrm xmlns:a="http://schemas.openxmlformats.org/drawingml/2006/main">
            <a:off x="523875" y="1438275"/>
            <a:ext cx="333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75" b="1">
                <a:solidFill>
                  <a:srgbClr val="00539F"/>
                </a:solidFill>
                <a:latin typeface="Arial"/>
                <a:ea typeface="Arial"/>
                <a:cs typeface="Arial"/>
              </a:defRPr>
            </a:pPr>
            <a:r>
              <a:rPr sz="2175" b="1">
                <a:solidFill>
                  <a:srgbClr val="00539F"/>
                </a:solidFill>
                <a:latin typeface="Arial"/>
                <a:ea typeface="Arial"/>
                <a:cs typeface="Arial"/>
              </a:rPr>
              <a:t>1</a:t>
            </a:r>
          </a:p>
        </p:txBody>
      </p:sp>
      <p:sp>
        <p:nvSpPr>
          <p:cNvPr id="5" name="Initialize the start with g = 0 and put it in OPEN.">
            <a:extLst xmlns:a="http://schemas.openxmlformats.org/drawingml/2006/main">
              <a:ext uri="{FF2B5EF4-FFF2-40B4-BE49-F238E27FC236}">
                <a16:creationId xmlns:a16="http://schemas.microsoft.com/office/drawing/2014/main" id="{796B142F-0BE1-4357-AF44-A542AEAD3822}"/>
              </a:ext>
            </a:extLst>
          </p:cNvPr>
          <p:cNvSpPr>
            <a:spLocks xmlns:a="http://schemas.openxmlformats.org/drawingml/2006/main" noGrp="1"/>
          </p:cNvSpPr>
          <p:nvPr/>
        </p:nvSpPr>
        <p:spPr>
          <a:xfrm xmlns:a="http://schemas.openxmlformats.org/drawingml/2006/main">
            <a:off x="1000125" y="1438275"/>
            <a:ext cx="7620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Initialize the start with g = 0 and put it in OPEN.</a:t>
            </a:r>
          </a:p>
        </p:txBody>
      </p:sp>
      <p:sp>
        <p:nvSpPr>
          <p:cNvPr id="6" name="2">
            <a:extLst xmlns:a="http://schemas.openxmlformats.org/drawingml/2006/main">
              <a:ext uri="{FF2B5EF4-FFF2-40B4-BE49-F238E27FC236}">
                <a16:creationId xmlns:a16="http://schemas.microsoft.com/office/drawing/2014/main" id="{8CD2F831-5CC1-4902-952B-CE96F0BD5D1F}"/>
              </a:ext>
            </a:extLst>
          </p:cNvPr>
          <p:cNvSpPr>
            <a:spLocks xmlns:a="http://schemas.openxmlformats.org/drawingml/2006/main" noGrp="1"/>
          </p:cNvSpPr>
          <p:nvPr/>
        </p:nvSpPr>
        <p:spPr>
          <a:xfrm xmlns:a="http://schemas.openxmlformats.org/drawingml/2006/main">
            <a:off x="523875" y="2152650"/>
            <a:ext cx="333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75" b="1">
                <a:solidFill>
                  <a:srgbClr val="00539F"/>
                </a:solidFill>
                <a:latin typeface="Arial"/>
                <a:ea typeface="Arial"/>
                <a:cs typeface="Arial"/>
              </a:defRPr>
            </a:pPr>
            <a:r>
              <a:rPr sz="2175" b="1">
                <a:solidFill>
                  <a:srgbClr val="00539F"/>
                </a:solidFill>
                <a:latin typeface="Arial"/>
                <a:ea typeface="Arial"/>
                <a:cs typeface="Arial"/>
              </a:rPr>
              <a:t>2</a:t>
            </a:r>
          </a:p>
        </p:txBody>
      </p:sp>
      <p:sp>
        <p:nvSpPr>
          <p:cNvPr id="7" name="Remove the lowest f state and relax its outgoing edges.">
            <a:extLst xmlns:a="http://schemas.openxmlformats.org/drawingml/2006/main">
              <a:ext uri="{FF2B5EF4-FFF2-40B4-BE49-F238E27FC236}">
                <a16:creationId xmlns:a16="http://schemas.microsoft.com/office/drawing/2014/main" id="{770D661E-845A-4D63-9E23-45822836AF75}"/>
              </a:ext>
            </a:extLst>
          </p:cNvPr>
          <p:cNvSpPr>
            <a:spLocks xmlns:a="http://schemas.openxmlformats.org/drawingml/2006/main" noGrp="1"/>
          </p:cNvSpPr>
          <p:nvPr/>
        </p:nvSpPr>
        <p:spPr>
          <a:xfrm xmlns:a="http://schemas.openxmlformats.org/drawingml/2006/main">
            <a:off x="1000125" y="2152650"/>
            <a:ext cx="7620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Remove the lowest f state and relax its outgoing edges.</a:t>
            </a:r>
          </a:p>
        </p:txBody>
      </p:sp>
      <p:sp>
        <p:nvSpPr>
          <p:cNvPr id="8" name="3">
            <a:extLst xmlns:a="http://schemas.openxmlformats.org/drawingml/2006/main">
              <a:ext uri="{FF2B5EF4-FFF2-40B4-BE49-F238E27FC236}">
                <a16:creationId xmlns:a16="http://schemas.microsoft.com/office/drawing/2014/main" id="{CCA7F931-E716-48E3-80DB-1A77C7C75B44}"/>
              </a:ext>
            </a:extLst>
          </p:cNvPr>
          <p:cNvSpPr>
            <a:spLocks xmlns:a="http://schemas.openxmlformats.org/drawingml/2006/main" noGrp="1"/>
          </p:cNvSpPr>
          <p:nvPr/>
        </p:nvSpPr>
        <p:spPr>
          <a:xfrm xmlns:a="http://schemas.openxmlformats.org/drawingml/2006/main">
            <a:off x="523875" y="2867025"/>
            <a:ext cx="333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75" b="1">
                <a:solidFill>
                  <a:srgbClr val="00539F"/>
                </a:solidFill>
                <a:latin typeface="Arial"/>
                <a:ea typeface="Arial"/>
                <a:cs typeface="Arial"/>
              </a:defRPr>
            </a:pPr>
            <a:r>
              <a:rPr sz="2175" b="1">
                <a:solidFill>
                  <a:srgbClr val="00539F"/>
                </a:solidFill>
                <a:latin typeface="Arial"/>
                <a:ea typeface="Arial"/>
                <a:cs typeface="Arial"/>
              </a:rPr>
              <a:t>3</a:t>
            </a:r>
          </a:p>
        </p:txBody>
      </p:sp>
      <p:sp>
        <p:nvSpPr>
          <p:cNvPr id="9" name="Update a neighbor when the new g improves its route.">
            <a:extLst xmlns:a="http://schemas.openxmlformats.org/drawingml/2006/main">
              <a:ext uri="{FF2B5EF4-FFF2-40B4-BE49-F238E27FC236}">
                <a16:creationId xmlns:a16="http://schemas.microsoft.com/office/drawing/2014/main" id="{A5E817A8-95BE-48CF-896D-A16B68D70B3E}"/>
              </a:ext>
            </a:extLst>
          </p:cNvPr>
          <p:cNvSpPr>
            <a:spLocks xmlns:a="http://schemas.openxmlformats.org/drawingml/2006/main" noGrp="1"/>
          </p:cNvSpPr>
          <p:nvPr/>
        </p:nvSpPr>
        <p:spPr>
          <a:xfrm xmlns:a="http://schemas.openxmlformats.org/drawingml/2006/main">
            <a:off x="1000125" y="2867025"/>
            <a:ext cx="7620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Update a neighbor when the new g improves its route.</a:t>
            </a:r>
          </a:p>
        </p:txBody>
      </p:sp>
      <p:sp>
        <p:nvSpPr>
          <p:cNvPr id="10" name="4">
            <a:extLst xmlns:a="http://schemas.openxmlformats.org/drawingml/2006/main">
              <a:ext uri="{FF2B5EF4-FFF2-40B4-BE49-F238E27FC236}">
                <a16:creationId xmlns:a16="http://schemas.microsoft.com/office/drawing/2014/main" id="{D1A0CFB9-F488-471E-A00F-C4883B9CFD6D}"/>
              </a:ext>
            </a:extLst>
          </p:cNvPr>
          <p:cNvSpPr>
            <a:spLocks xmlns:a="http://schemas.openxmlformats.org/drawingml/2006/main" noGrp="1"/>
          </p:cNvSpPr>
          <p:nvPr/>
        </p:nvSpPr>
        <p:spPr>
          <a:xfrm xmlns:a="http://schemas.openxmlformats.org/drawingml/2006/main">
            <a:off x="523875" y="3581400"/>
            <a:ext cx="333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75" b="1">
                <a:solidFill>
                  <a:srgbClr val="00539F"/>
                </a:solidFill>
                <a:latin typeface="Arial"/>
                <a:ea typeface="Arial"/>
                <a:cs typeface="Arial"/>
              </a:defRPr>
            </a:pPr>
            <a:r>
              <a:rPr sz="2175" b="1">
                <a:solidFill>
                  <a:srgbClr val="00539F"/>
                </a:solidFill>
                <a:latin typeface="Arial"/>
                <a:ea typeface="Arial"/>
                <a:cs typeface="Arial"/>
              </a:rPr>
              <a:t>4</a:t>
            </a:r>
          </a:p>
        </p:txBody>
      </p:sp>
      <p:sp>
        <p:nvSpPr>
          <p:cNvPr id="11" name="Stop when the goal leaves OPEN, or OPEN becomes empty.">
            <a:extLst xmlns:a="http://schemas.openxmlformats.org/drawingml/2006/main">
              <a:ext uri="{FF2B5EF4-FFF2-40B4-BE49-F238E27FC236}">
                <a16:creationId xmlns:a16="http://schemas.microsoft.com/office/drawing/2014/main" id="{A1BED3D5-BD88-4F70-9CED-8F1B0B6178B9}"/>
              </a:ext>
            </a:extLst>
          </p:cNvPr>
          <p:cNvSpPr>
            <a:spLocks xmlns:a="http://schemas.openxmlformats.org/drawingml/2006/main" noGrp="1"/>
          </p:cNvSpPr>
          <p:nvPr/>
        </p:nvSpPr>
        <p:spPr>
          <a:xfrm xmlns:a="http://schemas.openxmlformats.org/drawingml/2006/main">
            <a:off x="1000125" y="3581400"/>
            <a:ext cx="7620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Stop when the goal leaves OPEN, or OPEN becomes empty.</a:t>
            </a:r>
          </a:p>
        </p:txBody>
      </p:sp>
    </p:spTree>
    <p:extLst>
      <p:ext uri="{BB962C8B-B14F-4D97-AF65-F5344CB8AC3E}">
        <p14:creationId xmlns:p14="http://schemas.microsoft.com/office/powerpoint/2010/main" val="20839873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6e55b7878934cfd"/>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Dijkstra and A* on the same graph">
            <a:extLst xmlns:a="http://schemas.openxmlformats.org/drawingml/2006/main">
              <a:ext uri="{FF2B5EF4-FFF2-40B4-BE49-F238E27FC236}">
                <a16:creationId xmlns:a16="http://schemas.microsoft.com/office/drawing/2014/main" id="{ABDB6C32-E531-4DE9-8DB8-DCF35EB9FB33}"/>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Dijkstra and A* on the same graph</a:t>
            </a:r>
          </a:p>
        </p:txBody>
      </p:sp>
      <p:sp>
        <p:nvSpPr>
          <p:cNvPr id="3" name="13">
            <a:extLst xmlns:a="http://schemas.openxmlformats.org/drawingml/2006/main">
              <a:ext uri="{FF2B5EF4-FFF2-40B4-BE49-F238E27FC236}">
                <a16:creationId xmlns:a16="http://schemas.microsoft.com/office/drawing/2014/main" id="{70252096-1D45-44F1-9692-48743595BA97}"/>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13</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1b12beebdc04499f"/>
          <a:stretch xmlns:a="http://schemas.openxmlformats.org/drawingml/2006/main"/>
        </p:blipFill>
        <p:spPr>
          <a:xfrm xmlns:a="http://schemas.openxmlformats.org/drawingml/2006/main">
            <a:off x="540677" y="1409700"/>
            <a:ext cx="3824021" cy="2343150"/>
          </a:xfrm>
          <a:prstGeom xmlns:a="http://schemas.openxmlformats.org/drawingml/2006/main" prst="rect">
            <a:avLst/>
          </a:prstGeom>
        </p:spPr>
      </p:pic>
      <p:sp>
        <p:nvSpPr>
          <p:cNvPr id="5" name="Dijkstra: g priority">
            <a:extLst xmlns:a="http://schemas.openxmlformats.org/drawingml/2006/main">
              <a:ext uri="{FF2B5EF4-FFF2-40B4-BE49-F238E27FC236}">
                <a16:creationId xmlns:a16="http://schemas.microsoft.com/office/drawing/2014/main" id="{EC5F9ACA-1B43-43CA-AC99-2046FC9A162D}"/>
              </a:ext>
            </a:extLst>
          </p:cNvPr>
          <p:cNvSpPr>
            <a:spLocks xmlns:a="http://schemas.openxmlformats.org/drawingml/2006/main" noGrp="1"/>
          </p:cNvSpPr>
          <p:nvPr/>
        </p:nvSpPr>
        <p:spPr>
          <a:xfrm xmlns:a="http://schemas.openxmlformats.org/drawingml/2006/main">
            <a:off x="523875" y="3790950"/>
            <a:ext cx="3857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Dijkstra: g priority</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16ed0ba62e2e4c86"/>
          <a:stretch xmlns:a="http://schemas.openxmlformats.org/drawingml/2006/main"/>
        </p:blipFill>
        <p:spPr>
          <a:xfrm xmlns:a="http://schemas.openxmlformats.org/drawingml/2006/main">
            <a:off x="4779302" y="1409700"/>
            <a:ext cx="3824021" cy="2343150"/>
          </a:xfrm>
          <a:prstGeom xmlns:a="http://schemas.openxmlformats.org/drawingml/2006/main" prst="rect">
            <a:avLst/>
          </a:prstGeom>
        </p:spPr>
      </p:pic>
      <p:sp>
        <p:nvSpPr>
          <p:cNvPr id="7" name="A*: g + h priority">
            <a:extLst xmlns:a="http://schemas.openxmlformats.org/drawingml/2006/main">
              <a:ext uri="{FF2B5EF4-FFF2-40B4-BE49-F238E27FC236}">
                <a16:creationId xmlns:a16="http://schemas.microsoft.com/office/drawing/2014/main" id="{2C04C961-48F6-4843-B376-322E3C125C04}"/>
              </a:ext>
            </a:extLst>
          </p:cNvPr>
          <p:cNvSpPr>
            <a:spLocks xmlns:a="http://schemas.openxmlformats.org/drawingml/2006/main" noGrp="1"/>
          </p:cNvSpPr>
          <p:nvPr/>
        </p:nvSpPr>
        <p:spPr>
          <a:xfrm xmlns:a="http://schemas.openxmlformats.org/drawingml/2006/main">
            <a:off x="4762500" y="3790950"/>
            <a:ext cx="3857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A*: g + h priority</a:t>
            </a:r>
          </a:p>
        </p:txBody>
      </p:sp>
      <p:sp>
        <p:nvSpPr>
          <p:cNvPr id="8" name="Dijkstra spreads according to cost from the start.&#10;A* also uses ">
            <a:extLst xmlns:a="http://schemas.openxmlformats.org/drawingml/2006/main">
              <a:ext uri="{FF2B5EF4-FFF2-40B4-BE49-F238E27FC236}">
                <a16:creationId xmlns:a16="http://schemas.microsoft.com/office/drawing/2014/main" id="{99B56FDC-2B2B-4D66-AC7D-DAC343E3BFA9}"/>
              </a:ext>
            </a:extLst>
          </p:cNvPr>
          <p:cNvSpPr>
            <a:spLocks xmlns:a="http://schemas.openxmlformats.org/drawingml/2006/main" noGrp="1"/>
          </p:cNvSpPr>
          <p:nvPr/>
        </p:nvSpPr>
        <p:spPr>
          <a:xfrm xmlns:a="http://schemas.openxmlformats.org/drawingml/2006/main">
            <a:off x="523875" y="4171950"/>
            <a:ext cx="8096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Dijkstra spreads according to cost from the start.</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A* also uses a lower bound on distance to the goal.</a:t>
            </a:r>
          </a:p>
        </p:txBody>
      </p:sp>
      <p:sp>
        <p:nvSpPr>
          <p:cNvPr id="9" name="Open interactive experiment">
            <a:extLst xmlns:a="http://schemas.openxmlformats.org/drawingml/2006/main">
              <a:ext uri="{FF2B5EF4-FFF2-40B4-BE49-F238E27FC236}">
                <a16:creationId xmlns:a16="http://schemas.microsoft.com/office/drawing/2014/main" id="{BE3E58D4-35FB-4142-B06E-BB58423CCE18}"/>
              </a:ext>
            </a:extLst>
          </p:cNvPr>
          <p:cNvSpPr>
            <a:spLocks xmlns:a="http://schemas.openxmlformats.org/drawingml/2006/main" noGrp="1"/>
          </p:cNvSpPr>
          <p:nvPr/>
        </p:nvSpPr>
        <p:spPr>
          <a:xfrm xmlns:a="http://schemas.openxmlformats.org/drawingml/2006/main">
            <a:off x="523875" y="466725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280201760b1c46e4"/>
              </a:rPr>
              <a:t>Open interactive experiment</a:t>
            </a:r>
          </a:p>
        </p:txBody>
      </p:sp>
    </p:spTree>
    <p:extLst>
      <p:ext uri="{BB962C8B-B14F-4D97-AF65-F5344CB8AC3E}">
        <p14:creationId xmlns:p14="http://schemas.microsoft.com/office/powerpoint/2010/main" val="173922811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c55a4ff8e764363"/>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 strengths and limits">
            <a:extLst xmlns:a="http://schemas.openxmlformats.org/drawingml/2006/main">
              <a:ext uri="{FF2B5EF4-FFF2-40B4-BE49-F238E27FC236}">
                <a16:creationId xmlns:a16="http://schemas.microsoft.com/office/drawing/2014/main" id="{4D178CD7-253E-4DC9-BA38-0C90F40AB48D}"/>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 strengths and limits</a:t>
            </a:r>
          </a:p>
        </p:txBody>
      </p:sp>
      <p:sp>
        <p:nvSpPr>
          <p:cNvPr id="3" name="14">
            <a:extLst xmlns:a="http://schemas.openxmlformats.org/drawingml/2006/main">
              <a:ext uri="{FF2B5EF4-FFF2-40B4-BE49-F238E27FC236}">
                <a16:creationId xmlns:a16="http://schemas.microsoft.com/office/drawing/2014/main" id="{4587EBCF-D140-4598-A467-58AF2E89C027}"/>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14</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9606416b3df4f15"/>
          <a:stretch xmlns:a="http://schemas.openxmlformats.org/drawingml/2006/main"/>
        </p:blipFill>
        <p:spPr>
          <a:xfrm xmlns:a="http://schemas.openxmlformats.org/drawingml/2006/main">
            <a:off x="729044" y="1400175"/>
            <a:ext cx="4818888" cy="2952750"/>
          </a:xfrm>
          <a:prstGeom xmlns:a="http://schemas.openxmlformats.org/drawingml/2006/main" prst="rect">
            <a:avLst/>
          </a:prstGeom>
        </p:spPr>
      </p:pic>
      <p:sp>
        <p:nvSpPr>
          <p:cNvPr id="5" name="A* finds an optimal graph path under the appropriate search assu">
            <a:extLst xmlns:a="http://schemas.openxmlformats.org/drawingml/2006/main">
              <a:ext uri="{FF2B5EF4-FFF2-40B4-BE49-F238E27FC236}">
                <a16:creationId xmlns:a16="http://schemas.microsoft.com/office/drawing/2014/main" id="{0E04965A-DA71-4C6E-98B8-38ED1A1E4550}"/>
              </a:ext>
            </a:extLst>
          </p:cNvPr>
          <p:cNvSpPr>
            <a:spLocks xmlns:a="http://schemas.openxmlformats.org/drawingml/2006/main" noGrp="1"/>
          </p:cNvSpPr>
          <p:nvPr/>
        </p:nvSpPr>
        <p:spPr>
          <a:xfrm xmlns:a="http://schemas.openxmlformats.org/drawingml/2006/main">
            <a:off x="6029325" y="1428750"/>
            <a:ext cx="26193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finds an optimal graph path under the appropriate search assumptions.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coarse graph can omit a usable passage or a feasible steering motion.</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changed map requires a fresh search or an incremental method.</a:t>
            </a:r>
          </a:p>
        </p:txBody>
      </p:sp>
      <p:sp>
        <p:nvSpPr>
          <p:cNvPr id="6" name="Open interactive experiment">
            <a:extLst xmlns:a="http://schemas.openxmlformats.org/drawingml/2006/main">
              <a:ext uri="{FF2B5EF4-FFF2-40B4-BE49-F238E27FC236}">
                <a16:creationId xmlns:a16="http://schemas.microsoft.com/office/drawing/2014/main" id="{0B52E8BC-96B7-4B4D-AEB2-EC5773706284}"/>
              </a:ext>
            </a:extLst>
          </p:cNvPr>
          <p:cNvSpPr>
            <a:spLocks xmlns:a="http://schemas.openxmlformats.org/drawingml/2006/main" noGrp="1"/>
          </p:cNvSpPr>
          <p:nvPr/>
        </p:nvSpPr>
        <p:spPr>
          <a:xfrm xmlns:a="http://schemas.openxmlformats.org/drawingml/2006/main">
            <a:off x="523875" y="44862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64a7bccf46d94743"/>
              </a:rPr>
              <a:t>Open interactive experiment</a:t>
            </a:r>
          </a:p>
        </p:txBody>
      </p:sp>
    </p:spTree>
    <p:extLst>
      <p:ext uri="{BB962C8B-B14F-4D97-AF65-F5344CB8AC3E}">
        <p14:creationId xmlns:p14="http://schemas.microsoft.com/office/powerpoint/2010/main" val="54349375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fb1a79e739d499b"/>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Replanning after a map change">
            <a:extLst xmlns:a="http://schemas.openxmlformats.org/drawingml/2006/main">
              <a:ext uri="{FF2B5EF4-FFF2-40B4-BE49-F238E27FC236}">
                <a16:creationId xmlns:a16="http://schemas.microsoft.com/office/drawing/2014/main" id="{433BA17A-E1B2-4328-82C2-BBD5E201E55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Replanning after a map change</a:t>
            </a:r>
          </a:p>
        </p:txBody>
      </p:sp>
      <p:sp>
        <p:nvSpPr>
          <p:cNvPr id="3" name="15">
            <a:extLst xmlns:a="http://schemas.openxmlformats.org/drawingml/2006/main">
              <a:ext uri="{FF2B5EF4-FFF2-40B4-BE49-F238E27FC236}">
                <a16:creationId xmlns:a16="http://schemas.microsoft.com/office/drawing/2014/main" id="{9885AB4E-9E64-4158-877C-A94D0B27FBE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15</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68f64e2b56cf460c"/>
          <a:stretch xmlns:a="http://schemas.openxmlformats.org/drawingml/2006/main"/>
        </p:blipFill>
        <p:spPr>
          <a:xfrm xmlns:a="http://schemas.openxmlformats.org/drawingml/2006/main">
            <a:off x="729044" y="1400175"/>
            <a:ext cx="4818888" cy="2952750"/>
          </a:xfrm>
          <a:prstGeom xmlns:a="http://schemas.openxmlformats.org/drawingml/2006/main" prst="rect">
            <a:avLst/>
          </a:prstGeom>
        </p:spPr>
      </p:pic>
      <p:sp>
        <p:nvSpPr>
          <p:cNvPr id="5" name="A sensor discovers a blockage on the planned route.&#10;&#10;Edge costs ">
            <a:extLst xmlns:a="http://schemas.openxmlformats.org/drawingml/2006/main">
              <a:ext uri="{FF2B5EF4-FFF2-40B4-BE49-F238E27FC236}">
                <a16:creationId xmlns:a16="http://schemas.microsoft.com/office/drawing/2014/main" id="{D4D953C3-F466-4DC3-A33B-EED7F661EE47}"/>
              </a:ext>
            </a:extLst>
          </p:cNvPr>
          <p:cNvSpPr>
            <a:spLocks xmlns:a="http://schemas.openxmlformats.org/drawingml/2006/main" noGrp="1"/>
          </p:cNvSpPr>
          <p:nvPr/>
        </p:nvSpPr>
        <p:spPr>
          <a:xfrm xmlns:a="http://schemas.openxmlformats.org/drawingml/2006/main">
            <a:off x="6029325" y="1428750"/>
            <a:ext cx="26193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sensor discovers a blockage on the planned route.</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Edge costs change when a cell becomes occupied or free.</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Incremental search reuses earlier work.</a:t>
            </a:r>
          </a:p>
        </p:txBody>
      </p:sp>
      <p:sp>
        <p:nvSpPr>
          <p:cNvPr id="6" name="Open interactive experiment">
            <a:extLst xmlns:a="http://schemas.openxmlformats.org/drawingml/2006/main">
              <a:ext uri="{FF2B5EF4-FFF2-40B4-BE49-F238E27FC236}">
                <a16:creationId xmlns:a16="http://schemas.microsoft.com/office/drawing/2014/main" id="{4982133E-7E16-41C4-86B0-14E2AD4CE785}"/>
              </a:ext>
            </a:extLst>
          </p:cNvPr>
          <p:cNvSpPr>
            <a:spLocks xmlns:a="http://schemas.openxmlformats.org/drawingml/2006/main" noGrp="1"/>
          </p:cNvSpPr>
          <p:nvPr/>
        </p:nvSpPr>
        <p:spPr>
          <a:xfrm xmlns:a="http://schemas.openxmlformats.org/drawingml/2006/main">
            <a:off x="523875" y="44862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a15518e6a25c4026"/>
              </a:rPr>
              <a:t>Open interactive experiment</a:t>
            </a:r>
          </a:p>
        </p:txBody>
      </p:sp>
    </p:spTree>
    <p:extLst>
      <p:ext uri="{BB962C8B-B14F-4D97-AF65-F5344CB8AC3E}">
        <p14:creationId xmlns:p14="http://schemas.microsoft.com/office/powerpoint/2010/main" val="12382195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db661e9da407461d"/>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D* and D* Lite">
            <a:extLst xmlns:a="http://schemas.openxmlformats.org/drawingml/2006/main">
              <a:ext uri="{FF2B5EF4-FFF2-40B4-BE49-F238E27FC236}">
                <a16:creationId xmlns:a16="http://schemas.microsoft.com/office/drawing/2014/main" id="{2721D5BC-9F41-4E93-99D3-E8113FD2D75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D* and D* Lite</a:t>
            </a:r>
          </a:p>
        </p:txBody>
      </p:sp>
      <p:sp>
        <p:nvSpPr>
          <p:cNvPr id="3" name="16">
            <a:extLst xmlns:a="http://schemas.openxmlformats.org/drawingml/2006/main">
              <a:ext uri="{FF2B5EF4-FFF2-40B4-BE49-F238E27FC236}">
                <a16:creationId xmlns:a16="http://schemas.microsoft.com/office/drawing/2014/main" id="{E3211963-34E0-4267-B78A-1F24F19CF17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16</a:t>
            </a:r>
          </a:p>
        </p:txBody>
      </p:sp>
      <p:graphicFrame>
        <p:nvGraphicFramePr>
          <p:cNvPr id="8" name=""/>
          <p:cNvGraphicFramePr/>
          <p:nvPr/>
        </p:nvGraphicFramePr>
        <p:xfrm>
          <a:off xmlns:a="http://schemas.openxmlformats.org/drawingml/2006/main" x="523875" y="1438275"/>
          <a:ext xmlns:a="http://schemas.openxmlformats.org/drawingml/2006/main" cx="8096250" cy="2857500"/>
        </p:xfrm>
        <a:graphic xmlns:a="http://schemas.openxmlformats.org/drawingml/2006/main">
          <a:graphicData uri="http://schemas.openxmlformats.org/drawingml/2006/table">
            <a:tbl>
              <a:tblPr/>
              <a:tblGrid>
                <a:gridCol w="1952625"/>
                <a:gridCol w="3000375"/>
                <a:gridCol w="3143250"/>
              </a:tblGrid>
              <a:tr h="714375">
                <a:tc>
                  <a:txBody>
                    <a:bodyPr lIns="114300" tIns="76200" rIns="114300" bIns="76200">
                      <a:noAutofit/>
                    </a:bodyPr>
                    <a:lstStyle/>
                    <a:p>
                      <a:r>
                        <a:rPr sz="1425" b="1">
                          <a:solidFill>
                            <a:srgbClr val="FFFFFF"/>
                          </a:solidFill>
                          <a:latin typeface="Arial"/>
                          <a:ea typeface="Arial"/>
                          <a:cs typeface="Arial"/>
                        </a:rPr>
                        <a:t>Method</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Origin</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Core idea</a:t>
                      </a:r>
                    </a:p>
                  </a:txBody>
                  <a:tcPr marL="91440" marR="91440" marT="45720" marB="45720" anchor="ctr">
                    <a:solidFill>
                      <a:srgbClr val="00539F"/>
                    </a:solidFill>
                  </a:tcPr>
                </a:tc>
              </a:tr>
              <a:tr h="714375">
                <a:tc>
                  <a:txBody>
                    <a:bodyPr lIns="114300" tIns="76200" rIns="114300" bIns="76200">
                      <a:noAutofit/>
                    </a:bodyPr>
                    <a:lstStyle/>
                    <a:p>
                      <a:r>
                        <a:rPr sz="1425" b="0">
                          <a:solidFill>
                            <a:srgbClr val="17324D"/>
                          </a:solidFill>
                          <a:latin typeface="Arial"/>
                          <a:ea typeface="Arial"/>
                          <a:cs typeface="Arial"/>
                        </a:rPr>
                        <a:t>D*</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Stentz, 1994</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Repair routes after cost changes</a:t>
                      </a:r>
                    </a:p>
                  </a:txBody>
                  <a:tcPr marL="91440" marR="91440" marT="45720" marB="45720" anchor="ctr">
                    <a:solidFill>
                      <a:srgbClr val="FFFFFF"/>
                    </a:solidFill>
                  </a:tcPr>
                </a:tc>
              </a:tr>
              <a:tr h="714375">
                <a:tc>
                  <a:txBody>
                    <a:bodyPr lIns="114300" tIns="76200" rIns="114300" bIns="76200">
                      <a:noAutofit/>
                    </a:bodyPr>
                    <a:lstStyle/>
                    <a:p>
                      <a:r>
                        <a:rPr sz="1425" b="0">
                          <a:solidFill>
                            <a:srgbClr val="17324D"/>
                          </a:solidFill>
                          <a:latin typeface="Arial"/>
                          <a:ea typeface="Arial"/>
                          <a:cs typeface="Arial"/>
                        </a:rPr>
                        <a:t>D* Lite</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Koenig &amp; Likhachev, 2002</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Reuse backward g / rhs values</a:t>
                      </a:r>
                    </a:p>
                  </a:txBody>
                  <a:tcPr marL="91440" marR="91440" marT="45720" marB="45720" anchor="ctr">
                    <a:solidFill>
                      <a:srgbClr val="F1F6FA"/>
                    </a:solidFill>
                  </a:tcPr>
                </a:tc>
              </a:tr>
              <a:tr h="714375">
                <a:tc>
                  <a:txBody>
                    <a:bodyPr lIns="114300" tIns="76200" rIns="114300" bIns="76200">
                      <a:noAutofit/>
                    </a:bodyPr>
                    <a:lstStyle/>
                    <a:p>
                      <a:r>
                        <a:rPr sz="1425" b="0">
                          <a:solidFill>
                            <a:srgbClr val="17324D"/>
                          </a:solidFill>
                          <a:latin typeface="Arial"/>
                          <a:ea typeface="Arial"/>
                          <a:cs typeface="Arial"/>
                        </a:rPr>
                        <a:t>Repeated A*</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New search after each edit</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Discard previous search state</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205681952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142c4fd6b5fb45e6"/>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D* Lite consistency">
            <a:extLst xmlns:a="http://schemas.openxmlformats.org/drawingml/2006/main">
              <a:ext uri="{FF2B5EF4-FFF2-40B4-BE49-F238E27FC236}">
                <a16:creationId xmlns:a16="http://schemas.microsoft.com/office/drawing/2014/main" id="{0E0D36D2-C140-4012-9D24-AB780D8127FC}"/>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D* Lite consistency</a:t>
            </a:r>
          </a:p>
        </p:txBody>
      </p:sp>
      <p:sp>
        <p:nvSpPr>
          <p:cNvPr id="3" name="17">
            <a:extLst xmlns:a="http://schemas.openxmlformats.org/drawingml/2006/main">
              <a:ext uri="{FF2B5EF4-FFF2-40B4-BE49-F238E27FC236}">
                <a16:creationId xmlns:a16="http://schemas.microsoft.com/office/drawing/2014/main" id="{CC31243D-73B5-4E3E-8A3A-3AAE25C5E0E7}"/>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17</a:t>
            </a:r>
          </a:p>
        </p:txBody>
      </p:sp>
      <p:sp>
        <p:nvSpPr>
          <p:cNvPr id="4" name="rhs(s) = min [ c(s, s′) + g(s′) ]">
            <a:extLst xmlns:a="http://schemas.openxmlformats.org/drawingml/2006/main">
              <a:ext uri="{FF2B5EF4-FFF2-40B4-BE49-F238E27FC236}">
                <a16:creationId xmlns:a16="http://schemas.microsoft.com/office/drawing/2014/main" id="{13E65B08-98CD-4CDA-A566-8C6B1F0782F8}"/>
              </a:ext>
            </a:extLst>
          </p:cNvPr>
          <p:cNvSpPr>
            <a:spLocks xmlns:a="http://schemas.openxmlformats.org/drawingml/2006/main" noGrp="1"/>
          </p:cNvSpPr>
          <p:nvPr/>
        </p:nvSpPr>
        <p:spPr>
          <a:xfrm xmlns:a="http://schemas.openxmlformats.org/drawingml/2006/main">
            <a:off x="619125" y="145732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1">
                <a:solidFill>
                  <a:srgbClr val="00539F"/>
                </a:solidFill>
                <a:latin typeface="Arial"/>
                <a:ea typeface="Arial"/>
                <a:cs typeface="Arial"/>
              </a:defRPr>
            </a:pPr>
            <a:r>
              <a:rPr sz="2400" b="1">
                <a:solidFill>
                  <a:srgbClr val="00539F"/>
                </a:solidFill>
                <a:latin typeface="Arial"/>
                <a:ea typeface="Arial"/>
                <a:cs typeface="Arial"/>
              </a:rPr>
              <a:t>rhs(s) = min [ c(s, s′) + g(s′) ]</a:t>
            </a:r>
          </a:p>
        </p:txBody>
      </p:sp>
      <p:sp>
        <p:nvSpPr>
          <p:cNvPr id="5" name="g(s) = rhs(s)   means locally consistent">
            <a:extLst xmlns:a="http://schemas.openxmlformats.org/drawingml/2006/main">
              <a:ext uri="{FF2B5EF4-FFF2-40B4-BE49-F238E27FC236}">
                <a16:creationId xmlns:a16="http://schemas.microsoft.com/office/drawing/2014/main" id="{52A0FF25-6B16-4F11-937A-61B6B34AFE7C}"/>
              </a:ext>
            </a:extLst>
          </p:cNvPr>
          <p:cNvSpPr>
            <a:spLocks xmlns:a="http://schemas.openxmlformats.org/drawingml/2006/main" noGrp="1"/>
          </p:cNvSpPr>
          <p:nvPr/>
        </p:nvSpPr>
        <p:spPr>
          <a:xfrm xmlns:a="http://schemas.openxmlformats.org/drawingml/2006/main">
            <a:off x="619125" y="204787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g(s) = rhs(s)   means locally consistent</a:t>
            </a:r>
          </a:p>
        </p:txBody>
      </p:sp>
      <p:sp>
        <p:nvSpPr>
          <p:cNvPr id="6" name="g is the stored estimate of cost to the goal.&#10;&#10;rhs checks that e">
            <a:extLst xmlns:a="http://schemas.openxmlformats.org/drawingml/2006/main">
              <a:ext uri="{FF2B5EF4-FFF2-40B4-BE49-F238E27FC236}">
                <a16:creationId xmlns:a16="http://schemas.microsoft.com/office/drawing/2014/main" id="{B254213A-4A9A-486C-95F1-C95F5667B767}"/>
              </a:ext>
            </a:extLst>
          </p:cNvPr>
          <p:cNvSpPr>
            <a:spLocks xmlns:a="http://schemas.openxmlformats.org/drawingml/2006/main" noGrp="1"/>
          </p:cNvSpPr>
          <p:nvPr/>
        </p:nvSpPr>
        <p:spPr>
          <a:xfrm xmlns:a="http://schemas.openxmlformats.org/drawingml/2006/main">
            <a:off x="619125" y="3476625"/>
            <a:ext cx="790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g is the stored estimate of cost to the goal.</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rhs checks that estimate against one step through a neighbor.</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A changed edge makes affected states inconsistent.</a:t>
            </a:r>
          </a:p>
        </p:txBody>
      </p:sp>
    </p:spTree>
    <p:extLst>
      <p:ext uri="{BB962C8B-B14F-4D97-AF65-F5344CB8AC3E}">
        <p14:creationId xmlns:p14="http://schemas.microsoft.com/office/powerpoint/2010/main" val="53522244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499d29549494b56"/>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D* Lite repairs the route">
            <a:extLst xmlns:a="http://schemas.openxmlformats.org/drawingml/2006/main">
              <a:ext uri="{FF2B5EF4-FFF2-40B4-BE49-F238E27FC236}">
                <a16:creationId xmlns:a16="http://schemas.microsoft.com/office/drawing/2014/main" id="{4C519767-0369-4459-B9E6-5DE98F81AB86}"/>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D* Lite repairs the route</a:t>
            </a:r>
          </a:p>
        </p:txBody>
      </p:sp>
      <p:sp>
        <p:nvSpPr>
          <p:cNvPr id="3" name="18">
            <a:extLst xmlns:a="http://schemas.openxmlformats.org/drawingml/2006/main">
              <a:ext uri="{FF2B5EF4-FFF2-40B4-BE49-F238E27FC236}">
                <a16:creationId xmlns:a16="http://schemas.microsoft.com/office/drawing/2014/main" id="{FB6A99BD-F7D3-47E1-A149-A595F9B84803}"/>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18</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722303ee1f1450c"/>
          <a:stretch xmlns:a="http://schemas.openxmlformats.org/drawingml/2006/main"/>
        </p:blipFill>
        <p:spPr>
          <a:xfrm xmlns:a="http://schemas.openxmlformats.org/drawingml/2006/main">
            <a:off x="729044" y="1400175"/>
            <a:ext cx="4818888" cy="2952750"/>
          </a:xfrm>
          <a:prstGeom xmlns:a="http://schemas.openxmlformats.org/drawingml/2006/main" prst="rect">
            <a:avLst/>
          </a:prstGeom>
        </p:spPr>
      </p:pic>
      <p:sp>
        <p:nvSpPr>
          <p:cNvPr id="5" name="The blocked cell changes the route.&#10;&#10;Cyan shows the states proce">
            <a:extLst xmlns:a="http://schemas.openxmlformats.org/drawingml/2006/main">
              <a:ext uri="{FF2B5EF4-FFF2-40B4-BE49-F238E27FC236}">
                <a16:creationId xmlns:a16="http://schemas.microsoft.com/office/drawing/2014/main" id="{B85845F7-8F1A-4325-BDEF-E111B5624DA4}"/>
              </a:ext>
            </a:extLst>
          </p:cNvPr>
          <p:cNvSpPr>
            <a:spLocks xmlns:a="http://schemas.openxmlformats.org/drawingml/2006/main" noGrp="1"/>
          </p:cNvSpPr>
          <p:nvPr/>
        </p:nvSpPr>
        <p:spPr>
          <a:xfrm xmlns:a="http://schemas.openxmlformats.org/drawingml/2006/main">
            <a:off x="6029325" y="1428750"/>
            <a:ext cx="26193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blocked cell changes the route.</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Cyan shows the states processed by this repair.</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demo compares route cost and expansions with a fresh A* search.</a:t>
            </a:r>
          </a:p>
        </p:txBody>
      </p:sp>
      <p:sp>
        <p:nvSpPr>
          <p:cNvPr id="6" name="Open interactive experiment">
            <a:extLst xmlns:a="http://schemas.openxmlformats.org/drawingml/2006/main">
              <a:ext uri="{FF2B5EF4-FFF2-40B4-BE49-F238E27FC236}">
                <a16:creationId xmlns:a16="http://schemas.microsoft.com/office/drawing/2014/main" id="{6D2EB39C-26DD-4EF3-8E0B-3DD22F5F7460}"/>
              </a:ext>
            </a:extLst>
          </p:cNvPr>
          <p:cNvSpPr>
            <a:spLocks xmlns:a="http://schemas.openxmlformats.org/drawingml/2006/main" noGrp="1"/>
          </p:cNvSpPr>
          <p:nvPr/>
        </p:nvSpPr>
        <p:spPr>
          <a:xfrm xmlns:a="http://schemas.openxmlformats.org/drawingml/2006/main">
            <a:off x="523875" y="44862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57bf336994ee4fc2"/>
              </a:rPr>
              <a:t>Open interactive experiment</a:t>
            </a:r>
          </a:p>
        </p:txBody>
      </p:sp>
    </p:spTree>
    <p:extLst>
      <p:ext uri="{BB962C8B-B14F-4D97-AF65-F5344CB8AC3E}">
        <p14:creationId xmlns:p14="http://schemas.microsoft.com/office/powerpoint/2010/main" val="115502445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820d35376bdf4cea"/>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When incremental replanning helps">
            <a:extLst xmlns:a="http://schemas.openxmlformats.org/drawingml/2006/main">
              <a:ext uri="{FF2B5EF4-FFF2-40B4-BE49-F238E27FC236}">
                <a16:creationId xmlns:a16="http://schemas.microsoft.com/office/drawing/2014/main" id="{90D17671-3ED3-4B40-92A4-E089C9462596}"/>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When incremental replanning helps</a:t>
            </a:r>
          </a:p>
        </p:txBody>
      </p:sp>
      <p:sp>
        <p:nvSpPr>
          <p:cNvPr id="3" name="19">
            <a:extLst xmlns:a="http://schemas.openxmlformats.org/drawingml/2006/main">
              <a:ext uri="{FF2B5EF4-FFF2-40B4-BE49-F238E27FC236}">
                <a16:creationId xmlns:a16="http://schemas.microsoft.com/office/drawing/2014/main" id="{D231715C-F8A9-41E6-AE05-C37743E380AA}"/>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19</a:t>
            </a:r>
          </a:p>
        </p:txBody>
      </p:sp>
      <p:graphicFrame>
        <p:nvGraphicFramePr>
          <p:cNvPr id="8" name=""/>
          <p:cNvGraphicFramePr/>
          <p:nvPr/>
        </p:nvGraphicFramePr>
        <p:xfrm>
          <a:off xmlns:a="http://schemas.openxmlformats.org/drawingml/2006/main" x="523875" y="1438275"/>
          <a:ext xmlns:a="http://schemas.openxmlformats.org/drawingml/2006/main" cx="8096250" cy="2857500"/>
        </p:xfrm>
        <a:graphic xmlns:a="http://schemas.openxmlformats.org/drawingml/2006/main">
          <a:graphicData uri="http://schemas.openxmlformats.org/drawingml/2006/table">
            <a:tbl>
              <a:tblPr/>
              <a:tblGrid>
                <a:gridCol w="1952625"/>
                <a:gridCol w="3000375"/>
                <a:gridCol w="3143250"/>
              </a:tblGrid>
              <a:tr h="571500">
                <a:tc>
                  <a:txBody>
                    <a:bodyPr lIns="114300" tIns="76200" rIns="114300" bIns="76200">
                      <a:noAutofit/>
                    </a:bodyPr>
                    <a:lstStyle/>
                    <a:p>
                      <a:r>
                        <a:rPr sz="1425" b="1">
                          <a:solidFill>
                            <a:srgbClr val="FFFFFF"/>
                          </a:solidFill>
                          <a:latin typeface="Arial"/>
                          <a:ea typeface="Arial"/>
                          <a:cs typeface="Arial"/>
                        </a:rPr>
                        <a:t>Situation</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Expected benefit</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Remaining problem</a:t>
                      </a:r>
                    </a:p>
                  </a:txBody>
                  <a:tcPr marL="91440" marR="91440" marT="45720" marB="45720" anchor="ctr">
                    <a:solidFill>
                      <a:srgbClr val="00539F"/>
                    </a:solidFill>
                  </a:tcPr>
                </a:tc>
              </a:tr>
              <a:tr h="571500">
                <a:tc>
                  <a:txBody>
                    <a:bodyPr lIns="114300" tIns="76200" rIns="114300" bIns="76200">
                      <a:noAutofit/>
                    </a:bodyPr>
                    <a:lstStyle/>
                    <a:p>
                      <a:r>
                        <a:rPr sz="1425" b="0">
                          <a:solidFill>
                            <a:srgbClr val="17324D"/>
                          </a:solidFill>
                          <a:latin typeface="Arial"/>
                          <a:ea typeface="Arial"/>
                          <a:cs typeface="Arial"/>
                        </a:rPr>
                        <a:t>Few changed edges</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Reuse unaffected estimates</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Detect changes correctly</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Robot advances</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Retain goal-distance values</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Maintain consistent priorities</a:t>
                      </a:r>
                    </a:p>
                  </a:txBody>
                  <a:tcPr marL="91440" marR="91440" marT="45720" marB="45720" anchor="ctr">
                    <a:solidFill>
                      <a:srgbClr val="F1F6FA"/>
                    </a:solidFill>
                  </a:tcPr>
                </a:tc>
              </a:tr>
              <a:tr h="571500">
                <a:tc>
                  <a:txBody>
                    <a:bodyPr lIns="114300" tIns="76200" rIns="114300" bIns="76200">
                      <a:noAutofit/>
                    </a:bodyPr>
                    <a:lstStyle/>
                    <a:p>
                      <a:r>
                        <a:rPr sz="1425" b="0">
                          <a:solidFill>
                            <a:srgbClr val="17324D"/>
                          </a:solidFill>
                          <a:latin typeface="Arial"/>
                          <a:ea typeface="Arial"/>
                          <a:cs typeface="Arial"/>
                        </a:rPr>
                        <a:t>Large map revisions</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Benefit can shrink</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Many states need repair</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Moving traffic</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Update current occupancy</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Predict motion and timing</a:t>
                      </a:r>
                    </a:p>
                  </a:txBody>
                  <a:tcPr marL="91440" marR="91440" marT="45720" marB="45720" anchor="ctr">
                    <a:solidFill>
                      <a:srgbClr val="F1F6FA"/>
                    </a:solidFill>
                  </a:tcPr>
                </a:tc>
              </a:tr>
            </a:tbl>
          </a:graphicData>
        </a:graphic>
      </p:graphicFrame>
    </p:spTree>
    <p:extLst>
      <p:ext uri="{BB962C8B-B14F-4D97-AF65-F5344CB8AC3E}">
        <p14:creationId xmlns:p14="http://schemas.microsoft.com/office/powerpoint/2010/main" val="43393472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cd91c51d37704cd5"/>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Popular planning families">
            <a:extLst xmlns:a="http://schemas.openxmlformats.org/drawingml/2006/main">
              <a:ext uri="{FF2B5EF4-FFF2-40B4-BE49-F238E27FC236}">
                <a16:creationId xmlns:a16="http://schemas.microsoft.com/office/drawing/2014/main" id="{9594E189-242E-4E1D-9B63-2CDDC8F369D4}"/>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Popular planning families</a:t>
            </a:r>
          </a:p>
        </p:txBody>
      </p:sp>
      <p:sp>
        <p:nvSpPr>
          <p:cNvPr id="3" name="20">
            <a:extLst xmlns:a="http://schemas.openxmlformats.org/drawingml/2006/main">
              <a:ext uri="{FF2B5EF4-FFF2-40B4-BE49-F238E27FC236}">
                <a16:creationId xmlns:a16="http://schemas.microsoft.com/office/drawing/2014/main" id="{C64F04F2-7338-4C2A-9B88-9AF04B94908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20</a:t>
            </a:r>
          </a:p>
        </p:txBody>
      </p:sp>
      <p:graphicFrame>
        <p:nvGraphicFramePr>
          <p:cNvPr id="8" name=""/>
          <p:cNvGraphicFramePr/>
          <p:nvPr/>
        </p:nvGraphicFramePr>
        <p:xfrm>
          <a:off xmlns:a="http://schemas.openxmlformats.org/drawingml/2006/main" x="523875" y="1438275"/>
          <a:ext xmlns:a="http://schemas.openxmlformats.org/drawingml/2006/main" cx="8096250" cy="2857500"/>
        </p:xfrm>
        <a:graphic xmlns:a="http://schemas.openxmlformats.org/drawingml/2006/main">
          <a:graphicData uri="http://schemas.openxmlformats.org/drawingml/2006/table">
            <a:tbl>
              <a:tblPr/>
              <a:tblGrid>
                <a:gridCol w="1952625"/>
                <a:gridCol w="3000375"/>
                <a:gridCol w="3143250"/>
              </a:tblGrid>
              <a:tr h="571500">
                <a:tc>
                  <a:txBody>
                    <a:bodyPr lIns="114300" tIns="76200" rIns="114300" bIns="76200">
                      <a:noAutofit/>
                    </a:bodyPr>
                    <a:lstStyle/>
                    <a:p>
                      <a:r>
                        <a:rPr sz="1425" b="1">
                          <a:solidFill>
                            <a:srgbClr val="FFFFFF"/>
                          </a:solidFill>
                          <a:latin typeface="Arial"/>
                          <a:ea typeface="Arial"/>
                          <a:cs typeface="Arial"/>
                        </a:rPr>
                        <a:t>Family</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Examples</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Useful problem</a:t>
                      </a:r>
                    </a:p>
                  </a:txBody>
                  <a:tcPr marL="91440" marR="91440" marT="45720" marB="45720" anchor="ctr">
                    <a:solidFill>
                      <a:srgbClr val="00539F"/>
                    </a:solidFill>
                  </a:tcPr>
                </a:tc>
              </a:tr>
              <a:tr h="571500">
                <a:tc>
                  <a:txBody>
                    <a:bodyPr lIns="114300" tIns="76200" rIns="114300" bIns="76200">
                      <a:noAutofit/>
                    </a:bodyPr>
                    <a:lstStyle/>
                    <a:p>
                      <a:r>
                        <a:rPr sz="1425" b="0">
                          <a:solidFill>
                            <a:srgbClr val="17324D"/>
                          </a:solidFill>
                          <a:latin typeface="Arial"/>
                          <a:ea typeface="Arial"/>
                          <a:cs typeface="Arial"/>
                        </a:rPr>
                        <a:t>Graph search</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Dijkstra, A*, D* Lite</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Costed map / state graph</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Sampling</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PRM, RRT, RRT*</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Continuous configuration space</a:t>
                      </a:r>
                    </a:p>
                  </a:txBody>
                  <a:tcPr marL="91440" marR="91440" marT="45720" marB="45720" anchor="ctr">
                    <a:solidFill>
                      <a:srgbClr val="F1F6FA"/>
                    </a:solidFill>
                  </a:tcPr>
                </a:tc>
              </a:tr>
              <a:tr h="571500">
                <a:tc>
                  <a:txBody>
                    <a:bodyPr lIns="114300" tIns="76200" rIns="114300" bIns="76200">
                      <a:noAutofit/>
                    </a:bodyPr>
                    <a:lstStyle/>
                    <a:p>
                      <a:r>
                        <a:rPr sz="1425" b="0">
                          <a:solidFill>
                            <a:srgbClr val="17324D"/>
                          </a:solidFill>
                          <a:latin typeface="Arial"/>
                          <a:ea typeface="Arial"/>
                          <a:cs typeface="Arial"/>
                        </a:rPr>
                        <a:t>Potential fields</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Attraction / repulsion</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Fast reactive motion guidance</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Trajectory optimization</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MPC, MPPI, trajectory fitting</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Motion with costs and constraints</a:t>
                      </a:r>
                    </a:p>
                  </a:txBody>
                  <a:tcPr marL="91440" marR="91440" marT="45720" marB="45720" anchor="ctr">
                    <a:solidFill>
                      <a:srgbClr val="F1F6FA"/>
                    </a:solidFill>
                  </a:tcPr>
                </a:tc>
              </a:tr>
            </a:tbl>
          </a:graphicData>
        </a:graphic>
      </p:graphicFrame>
    </p:spTree>
    <p:extLst>
      <p:ext uri="{BB962C8B-B14F-4D97-AF65-F5344CB8AC3E}">
        <p14:creationId xmlns:p14="http://schemas.microsoft.com/office/powerpoint/2010/main" val="142960180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93e06e1160e4d09"/>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PRM and RRT">
            <a:extLst xmlns:a="http://schemas.openxmlformats.org/drawingml/2006/main">
              <a:ext uri="{FF2B5EF4-FFF2-40B4-BE49-F238E27FC236}">
                <a16:creationId xmlns:a16="http://schemas.microsoft.com/office/drawing/2014/main" id="{AC66BC12-4058-49E9-B0FF-04ACA3C8D189}"/>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PRM and RRT</a:t>
            </a:r>
          </a:p>
        </p:txBody>
      </p:sp>
      <p:sp>
        <p:nvSpPr>
          <p:cNvPr id="3" name="21">
            <a:extLst xmlns:a="http://schemas.openxmlformats.org/drawingml/2006/main">
              <a:ext uri="{FF2B5EF4-FFF2-40B4-BE49-F238E27FC236}">
                <a16:creationId xmlns:a16="http://schemas.microsoft.com/office/drawing/2014/main" id="{8155FD1E-1C06-4C8F-913F-178539478D6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21</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58baf251fd414c62"/>
          <a:stretch xmlns:a="http://schemas.openxmlformats.org/drawingml/2006/main"/>
        </p:blipFill>
        <p:spPr>
          <a:xfrm xmlns:a="http://schemas.openxmlformats.org/drawingml/2006/main">
            <a:off x="721031" y="1400175"/>
            <a:ext cx="4834912" cy="2952750"/>
          </a:xfrm>
          <a:prstGeom xmlns:a="http://schemas.openxmlformats.org/drawingml/2006/main" prst="rect">
            <a:avLst/>
          </a:prstGeom>
        </p:spPr>
      </p:pic>
      <p:sp>
        <p:nvSpPr>
          <p:cNvPr id="5" name="PRM builds a roadmap that can support many queries.&#10;&#10;RRT grows a">
            <a:extLst xmlns:a="http://schemas.openxmlformats.org/drawingml/2006/main">
              <a:ext uri="{FF2B5EF4-FFF2-40B4-BE49-F238E27FC236}">
                <a16:creationId xmlns:a16="http://schemas.microsoft.com/office/drawing/2014/main" id="{E71EE0D4-C21D-4DF1-8774-F43F082B736E}"/>
              </a:ext>
            </a:extLst>
          </p:cNvPr>
          <p:cNvSpPr>
            <a:spLocks xmlns:a="http://schemas.openxmlformats.org/drawingml/2006/main" noGrp="1"/>
          </p:cNvSpPr>
          <p:nvPr/>
        </p:nvSpPr>
        <p:spPr>
          <a:xfrm xmlns:a="http://schemas.openxmlformats.org/drawingml/2006/main">
            <a:off x="6029325" y="1428750"/>
            <a:ext cx="26193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PRM builds a roadmap that can support many queries.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RRT grows a tree outward from a starting configuration.</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Collision checks decide which connections survive.</a:t>
            </a:r>
          </a:p>
        </p:txBody>
      </p:sp>
      <p:sp>
        <p:nvSpPr>
          <p:cNvPr id="6" name="Open interactive experiment">
            <a:extLst xmlns:a="http://schemas.openxmlformats.org/drawingml/2006/main">
              <a:ext uri="{FF2B5EF4-FFF2-40B4-BE49-F238E27FC236}">
                <a16:creationId xmlns:a16="http://schemas.microsoft.com/office/drawing/2014/main" id="{3777624B-45E8-4C85-BA69-CFBB744DF9F3}"/>
              </a:ext>
            </a:extLst>
          </p:cNvPr>
          <p:cNvSpPr>
            <a:spLocks xmlns:a="http://schemas.openxmlformats.org/drawingml/2006/main" noGrp="1"/>
          </p:cNvSpPr>
          <p:nvPr/>
        </p:nvSpPr>
        <p:spPr>
          <a:xfrm xmlns:a="http://schemas.openxmlformats.org/drawingml/2006/main">
            <a:off x="523875" y="44862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16e7e1dc997d41e3"/>
              </a:rPr>
              <a:t>Open interactive experiment</a:t>
            </a:r>
          </a:p>
        </p:txBody>
      </p:sp>
    </p:spTree>
    <p:extLst>
      <p:ext uri="{BB962C8B-B14F-4D97-AF65-F5344CB8AC3E}">
        <p14:creationId xmlns:p14="http://schemas.microsoft.com/office/powerpoint/2010/main" val="40806365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310ed63a4f54fb5"/>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RRT and RRT* tradeoffs">
            <a:extLst xmlns:a="http://schemas.openxmlformats.org/drawingml/2006/main">
              <a:ext uri="{FF2B5EF4-FFF2-40B4-BE49-F238E27FC236}">
                <a16:creationId xmlns:a16="http://schemas.microsoft.com/office/drawing/2014/main" id="{B68AA426-4EB7-4BDA-8AD7-E77B91BDF4A4}"/>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RRT and RRT* tradeoffs</a:t>
            </a:r>
          </a:p>
        </p:txBody>
      </p:sp>
      <p:sp>
        <p:nvSpPr>
          <p:cNvPr id="3" name="22">
            <a:extLst xmlns:a="http://schemas.openxmlformats.org/drawingml/2006/main">
              <a:ext uri="{FF2B5EF4-FFF2-40B4-BE49-F238E27FC236}">
                <a16:creationId xmlns:a16="http://schemas.microsoft.com/office/drawing/2014/main" id="{AEC89E4E-A88C-4D63-969B-41C3EE7934C6}"/>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22</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3503ce5d9bd4cca"/>
          <a:stretch xmlns:a="http://schemas.openxmlformats.org/drawingml/2006/main"/>
        </p:blipFill>
        <p:spPr>
          <a:xfrm xmlns:a="http://schemas.openxmlformats.org/drawingml/2006/main">
            <a:off x="729044" y="1400175"/>
            <a:ext cx="4818888" cy="2952750"/>
          </a:xfrm>
          <a:prstGeom xmlns:a="http://schemas.openxmlformats.org/drawingml/2006/main" prst="rect">
            <a:avLst/>
          </a:prstGeom>
        </p:spPr>
      </p:pic>
      <p:sp>
        <p:nvSpPr>
          <p:cNvPr id="5" name="RRT often finds a feasible path before refining its quality.&#10;&#10;RR">
            <a:extLst xmlns:a="http://schemas.openxmlformats.org/drawingml/2006/main">
              <a:ext uri="{FF2B5EF4-FFF2-40B4-BE49-F238E27FC236}">
                <a16:creationId xmlns:a16="http://schemas.microsoft.com/office/drawing/2014/main" id="{E3EB15E1-D177-42C5-8979-BF1B4C9B8952}"/>
              </a:ext>
            </a:extLst>
          </p:cNvPr>
          <p:cNvSpPr>
            <a:spLocks xmlns:a="http://schemas.openxmlformats.org/drawingml/2006/main" noGrp="1"/>
          </p:cNvSpPr>
          <p:nvPr/>
        </p:nvSpPr>
        <p:spPr>
          <a:xfrm xmlns:a="http://schemas.openxmlformats.org/drawingml/2006/main">
            <a:off x="6029325" y="1428750"/>
            <a:ext cx="26193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RRT often finds a feasible path before refining its quality.</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RRT* rewires nearby connections to improve path cost.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Finite compute time can still leave a poor path or miss a narrow passage.</a:t>
            </a:r>
          </a:p>
        </p:txBody>
      </p:sp>
      <p:sp>
        <p:nvSpPr>
          <p:cNvPr id="6" name="Open interactive experiment">
            <a:extLst xmlns:a="http://schemas.openxmlformats.org/drawingml/2006/main">
              <a:ext uri="{FF2B5EF4-FFF2-40B4-BE49-F238E27FC236}">
                <a16:creationId xmlns:a16="http://schemas.microsoft.com/office/drawing/2014/main" id="{FAEACA26-1AC9-4082-B667-0FB0D2456605}"/>
              </a:ext>
            </a:extLst>
          </p:cNvPr>
          <p:cNvSpPr>
            <a:spLocks xmlns:a="http://schemas.openxmlformats.org/drawingml/2006/main" noGrp="1"/>
          </p:cNvSpPr>
          <p:nvPr/>
        </p:nvSpPr>
        <p:spPr>
          <a:xfrm xmlns:a="http://schemas.openxmlformats.org/drawingml/2006/main">
            <a:off x="523875" y="44862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ca9fea4009f545b7"/>
              </a:rPr>
              <a:t>Open interactive experiment</a:t>
            </a:r>
          </a:p>
        </p:txBody>
      </p:sp>
    </p:spTree>
    <p:extLst>
      <p:ext uri="{BB962C8B-B14F-4D97-AF65-F5344CB8AC3E}">
        <p14:creationId xmlns:p14="http://schemas.microsoft.com/office/powerpoint/2010/main" val="85646668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cf4adad5da73452c"/>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The robot occupies space">
            <a:extLst xmlns:a="http://schemas.openxmlformats.org/drawingml/2006/main">
              <a:ext uri="{FF2B5EF4-FFF2-40B4-BE49-F238E27FC236}">
                <a16:creationId xmlns:a16="http://schemas.microsoft.com/office/drawing/2014/main" id="{E908C4BA-45EC-424E-BAD5-B2CAE33B1B35}"/>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robot occupies space</a:t>
            </a:r>
          </a:p>
        </p:txBody>
      </p:sp>
      <p:sp>
        <p:nvSpPr>
          <p:cNvPr id="3" name="23">
            <a:extLst xmlns:a="http://schemas.openxmlformats.org/drawingml/2006/main">
              <a:ext uri="{FF2B5EF4-FFF2-40B4-BE49-F238E27FC236}">
                <a16:creationId xmlns:a16="http://schemas.microsoft.com/office/drawing/2014/main" id="{8F3EF258-5493-4532-94D3-73E426598A37}"/>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23</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b3ffccc21e94628"/>
          <a:stretch xmlns:a="http://schemas.openxmlformats.org/drawingml/2006/main"/>
        </p:blipFill>
        <p:spPr>
          <a:xfrm xmlns:a="http://schemas.openxmlformats.org/drawingml/2006/main">
            <a:off x="729044" y="1400175"/>
            <a:ext cx="4818888" cy="2952750"/>
          </a:xfrm>
          <a:prstGeom xmlns:a="http://schemas.openxmlformats.org/drawingml/2006/main" prst="rect">
            <a:avLst/>
          </a:prstGeom>
        </p:spPr>
      </p:pic>
      <p:sp>
        <p:nvSpPr>
          <p:cNvPr id="5" name="A point path ignores the physical footprint.&#10;&#10;Configuration incl">
            <a:extLst xmlns:a="http://schemas.openxmlformats.org/drawingml/2006/main">
              <a:ext uri="{FF2B5EF4-FFF2-40B4-BE49-F238E27FC236}">
                <a16:creationId xmlns:a16="http://schemas.microsoft.com/office/drawing/2014/main" id="{68537B71-B8AC-4325-84BB-A00FCC0D9CEB}"/>
              </a:ext>
            </a:extLst>
          </p:cNvPr>
          <p:cNvSpPr>
            <a:spLocks xmlns:a="http://schemas.openxmlformats.org/drawingml/2006/main" noGrp="1"/>
          </p:cNvSpPr>
          <p:nvPr/>
        </p:nvSpPr>
        <p:spPr>
          <a:xfrm xmlns:a="http://schemas.openxmlformats.org/drawingml/2006/main">
            <a:off x="6029325" y="1428750"/>
            <a:ext cx="26193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point path ignores the physical footprint.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Configuration includes every variable needed to locate the body.</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mobile rectangle needs position and orientation.</a:t>
            </a:r>
          </a:p>
        </p:txBody>
      </p:sp>
      <p:sp>
        <p:nvSpPr>
          <p:cNvPr id="6" name="Open interactive experiment">
            <a:extLst xmlns:a="http://schemas.openxmlformats.org/drawingml/2006/main">
              <a:ext uri="{FF2B5EF4-FFF2-40B4-BE49-F238E27FC236}">
                <a16:creationId xmlns:a16="http://schemas.microsoft.com/office/drawing/2014/main" id="{09015D93-9A68-41C6-A631-55E1B03F219E}"/>
              </a:ext>
            </a:extLst>
          </p:cNvPr>
          <p:cNvSpPr>
            <a:spLocks xmlns:a="http://schemas.openxmlformats.org/drawingml/2006/main" noGrp="1"/>
          </p:cNvSpPr>
          <p:nvPr/>
        </p:nvSpPr>
        <p:spPr>
          <a:xfrm xmlns:a="http://schemas.openxmlformats.org/drawingml/2006/main">
            <a:off x="523875" y="44862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1f0749e1a9d54ffd"/>
              </a:rPr>
              <a:t>Open interactive experiment</a:t>
            </a:r>
          </a:p>
        </p:txBody>
      </p:sp>
    </p:spTree>
    <p:extLst>
      <p:ext uri="{BB962C8B-B14F-4D97-AF65-F5344CB8AC3E}">
        <p14:creationId xmlns:p14="http://schemas.microsoft.com/office/powerpoint/2010/main" val="11068297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e05f779e23546b9"/>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Obstacle expansion">
            <a:extLst xmlns:a="http://schemas.openxmlformats.org/drawingml/2006/main">
              <a:ext uri="{FF2B5EF4-FFF2-40B4-BE49-F238E27FC236}">
                <a16:creationId xmlns:a16="http://schemas.microsoft.com/office/drawing/2014/main" id="{7C994029-3C0C-4837-BED2-2581D63C366B}"/>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Obstacle expansion</a:t>
            </a:r>
          </a:p>
        </p:txBody>
      </p:sp>
      <p:sp>
        <p:nvSpPr>
          <p:cNvPr id="3" name="24">
            <a:extLst xmlns:a="http://schemas.openxmlformats.org/drawingml/2006/main">
              <a:ext uri="{FF2B5EF4-FFF2-40B4-BE49-F238E27FC236}">
                <a16:creationId xmlns:a16="http://schemas.microsoft.com/office/drawing/2014/main" id="{CF2AFF1B-5B2E-40BD-A903-571DFCBF1115}"/>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24</a:t>
            </a:r>
          </a:p>
        </p:txBody>
      </p:sp>
      <p:sp>
        <p:nvSpPr>
          <p:cNvPr id="4" name="C_obstacle = O ⊕ (−R)">
            <a:extLst xmlns:a="http://schemas.openxmlformats.org/drawingml/2006/main">
              <a:ext uri="{FF2B5EF4-FFF2-40B4-BE49-F238E27FC236}">
                <a16:creationId xmlns:a16="http://schemas.microsoft.com/office/drawing/2014/main" id="{51EE84B0-4700-44AF-A543-1F507950C7CB}"/>
              </a:ext>
            </a:extLst>
          </p:cNvPr>
          <p:cNvSpPr>
            <a:spLocks xmlns:a="http://schemas.openxmlformats.org/drawingml/2006/main" noGrp="1"/>
          </p:cNvSpPr>
          <p:nvPr/>
        </p:nvSpPr>
        <p:spPr>
          <a:xfrm xmlns:a="http://schemas.openxmlformats.org/drawingml/2006/main">
            <a:off x="619125" y="145732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1">
                <a:solidFill>
                  <a:srgbClr val="00539F"/>
                </a:solidFill>
                <a:latin typeface="Arial"/>
                <a:ea typeface="Arial"/>
                <a:cs typeface="Arial"/>
              </a:defRPr>
            </a:pPr>
            <a:r>
              <a:rPr sz="2400" b="1">
                <a:solidFill>
                  <a:srgbClr val="00539F"/>
                </a:solidFill>
                <a:latin typeface="Arial"/>
                <a:ea typeface="Arial"/>
                <a:cs typeface="Arial"/>
              </a:rPr>
              <a:t>C_obstacle = O ⊕ (−R)</a:t>
            </a:r>
          </a:p>
        </p:txBody>
      </p:sp>
      <p:sp>
        <p:nvSpPr>
          <p:cNvPr id="5" name="Circular robot: expansion radius = r + margin">
            <a:extLst xmlns:a="http://schemas.openxmlformats.org/drawingml/2006/main">
              <a:ext uri="{FF2B5EF4-FFF2-40B4-BE49-F238E27FC236}">
                <a16:creationId xmlns:a16="http://schemas.microsoft.com/office/drawing/2014/main" id="{E05348FF-3AE0-4FD2-8F78-69B23DB12E96}"/>
              </a:ext>
            </a:extLst>
          </p:cNvPr>
          <p:cNvSpPr>
            <a:spLocks xmlns:a="http://schemas.openxmlformats.org/drawingml/2006/main" noGrp="1"/>
          </p:cNvSpPr>
          <p:nvPr/>
        </p:nvSpPr>
        <p:spPr>
          <a:xfrm xmlns:a="http://schemas.openxmlformats.org/drawingml/2006/main">
            <a:off x="619125" y="204787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025" b="0">
                <a:solidFill>
                  <a:srgbClr val="00539F"/>
                </a:solidFill>
                <a:latin typeface="Arial"/>
                <a:ea typeface="Arial"/>
                <a:cs typeface="Arial"/>
              </a:defRPr>
            </a:pPr>
            <a:r>
              <a:rPr sz="2025" b="0">
                <a:solidFill>
                  <a:srgbClr val="00539F"/>
                </a:solidFill>
                <a:latin typeface="Arial"/>
                <a:ea typeface="Arial"/>
                <a:cs typeface="Arial"/>
              </a:rPr>
              <a:t>Circular robot: expansion radius = r + margin</a:t>
            </a:r>
          </a:p>
        </p:txBody>
      </p:sp>
      <p:sp>
        <p:nvSpPr>
          <p:cNvPr id="6" name="A circular robot of radius r expands each obstacle by r.&#10;&#10;A safe">
            <a:extLst xmlns:a="http://schemas.openxmlformats.org/drawingml/2006/main">
              <a:ext uri="{FF2B5EF4-FFF2-40B4-BE49-F238E27FC236}">
                <a16:creationId xmlns:a16="http://schemas.microsoft.com/office/drawing/2014/main" id="{A3E95502-4922-4393-82D8-002CA01A35F3}"/>
              </a:ext>
            </a:extLst>
          </p:cNvPr>
          <p:cNvSpPr>
            <a:spLocks xmlns:a="http://schemas.openxmlformats.org/drawingml/2006/main" noGrp="1"/>
          </p:cNvSpPr>
          <p:nvPr/>
        </p:nvSpPr>
        <p:spPr>
          <a:xfrm xmlns:a="http://schemas.openxmlformats.org/drawingml/2006/main">
            <a:off x="619125" y="3476625"/>
            <a:ext cx="790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A circular robot of radius r expands each obstacle by r.</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A safety margin adds clearance for model and pose error.</a:t>
            </a:r>
          </a:p>
        </p:txBody>
      </p:sp>
    </p:spTree>
    <p:extLst>
      <p:ext uri="{BB962C8B-B14F-4D97-AF65-F5344CB8AC3E}">
        <p14:creationId xmlns:p14="http://schemas.microsoft.com/office/powerpoint/2010/main" val="4771543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427ceecaf90b4346"/>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 passage closes as clearance grows">
            <a:extLst xmlns:a="http://schemas.openxmlformats.org/drawingml/2006/main">
              <a:ext uri="{FF2B5EF4-FFF2-40B4-BE49-F238E27FC236}">
                <a16:creationId xmlns:a16="http://schemas.microsoft.com/office/drawing/2014/main" id="{03823B63-3437-4B7A-928A-C37CF0F6387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 passage closes as clearance grows</a:t>
            </a:r>
          </a:p>
        </p:txBody>
      </p:sp>
      <p:sp>
        <p:nvSpPr>
          <p:cNvPr id="3" name="25">
            <a:extLst xmlns:a="http://schemas.openxmlformats.org/drawingml/2006/main">
              <a:ext uri="{FF2B5EF4-FFF2-40B4-BE49-F238E27FC236}">
                <a16:creationId xmlns:a16="http://schemas.microsoft.com/office/drawing/2014/main" id="{12F57F17-8ED0-400F-A4EE-D70BFA3A6AE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25</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fc39df0bedb043e5"/>
          <a:stretch xmlns:a="http://schemas.openxmlformats.org/drawingml/2006/main"/>
        </p:blipFill>
        <p:spPr>
          <a:xfrm xmlns:a="http://schemas.openxmlformats.org/drawingml/2006/main">
            <a:off x="540677" y="1409700"/>
            <a:ext cx="3824021" cy="2343150"/>
          </a:xfrm>
          <a:prstGeom xmlns:a="http://schemas.openxmlformats.org/drawingml/2006/main" prst="rect">
            <a:avLst/>
          </a:prstGeom>
        </p:spPr>
      </p:pic>
      <p:sp>
        <p:nvSpPr>
          <p:cNvPr id="5" name="Small robot and margin">
            <a:extLst xmlns:a="http://schemas.openxmlformats.org/drawingml/2006/main">
              <a:ext uri="{FF2B5EF4-FFF2-40B4-BE49-F238E27FC236}">
                <a16:creationId xmlns:a16="http://schemas.microsoft.com/office/drawing/2014/main" id="{A3DBA203-AF26-4ABE-A2F9-B37C4B7C90A1}"/>
              </a:ext>
            </a:extLst>
          </p:cNvPr>
          <p:cNvSpPr>
            <a:spLocks xmlns:a="http://schemas.openxmlformats.org/drawingml/2006/main" noGrp="1"/>
          </p:cNvSpPr>
          <p:nvPr/>
        </p:nvSpPr>
        <p:spPr>
          <a:xfrm xmlns:a="http://schemas.openxmlformats.org/drawingml/2006/main">
            <a:off x="523875" y="3790950"/>
            <a:ext cx="3857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Small robot and margin</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514546cc42b040bf"/>
          <a:stretch xmlns:a="http://schemas.openxmlformats.org/drawingml/2006/main"/>
        </p:blipFill>
        <p:spPr>
          <a:xfrm xmlns:a="http://schemas.openxmlformats.org/drawingml/2006/main">
            <a:off x="4779302" y="1409700"/>
            <a:ext cx="3824021" cy="2343150"/>
          </a:xfrm>
          <a:prstGeom xmlns:a="http://schemas.openxmlformats.org/drawingml/2006/main" prst="rect">
            <a:avLst/>
          </a:prstGeom>
        </p:spPr>
      </p:pic>
      <p:sp>
        <p:nvSpPr>
          <p:cNvPr id="7" name="Larger robot and margin">
            <a:extLst xmlns:a="http://schemas.openxmlformats.org/drawingml/2006/main">
              <a:ext uri="{FF2B5EF4-FFF2-40B4-BE49-F238E27FC236}">
                <a16:creationId xmlns:a16="http://schemas.microsoft.com/office/drawing/2014/main" id="{2AB76052-5A2C-48B8-A4F7-128F5A3DF281}"/>
              </a:ext>
            </a:extLst>
          </p:cNvPr>
          <p:cNvSpPr>
            <a:spLocks xmlns:a="http://schemas.openxmlformats.org/drawingml/2006/main" noGrp="1"/>
          </p:cNvSpPr>
          <p:nvPr/>
        </p:nvSpPr>
        <p:spPr>
          <a:xfrm xmlns:a="http://schemas.openxmlformats.org/drawingml/2006/main">
            <a:off x="4762500" y="3790950"/>
            <a:ext cx="3857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Larger robot and margin</a:t>
            </a:r>
          </a:p>
        </p:txBody>
      </p:sp>
      <p:sp>
        <p:nvSpPr>
          <p:cNvPr id="8" name="A small footprint leaves a center route through the gap.&#10;A large">
            <a:extLst xmlns:a="http://schemas.openxmlformats.org/drawingml/2006/main">
              <a:ext uri="{FF2B5EF4-FFF2-40B4-BE49-F238E27FC236}">
                <a16:creationId xmlns:a16="http://schemas.microsoft.com/office/drawing/2014/main" id="{631EACDC-9467-4D01-8FE2-46C7D3BF132D}"/>
              </a:ext>
            </a:extLst>
          </p:cNvPr>
          <p:cNvSpPr>
            <a:spLocks xmlns:a="http://schemas.openxmlformats.org/drawingml/2006/main" noGrp="1"/>
          </p:cNvSpPr>
          <p:nvPr/>
        </p:nvSpPr>
        <p:spPr>
          <a:xfrm xmlns:a="http://schemas.openxmlformats.org/drawingml/2006/main">
            <a:off x="523875" y="4171950"/>
            <a:ext cx="8096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A small footprint leaves a center route through the gap.</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A larger footprint and margin remove that route.</a:t>
            </a:r>
          </a:p>
        </p:txBody>
      </p:sp>
      <p:sp>
        <p:nvSpPr>
          <p:cNvPr id="9" name="Open interactive experiment">
            <a:extLst xmlns:a="http://schemas.openxmlformats.org/drawingml/2006/main">
              <a:ext uri="{FF2B5EF4-FFF2-40B4-BE49-F238E27FC236}">
                <a16:creationId xmlns:a16="http://schemas.microsoft.com/office/drawing/2014/main" id="{A8165ADF-9D37-43D4-BAED-D270DEE91754}"/>
              </a:ext>
            </a:extLst>
          </p:cNvPr>
          <p:cNvSpPr>
            <a:spLocks xmlns:a="http://schemas.openxmlformats.org/drawingml/2006/main" noGrp="1"/>
          </p:cNvSpPr>
          <p:nvPr/>
        </p:nvSpPr>
        <p:spPr>
          <a:xfrm xmlns:a="http://schemas.openxmlformats.org/drawingml/2006/main">
            <a:off x="523875" y="466725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8dbc423f612c4cfa"/>
              </a:rPr>
              <a:t>Open interactive experiment</a:t>
            </a:r>
          </a:p>
        </p:txBody>
      </p:sp>
    </p:spTree>
    <p:extLst>
      <p:ext uri="{BB962C8B-B14F-4D97-AF65-F5344CB8AC3E}">
        <p14:creationId xmlns:p14="http://schemas.microsoft.com/office/powerpoint/2010/main" val="61533574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24054a5a49214d81"/>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Hard clearance and soft cost">
            <a:extLst xmlns:a="http://schemas.openxmlformats.org/drawingml/2006/main">
              <a:ext uri="{FF2B5EF4-FFF2-40B4-BE49-F238E27FC236}">
                <a16:creationId xmlns:a16="http://schemas.microsoft.com/office/drawing/2014/main" id="{756E590D-DC71-494D-BF92-2A2A2EB3C48E}"/>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Hard clearance and soft cost</a:t>
            </a:r>
          </a:p>
        </p:txBody>
      </p:sp>
      <p:sp>
        <p:nvSpPr>
          <p:cNvPr id="3" name="26">
            <a:extLst xmlns:a="http://schemas.openxmlformats.org/drawingml/2006/main">
              <a:ext uri="{FF2B5EF4-FFF2-40B4-BE49-F238E27FC236}">
                <a16:creationId xmlns:a16="http://schemas.microsoft.com/office/drawing/2014/main" id="{38E9345E-6C50-4A04-A69D-CCDF5E8890C8}"/>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26</a:t>
            </a:r>
          </a:p>
        </p:txBody>
      </p:sp>
      <p:graphicFrame>
        <p:nvGraphicFramePr>
          <p:cNvPr id="8" name=""/>
          <p:cNvGraphicFramePr/>
          <p:nvPr/>
        </p:nvGraphicFramePr>
        <p:xfrm>
          <a:off xmlns:a="http://schemas.openxmlformats.org/drawingml/2006/main" x="523875" y="1438275"/>
          <a:ext xmlns:a="http://schemas.openxmlformats.org/drawingml/2006/main" cx="8096250" cy="2857500"/>
        </p:xfrm>
        <a:graphic xmlns:a="http://schemas.openxmlformats.org/drawingml/2006/main">
          <a:graphicData uri="http://schemas.openxmlformats.org/drawingml/2006/table">
            <a:tbl>
              <a:tblPr/>
              <a:tblGrid>
                <a:gridCol w="1952625"/>
                <a:gridCol w="3000375"/>
                <a:gridCol w="3143250"/>
              </a:tblGrid>
              <a:tr h="571500">
                <a:tc>
                  <a:txBody>
                    <a:bodyPr lIns="114300" tIns="76200" rIns="114300" bIns="76200">
                      <a:noAutofit/>
                    </a:bodyPr>
                    <a:lstStyle/>
                    <a:p>
                      <a:r>
                        <a:rPr sz="1425" b="1">
                          <a:solidFill>
                            <a:srgbClr val="FFFFFF"/>
                          </a:solidFill>
                          <a:latin typeface="Arial"/>
                          <a:ea typeface="Arial"/>
                          <a:cs typeface="Arial"/>
                        </a:rPr>
                        <a:t>Mechanism</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Effect</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Tuning consequence</a:t>
                      </a:r>
                    </a:p>
                  </a:txBody>
                  <a:tcPr marL="91440" marR="91440" marT="45720" marB="45720" anchor="ctr">
                    <a:solidFill>
                      <a:srgbClr val="00539F"/>
                    </a:solidFill>
                  </a:tcPr>
                </a:tc>
              </a:tr>
              <a:tr h="571500">
                <a:tc>
                  <a:txBody>
                    <a:bodyPr lIns="114300" tIns="76200" rIns="114300" bIns="76200">
                      <a:noAutofit/>
                    </a:bodyPr>
                    <a:lstStyle/>
                    <a:p>
                      <a:r>
                        <a:rPr sz="1425" b="0">
                          <a:solidFill>
                            <a:srgbClr val="17324D"/>
                          </a:solidFill>
                          <a:latin typeface="Arial"/>
                          <a:ea typeface="Arial"/>
                          <a:cs typeface="Arial"/>
                        </a:rPr>
                        <a:t>Footprint collision</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Reject overlap with obstacles</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Physical feasibility</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Extra safety margin</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Exclude additional space</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Can close narrow gaps</a:t>
                      </a:r>
                    </a:p>
                  </a:txBody>
                  <a:tcPr marL="91440" marR="91440" marT="45720" marB="45720" anchor="ctr">
                    <a:solidFill>
                      <a:srgbClr val="F1F6FA"/>
                    </a:solidFill>
                  </a:tcPr>
                </a:tc>
              </a:tr>
              <a:tr h="571500">
                <a:tc>
                  <a:txBody>
                    <a:bodyPr lIns="114300" tIns="76200" rIns="114300" bIns="76200">
                      <a:noAutofit/>
                    </a:bodyPr>
                    <a:lstStyle/>
                    <a:p>
                      <a:r>
                        <a:rPr sz="1425" b="0">
                          <a:solidFill>
                            <a:srgbClr val="17324D"/>
                          </a:solidFill>
                          <a:latin typeface="Arial"/>
                          <a:ea typeface="Arial"/>
                          <a:cs typeface="Arial"/>
                        </a:rPr>
                        <a:t>Graded obstacle cost</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Prefer farther clearance</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Trades clearance against length</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Excessive repulsion</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Avoid high-cost regions</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Can stall in narrow corridors</a:t>
                      </a:r>
                    </a:p>
                  </a:txBody>
                  <a:tcPr marL="91440" marR="91440" marT="45720" marB="45720" anchor="ctr">
                    <a:solidFill>
                      <a:srgbClr val="F1F6FA"/>
                    </a:solidFill>
                  </a:tcPr>
                </a:tc>
              </a:tr>
            </a:tbl>
          </a:graphicData>
        </a:graphic>
      </p:graphicFrame>
    </p:spTree>
    <p:extLst>
      <p:ext uri="{BB962C8B-B14F-4D97-AF65-F5344CB8AC3E}">
        <p14:creationId xmlns:p14="http://schemas.microsoft.com/office/powerpoint/2010/main" val="1849545871"/>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38388d21fa04239"/>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 vehicle cannot follow every point path">
            <a:extLst xmlns:a="http://schemas.openxmlformats.org/drawingml/2006/main">
              <a:ext uri="{FF2B5EF4-FFF2-40B4-BE49-F238E27FC236}">
                <a16:creationId xmlns:a16="http://schemas.microsoft.com/office/drawing/2014/main" id="{BAF4C269-3E35-4B9C-8B84-02FD568BF5B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 vehicle cannot follow every point path</a:t>
            </a:r>
          </a:p>
        </p:txBody>
      </p:sp>
      <p:sp>
        <p:nvSpPr>
          <p:cNvPr id="3" name="27">
            <a:extLst xmlns:a="http://schemas.openxmlformats.org/drawingml/2006/main">
              <a:ext uri="{FF2B5EF4-FFF2-40B4-BE49-F238E27FC236}">
                <a16:creationId xmlns:a16="http://schemas.microsoft.com/office/drawing/2014/main" id="{7827A27E-7E2C-4BC4-B7D8-ED72BACC6394}"/>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27</a:t>
            </a:r>
          </a:p>
        </p:txBody>
      </p:sp>
      <p:sp>
        <p:nvSpPr>
          <p:cNvPr id="4" name="q = (x, y, θ)">
            <a:extLst xmlns:a="http://schemas.openxmlformats.org/drawingml/2006/main">
              <a:ext uri="{FF2B5EF4-FFF2-40B4-BE49-F238E27FC236}">
                <a16:creationId xmlns:a16="http://schemas.microsoft.com/office/drawing/2014/main" id="{2F7C06C0-1CFA-4E56-8B29-ED6932FC143B}"/>
              </a:ext>
            </a:extLst>
          </p:cNvPr>
          <p:cNvSpPr>
            <a:spLocks xmlns:a="http://schemas.openxmlformats.org/drawingml/2006/main" noGrp="1"/>
          </p:cNvSpPr>
          <p:nvPr/>
        </p:nvSpPr>
        <p:spPr>
          <a:xfrm xmlns:a="http://schemas.openxmlformats.org/drawingml/2006/main">
            <a:off x="619125" y="145732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1">
                <a:solidFill>
                  <a:srgbClr val="00539F"/>
                </a:solidFill>
                <a:latin typeface="Arial"/>
                <a:ea typeface="Arial"/>
                <a:cs typeface="Arial"/>
              </a:defRPr>
            </a:pPr>
            <a:r>
              <a:rPr sz="2400" b="1">
                <a:solidFill>
                  <a:srgbClr val="00539F"/>
                </a:solidFill>
                <a:latin typeface="Arial"/>
                <a:ea typeface="Arial"/>
                <a:cs typeface="Arial"/>
              </a:rPr>
              <a:t>q = (x, y, θ)</a:t>
            </a:r>
          </a:p>
        </p:txBody>
      </p:sp>
      <p:sp>
        <p:nvSpPr>
          <p:cNvPr id="5" name="Turning radius ≈ L / tan(δ)">
            <a:extLst xmlns:a="http://schemas.openxmlformats.org/drawingml/2006/main">
              <a:ext uri="{FF2B5EF4-FFF2-40B4-BE49-F238E27FC236}">
                <a16:creationId xmlns:a16="http://schemas.microsoft.com/office/drawing/2014/main" id="{D60ADED6-CC9D-45E9-A266-63D0F7103A4A}"/>
              </a:ext>
            </a:extLst>
          </p:cNvPr>
          <p:cNvSpPr>
            <a:spLocks xmlns:a="http://schemas.openxmlformats.org/drawingml/2006/main" noGrp="1"/>
          </p:cNvSpPr>
          <p:nvPr/>
        </p:nvSpPr>
        <p:spPr>
          <a:xfrm xmlns:a="http://schemas.openxmlformats.org/drawingml/2006/main">
            <a:off x="619125" y="204787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Turning radius ≈ L / tan(δ)</a:t>
            </a:r>
          </a:p>
        </p:txBody>
      </p:sp>
      <p:sp>
        <p:nvSpPr>
          <p:cNvPr id="6" name="Steering constrains curvature.&#10;&#10;Speed and braking limit what can">
            <a:extLst xmlns:a="http://schemas.openxmlformats.org/drawingml/2006/main">
              <a:ext uri="{FF2B5EF4-FFF2-40B4-BE49-F238E27FC236}">
                <a16:creationId xmlns:a16="http://schemas.microsoft.com/office/drawing/2014/main" id="{B15ADA11-C464-461D-A29E-26A62F32218E}"/>
              </a:ext>
            </a:extLst>
          </p:cNvPr>
          <p:cNvSpPr>
            <a:spLocks xmlns:a="http://schemas.openxmlformats.org/drawingml/2006/main" noGrp="1"/>
          </p:cNvSpPr>
          <p:nvPr/>
        </p:nvSpPr>
        <p:spPr>
          <a:xfrm xmlns:a="http://schemas.openxmlformats.org/drawingml/2006/main">
            <a:off x="619125" y="3476625"/>
            <a:ext cx="790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Steering constrains curvature.</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Speed and braking limit what can happen next.</a:t>
            </a:r>
          </a:p>
        </p:txBody>
      </p:sp>
    </p:spTree>
    <p:extLst>
      <p:ext uri="{BB962C8B-B14F-4D97-AF65-F5344CB8AC3E}">
        <p14:creationId xmlns:p14="http://schemas.microsoft.com/office/powerpoint/2010/main" val="210056254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408f508f41f040b6"/>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Hybrid A* and state lattices">
            <a:extLst xmlns:a="http://schemas.openxmlformats.org/drawingml/2006/main">
              <a:ext uri="{FF2B5EF4-FFF2-40B4-BE49-F238E27FC236}">
                <a16:creationId xmlns:a16="http://schemas.microsoft.com/office/drawing/2014/main" id="{6A084DF9-70BB-4E37-B97F-4EAF96D116D3}"/>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Hybrid A* and state lattices</a:t>
            </a:r>
          </a:p>
        </p:txBody>
      </p:sp>
      <p:sp>
        <p:nvSpPr>
          <p:cNvPr id="3" name="28">
            <a:extLst xmlns:a="http://schemas.openxmlformats.org/drawingml/2006/main">
              <a:ext uri="{FF2B5EF4-FFF2-40B4-BE49-F238E27FC236}">
                <a16:creationId xmlns:a16="http://schemas.microsoft.com/office/drawing/2014/main" id="{6B4FB4E9-29C8-4370-958E-F897FA3EDD02}"/>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28</a:t>
            </a:r>
          </a:p>
        </p:txBody>
      </p:sp>
      <p:graphicFrame>
        <p:nvGraphicFramePr>
          <p:cNvPr id="8" name=""/>
          <p:cNvGraphicFramePr/>
          <p:nvPr/>
        </p:nvGraphicFramePr>
        <p:xfrm>
          <a:off xmlns:a="http://schemas.openxmlformats.org/drawingml/2006/main" x="523875" y="1438275"/>
          <a:ext xmlns:a="http://schemas.openxmlformats.org/drawingml/2006/main" cx="8096250" cy="2857500"/>
        </p:xfrm>
        <a:graphic xmlns:a="http://schemas.openxmlformats.org/drawingml/2006/main">
          <a:graphicData uri="http://schemas.openxmlformats.org/drawingml/2006/table">
            <a:tbl>
              <a:tblPr/>
              <a:tblGrid>
                <a:gridCol w="1952625"/>
                <a:gridCol w="3000375"/>
                <a:gridCol w="3143250"/>
              </a:tblGrid>
              <a:tr h="571500">
                <a:tc>
                  <a:txBody>
                    <a:bodyPr lIns="114300" tIns="76200" rIns="114300" bIns="76200">
                      <a:noAutofit/>
                    </a:bodyPr>
                    <a:lstStyle/>
                    <a:p>
                      <a:r>
                        <a:rPr sz="1425" b="1">
                          <a:solidFill>
                            <a:srgbClr val="FFFFFF"/>
                          </a:solidFill>
                          <a:latin typeface="Arial"/>
                          <a:ea typeface="Arial"/>
                          <a:cs typeface="Arial"/>
                        </a:rPr>
                        <a:t>Method</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State / transitions</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Why use it</a:t>
                      </a:r>
                    </a:p>
                  </a:txBody>
                  <a:tcPr marL="91440" marR="91440" marT="45720" marB="45720" anchor="ctr">
                    <a:solidFill>
                      <a:srgbClr val="00539F"/>
                    </a:solidFill>
                  </a:tcPr>
                </a:tc>
              </a:tr>
              <a:tr h="571500">
                <a:tc>
                  <a:txBody>
                    <a:bodyPr lIns="114300" tIns="76200" rIns="114300" bIns="76200">
                      <a:noAutofit/>
                    </a:bodyPr>
                    <a:lstStyle/>
                    <a:p>
                      <a:r>
                        <a:rPr sz="1425" b="0">
                          <a:solidFill>
                            <a:srgbClr val="17324D"/>
                          </a:solidFill>
                          <a:latin typeface="Arial"/>
                          <a:ea typeface="Arial"/>
                          <a:cs typeface="Arial"/>
                        </a:rPr>
                        <a:t>Grid A*</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Position and grid steps</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Simple holonomic planning</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Hybrid A*</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Pose with curved motions</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Respect turning constraints</a:t>
                      </a:r>
                    </a:p>
                  </a:txBody>
                  <a:tcPr marL="91440" marR="91440" marT="45720" marB="45720" anchor="ctr">
                    <a:solidFill>
                      <a:srgbClr val="F1F6FA"/>
                    </a:solidFill>
                  </a:tcPr>
                </a:tc>
              </a:tr>
              <a:tr h="571500">
                <a:tc>
                  <a:txBody>
                    <a:bodyPr lIns="114300" tIns="76200" rIns="114300" bIns="76200">
                      <a:noAutofit/>
                    </a:bodyPr>
                    <a:lstStyle/>
                    <a:p>
                      <a:r>
                        <a:rPr sz="1425" b="0">
                          <a:solidFill>
                            <a:srgbClr val="17324D"/>
                          </a:solidFill>
                          <a:latin typeface="Arial"/>
                          <a:ea typeface="Arial"/>
                          <a:cs typeface="Arial"/>
                        </a:rPr>
                        <a:t>State lattice</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Pose and motion primitives</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Search executable connections</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Remaining check</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Full footprint and timing</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Steering feasibility alone is insufficient</a:t>
                      </a:r>
                    </a:p>
                  </a:txBody>
                  <a:tcPr marL="91440" marR="91440" marT="45720" marB="45720" anchor="ctr">
                    <a:solidFill>
                      <a:srgbClr val="F1F6FA"/>
                    </a:solidFill>
                  </a:tcPr>
                </a:tc>
              </a:tr>
            </a:tbl>
          </a:graphicData>
        </a:graphic>
      </p:graphicFrame>
    </p:spTree>
    <p:extLst>
      <p:ext uri="{BB962C8B-B14F-4D97-AF65-F5344CB8AC3E}">
        <p14:creationId xmlns:p14="http://schemas.microsoft.com/office/powerpoint/2010/main" val="95377186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e2dbdaac1824b3b"/>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ttraction and repulsion">
            <a:extLst xmlns:a="http://schemas.openxmlformats.org/drawingml/2006/main">
              <a:ext uri="{FF2B5EF4-FFF2-40B4-BE49-F238E27FC236}">
                <a16:creationId xmlns:a16="http://schemas.microsoft.com/office/drawing/2014/main" id="{FDDCEBF3-8E83-4A58-8540-7E4603319BED}"/>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Attraction and repulsion</a:t>
            </a:r>
          </a:p>
        </p:txBody>
      </p:sp>
      <p:sp>
        <p:nvSpPr>
          <p:cNvPr id="3" name="29">
            <a:extLst xmlns:a="http://schemas.openxmlformats.org/drawingml/2006/main">
              <a:ext uri="{FF2B5EF4-FFF2-40B4-BE49-F238E27FC236}">
                <a16:creationId xmlns:a16="http://schemas.microsoft.com/office/drawing/2014/main" id="{A5E860C2-5829-4C1A-9CEA-5FD8696A710E}"/>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29</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4adbdabbb9c415c"/>
          <a:stretch xmlns:a="http://schemas.openxmlformats.org/drawingml/2006/main"/>
        </p:blipFill>
        <p:spPr>
          <a:xfrm xmlns:a="http://schemas.openxmlformats.org/drawingml/2006/main">
            <a:off x="729044" y="1400175"/>
            <a:ext cx="4818888" cy="2952750"/>
          </a:xfrm>
          <a:prstGeom xmlns:a="http://schemas.openxmlformats.org/drawingml/2006/main" prst="rect">
            <a:avLst/>
          </a:prstGeom>
        </p:spPr>
      </p:pic>
      <p:sp>
        <p:nvSpPr>
          <p:cNvPr id="5" name="The goal supplies an attractive potential.&#10;&#10;Nearby obstacles sup">
            <a:extLst xmlns:a="http://schemas.openxmlformats.org/drawingml/2006/main">
              <a:ext uri="{FF2B5EF4-FFF2-40B4-BE49-F238E27FC236}">
                <a16:creationId xmlns:a16="http://schemas.microsoft.com/office/drawing/2014/main" id="{F5BB5D91-E87B-406F-9092-5718F760D0F1}"/>
              </a:ext>
            </a:extLst>
          </p:cNvPr>
          <p:cNvSpPr>
            <a:spLocks xmlns:a="http://schemas.openxmlformats.org/drawingml/2006/main" noGrp="1"/>
          </p:cNvSpPr>
          <p:nvPr/>
        </p:nvSpPr>
        <p:spPr>
          <a:xfrm xmlns:a="http://schemas.openxmlformats.org/drawingml/2006/main">
            <a:off x="6029325" y="1428750"/>
            <a:ext cx="26193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goal supplies an attractive potential.</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Nearby obstacles supply repulsive potentials.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robot follows the negative gradient of their sum.</a:t>
            </a:r>
          </a:p>
        </p:txBody>
      </p:sp>
      <p:sp>
        <p:nvSpPr>
          <p:cNvPr id="6" name="Open interactive experiment">
            <a:extLst xmlns:a="http://schemas.openxmlformats.org/drawingml/2006/main">
              <a:ext uri="{FF2B5EF4-FFF2-40B4-BE49-F238E27FC236}">
                <a16:creationId xmlns:a16="http://schemas.microsoft.com/office/drawing/2014/main" id="{DDAA4F76-A49B-4BDC-B569-CC6200D11032}"/>
              </a:ext>
            </a:extLst>
          </p:cNvPr>
          <p:cNvSpPr>
            <a:spLocks xmlns:a="http://schemas.openxmlformats.org/drawingml/2006/main" noGrp="1"/>
          </p:cNvSpPr>
          <p:nvPr/>
        </p:nvSpPr>
        <p:spPr>
          <a:xfrm xmlns:a="http://schemas.openxmlformats.org/drawingml/2006/main">
            <a:off x="523875" y="44862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ecff25d8b42541c4"/>
              </a:rPr>
              <a:t>Open interactive experiment</a:t>
            </a:r>
          </a:p>
        </p:txBody>
      </p:sp>
    </p:spTree>
    <p:extLst>
      <p:ext uri="{BB962C8B-B14F-4D97-AF65-F5344CB8AC3E}">
        <p14:creationId xmlns:p14="http://schemas.microsoft.com/office/powerpoint/2010/main" val="81552177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d7939867e76d4445"/>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n artificial potential field">
            <a:extLst xmlns:a="http://schemas.openxmlformats.org/drawingml/2006/main">
              <a:ext uri="{FF2B5EF4-FFF2-40B4-BE49-F238E27FC236}">
                <a16:creationId xmlns:a16="http://schemas.microsoft.com/office/drawing/2014/main" id="{A9EDD4CD-D5CB-45D7-83D7-0E205D88A8AE}"/>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An artificial potential field</a:t>
            </a:r>
          </a:p>
        </p:txBody>
      </p:sp>
      <p:sp>
        <p:nvSpPr>
          <p:cNvPr id="3" name="30">
            <a:extLst xmlns:a="http://schemas.openxmlformats.org/drawingml/2006/main">
              <a:ext uri="{FF2B5EF4-FFF2-40B4-BE49-F238E27FC236}">
                <a16:creationId xmlns:a16="http://schemas.microsoft.com/office/drawing/2014/main" id="{05FD8C91-205E-44AA-899A-FA32CDC3A645}"/>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30</a:t>
            </a:r>
          </a:p>
        </p:txBody>
      </p:sp>
      <p:sp>
        <p:nvSpPr>
          <p:cNvPr id="4" name="U_att = ½ k ||p − goal||²">
            <a:extLst xmlns:a="http://schemas.openxmlformats.org/drawingml/2006/main">
              <a:ext uri="{FF2B5EF4-FFF2-40B4-BE49-F238E27FC236}">
                <a16:creationId xmlns:a16="http://schemas.microsoft.com/office/drawing/2014/main" id="{F66A6FC5-BF89-41B9-A458-381C60F17A74}"/>
              </a:ext>
            </a:extLst>
          </p:cNvPr>
          <p:cNvSpPr>
            <a:spLocks xmlns:a="http://schemas.openxmlformats.org/drawingml/2006/main" noGrp="1"/>
          </p:cNvSpPr>
          <p:nvPr/>
        </p:nvSpPr>
        <p:spPr>
          <a:xfrm xmlns:a="http://schemas.openxmlformats.org/drawingml/2006/main">
            <a:off x="619125" y="145732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1">
                <a:solidFill>
                  <a:srgbClr val="00539F"/>
                </a:solidFill>
                <a:latin typeface="Arial"/>
                <a:ea typeface="Arial"/>
                <a:cs typeface="Arial"/>
              </a:defRPr>
            </a:pPr>
            <a:r>
              <a:rPr sz="2400" b="1">
                <a:solidFill>
                  <a:srgbClr val="00539F"/>
                </a:solidFill>
                <a:latin typeface="Arial"/>
                <a:ea typeface="Arial"/>
                <a:cs typeface="Arial"/>
              </a:rPr>
              <a:t>U_att = ½ k ||p − goal||²</a:t>
            </a:r>
          </a:p>
        </p:txBody>
      </p:sp>
      <p:sp>
        <p:nvSpPr>
          <p:cNvPr id="5" name="U_rep = ½ η (1/d − 1/d₀)²   for d &lt; d₀">
            <a:extLst xmlns:a="http://schemas.openxmlformats.org/drawingml/2006/main">
              <a:ext uri="{FF2B5EF4-FFF2-40B4-BE49-F238E27FC236}">
                <a16:creationId xmlns:a16="http://schemas.microsoft.com/office/drawing/2014/main" id="{917494EA-11EC-4F56-B0E3-ADD9D5701CB9}"/>
              </a:ext>
            </a:extLst>
          </p:cNvPr>
          <p:cNvSpPr>
            <a:spLocks xmlns:a="http://schemas.openxmlformats.org/drawingml/2006/main" noGrp="1"/>
          </p:cNvSpPr>
          <p:nvPr/>
        </p:nvSpPr>
        <p:spPr>
          <a:xfrm xmlns:a="http://schemas.openxmlformats.org/drawingml/2006/main">
            <a:off x="619125" y="204787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U_rep = ½ η (1/d − 1/d₀)²   for d &lt; d₀</a:t>
            </a:r>
          </a:p>
        </p:txBody>
      </p:sp>
      <p:sp>
        <p:nvSpPr>
          <p:cNvPr id="6" name="Motion direction = −∇(U_att + Σ U_rep)">
            <a:extLst xmlns:a="http://schemas.openxmlformats.org/drawingml/2006/main">
              <a:ext uri="{FF2B5EF4-FFF2-40B4-BE49-F238E27FC236}">
                <a16:creationId xmlns:a16="http://schemas.microsoft.com/office/drawing/2014/main" id="{EBF9AC59-6FD0-479A-9967-24C37F11DFE6}"/>
              </a:ext>
            </a:extLst>
          </p:cNvPr>
          <p:cNvSpPr>
            <a:spLocks xmlns:a="http://schemas.openxmlformats.org/drawingml/2006/main" noGrp="1"/>
          </p:cNvSpPr>
          <p:nvPr/>
        </p:nvSpPr>
        <p:spPr>
          <a:xfrm xmlns:a="http://schemas.openxmlformats.org/drawingml/2006/main">
            <a:off x="619125" y="263842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Motion direction = −∇(U_att + Σ U_rep)</a:t>
            </a:r>
          </a:p>
        </p:txBody>
      </p:sp>
      <p:sp>
        <p:nvSpPr>
          <p:cNvPr id="7" name="Attraction grows with distance from the goal.&#10;&#10;Repulsion grows r">
            <a:extLst xmlns:a="http://schemas.openxmlformats.org/drawingml/2006/main">
              <a:ext uri="{FF2B5EF4-FFF2-40B4-BE49-F238E27FC236}">
                <a16:creationId xmlns:a16="http://schemas.microsoft.com/office/drawing/2014/main" id="{FC5F928C-7C53-4CD5-974F-327FDA931B57}"/>
              </a:ext>
            </a:extLst>
          </p:cNvPr>
          <p:cNvSpPr>
            <a:spLocks xmlns:a="http://schemas.openxmlformats.org/drawingml/2006/main" noGrp="1"/>
          </p:cNvSpPr>
          <p:nvPr/>
        </p:nvSpPr>
        <p:spPr>
          <a:xfrm xmlns:a="http://schemas.openxmlformats.org/drawingml/2006/main">
            <a:off x="619125" y="3476625"/>
            <a:ext cx="790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Attraction grows with distance from the goal.</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Repulsion grows rapidly near an obstacle.</a:t>
            </a:r>
          </a:p>
        </p:txBody>
      </p:sp>
    </p:spTree>
    <p:extLst>
      <p:ext uri="{BB962C8B-B14F-4D97-AF65-F5344CB8AC3E}">
        <p14:creationId xmlns:p14="http://schemas.microsoft.com/office/powerpoint/2010/main" val="88581004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4bee54eee694d5b"/>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The U-shaped potential-field trap">
            <a:extLst xmlns:a="http://schemas.openxmlformats.org/drawingml/2006/main">
              <a:ext uri="{FF2B5EF4-FFF2-40B4-BE49-F238E27FC236}">
                <a16:creationId xmlns:a16="http://schemas.microsoft.com/office/drawing/2014/main" id="{0E28AE5D-B87D-43C6-8EC7-09D2280E634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U-shaped potential-field trap</a:t>
            </a:r>
          </a:p>
        </p:txBody>
      </p:sp>
      <p:sp>
        <p:nvSpPr>
          <p:cNvPr id="3" name="31">
            <a:extLst xmlns:a="http://schemas.openxmlformats.org/drawingml/2006/main">
              <a:ext uri="{FF2B5EF4-FFF2-40B4-BE49-F238E27FC236}">
                <a16:creationId xmlns:a16="http://schemas.microsoft.com/office/drawing/2014/main" id="{579AE849-846D-4353-8344-9266A2398F47}"/>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31</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3a08e30fdbc04a28"/>
          <a:stretch xmlns:a="http://schemas.openxmlformats.org/drawingml/2006/main"/>
        </p:blipFill>
        <p:spPr>
          <a:xfrm xmlns:a="http://schemas.openxmlformats.org/drawingml/2006/main">
            <a:off x="721031" y="1400175"/>
            <a:ext cx="4834912" cy="2952750"/>
          </a:xfrm>
          <a:prstGeom xmlns:a="http://schemas.openxmlformats.org/drawingml/2006/main" prst="rect">
            <a:avLst/>
          </a:prstGeom>
        </p:spPr>
      </p:pic>
      <p:sp>
        <p:nvSpPr>
          <p:cNvPr id="5" name="Attraction points toward a goal beyond the wall.&#10;&#10;Repulsion bala">
            <a:extLst xmlns:a="http://schemas.openxmlformats.org/drawingml/2006/main">
              <a:ext uri="{FF2B5EF4-FFF2-40B4-BE49-F238E27FC236}">
                <a16:creationId xmlns:a16="http://schemas.microsoft.com/office/drawing/2014/main" id="{27D47A91-64A8-4CAA-80C4-14E3930D71E6}"/>
              </a:ext>
            </a:extLst>
          </p:cNvPr>
          <p:cNvSpPr>
            <a:spLocks xmlns:a="http://schemas.openxmlformats.org/drawingml/2006/main" noGrp="1"/>
          </p:cNvSpPr>
          <p:nvPr/>
        </p:nvSpPr>
        <p:spPr>
          <a:xfrm xmlns:a="http://schemas.openxmlformats.org/drawingml/2006/main">
            <a:off x="6029325" y="1428750"/>
            <a:ext cx="26193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Attraction points toward a goal beyond the wall.</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Repulsion balances attraction inside the U.</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robot stops with the goal still far away.</a:t>
            </a:r>
          </a:p>
        </p:txBody>
      </p:sp>
      <p:sp>
        <p:nvSpPr>
          <p:cNvPr id="6" name="Open interactive experiment">
            <a:extLst xmlns:a="http://schemas.openxmlformats.org/drawingml/2006/main">
              <a:ext uri="{FF2B5EF4-FFF2-40B4-BE49-F238E27FC236}">
                <a16:creationId xmlns:a16="http://schemas.microsoft.com/office/drawing/2014/main" id="{DE5BE8D2-E3E5-4333-8C5F-F2DFED1D5B43}"/>
              </a:ext>
            </a:extLst>
          </p:cNvPr>
          <p:cNvSpPr>
            <a:spLocks xmlns:a="http://schemas.openxmlformats.org/drawingml/2006/main" noGrp="1"/>
          </p:cNvSpPr>
          <p:nvPr/>
        </p:nvSpPr>
        <p:spPr>
          <a:xfrm xmlns:a="http://schemas.openxmlformats.org/drawingml/2006/main">
            <a:off x="523875" y="44862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f40bcc074cde40fc"/>
              </a:rPr>
              <a:t>Open interactive experiment</a:t>
            </a:r>
          </a:p>
        </p:txBody>
      </p:sp>
    </p:spTree>
    <p:extLst>
      <p:ext uri="{BB962C8B-B14F-4D97-AF65-F5344CB8AC3E}">
        <p14:creationId xmlns:p14="http://schemas.microsoft.com/office/powerpoint/2010/main" val="72229283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6e9855a542d46df"/>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Responses to potential-field failure">
            <a:extLst xmlns:a="http://schemas.openxmlformats.org/drawingml/2006/main">
              <a:ext uri="{FF2B5EF4-FFF2-40B4-BE49-F238E27FC236}">
                <a16:creationId xmlns:a16="http://schemas.microsoft.com/office/drawing/2014/main" id="{20E2E6ED-A5B1-4769-8DA6-AB944873BE70}"/>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Responses to potential-field failure</a:t>
            </a:r>
          </a:p>
        </p:txBody>
      </p:sp>
      <p:sp>
        <p:nvSpPr>
          <p:cNvPr id="3" name="32">
            <a:extLst xmlns:a="http://schemas.openxmlformats.org/drawingml/2006/main">
              <a:ext uri="{FF2B5EF4-FFF2-40B4-BE49-F238E27FC236}">
                <a16:creationId xmlns:a16="http://schemas.microsoft.com/office/drawing/2014/main" id="{80DAF22A-BDA5-4813-8B0D-27092A25793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32</a:t>
            </a:r>
          </a:p>
        </p:txBody>
      </p:sp>
      <p:sp>
        <p:nvSpPr>
          <p:cNvPr id="4" name="A global route can provide waypoints around the U.">
            <a:extLst xmlns:a="http://schemas.openxmlformats.org/drawingml/2006/main">
              <a:ext uri="{FF2B5EF4-FFF2-40B4-BE49-F238E27FC236}">
                <a16:creationId xmlns:a16="http://schemas.microsoft.com/office/drawing/2014/main" id="{551C9CF8-4C7C-4680-88BB-ECAF89D000EB}"/>
              </a:ext>
            </a:extLst>
          </p:cNvPr>
          <p:cNvSpPr>
            <a:spLocks xmlns:a="http://schemas.openxmlformats.org/drawingml/2006/main" noGrp="1"/>
          </p:cNvSpPr>
          <p:nvPr/>
        </p:nvSpPr>
        <p:spPr>
          <a:xfrm xmlns:a="http://schemas.openxmlformats.org/drawingml/2006/main">
            <a:off x="619125" y="1438275"/>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A global route can provide waypoints around the U.</a:t>
            </a:r>
          </a:p>
        </p:txBody>
      </p:sp>
      <p:sp>
        <p:nvSpPr>
          <p:cNvPr id="5" name="Recovery behaviors can leave a stalled configuration.">
            <a:extLst xmlns:a="http://schemas.openxmlformats.org/drawingml/2006/main">
              <a:ext uri="{FF2B5EF4-FFF2-40B4-BE49-F238E27FC236}">
                <a16:creationId xmlns:a16="http://schemas.microsoft.com/office/drawing/2014/main" id="{57CF3325-AE8B-4266-B8A6-21E41327A813}"/>
              </a:ext>
            </a:extLst>
          </p:cNvPr>
          <p:cNvSpPr>
            <a:spLocks xmlns:a="http://schemas.openxmlformats.org/drawingml/2006/main" noGrp="1"/>
          </p:cNvSpPr>
          <p:nvPr/>
        </p:nvSpPr>
        <p:spPr>
          <a:xfrm xmlns:a="http://schemas.openxmlformats.org/drawingml/2006/main">
            <a:off x="619125" y="2381250"/>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Recovery behaviors can leave a stalled configuration.</a:t>
            </a:r>
          </a:p>
        </p:txBody>
      </p:sp>
      <p:sp>
        <p:nvSpPr>
          <p:cNvPr id="6" name="A longer-horizon search can evaluate a detour before moving.">
            <a:extLst xmlns:a="http://schemas.openxmlformats.org/drawingml/2006/main">
              <a:ext uri="{FF2B5EF4-FFF2-40B4-BE49-F238E27FC236}">
                <a16:creationId xmlns:a16="http://schemas.microsoft.com/office/drawing/2014/main" id="{63656498-F260-497E-93F1-A4FCFFFF2660}"/>
              </a:ext>
            </a:extLst>
          </p:cNvPr>
          <p:cNvSpPr>
            <a:spLocks xmlns:a="http://schemas.openxmlformats.org/drawingml/2006/main" noGrp="1"/>
          </p:cNvSpPr>
          <p:nvPr/>
        </p:nvSpPr>
        <p:spPr>
          <a:xfrm xmlns:a="http://schemas.openxmlformats.org/drawingml/2006/main">
            <a:off x="619125" y="3324225"/>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A longer-horizon search can evaluate a detour before moving.</a:t>
            </a:r>
          </a:p>
        </p:txBody>
      </p:sp>
    </p:spTree>
    <p:extLst>
      <p:ext uri="{BB962C8B-B14F-4D97-AF65-F5344CB8AC3E}">
        <p14:creationId xmlns:p14="http://schemas.microsoft.com/office/powerpoint/2010/main" val="1127937209"/>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3c95fb3462c64d35"/>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The global and local navigation loop">
            <a:extLst xmlns:a="http://schemas.openxmlformats.org/drawingml/2006/main">
              <a:ext uri="{FF2B5EF4-FFF2-40B4-BE49-F238E27FC236}">
                <a16:creationId xmlns:a16="http://schemas.microsoft.com/office/drawing/2014/main" id="{E339B8A9-CF48-4390-9645-6EF7C7FF1DB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The global and local navigation loop</a:t>
            </a:r>
          </a:p>
        </p:txBody>
      </p:sp>
      <p:sp>
        <p:nvSpPr>
          <p:cNvPr id="3" name="33">
            <a:extLst xmlns:a="http://schemas.openxmlformats.org/drawingml/2006/main">
              <a:ext uri="{FF2B5EF4-FFF2-40B4-BE49-F238E27FC236}">
                <a16:creationId xmlns:a16="http://schemas.microsoft.com/office/drawing/2014/main" id="{187CC921-437A-48D9-8295-CD9C16DEDBB7}"/>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33</a:t>
            </a:r>
          </a:p>
        </p:txBody>
      </p:sp>
      <p:sp>
        <p:nvSpPr>
          <p:cNvPr id="4" name="1">
            <a:extLst xmlns:a="http://schemas.openxmlformats.org/drawingml/2006/main">
              <a:ext uri="{FF2B5EF4-FFF2-40B4-BE49-F238E27FC236}">
                <a16:creationId xmlns:a16="http://schemas.microsoft.com/office/drawing/2014/main" id="{EC101560-9B25-432F-A128-E12F9EF834FB}"/>
              </a:ext>
            </a:extLst>
          </p:cNvPr>
          <p:cNvSpPr>
            <a:spLocks xmlns:a="http://schemas.openxmlformats.org/drawingml/2006/main" noGrp="1"/>
          </p:cNvSpPr>
          <p:nvPr/>
        </p:nvSpPr>
        <p:spPr>
          <a:xfrm xmlns:a="http://schemas.openxmlformats.org/drawingml/2006/main">
            <a:off x="523875" y="1438275"/>
            <a:ext cx="333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75" b="1">
                <a:solidFill>
                  <a:srgbClr val="00539F"/>
                </a:solidFill>
                <a:latin typeface="Arial"/>
                <a:ea typeface="Arial"/>
                <a:cs typeface="Arial"/>
              </a:defRPr>
            </a:pPr>
            <a:r>
              <a:rPr sz="2175" b="1">
                <a:solidFill>
                  <a:srgbClr val="00539F"/>
                </a:solidFill>
                <a:latin typeface="Arial"/>
                <a:ea typeface="Arial"/>
                <a:cs typeface="Arial"/>
              </a:rPr>
              <a:t>1</a:t>
            </a:r>
          </a:p>
        </p:txBody>
      </p:sp>
      <p:sp>
        <p:nvSpPr>
          <p:cNvPr id="5" name="The global planner computes a route to the goal.">
            <a:extLst xmlns:a="http://schemas.openxmlformats.org/drawingml/2006/main">
              <a:ext uri="{FF2B5EF4-FFF2-40B4-BE49-F238E27FC236}">
                <a16:creationId xmlns:a16="http://schemas.microsoft.com/office/drawing/2014/main" id="{7B7C611B-DBA3-4F47-896F-40470191391A}"/>
              </a:ext>
            </a:extLst>
          </p:cNvPr>
          <p:cNvSpPr>
            <a:spLocks xmlns:a="http://schemas.openxmlformats.org/drawingml/2006/main" noGrp="1"/>
          </p:cNvSpPr>
          <p:nvPr/>
        </p:nvSpPr>
        <p:spPr>
          <a:xfrm xmlns:a="http://schemas.openxmlformats.org/drawingml/2006/main">
            <a:off x="1000125" y="1438275"/>
            <a:ext cx="7620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The global planner computes a route to the goal.</a:t>
            </a:r>
          </a:p>
        </p:txBody>
      </p:sp>
      <p:sp>
        <p:nvSpPr>
          <p:cNvPr id="6" name="2">
            <a:extLst xmlns:a="http://schemas.openxmlformats.org/drawingml/2006/main">
              <a:ext uri="{FF2B5EF4-FFF2-40B4-BE49-F238E27FC236}">
                <a16:creationId xmlns:a16="http://schemas.microsoft.com/office/drawing/2014/main" id="{826B2E24-EB42-4E08-9E4F-A9C22675CD7A}"/>
              </a:ext>
            </a:extLst>
          </p:cNvPr>
          <p:cNvSpPr>
            <a:spLocks xmlns:a="http://schemas.openxmlformats.org/drawingml/2006/main" noGrp="1"/>
          </p:cNvSpPr>
          <p:nvPr/>
        </p:nvSpPr>
        <p:spPr>
          <a:xfrm xmlns:a="http://schemas.openxmlformats.org/drawingml/2006/main">
            <a:off x="523875" y="2152650"/>
            <a:ext cx="333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75" b="1">
                <a:solidFill>
                  <a:srgbClr val="00539F"/>
                </a:solidFill>
                <a:latin typeface="Arial"/>
                <a:ea typeface="Arial"/>
                <a:cs typeface="Arial"/>
              </a:defRPr>
            </a:pPr>
            <a:r>
              <a:rPr sz="2175" b="1">
                <a:solidFill>
                  <a:srgbClr val="00539F"/>
                </a:solidFill>
                <a:latin typeface="Arial"/>
                <a:ea typeface="Arial"/>
                <a:cs typeface="Arial"/>
              </a:rPr>
              <a:t>2</a:t>
            </a:r>
          </a:p>
        </p:txBody>
      </p:sp>
      <p:sp>
        <p:nvSpPr>
          <p:cNvPr id="7" name="The local planner predicts candidate motions near the robot.">
            <a:extLst xmlns:a="http://schemas.openxmlformats.org/drawingml/2006/main">
              <a:ext uri="{FF2B5EF4-FFF2-40B4-BE49-F238E27FC236}">
                <a16:creationId xmlns:a16="http://schemas.microsoft.com/office/drawing/2014/main" id="{DADF3A62-A8C4-420E-A115-BB503F390766}"/>
              </a:ext>
            </a:extLst>
          </p:cNvPr>
          <p:cNvSpPr>
            <a:spLocks xmlns:a="http://schemas.openxmlformats.org/drawingml/2006/main" noGrp="1"/>
          </p:cNvSpPr>
          <p:nvPr/>
        </p:nvSpPr>
        <p:spPr>
          <a:xfrm xmlns:a="http://schemas.openxmlformats.org/drawingml/2006/main">
            <a:off x="1000125" y="2152650"/>
            <a:ext cx="7620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The local planner predicts candidate motions near the robot.</a:t>
            </a:r>
          </a:p>
        </p:txBody>
      </p:sp>
      <p:sp>
        <p:nvSpPr>
          <p:cNvPr id="8" name="3">
            <a:extLst xmlns:a="http://schemas.openxmlformats.org/drawingml/2006/main">
              <a:ext uri="{FF2B5EF4-FFF2-40B4-BE49-F238E27FC236}">
                <a16:creationId xmlns:a16="http://schemas.microsoft.com/office/drawing/2014/main" id="{EE271530-E194-4BD7-B3FA-B5D8B1D902E5}"/>
              </a:ext>
            </a:extLst>
          </p:cNvPr>
          <p:cNvSpPr>
            <a:spLocks xmlns:a="http://schemas.openxmlformats.org/drawingml/2006/main" noGrp="1"/>
          </p:cNvSpPr>
          <p:nvPr/>
        </p:nvSpPr>
        <p:spPr>
          <a:xfrm xmlns:a="http://schemas.openxmlformats.org/drawingml/2006/main">
            <a:off x="523875" y="2867025"/>
            <a:ext cx="333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75" b="1">
                <a:solidFill>
                  <a:srgbClr val="00539F"/>
                </a:solidFill>
                <a:latin typeface="Arial"/>
                <a:ea typeface="Arial"/>
                <a:cs typeface="Arial"/>
              </a:defRPr>
            </a:pPr>
            <a:r>
              <a:rPr sz="2175" b="1">
                <a:solidFill>
                  <a:srgbClr val="00539F"/>
                </a:solidFill>
                <a:latin typeface="Arial"/>
                <a:ea typeface="Arial"/>
                <a:cs typeface="Arial"/>
              </a:rPr>
              <a:t>3</a:t>
            </a:r>
          </a:p>
        </p:txBody>
      </p:sp>
      <p:sp>
        <p:nvSpPr>
          <p:cNvPr id="9" name="A controller executes a short part and receives a new state.">
            <a:extLst xmlns:a="http://schemas.openxmlformats.org/drawingml/2006/main">
              <a:ext uri="{FF2B5EF4-FFF2-40B4-BE49-F238E27FC236}">
                <a16:creationId xmlns:a16="http://schemas.microsoft.com/office/drawing/2014/main" id="{BDE285BF-4030-4FAB-B115-803CD546F70D}"/>
              </a:ext>
            </a:extLst>
          </p:cNvPr>
          <p:cNvSpPr>
            <a:spLocks xmlns:a="http://schemas.openxmlformats.org/drawingml/2006/main" noGrp="1"/>
          </p:cNvSpPr>
          <p:nvPr/>
        </p:nvSpPr>
        <p:spPr>
          <a:xfrm xmlns:a="http://schemas.openxmlformats.org/drawingml/2006/main">
            <a:off x="1000125" y="2867025"/>
            <a:ext cx="7620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A controller executes a short part and receives a new state.</a:t>
            </a:r>
          </a:p>
        </p:txBody>
      </p:sp>
      <p:sp>
        <p:nvSpPr>
          <p:cNvPr id="10" name="4">
            <a:extLst xmlns:a="http://schemas.openxmlformats.org/drawingml/2006/main">
              <a:ext uri="{FF2B5EF4-FFF2-40B4-BE49-F238E27FC236}">
                <a16:creationId xmlns:a16="http://schemas.microsoft.com/office/drawing/2014/main" id="{7FA56EED-77EA-4F94-AFBB-EB2E10A96234}"/>
              </a:ext>
            </a:extLst>
          </p:cNvPr>
          <p:cNvSpPr>
            <a:spLocks xmlns:a="http://schemas.openxmlformats.org/drawingml/2006/main" noGrp="1"/>
          </p:cNvSpPr>
          <p:nvPr/>
        </p:nvSpPr>
        <p:spPr>
          <a:xfrm xmlns:a="http://schemas.openxmlformats.org/drawingml/2006/main">
            <a:off x="523875" y="3581400"/>
            <a:ext cx="333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75" b="1">
                <a:solidFill>
                  <a:srgbClr val="00539F"/>
                </a:solidFill>
                <a:latin typeface="Arial"/>
                <a:ea typeface="Arial"/>
                <a:cs typeface="Arial"/>
              </a:defRPr>
            </a:pPr>
            <a:r>
              <a:rPr sz="2175" b="1">
                <a:solidFill>
                  <a:srgbClr val="00539F"/>
                </a:solidFill>
                <a:latin typeface="Arial"/>
                <a:ea typeface="Arial"/>
                <a:cs typeface="Arial"/>
              </a:rPr>
              <a:t>4</a:t>
            </a:r>
          </a:p>
        </p:txBody>
      </p:sp>
      <p:sp>
        <p:nvSpPr>
          <p:cNvPr id="11" name="A blocked route or missing progress triggers replanning or recov">
            <a:extLst xmlns:a="http://schemas.openxmlformats.org/drawingml/2006/main">
              <a:ext uri="{FF2B5EF4-FFF2-40B4-BE49-F238E27FC236}">
                <a16:creationId xmlns:a16="http://schemas.microsoft.com/office/drawing/2014/main" id="{0D983B1A-B589-445D-9EDA-7D5EDEEFEEFA}"/>
              </a:ext>
            </a:extLst>
          </p:cNvPr>
          <p:cNvSpPr>
            <a:spLocks xmlns:a="http://schemas.openxmlformats.org/drawingml/2006/main" noGrp="1"/>
          </p:cNvSpPr>
          <p:nvPr/>
        </p:nvSpPr>
        <p:spPr>
          <a:xfrm xmlns:a="http://schemas.openxmlformats.org/drawingml/2006/main">
            <a:off x="1000125" y="3581400"/>
            <a:ext cx="7620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A blocked route or missing progress triggers replanning or recovery.</a:t>
            </a:r>
          </a:p>
        </p:txBody>
      </p:sp>
    </p:spTree>
    <p:extLst>
      <p:ext uri="{BB962C8B-B14F-4D97-AF65-F5344CB8AC3E}">
        <p14:creationId xmlns:p14="http://schemas.microsoft.com/office/powerpoint/2010/main" val="315593717"/>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858ebd4703164063"/>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Local trajectory sampling">
            <a:extLst xmlns:a="http://schemas.openxmlformats.org/drawingml/2006/main">
              <a:ext uri="{FF2B5EF4-FFF2-40B4-BE49-F238E27FC236}">
                <a16:creationId xmlns:a16="http://schemas.microsoft.com/office/drawing/2014/main" id="{F9556D2A-4416-4F84-B77B-FF76374EEB0F}"/>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Local trajectory sampling</a:t>
            </a:r>
          </a:p>
        </p:txBody>
      </p:sp>
      <p:sp>
        <p:nvSpPr>
          <p:cNvPr id="3" name="34">
            <a:extLst xmlns:a="http://schemas.openxmlformats.org/drawingml/2006/main">
              <a:ext uri="{FF2B5EF4-FFF2-40B4-BE49-F238E27FC236}">
                <a16:creationId xmlns:a16="http://schemas.microsoft.com/office/drawing/2014/main" id="{EE6380D3-D87B-4636-9B5B-C4D1E327D58A}"/>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34</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b91ef80611a4c41"/>
          <a:stretch xmlns:a="http://schemas.openxmlformats.org/drawingml/2006/main"/>
        </p:blipFill>
        <p:spPr>
          <a:xfrm xmlns:a="http://schemas.openxmlformats.org/drawingml/2006/main">
            <a:off x="729044" y="1400175"/>
            <a:ext cx="4818888" cy="2952750"/>
          </a:xfrm>
          <a:prstGeom xmlns:a="http://schemas.openxmlformats.org/drawingml/2006/main" prst="rect">
            <a:avLst/>
          </a:prstGeom>
        </p:spPr>
      </p:pic>
      <p:sp>
        <p:nvSpPr>
          <p:cNvPr id="5" name="Each candidate uses a different forward speed and turn rate.&#10;&#10;Pr">
            <a:extLst xmlns:a="http://schemas.openxmlformats.org/drawingml/2006/main">
              <a:ext uri="{FF2B5EF4-FFF2-40B4-BE49-F238E27FC236}">
                <a16:creationId xmlns:a16="http://schemas.microsoft.com/office/drawing/2014/main" id="{E655B5E0-ED51-487D-BB46-3D52D631F039}"/>
              </a:ext>
            </a:extLst>
          </p:cNvPr>
          <p:cNvSpPr>
            <a:spLocks xmlns:a="http://schemas.openxmlformats.org/drawingml/2006/main" noGrp="1"/>
          </p:cNvSpPr>
          <p:nvPr/>
        </p:nvSpPr>
        <p:spPr>
          <a:xfrm xmlns:a="http://schemas.openxmlformats.org/drawingml/2006/main">
            <a:off x="6029325" y="1428750"/>
            <a:ext cx="26193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Each candidate uses a different forward speed and turn rate.</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Prediction rejects motions that intersect obstacles.</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A score balances progress, path following, and motion.</a:t>
            </a:r>
          </a:p>
        </p:txBody>
      </p:sp>
      <p:sp>
        <p:nvSpPr>
          <p:cNvPr id="6" name="Open interactive experiment">
            <a:extLst xmlns:a="http://schemas.openxmlformats.org/drawingml/2006/main">
              <a:ext uri="{FF2B5EF4-FFF2-40B4-BE49-F238E27FC236}">
                <a16:creationId xmlns:a16="http://schemas.microsoft.com/office/drawing/2014/main" id="{7D134379-64BD-41D6-911A-C2A632A541EF}"/>
              </a:ext>
            </a:extLst>
          </p:cNvPr>
          <p:cNvSpPr>
            <a:spLocks xmlns:a="http://schemas.openxmlformats.org/drawingml/2006/main" noGrp="1"/>
          </p:cNvSpPr>
          <p:nvPr/>
        </p:nvSpPr>
        <p:spPr>
          <a:xfrm xmlns:a="http://schemas.openxmlformats.org/drawingml/2006/main">
            <a:off x="523875" y="44862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17565850951a4321"/>
              </a:rPr>
              <a:t>Open interactive experiment</a:t>
            </a:r>
          </a:p>
        </p:txBody>
      </p:sp>
    </p:spTree>
    <p:extLst>
      <p:ext uri="{BB962C8B-B14F-4D97-AF65-F5344CB8AC3E}">
        <p14:creationId xmlns:p14="http://schemas.microsoft.com/office/powerpoint/2010/main" val="112498128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e689c665edf4ea2"/>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A crossing obstacle and a permanent blockage">
            <a:extLst xmlns:a="http://schemas.openxmlformats.org/drawingml/2006/main">
              <a:ext uri="{FF2B5EF4-FFF2-40B4-BE49-F238E27FC236}">
                <a16:creationId xmlns:a16="http://schemas.microsoft.com/office/drawing/2014/main" id="{A85E5D05-B41A-4175-BC08-EDCEC4BC853E}"/>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A crossing obstacle and a permanent blockage</a:t>
            </a:r>
          </a:p>
        </p:txBody>
      </p:sp>
      <p:sp>
        <p:nvSpPr>
          <p:cNvPr id="3" name="35">
            <a:extLst xmlns:a="http://schemas.openxmlformats.org/drawingml/2006/main">
              <a:ext uri="{FF2B5EF4-FFF2-40B4-BE49-F238E27FC236}">
                <a16:creationId xmlns:a16="http://schemas.microsoft.com/office/drawing/2014/main" id="{0B1F4047-9A99-4830-B4CD-8C9D0320ADC2}"/>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35</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e19953456505402b"/>
          <a:stretch xmlns:a="http://schemas.openxmlformats.org/drawingml/2006/main"/>
        </p:blipFill>
        <p:spPr>
          <a:xfrm xmlns:a="http://schemas.openxmlformats.org/drawingml/2006/main">
            <a:off x="540677" y="1409700"/>
            <a:ext cx="3824021" cy="2343150"/>
          </a:xfrm>
          <a:prstGeom xmlns:a="http://schemas.openxmlformats.org/drawingml/2006/main" prst="rect">
            <a:avLst/>
          </a:prstGeom>
        </p:spPr>
      </p:pic>
      <p:sp>
        <p:nvSpPr>
          <p:cNvPr id="5" name="Moving obstacle clears the route">
            <a:extLst xmlns:a="http://schemas.openxmlformats.org/drawingml/2006/main">
              <a:ext uri="{FF2B5EF4-FFF2-40B4-BE49-F238E27FC236}">
                <a16:creationId xmlns:a16="http://schemas.microsoft.com/office/drawing/2014/main" id="{A979D6E4-2F45-47F9-9F3A-DA5217571FB6}"/>
              </a:ext>
            </a:extLst>
          </p:cNvPr>
          <p:cNvSpPr>
            <a:spLocks xmlns:a="http://schemas.openxmlformats.org/drawingml/2006/main" noGrp="1"/>
          </p:cNvSpPr>
          <p:nvPr/>
        </p:nvSpPr>
        <p:spPr>
          <a:xfrm xmlns:a="http://schemas.openxmlformats.org/drawingml/2006/main">
            <a:off x="523875" y="3790950"/>
            <a:ext cx="3857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Moving obstacle clears the route</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c05057d445874a89"/>
          <a:stretch xmlns:a="http://schemas.openxmlformats.org/drawingml/2006/main"/>
        </p:blipFill>
        <p:spPr>
          <a:xfrm xmlns:a="http://schemas.openxmlformats.org/drawingml/2006/main">
            <a:off x="4779302" y="1409700"/>
            <a:ext cx="3824021" cy="2343150"/>
          </a:xfrm>
          <a:prstGeom xmlns:a="http://schemas.openxmlformats.org/drawingml/2006/main" prst="rect">
            <a:avLst/>
          </a:prstGeom>
        </p:spPr>
      </p:pic>
      <p:sp>
        <p:nvSpPr>
          <p:cNvPr id="7" name="Stationary obstacle blocks the route">
            <a:extLst xmlns:a="http://schemas.openxmlformats.org/drawingml/2006/main">
              <a:ext uri="{FF2B5EF4-FFF2-40B4-BE49-F238E27FC236}">
                <a16:creationId xmlns:a16="http://schemas.microsoft.com/office/drawing/2014/main" id="{A76AB620-D3D6-4145-9FF4-124DAA76685D}"/>
              </a:ext>
            </a:extLst>
          </p:cNvPr>
          <p:cNvSpPr>
            <a:spLocks xmlns:a="http://schemas.openxmlformats.org/drawingml/2006/main" noGrp="1"/>
          </p:cNvSpPr>
          <p:nvPr/>
        </p:nvSpPr>
        <p:spPr>
          <a:xfrm xmlns:a="http://schemas.openxmlformats.org/drawingml/2006/main">
            <a:off x="4762500" y="3790950"/>
            <a:ext cx="3857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00" b="1">
                <a:solidFill>
                  <a:srgbClr val="00539F"/>
                </a:solidFill>
                <a:latin typeface="Arial"/>
                <a:ea typeface="Arial"/>
                <a:cs typeface="Arial"/>
              </a:defRPr>
            </a:pPr>
            <a:r>
              <a:rPr sz="1500" b="1">
                <a:solidFill>
                  <a:srgbClr val="00539F"/>
                </a:solidFill>
                <a:latin typeface="Arial"/>
                <a:ea typeface="Arial"/>
                <a:cs typeface="Arial"/>
              </a:rPr>
              <a:t>Stationary obstacle blocks the route</a:t>
            </a:r>
          </a:p>
        </p:txBody>
      </p:sp>
      <p:sp>
        <p:nvSpPr>
          <p:cNvPr id="8" name="A moving obstacle clears and local execution progresses.&#10;A perma">
            <a:extLst xmlns:a="http://schemas.openxmlformats.org/drawingml/2006/main">
              <a:ext uri="{FF2B5EF4-FFF2-40B4-BE49-F238E27FC236}">
                <a16:creationId xmlns:a16="http://schemas.microsoft.com/office/drawing/2014/main" id="{5FE6B62D-4ED5-44DA-BA7D-F4AB2728805F}"/>
              </a:ext>
            </a:extLst>
          </p:cNvPr>
          <p:cNvSpPr>
            <a:spLocks xmlns:a="http://schemas.openxmlformats.org/drawingml/2006/main" noGrp="1"/>
          </p:cNvSpPr>
          <p:nvPr/>
        </p:nvSpPr>
        <p:spPr>
          <a:xfrm xmlns:a="http://schemas.openxmlformats.org/drawingml/2006/main">
            <a:off x="523875" y="4171950"/>
            <a:ext cx="8096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A moving obstacle clears and local execution progresses.</a:t>
            </a:r>
          </a:p>
          <a:p xmlns:a="http://schemas.openxmlformats.org/drawingml/2006/main">
            <a:pPr>
              <a:defRPr sz="1575" b="0">
                <a:solidFill>
                  <a:srgbClr val="17324D"/>
                </a:solidFill>
                <a:latin typeface="Arial"/>
                <a:ea typeface="Arial"/>
                <a:cs typeface="Arial"/>
              </a:defRPr>
            </a:pPr>
            <a:r>
              <a:rPr sz="1575" b="0">
                <a:solidFill>
                  <a:srgbClr val="17324D"/>
                </a:solidFill>
                <a:latin typeface="Arial"/>
                <a:ea typeface="Arial"/>
                <a:cs typeface="Arial"/>
              </a:rPr>
              <a:t>A permanent blockage stalls the controller until the route changes.</a:t>
            </a:r>
          </a:p>
        </p:txBody>
      </p:sp>
      <p:sp>
        <p:nvSpPr>
          <p:cNvPr id="9" name="Open interactive experiment">
            <a:extLst xmlns:a="http://schemas.openxmlformats.org/drawingml/2006/main">
              <a:ext uri="{FF2B5EF4-FFF2-40B4-BE49-F238E27FC236}">
                <a16:creationId xmlns:a16="http://schemas.microsoft.com/office/drawing/2014/main" id="{8729B366-6006-4FCB-8670-68EE374C99DC}"/>
              </a:ext>
            </a:extLst>
          </p:cNvPr>
          <p:cNvSpPr>
            <a:spLocks xmlns:a="http://schemas.openxmlformats.org/drawingml/2006/main" noGrp="1"/>
          </p:cNvSpPr>
          <p:nvPr/>
        </p:nvSpPr>
        <p:spPr>
          <a:xfrm xmlns:a="http://schemas.openxmlformats.org/drawingml/2006/main">
            <a:off x="523875" y="466725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10b654aa3e76401b"/>
              </a:rPr>
              <a:t>Open interactive experiment</a:t>
            </a:r>
          </a:p>
        </p:txBody>
      </p:sp>
    </p:spTree>
    <p:extLst>
      <p:ext uri="{BB962C8B-B14F-4D97-AF65-F5344CB8AC3E}">
        <p14:creationId xmlns:p14="http://schemas.microsoft.com/office/powerpoint/2010/main" val="437675159"/>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e962e49029d44613"/>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Common local planning approaches">
            <a:extLst xmlns:a="http://schemas.openxmlformats.org/drawingml/2006/main">
              <a:ext uri="{FF2B5EF4-FFF2-40B4-BE49-F238E27FC236}">
                <a16:creationId xmlns:a16="http://schemas.microsoft.com/office/drawing/2014/main" id="{C5D99CCD-9353-4D9E-868C-63FC9D646A0A}"/>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Common local planning approaches</a:t>
            </a:r>
          </a:p>
        </p:txBody>
      </p:sp>
      <p:sp>
        <p:nvSpPr>
          <p:cNvPr id="3" name="36">
            <a:extLst xmlns:a="http://schemas.openxmlformats.org/drawingml/2006/main">
              <a:ext uri="{FF2B5EF4-FFF2-40B4-BE49-F238E27FC236}">
                <a16:creationId xmlns:a16="http://schemas.microsoft.com/office/drawing/2014/main" id="{54258FBF-CE41-43BF-978A-4374BBFFDB9C}"/>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36</a:t>
            </a:r>
          </a:p>
        </p:txBody>
      </p:sp>
      <p:graphicFrame>
        <p:nvGraphicFramePr>
          <p:cNvPr id="8" name=""/>
          <p:cNvGraphicFramePr/>
          <p:nvPr/>
        </p:nvGraphicFramePr>
        <p:xfrm>
          <a:off xmlns:a="http://schemas.openxmlformats.org/drawingml/2006/main" x="523875" y="1438275"/>
          <a:ext xmlns:a="http://schemas.openxmlformats.org/drawingml/2006/main" cx="8096250" cy="2857500"/>
        </p:xfrm>
        <a:graphic xmlns:a="http://schemas.openxmlformats.org/drawingml/2006/main">
          <a:graphicData uri="http://schemas.openxmlformats.org/drawingml/2006/table">
            <a:tbl>
              <a:tblPr/>
              <a:tblGrid>
                <a:gridCol w="1952625"/>
                <a:gridCol w="3000375"/>
                <a:gridCol w="3143250"/>
              </a:tblGrid>
              <a:tr h="571500">
                <a:tc>
                  <a:txBody>
                    <a:bodyPr lIns="114300" tIns="76200" rIns="114300" bIns="76200">
                      <a:noAutofit/>
                    </a:bodyPr>
                    <a:lstStyle/>
                    <a:p>
                      <a:r>
                        <a:rPr sz="1425" b="1">
                          <a:solidFill>
                            <a:srgbClr val="FFFFFF"/>
                          </a:solidFill>
                          <a:latin typeface="Arial"/>
                          <a:ea typeface="Arial"/>
                          <a:cs typeface="Arial"/>
                        </a:rPr>
                        <a:t>Approach</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Mechanism</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Typical limitation</a:t>
                      </a:r>
                    </a:p>
                  </a:txBody>
                  <a:tcPr marL="91440" marR="91440" marT="45720" marB="45720" anchor="ctr">
                    <a:solidFill>
                      <a:srgbClr val="00539F"/>
                    </a:solidFill>
                  </a:tcPr>
                </a:tc>
              </a:tr>
              <a:tr h="571500">
                <a:tc>
                  <a:txBody>
                    <a:bodyPr lIns="114300" tIns="76200" rIns="114300" bIns="76200">
                      <a:noAutofit/>
                    </a:bodyPr>
                    <a:lstStyle/>
                    <a:p>
                      <a:r>
                        <a:rPr sz="1425" b="0">
                          <a:solidFill>
                            <a:srgbClr val="17324D"/>
                          </a:solidFill>
                          <a:latin typeface="Arial"/>
                          <a:ea typeface="Arial"/>
                          <a:cs typeface="Arial"/>
                        </a:rPr>
                        <a:t>DWA / DWB</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Score candidate velocity motions</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Sampling and critic tuning</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MPC</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Optimize predicted controls</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Model error and solve budget</a:t>
                      </a:r>
                    </a:p>
                  </a:txBody>
                  <a:tcPr marL="91440" marR="91440" marT="45720" marB="45720" anchor="ctr">
                    <a:solidFill>
                      <a:srgbClr val="F1F6FA"/>
                    </a:solidFill>
                  </a:tcPr>
                </a:tc>
              </a:tr>
              <a:tr h="571500">
                <a:tc>
                  <a:txBody>
                    <a:bodyPr lIns="114300" tIns="76200" rIns="114300" bIns="76200">
                      <a:noAutofit/>
                    </a:bodyPr>
                    <a:lstStyle/>
                    <a:p>
                      <a:r>
                        <a:rPr sz="1425" b="0">
                          <a:solidFill>
                            <a:srgbClr val="17324D"/>
                          </a:solidFill>
                          <a:latin typeface="Arial"/>
                          <a:ea typeface="Arial"/>
                          <a:cs typeface="Arial"/>
                        </a:rPr>
                        <a:t>MPPI</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Improve sampled control sequences</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Cost / noise / horizon tuning</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Path following</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Track a given reference</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Avoidance depends on controller</a:t>
                      </a:r>
                    </a:p>
                  </a:txBody>
                  <a:tcPr marL="91440" marR="91440" marT="45720" marB="45720" anchor="ctr">
                    <a:solidFill>
                      <a:srgbClr val="F1F6FA"/>
                    </a:solidFill>
                  </a:tcPr>
                </a:tc>
              </a:tr>
            </a:tbl>
          </a:graphicData>
        </a:graphic>
      </p:graphicFrame>
    </p:spTree>
    <p:extLst>
      <p:ext uri="{BB962C8B-B14F-4D97-AF65-F5344CB8AC3E}">
        <p14:creationId xmlns:p14="http://schemas.microsoft.com/office/powerpoint/2010/main" val="1048789198"/>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59c5043f8b15450a"/>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Prediction horizon and stopping distance">
            <a:extLst xmlns:a="http://schemas.openxmlformats.org/drawingml/2006/main">
              <a:ext uri="{FF2B5EF4-FFF2-40B4-BE49-F238E27FC236}">
                <a16:creationId xmlns:a16="http://schemas.microsoft.com/office/drawing/2014/main" id="{013C2BBA-FED2-4A6D-B512-EFE06932FD8D}"/>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Prediction horizon and stopping distance</a:t>
            </a:r>
          </a:p>
        </p:txBody>
      </p:sp>
      <p:sp>
        <p:nvSpPr>
          <p:cNvPr id="3" name="37">
            <a:extLst xmlns:a="http://schemas.openxmlformats.org/drawingml/2006/main">
              <a:ext uri="{FF2B5EF4-FFF2-40B4-BE49-F238E27FC236}">
                <a16:creationId xmlns:a16="http://schemas.microsoft.com/office/drawing/2014/main" id="{7DD21961-7D77-498D-9479-FF4A006BBD21}"/>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37</a:t>
            </a:r>
          </a:p>
        </p:txBody>
      </p:sp>
      <p:sp>
        <p:nvSpPr>
          <p:cNvPr id="4" name="Distance ≈ v t_reaction + v² / (2 a_brake)">
            <a:extLst xmlns:a="http://schemas.openxmlformats.org/drawingml/2006/main">
              <a:ext uri="{FF2B5EF4-FFF2-40B4-BE49-F238E27FC236}">
                <a16:creationId xmlns:a16="http://schemas.microsoft.com/office/drawing/2014/main" id="{5E939449-76FD-4986-8A1E-068F8D9B0E26}"/>
              </a:ext>
            </a:extLst>
          </p:cNvPr>
          <p:cNvSpPr>
            <a:spLocks xmlns:a="http://schemas.openxmlformats.org/drawingml/2006/main" noGrp="1"/>
          </p:cNvSpPr>
          <p:nvPr/>
        </p:nvSpPr>
        <p:spPr>
          <a:xfrm xmlns:a="http://schemas.openxmlformats.org/drawingml/2006/main">
            <a:off x="619125" y="145732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1">
                <a:solidFill>
                  <a:srgbClr val="00539F"/>
                </a:solidFill>
                <a:latin typeface="Arial"/>
                <a:ea typeface="Arial"/>
                <a:cs typeface="Arial"/>
              </a:defRPr>
            </a:pPr>
            <a:r>
              <a:rPr sz="2400" b="1">
                <a:solidFill>
                  <a:srgbClr val="00539F"/>
                </a:solidFill>
                <a:latin typeface="Arial"/>
                <a:ea typeface="Arial"/>
                <a:cs typeface="Arial"/>
              </a:rPr>
              <a:t>Distance ≈ v t_reaction + v² / (2 a_brake)</a:t>
            </a:r>
          </a:p>
        </p:txBody>
      </p:sp>
      <p:sp>
        <p:nvSpPr>
          <p:cNvPr id="5" name="Horizon distance ≈ v × prediction time">
            <a:extLst xmlns:a="http://schemas.openxmlformats.org/drawingml/2006/main">
              <a:ext uri="{FF2B5EF4-FFF2-40B4-BE49-F238E27FC236}">
                <a16:creationId xmlns:a16="http://schemas.microsoft.com/office/drawing/2014/main" id="{9E6A8458-C839-4B9F-9157-8F24833BE08A}"/>
              </a:ext>
            </a:extLst>
          </p:cNvPr>
          <p:cNvSpPr>
            <a:spLocks xmlns:a="http://schemas.openxmlformats.org/drawingml/2006/main" noGrp="1"/>
          </p:cNvSpPr>
          <p:nvPr/>
        </p:nvSpPr>
        <p:spPr>
          <a:xfrm xmlns:a="http://schemas.openxmlformats.org/drawingml/2006/main">
            <a:off x="619125" y="2047875"/>
            <a:ext cx="7905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400" b="0">
                <a:solidFill>
                  <a:srgbClr val="00539F"/>
                </a:solidFill>
                <a:latin typeface="Arial"/>
                <a:ea typeface="Arial"/>
                <a:cs typeface="Arial"/>
              </a:defRPr>
            </a:pPr>
            <a:r>
              <a:rPr sz="2400" b="0">
                <a:solidFill>
                  <a:srgbClr val="00539F"/>
                </a:solidFill>
                <a:latin typeface="Arial"/>
                <a:ea typeface="Arial"/>
                <a:cs typeface="Arial"/>
              </a:rPr>
              <a:t>Horizon distance ≈ v × prediction time</a:t>
            </a:r>
          </a:p>
        </p:txBody>
      </p:sp>
      <p:sp>
        <p:nvSpPr>
          <p:cNvPr id="6" name="A short horizon can hide a future collision.&#10;&#10;A longer horizon c">
            <a:extLst xmlns:a="http://schemas.openxmlformats.org/drawingml/2006/main">
              <a:ext uri="{FF2B5EF4-FFF2-40B4-BE49-F238E27FC236}">
                <a16:creationId xmlns:a16="http://schemas.microsoft.com/office/drawing/2014/main" id="{260DE6D5-67FA-4A90-9E83-0B166023065A}"/>
              </a:ext>
            </a:extLst>
          </p:cNvPr>
          <p:cNvSpPr>
            <a:spLocks xmlns:a="http://schemas.openxmlformats.org/drawingml/2006/main" noGrp="1"/>
          </p:cNvSpPr>
          <p:nvPr/>
        </p:nvSpPr>
        <p:spPr>
          <a:xfrm xmlns:a="http://schemas.openxmlformats.org/drawingml/2006/main">
            <a:off x="619125" y="3476625"/>
            <a:ext cx="790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A short horizon can hide a future collision.</a:t>
            </a:r>
          </a:p>
          <a:p xmlns:a="http://schemas.openxmlformats.org/drawingml/2006/main">
            <a:r>
              <a:t/>
            </a:r>
          </a:p>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A longer horizon costs more computation and needs useful predictions.</a:t>
            </a:r>
          </a:p>
        </p:txBody>
      </p:sp>
    </p:spTree>
    <p:extLst>
      <p:ext uri="{BB962C8B-B14F-4D97-AF65-F5344CB8AC3E}">
        <p14:creationId xmlns:p14="http://schemas.microsoft.com/office/powerpoint/2010/main" val="85186513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4e0684211d2c477a"/>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Planning in different environments">
            <a:extLst xmlns:a="http://schemas.openxmlformats.org/drawingml/2006/main">
              <a:ext uri="{FF2B5EF4-FFF2-40B4-BE49-F238E27FC236}">
                <a16:creationId xmlns:a16="http://schemas.microsoft.com/office/drawing/2014/main" id="{D1B06833-A1A6-415B-969E-087A05BA2737}"/>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Planning in different environments</a:t>
            </a:r>
          </a:p>
        </p:txBody>
      </p:sp>
      <p:sp>
        <p:nvSpPr>
          <p:cNvPr id="3" name="38">
            <a:extLst xmlns:a="http://schemas.openxmlformats.org/drawingml/2006/main">
              <a:ext uri="{FF2B5EF4-FFF2-40B4-BE49-F238E27FC236}">
                <a16:creationId xmlns:a16="http://schemas.microsoft.com/office/drawing/2014/main" id="{E049B407-3363-41FC-B1A2-FB79C208CB0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38</a:t>
            </a:r>
          </a:p>
        </p:txBody>
      </p:sp>
      <p:graphicFrame>
        <p:nvGraphicFramePr>
          <p:cNvPr id="8" name=""/>
          <p:cNvGraphicFramePr/>
          <p:nvPr/>
        </p:nvGraphicFramePr>
        <p:xfrm>
          <a:off xmlns:a="http://schemas.openxmlformats.org/drawingml/2006/main" x="523875" y="1438275"/>
          <a:ext xmlns:a="http://schemas.openxmlformats.org/drawingml/2006/main" cx="8096250" cy="2857500"/>
        </p:xfrm>
        <a:graphic xmlns:a="http://schemas.openxmlformats.org/drawingml/2006/main">
          <a:graphicData uri="http://schemas.openxmlformats.org/drawingml/2006/table">
            <a:tbl>
              <a:tblPr/>
              <a:tblGrid>
                <a:gridCol w="1952625"/>
                <a:gridCol w="3000375"/>
                <a:gridCol w="3143250"/>
              </a:tblGrid>
              <a:tr h="571500">
                <a:tc>
                  <a:txBody>
                    <a:bodyPr lIns="114300" tIns="76200" rIns="114300" bIns="76200">
                      <a:noAutofit/>
                    </a:bodyPr>
                    <a:lstStyle/>
                    <a:p>
                      <a:r>
                        <a:rPr sz="1425" b="1">
                          <a:solidFill>
                            <a:srgbClr val="FFFFFF"/>
                          </a:solidFill>
                          <a:latin typeface="Arial"/>
                          <a:ea typeface="Arial"/>
                          <a:cs typeface="Arial"/>
                        </a:rPr>
                        <a:t>Environment</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Planning emphasis</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Common failure</a:t>
                      </a:r>
                    </a:p>
                  </a:txBody>
                  <a:tcPr marL="91440" marR="91440" marT="45720" marB="45720" anchor="ctr">
                    <a:solidFill>
                      <a:srgbClr val="00539F"/>
                    </a:solidFill>
                  </a:tcPr>
                </a:tc>
              </a:tr>
              <a:tr h="571500">
                <a:tc>
                  <a:txBody>
                    <a:bodyPr lIns="114300" tIns="76200" rIns="114300" bIns="76200">
                      <a:noAutofit/>
                    </a:bodyPr>
                    <a:lstStyle/>
                    <a:p>
                      <a:r>
                        <a:rPr sz="1425" b="0">
                          <a:solidFill>
                            <a:srgbClr val="17324D"/>
                          </a:solidFill>
                          <a:latin typeface="Arial"/>
                          <a:ea typeface="Arial"/>
                          <a:cs typeface="Arial"/>
                        </a:rPr>
                        <a:t>Static warehouse</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Map search and footprint</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Narrow aisles / loaded robot</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People in a corridor</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Local prediction and stopping</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Wrong motion forecast</a:t>
                      </a:r>
                    </a:p>
                  </a:txBody>
                  <a:tcPr marL="91440" marR="91440" marT="45720" marB="45720" anchor="ctr">
                    <a:solidFill>
                      <a:srgbClr val="F1F6FA"/>
                    </a:solidFill>
                  </a:tcPr>
                </a:tc>
              </a:tr>
              <a:tr h="571500">
                <a:tc>
                  <a:txBody>
                    <a:bodyPr lIns="114300" tIns="76200" rIns="114300" bIns="76200">
                      <a:noAutofit/>
                    </a:bodyPr>
                    <a:lstStyle/>
                    <a:p>
                      <a:r>
                        <a:rPr sz="1425" b="0">
                          <a:solidFill>
                            <a:srgbClr val="17324D"/>
                          </a:solidFill>
                          <a:latin typeface="Arial"/>
                          <a:ea typeface="Arial"/>
                          <a:cs typeface="Arial"/>
                        </a:rPr>
                        <a:t>Outdoor rough terrain</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Traversability and replanning</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Map misses slope / traction</a:t>
                      </a:r>
                    </a:p>
                  </a:txBody>
                  <a:tcPr marL="91440" marR="91440" marT="45720" marB="45720" anchor="ctr">
                    <a:solidFill>
                      <a:srgbClr val="FFFFFF"/>
                    </a:solidFill>
                  </a:tcPr>
                </a:tc>
              </a:tr>
              <a:tr h="571500">
                <a:tc>
                  <a:txBody>
                    <a:bodyPr lIns="114300" tIns="76200" rIns="114300" bIns="76200">
                      <a:noAutofit/>
                    </a:bodyPr>
                    <a:lstStyle/>
                    <a:p>
                      <a:r>
                        <a:rPr sz="1425" b="0">
                          <a:solidFill>
                            <a:srgbClr val="17324D"/>
                          </a:solidFill>
                          <a:latin typeface="Arial"/>
                          <a:ea typeface="Arial"/>
                          <a:cs typeface="Arial"/>
                        </a:rPr>
                        <a:t>Road vehicle</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Feasible timed maneuvers</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Grid corner / crossing actor</a:t>
                      </a:r>
                    </a:p>
                  </a:txBody>
                  <a:tcPr marL="91440" marR="91440" marT="45720" marB="45720" anchor="ctr">
                    <a:solidFill>
                      <a:srgbClr val="F1F6FA"/>
                    </a:solidFill>
                  </a:tcPr>
                </a:tc>
              </a:tr>
            </a:tbl>
          </a:graphicData>
        </a:graphic>
      </p:graphicFrame>
    </p:spTree>
    <p:extLst>
      <p:ext uri="{BB962C8B-B14F-4D97-AF65-F5344CB8AC3E}">
        <p14:creationId xmlns:p14="http://schemas.microsoft.com/office/powerpoint/2010/main" val="157046288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65ebc7ff33bb414f"/>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Greg Chirikjian’s Robot Imagination">
            <a:extLst xmlns:a="http://schemas.openxmlformats.org/drawingml/2006/main">
              <a:ext uri="{FF2B5EF4-FFF2-40B4-BE49-F238E27FC236}">
                <a16:creationId xmlns:a16="http://schemas.microsoft.com/office/drawing/2014/main" id="{70BE9E12-981D-449C-A17A-ACC9BABEC785}"/>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Greg Chirikjian’s Robot Imagination</a:t>
            </a:r>
          </a:p>
        </p:txBody>
      </p:sp>
      <p:sp>
        <p:nvSpPr>
          <p:cNvPr id="3" name="39">
            <a:extLst xmlns:a="http://schemas.openxmlformats.org/drawingml/2006/main">
              <a:ext uri="{FF2B5EF4-FFF2-40B4-BE49-F238E27FC236}">
                <a16:creationId xmlns:a16="http://schemas.microsoft.com/office/drawing/2014/main" id="{A0EFC398-D134-4AC5-A3E0-303F91EA17B0}"/>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39</a:t>
            </a:r>
          </a:p>
        </p:txBody>
      </p:sp>
      <p:sp>
        <p:nvSpPr>
          <p:cNvPr id="4" name="Reconstruct an unfamiliar object for simulation.">
            <a:extLst xmlns:a="http://schemas.openxmlformats.org/drawingml/2006/main">
              <a:ext uri="{FF2B5EF4-FFF2-40B4-BE49-F238E27FC236}">
                <a16:creationId xmlns:a16="http://schemas.microsoft.com/office/drawing/2014/main" id="{4CEF2FD3-1C4F-4AB9-9FA1-50A3206D77B4}"/>
              </a:ext>
            </a:extLst>
          </p:cNvPr>
          <p:cNvSpPr>
            <a:spLocks xmlns:a="http://schemas.openxmlformats.org/drawingml/2006/main" noGrp="1"/>
          </p:cNvSpPr>
          <p:nvPr/>
        </p:nvSpPr>
        <p:spPr>
          <a:xfrm xmlns:a="http://schemas.openxmlformats.org/drawingml/2006/main">
            <a:off x="619125" y="1438275"/>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Reconstruct an unfamiliar object for simulation.</a:t>
            </a:r>
          </a:p>
        </p:txBody>
      </p:sp>
      <p:sp>
        <p:nvSpPr>
          <p:cNvPr id="5" name="Test candidate physical interactions and evaluate their outcomes">
            <a:extLst xmlns:a="http://schemas.openxmlformats.org/drawingml/2006/main">
              <a:ext uri="{FF2B5EF4-FFF2-40B4-BE49-F238E27FC236}">
                <a16:creationId xmlns:a16="http://schemas.microsoft.com/office/drawing/2014/main" id="{41DECF55-17E4-4A00-9A1A-3A0F89AFD66E}"/>
              </a:ext>
            </a:extLst>
          </p:cNvPr>
          <p:cNvSpPr>
            <a:spLocks xmlns:a="http://schemas.openxmlformats.org/drawingml/2006/main" noGrp="1"/>
          </p:cNvSpPr>
          <p:nvPr/>
        </p:nvSpPr>
        <p:spPr>
          <a:xfrm xmlns:a="http://schemas.openxmlformats.org/drawingml/2006/main">
            <a:off x="619125" y="2381250"/>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Test candidate physical interactions and evaluate their outcomes.</a:t>
            </a:r>
          </a:p>
        </p:txBody>
      </p:sp>
      <p:sp>
        <p:nvSpPr>
          <p:cNvPr id="6" name="Use the resulting affordance to guide a real action.">
            <a:extLst xmlns:a="http://schemas.openxmlformats.org/drawingml/2006/main">
              <a:ext uri="{FF2B5EF4-FFF2-40B4-BE49-F238E27FC236}">
                <a16:creationId xmlns:a16="http://schemas.microsoft.com/office/drawing/2014/main" id="{6E80648F-07F4-474C-8D1F-C3D976AC0A39}"/>
              </a:ext>
            </a:extLst>
          </p:cNvPr>
          <p:cNvSpPr>
            <a:spLocks xmlns:a="http://schemas.openxmlformats.org/drawingml/2006/main" noGrp="1"/>
          </p:cNvSpPr>
          <p:nvPr/>
        </p:nvSpPr>
        <p:spPr>
          <a:xfrm xmlns:a="http://schemas.openxmlformats.org/drawingml/2006/main">
            <a:off x="619125" y="3324225"/>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Use the resulting affordance to guide a real action.</a:t>
            </a:r>
          </a:p>
        </p:txBody>
      </p:sp>
    </p:spTree>
    <p:extLst>
      <p:ext uri="{BB962C8B-B14F-4D97-AF65-F5344CB8AC3E}">
        <p14:creationId xmlns:p14="http://schemas.microsoft.com/office/powerpoint/2010/main" val="1314795329"/>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1a46d0532954116"/>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Imagination and motion planning">
            <a:extLst xmlns:a="http://schemas.openxmlformats.org/drawingml/2006/main">
              <a:ext uri="{FF2B5EF4-FFF2-40B4-BE49-F238E27FC236}">
                <a16:creationId xmlns:a16="http://schemas.microsoft.com/office/drawing/2014/main" id="{2C4C34EC-A315-49BC-BB59-0032EA3C4AE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Imagination and motion planning</a:t>
            </a:r>
          </a:p>
        </p:txBody>
      </p:sp>
      <p:sp>
        <p:nvSpPr>
          <p:cNvPr id="3" name="40">
            <a:extLst xmlns:a="http://schemas.openxmlformats.org/drawingml/2006/main">
              <a:ext uri="{FF2B5EF4-FFF2-40B4-BE49-F238E27FC236}">
                <a16:creationId xmlns:a16="http://schemas.microsoft.com/office/drawing/2014/main" id="{5700394F-FA15-493D-A74B-BC8B4DE4D371}"/>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40</a:t>
            </a:r>
          </a:p>
        </p:txBody>
      </p:sp>
      <p:sp>
        <p:nvSpPr>
          <p:cNvPr id="4" name="PRIMP learns distributions of demonstrated end-effector motions.">
            <a:extLst xmlns:a="http://schemas.openxmlformats.org/drawingml/2006/main">
              <a:ext uri="{FF2B5EF4-FFF2-40B4-BE49-F238E27FC236}">
                <a16:creationId xmlns:a16="http://schemas.microsoft.com/office/drawing/2014/main" id="{AC9DE64A-6C5B-4B78-A5E3-2867EEB2C1CD}"/>
              </a:ext>
            </a:extLst>
          </p:cNvPr>
          <p:cNvSpPr>
            <a:spLocks xmlns:a="http://schemas.openxmlformats.org/drawingml/2006/main" noGrp="1"/>
          </p:cNvSpPr>
          <p:nvPr/>
        </p:nvSpPr>
        <p:spPr>
          <a:xfrm xmlns:a="http://schemas.openxmlformats.org/drawingml/2006/main">
            <a:off x="619125" y="1438275"/>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PRIMP learns distributions of demonstrated end-effector motions.</a:t>
            </a:r>
          </a:p>
        </p:txBody>
      </p:sp>
      <p:sp>
        <p:nvSpPr>
          <p:cNvPr id="5" name="Planning uses those distributions to adapt motions around new ob">
            <a:extLst xmlns:a="http://schemas.openxmlformats.org/drawingml/2006/main">
              <a:ext uri="{FF2B5EF4-FFF2-40B4-BE49-F238E27FC236}">
                <a16:creationId xmlns:a16="http://schemas.microsoft.com/office/drawing/2014/main" id="{31320026-66B1-405D-8534-8BA69540FBC4}"/>
              </a:ext>
            </a:extLst>
          </p:cNvPr>
          <p:cNvSpPr>
            <a:spLocks xmlns:a="http://schemas.openxmlformats.org/drawingml/2006/main" noGrp="1"/>
          </p:cNvSpPr>
          <p:nvPr/>
        </p:nvSpPr>
        <p:spPr>
          <a:xfrm xmlns:a="http://schemas.openxmlformats.org/drawingml/2006/main">
            <a:off x="619125" y="2381250"/>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Planning uses those distributions to adapt motions around new obstacles.</a:t>
            </a:r>
          </a:p>
        </p:txBody>
      </p:sp>
      <p:sp>
        <p:nvSpPr>
          <p:cNvPr id="6" name="RAIL combines language-based reasoning with simulated affordance">
            <a:extLst xmlns:a="http://schemas.openxmlformats.org/drawingml/2006/main">
              <a:ext uri="{FF2B5EF4-FFF2-40B4-BE49-F238E27FC236}">
                <a16:creationId xmlns:a16="http://schemas.microsoft.com/office/drawing/2014/main" id="{5783C1D8-DA9D-48A9-88BB-AA9C9E3B3D7A}"/>
              </a:ext>
            </a:extLst>
          </p:cNvPr>
          <p:cNvSpPr>
            <a:spLocks xmlns:a="http://schemas.openxmlformats.org/drawingml/2006/main" noGrp="1"/>
          </p:cNvSpPr>
          <p:nvPr/>
        </p:nvSpPr>
        <p:spPr>
          <a:xfrm xmlns:a="http://schemas.openxmlformats.org/drawingml/2006/main">
            <a:off x="619125" y="3324225"/>
            <a:ext cx="79057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RAIL combines language-based reasoning with simulated affordance tests.</a:t>
            </a:r>
          </a:p>
        </p:txBody>
      </p:sp>
    </p:spTree>
    <p:extLst>
      <p:ext uri="{BB962C8B-B14F-4D97-AF65-F5344CB8AC3E}">
        <p14:creationId xmlns:p14="http://schemas.microsoft.com/office/powerpoint/2010/main" val="1892795845"/>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c8b9baaf24b4651"/>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Demo: imagined doorway motions">
            <a:extLst xmlns:a="http://schemas.openxmlformats.org/drawingml/2006/main">
              <a:ext uri="{FF2B5EF4-FFF2-40B4-BE49-F238E27FC236}">
                <a16:creationId xmlns:a16="http://schemas.microsoft.com/office/drawing/2014/main" id="{8AE0154A-95ED-49DB-9AA8-65205D1DFE78}"/>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Demo: imagined doorway motions</a:t>
            </a:r>
          </a:p>
        </p:txBody>
      </p:sp>
      <p:sp>
        <p:nvSpPr>
          <p:cNvPr id="3" name="41">
            <a:extLst xmlns:a="http://schemas.openxmlformats.org/drawingml/2006/main">
              <a:ext uri="{FF2B5EF4-FFF2-40B4-BE49-F238E27FC236}">
                <a16:creationId xmlns:a16="http://schemas.microsoft.com/office/drawing/2014/main" id="{21FC61C5-09B5-4D51-A2A5-881609E0BAB2}"/>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41</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2d18196cfcf14007"/>
          <a:stretch xmlns:a="http://schemas.openxmlformats.org/drawingml/2006/main"/>
        </p:blipFill>
        <p:spPr>
          <a:xfrm xmlns:a="http://schemas.openxmlformats.org/drawingml/2006/main">
            <a:off x="729044" y="1400175"/>
            <a:ext cx="4818888" cy="2952750"/>
          </a:xfrm>
          <a:prstGeom xmlns:a="http://schemas.openxmlformats.org/drawingml/2006/main" prst="rect">
            <a:avLst/>
          </a:prstGeom>
        </p:spPr>
      </p:pic>
      <p:sp>
        <p:nvSpPr>
          <p:cNvPr id="5" name="The center follows the same straight route.&#10;&#10;Changing orientatio">
            <a:extLst xmlns:a="http://schemas.openxmlformats.org/drawingml/2006/main">
              <a:ext uri="{FF2B5EF4-FFF2-40B4-BE49-F238E27FC236}">
                <a16:creationId xmlns:a16="http://schemas.microsoft.com/office/drawing/2014/main" id="{1A85AEB3-62C1-479E-8258-CC29EE348B51}"/>
              </a:ext>
            </a:extLst>
          </p:cNvPr>
          <p:cNvSpPr>
            <a:spLocks xmlns:a="http://schemas.openxmlformats.org/drawingml/2006/main" noGrp="1"/>
          </p:cNvSpPr>
          <p:nvPr/>
        </p:nvSpPr>
        <p:spPr>
          <a:xfrm xmlns:a="http://schemas.openxmlformats.org/drawingml/2006/main">
            <a:off x="6029325" y="1428750"/>
            <a:ext cx="26193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The center follows the same straight route.</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Changing orientation changes the swept robot footprint.</a:t>
            </a:r>
          </a:p>
          <a:p xmlns:a="http://schemas.openxmlformats.org/drawingml/2006/main">
            <a:r>
              <a:t/>
            </a:r>
          </a:p>
          <a:p xmlns:a="http://schemas.openxmlformats.org/drawingml/2006/main">
            <a:pPr>
              <a:defRPr sz="1650" b="0">
                <a:solidFill>
                  <a:srgbClr val="17324D"/>
                </a:solidFill>
                <a:latin typeface="Arial"/>
                <a:ea typeface="Arial"/>
                <a:cs typeface="Arial"/>
              </a:defRPr>
            </a:pPr>
            <a:r>
              <a:rPr sz="1650" b="0">
                <a:solidFill>
                  <a:srgbClr val="17324D"/>
                </a:solidFill>
                <a:latin typeface="Arial"/>
                <a:ea typeface="Arial"/>
                <a:cs typeface="Arial"/>
              </a:rPr>
              <a:t>Candidate motions must pass collision checks before execution.</a:t>
            </a:r>
          </a:p>
        </p:txBody>
      </p:sp>
      <p:sp>
        <p:nvSpPr>
          <p:cNvPr id="6" name="Open interactive experiment">
            <a:extLst xmlns:a="http://schemas.openxmlformats.org/drawingml/2006/main">
              <a:ext uri="{FF2B5EF4-FFF2-40B4-BE49-F238E27FC236}">
                <a16:creationId xmlns:a16="http://schemas.microsoft.com/office/drawing/2014/main" id="{C92FD81B-D79B-4FAD-B0F5-72D6C9DDBE62}"/>
              </a:ext>
            </a:extLst>
          </p:cNvPr>
          <p:cNvSpPr>
            <a:spLocks xmlns:a="http://schemas.openxmlformats.org/drawingml/2006/main" noGrp="1"/>
          </p:cNvSpPr>
          <p:nvPr/>
        </p:nvSpPr>
        <p:spPr>
          <a:xfrm xmlns:a="http://schemas.openxmlformats.org/drawingml/2006/main">
            <a:off x="523875" y="44862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444e978e1ec24941"/>
              </a:rPr>
              <a:t>Open interactive experiment</a:t>
            </a:r>
          </a:p>
        </p:txBody>
      </p:sp>
    </p:spTree>
    <p:extLst>
      <p:ext uri="{BB962C8B-B14F-4D97-AF65-F5344CB8AC3E}">
        <p14:creationId xmlns:p14="http://schemas.microsoft.com/office/powerpoint/2010/main" val="53762847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5" name=""/>
          <p:cNvPicPr>
            <a:picLocks xmlns:a="http://schemas.openxmlformats.org/drawingml/2006/main" noChangeAspect="1"/>
          </p:cNvPicPr>
          <p:nvPr/>
        </p:nvPicPr>
        <p:blipFill>
          <a:blip xmlns:r="http://schemas.openxmlformats.org/officeDocument/2006/relationships" xmlns:a="http://schemas.openxmlformats.org/drawingml/2006/main" r:embed="R29777719b377481f"/>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Choosing a planning approach">
            <a:extLst xmlns:a="http://schemas.openxmlformats.org/drawingml/2006/main">
              <a:ext uri="{FF2B5EF4-FFF2-40B4-BE49-F238E27FC236}">
                <a16:creationId xmlns:a16="http://schemas.microsoft.com/office/drawing/2014/main" id="{DF75A9DD-9C74-4119-A218-1104FE493CC5}"/>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Choosing a planning approach</a:t>
            </a:r>
          </a:p>
        </p:txBody>
      </p:sp>
      <p:sp>
        <p:nvSpPr>
          <p:cNvPr id="3" name="42">
            <a:extLst xmlns:a="http://schemas.openxmlformats.org/drawingml/2006/main">
              <a:ext uri="{FF2B5EF4-FFF2-40B4-BE49-F238E27FC236}">
                <a16:creationId xmlns:a16="http://schemas.microsoft.com/office/drawing/2014/main" id="{36CC3ACE-2293-4925-98F1-B65A9126B87C}"/>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42</a:t>
            </a:r>
          </a:p>
        </p:txBody>
      </p:sp>
      <p:graphicFrame>
        <p:nvGraphicFramePr>
          <p:cNvPr id="8" name=""/>
          <p:cNvGraphicFramePr/>
          <p:nvPr/>
        </p:nvGraphicFramePr>
        <p:xfrm>
          <a:off xmlns:a="http://schemas.openxmlformats.org/drawingml/2006/main" x="523875" y="1438275"/>
          <a:ext xmlns:a="http://schemas.openxmlformats.org/drawingml/2006/main" cx="8096250" cy="3095625"/>
        </p:xfrm>
        <a:graphic xmlns:a="http://schemas.openxmlformats.org/drawingml/2006/main">
          <a:graphicData uri="http://schemas.openxmlformats.org/drawingml/2006/table">
            <a:tbl>
              <a:tblPr/>
              <a:tblGrid>
                <a:gridCol w="1952625"/>
                <a:gridCol w="3000375"/>
                <a:gridCol w="3143250"/>
              </a:tblGrid>
              <a:tr h="515938">
                <a:tc>
                  <a:txBody>
                    <a:bodyPr lIns="114300" tIns="76200" rIns="114300" bIns="76200">
                      <a:noAutofit/>
                    </a:bodyPr>
                    <a:lstStyle/>
                    <a:p>
                      <a:r>
                        <a:rPr sz="1425" b="1">
                          <a:solidFill>
                            <a:srgbClr val="FFFFFF"/>
                          </a:solidFill>
                          <a:latin typeface="Arial"/>
                          <a:ea typeface="Arial"/>
                          <a:cs typeface="Arial"/>
                        </a:rPr>
                        <a:t>Problem</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Candidate approach</a:t>
                      </a:r>
                    </a:p>
                  </a:txBody>
                  <a:tcPr marL="91440" marR="91440" marT="45720" marB="45720" anchor="ctr">
                    <a:solidFill>
                      <a:srgbClr val="00539F"/>
                    </a:solidFill>
                  </a:tcPr>
                </a:tc>
                <a:tc>
                  <a:txBody>
                    <a:bodyPr lIns="114300" tIns="76200" rIns="114300" bIns="76200">
                      <a:noAutofit/>
                    </a:bodyPr>
                    <a:lstStyle/>
                    <a:p>
                      <a:r>
                        <a:rPr sz="1425" b="1">
                          <a:solidFill>
                            <a:srgbClr val="FFFFFF"/>
                          </a:solidFill>
                          <a:latin typeface="Arial"/>
                          <a:ea typeface="Arial"/>
                          <a:cs typeface="Arial"/>
                        </a:rPr>
                        <a:t>First check</a:t>
                      </a:r>
                    </a:p>
                  </a:txBody>
                  <a:tcPr marL="91440" marR="91440" marT="45720" marB="45720" anchor="ctr">
                    <a:solidFill>
                      <a:srgbClr val="00539F"/>
                    </a:solidFill>
                  </a:tcPr>
                </a:tc>
              </a:tr>
              <a:tr h="515938">
                <a:tc>
                  <a:txBody>
                    <a:bodyPr lIns="114300" tIns="76200" rIns="114300" bIns="76200">
                      <a:noAutofit/>
                    </a:bodyPr>
                    <a:lstStyle/>
                    <a:p>
                      <a:r>
                        <a:rPr sz="1425" b="0">
                          <a:solidFill>
                            <a:srgbClr val="17324D"/>
                          </a:solidFill>
                          <a:latin typeface="Arial"/>
                          <a:ea typeface="Arial"/>
                          <a:cs typeface="Arial"/>
                        </a:rPr>
                        <a:t>Known cost map</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A* / Dijkstra</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Heuristic and graph costs</a:t>
                      </a:r>
                    </a:p>
                  </a:txBody>
                  <a:tcPr marL="91440" marR="91440" marT="45720" marB="45720" anchor="ctr">
                    <a:solidFill>
                      <a:srgbClr val="FFFFFF"/>
                    </a:solidFill>
                  </a:tcPr>
                </a:tc>
              </a:tr>
              <a:tr h="515938">
                <a:tc>
                  <a:txBody>
                    <a:bodyPr lIns="114300" tIns="76200" rIns="114300" bIns="76200">
                      <a:noAutofit/>
                    </a:bodyPr>
                    <a:lstStyle/>
                    <a:p>
                      <a:r>
                        <a:rPr sz="1425" b="0">
                          <a:solidFill>
                            <a:srgbClr val="17324D"/>
                          </a:solidFill>
                          <a:latin typeface="Arial"/>
                          <a:ea typeface="Arial"/>
                          <a:cs typeface="Arial"/>
                        </a:rPr>
                        <a:t>Changing map, same goal</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D* Lite</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Cost-change updates</a:t>
                      </a:r>
                    </a:p>
                  </a:txBody>
                  <a:tcPr marL="91440" marR="91440" marT="45720" marB="45720" anchor="ctr">
                    <a:solidFill>
                      <a:srgbClr val="F1F6FA"/>
                    </a:solidFill>
                  </a:tcPr>
                </a:tc>
              </a:tr>
              <a:tr h="515938">
                <a:tc>
                  <a:txBody>
                    <a:bodyPr lIns="114300" tIns="76200" rIns="114300" bIns="76200">
                      <a:noAutofit/>
                    </a:bodyPr>
                    <a:lstStyle/>
                    <a:p>
                      <a:r>
                        <a:rPr sz="1425" b="0">
                          <a:solidFill>
                            <a:srgbClr val="17324D"/>
                          </a:solidFill>
                          <a:latin typeface="Arial"/>
                          <a:ea typeface="Arial"/>
                          <a:cs typeface="Arial"/>
                        </a:rPr>
                        <a:t>Arm / complex geometry</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PRM / RRT / RRT*</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Configuration collision model</a:t>
                      </a:r>
                    </a:p>
                  </a:txBody>
                  <a:tcPr marL="91440" marR="91440" marT="45720" marB="45720" anchor="ctr">
                    <a:solidFill>
                      <a:srgbClr val="FFFFFF"/>
                    </a:solidFill>
                  </a:tcPr>
                </a:tc>
              </a:tr>
              <a:tr h="515938">
                <a:tc>
                  <a:txBody>
                    <a:bodyPr lIns="114300" tIns="76200" rIns="114300" bIns="76200">
                      <a:noAutofit/>
                    </a:bodyPr>
                    <a:lstStyle/>
                    <a:p>
                      <a:r>
                        <a:rPr sz="1425" b="0">
                          <a:solidFill>
                            <a:srgbClr val="17324D"/>
                          </a:solidFill>
                          <a:latin typeface="Arial"/>
                          <a:ea typeface="Arial"/>
                          <a:cs typeface="Arial"/>
                        </a:rPr>
                        <a:t>Vehicle maneuvers</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Hybrid A* / lattice</a:t>
                      </a:r>
                    </a:p>
                  </a:txBody>
                  <a:tcPr marL="91440" marR="91440" marT="45720" marB="45720" anchor="ctr">
                    <a:solidFill>
                      <a:srgbClr val="F1F6FA"/>
                    </a:solidFill>
                  </a:tcPr>
                </a:tc>
                <a:tc>
                  <a:txBody>
                    <a:bodyPr lIns="114300" tIns="76200" rIns="114300" bIns="76200">
                      <a:noAutofit/>
                    </a:bodyPr>
                    <a:lstStyle/>
                    <a:p>
                      <a:r>
                        <a:rPr sz="1425" b="0">
                          <a:solidFill>
                            <a:srgbClr val="17324D"/>
                          </a:solidFill>
                          <a:latin typeface="Arial"/>
                          <a:ea typeface="Arial"/>
                          <a:cs typeface="Arial"/>
                        </a:rPr>
                        <a:t>Curvature and footprint</a:t>
                      </a:r>
                    </a:p>
                  </a:txBody>
                  <a:tcPr marL="91440" marR="91440" marT="45720" marB="45720" anchor="ctr">
                    <a:solidFill>
                      <a:srgbClr val="F1F6FA"/>
                    </a:solidFill>
                  </a:tcPr>
                </a:tc>
              </a:tr>
              <a:tr h="515938">
                <a:tc>
                  <a:txBody>
                    <a:bodyPr lIns="114300" tIns="76200" rIns="114300" bIns="76200">
                      <a:noAutofit/>
                    </a:bodyPr>
                    <a:lstStyle/>
                    <a:p>
                      <a:r>
                        <a:rPr sz="1425" b="0">
                          <a:solidFill>
                            <a:srgbClr val="17324D"/>
                          </a:solidFill>
                          <a:latin typeface="Arial"/>
                          <a:ea typeface="Arial"/>
                          <a:cs typeface="Arial"/>
                        </a:rPr>
                        <a:t>Moving nearby objects</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Local prediction / optimization</a:t>
                      </a:r>
                    </a:p>
                  </a:txBody>
                  <a:tcPr marL="91440" marR="91440" marT="45720" marB="45720" anchor="ctr">
                    <a:solidFill>
                      <a:srgbClr val="FFFFFF"/>
                    </a:solidFill>
                  </a:tcPr>
                </a:tc>
                <a:tc>
                  <a:txBody>
                    <a:bodyPr lIns="114300" tIns="76200" rIns="114300" bIns="76200">
                      <a:noAutofit/>
                    </a:bodyPr>
                    <a:lstStyle/>
                    <a:p>
                      <a:r>
                        <a:rPr sz="1425" b="0">
                          <a:solidFill>
                            <a:srgbClr val="17324D"/>
                          </a:solidFill>
                          <a:latin typeface="Arial"/>
                          <a:ea typeface="Arial"/>
                          <a:cs typeface="Arial"/>
                        </a:rPr>
                        <a:t>Timing and stopping feasibility</a:t>
                      </a:r>
                    </a:p>
                  </a:txBody>
                  <a:tcPr marL="91440" marR="91440" marT="45720" marB="45720" anchor="ctr">
                    <a:solidFill>
                      <a:srgbClr val="FFFFFF"/>
                    </a:solidFill>
                  </a:tcPr>
                </a:tc>
              </a:tr>
            </a:tbl>
          </a:graphicData>
        </a:graphic>
      </p:graphicFrame>
    </p:spTree>
    <p:extLst>
      <p:ext uri="{BB962C8B-B14F-4D97-AF65-F5344CB8AC3E}">
        <p14:creationId xmlns:p14="http://schemas.microsoft.com/office/powerpoint/2010/main" val="87970247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24c060372eb14a1c"/>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Interactive experiments">
            <a:extLst xmlns:a="http://schemas.openxmlformats.org/drawingml/2006/main">
              <a:ext uri="{FF2B5EF4-FFF2-40B4-BE49-F238E27FC236}">
                <a16:creationId xmlns:a16="http://schemas.microsoft.com/office/drawing/2014/main" id="{6E342D69-2D50-4429-B06F-CAA2FFC7CC61}"/>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Interactive experiments</a:t>
            </a:r>
          </a:p>
        </p:txBody>
      </p:sp>
      <p:sp>
        <p:nvSpPr>
          <p:cNvPr id="3" name="43">
            <a:extLst xmlns:a="http://schemas.openxmlformats.org/drawingml/2006/main">
              <a:ext uri="{FF2B5EF4-FFF2-40B4-BE49-F238E27FC236}">
                <a16:creationId xmlns:a16="http://schemas.microsoft.com/office/drawing/2014/main" id="{A8BBA6FB-9728-45E2-AADD-2CA36FC95D5B}"/>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43</a:t>
            </a:r>
          </a:p>
        </p:txBody>
      </p:sp>
      <p:sp>
        <p:nvSpPr>
          <p:cNvPr id="4" name="1">
            <a:extLst xmlns:a="http://schemas.openxmlformats.org/drawingml/2006/main">
              <a:ext uri="{FF2B5EF4-FFF2-40B4-BE49-F238E27FC236}">
                <a16:creationId xmlns:a16="http://schemas.microsoft.com/office/drawing/2014/main" id="{7A2ACF81-D990-4009-AE89-126BCB2AAAF4}"/>
              </a:ext>
            </a:extLst>
          </p:cNvPr>
          <p:cNvSpPr>
            <a:spLocks xmlns:a="http://schemas.openxmlformats.org/drawingml/2006/main" noGrp="1"/>
          </p:cNvSpPr>
          <p:nvPr/>
        </p:nvSpPr>
        <p:spPr>
          <a:xfrm xmlns:a="http://schemas.openxmlformats.org/drawingml/2006/main">
            <a:off x="523875" y="1438275"/>
            <a:ext cx="333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75" b="1">
                <a:solidFill>
                  <a:srgbClr val="00539F"/>
                </a:solidFill>
                <a:latin typeface="Arial"/>
                <a:ea typeface="Arial"/>
                <a:cs typeface="Arial"/>
              </a:defRPr>
            </a:pPr>
            <a:r>
              <a:rPr sz="2175" b="1">
                <a:solidFill>
                  <a:srgbClr val="00539F"/>
                </a:solidFill>
                <a:latin typeface="Arial"/>
                <a:ea typeface="Arial"/>
                <a:cs typeface="Arial"/>
              </a:rPr>
              <a:t>1</a:t>
            </a:r>
          </a:p>
        </p:txBody>
      </p:sp>
      <p:sp>
        <p:nvSpPr>
          <p:cNvPr id="5" name="Search: compare BFS and A* across terrain. Record path cost and ">
            <a:extLst xmlns:a="http://schemas.openxmlformats.org/drawingml/2006/main">
              <a:ext uri="{FF2B5EF4-FFF2-40B4-BE49-F238E27FC236}">
                <a16:creationId xmlns:a16="http://schemas.microsoft.com/office/drawing/2014/main" id="{4D00F311-75E5-4A62-BC66-4E139298280E}"/>
              </a:ext>
            </a:extLst>
          </p:cNvPr>
          <p:cNvSpPr>
            <a:spLocks xmlns:a="http://schemas.openxmlformats.org/drawingml/2006/main" noGrp="1"/>
          </p:cNvSpPr>
          <p:nvPr/>
        </p:nvSpPr>
        <p:spPr>
          <a:xfrm xmlns:a="http://schemas.openxmlformats.org/drawingml/2006/main">
            <a:off x="1000125" y="1438275"/>
            <a:ext cx="7620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Search: compare BFS and A* across terrain. Record path cost and expansions.</a:t>
            </a:r>
          </a:p>
        </p:txBody>
      </p:sp>
      <p:sp>
        <p:nvSpPr>
          <p:cNvPr id="6" name="2">
            <a:extLst xmlns:a="http://schemas.openxmlformats.org/drawingml/2006/main">
              <a:ext uri="{FF2B5EF4-FFF2-40B4-BE49-F238E27FC236}">
                <a16:creationId xmlns:a16="http://schemas.microsoft.com/office/drawing/2014/main" id="{0431850C-17AA-4F15-BC26-8B01F539951E}"/>
              </a:ext>
            </a:extLst>
          </p:cNvPr>
          <p:cNvSpPr>
            <a:spLocks xmlns:a="http://schemas.openxmlformats.org/drawingml/2006/main" noGrp="1"/>
          </p:cNvSpPr>
          <p:nvPr/>
        </p:nvSpPr>
        <p:spPr>
          <a:xfrm xmlns:a="http://schemas.openxmlformats.org/drawingml/2006/main">
            <a:off x="523875" y="2152650"/>
            <a:ext cx="333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75" b="1">
                <a:solidFill>
                  <a:srgbClr val="00539F"/>
                </a:solidFill>
                <a:latin typeface="Arial"/>
                <a:ea typeface="Arial"/>
                <a:cs typeface="Arial"/>
              </a:defRPr>
            </a:pPr>
            <a:r>
              <a:rPr sz="2175" b="1">
                <a:solidFill>
                  <a:srgbClr val="00539F"/>
                </a:solidFill>
                <a:latin typeface="Arial"/>
                <a:ea typeface="Arial"/>
                <a:cs typeface="Arial"/>
              </a:rPr>
              <a:t>2</a:t>
            </a:r>
          </a:p>
        </p:txBody>
      </p:sp>
      <p:sp>
        <p:nvSpPr>
          <p:cNvPr id="7" name="Replanning: block and reopen a route cell. Compare D* Lite with ">
            <a:extLst xmlns:a="http://schemas.openxmlformats.org/drawingml/2006/main">
              <a:ext uri="{FF2B5EF4-FFF2-40B4-BE49-F238E27FC236}">
                <a16:creationId xmlns:a16="http://schemas.microsoft.com/office/drawing/2014/main" id="{7E1A411F-8B25-4907-9F73-BA96E1BBD9A4}"/>
              </a:ext>
            </a:extLst>
          </p:cNvPr>
          <p:cNvSpPr>
            <a:spLocks xmlns:a="http://schemas.openxmlformats.org/drawingml/2006/main" noGrp="1"/>
          </p:cNvSpPr>
          <p:nvPr/>
        </p:nvSpPr>
        <p:spPr>
          <a:xfrm xmlns:a="http://schemas.openxmlformats.org/drawingml/2006/main">
            <a:off x="1000125" y="2152650"/>
            <a:ext cx="7620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Replanning: block and reopen a route cell. Compare D* Lite with fresh A*.</a:t>
            </a:r>
          </a:p>
        </p:txBody>
      </p:sp>
      <p:sp>
        <p:nvSpPr>
          <p:cNvPr id="8" name="3">
            <a:extLst xmlns:a="http://schemas.openxmlformats.org/drawingml/2006/main">
              <a:ext uri="{FF2B5EF4-FFF2-40B4-BE49-F238E27FC236}">
                <a16:creationId xmlns:a16="http://schemas.microsoft.com/office/drawing/2014/main" id="{DF3DCC90-49AE-4CDE-AD75-3E416EB11BE6}"/>
              </a:ext>
            </a:extLst>
          </p:cNvPr>
          <p:cNvSpPr>
            <a:spLocks xmlns:a="http://schemas.openxmlformats.org/drawingml/2006/main" noGrp="1"/>
          </p:cNvSpPr>
          <p:nvPr/>
        </p:nvSpPr>
        <p:spPr>
          <a:xfrm xmlns:a="http://schemas.openxmlformats.org/drawingml/2006/main">
            <a:off x="523875" y="2867025"/>
            <a:ext cx="333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75" b="1">
                <a:solidFill>
                  <a:srgbClr val="00539F"/>
                </a:solidFill>
                <a:latin typeface="Arial"/>
                <a:ea typeface="Arial"/>
                <a:cs typeface="Arial"/>
              </a:defRPr>
            </a:pPr>
            <a:r>
              <a:rPr sz="2175" b="1">
                <a:solidFill>
                  <a:srgbClr val="00539F"/>
                </a:solidFill>
                <a:latin typeface="Arial"/>
                <a:ea typeface="Arial"/>
                <a:cs typeface="Arial"/>
              </a:rPr>
              <a:t>3</a:t>
            </a:r>
          </a:p>
        </p:txBody>
      </p:sp>
      <p:sp>
        <p:nvSpPr>
          <p:cNvPr id="9" name="Geometry: grow the footprint, then rotate a rectangle at the doo">
            <a:extLst xmlns:a="http://schemas.openxmlformats.org/drawingml/2006/main">
              <a:ext uri="{FF2B5EF4-FFF2-40B4-BE49-F238E27FC236}">
                <a16:creationId xmlns:a16="http://schemas.microsoft.com/office/drawing/2014/main" id="{EE236244-1F99-40DD-BAF3-9A06FAD5EC8E}"/>
              </a:ext>
            </a:extLst>
          </p:cNvPr>
          <p:cNvSpPr>
            <a:spLocks xmlns:a="http://schemas.openxmlformats.org/drawingml/2006/main" noGrp="1"/>
          </p:cNvSpPr>
          <p:nvPr/>
        </p:nvSpPr>
        <p:spPr>
          <a:xfrm xmlns:a="http://schemas.openxmlformats.org/drawingml/2006/main">
            <a:off x="1000125" y="2867025"/>
            <a:ext cx="7620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Geometry: grow the footprint, then rotate a rectangle at the doorway.</a:t>
            </a:r>
          </a:p>
        </p:txBody>
      </p:sp>
      <p:sp>
        <p:nvSpPr>
          <p:cNvPr id="10" name="4">
            <a:extLst xmlns:a="http://schemas.openxmlformats.org/drawingml/2006/main">
              <a:ext uri="{FF2B5EF4-FFF2-40B4-BE49-F238E27FC236}">
                <a16:creationId xmlns:a16="http://schemas.microsoft.com/office/drawing/2014/main" id="{D006A56B-5D81-4CEE-BA67-4E547A06A6ED}"/>
              </a:ext>
            </a:extLst>
          </p:cNvPr>
          <p:cNvSpPr>
            <a:spLocks xmlns:a="http://schemas.openxmlformats.org/drawingml/2006/main" noGrp="1"/>
          </p:cNvSpPr>
          <p:nvPr/>
        </p:nvSpPr>
        <p:spPr>
          <a:xfrm xmlns:a="http://schemas.openxmlformats.org/drawingml/2006/main">
            <a:off x="523875" y="3581400"/>
            <a:ext cx="333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175" b="1">
                <a:solidFill>
                  <a:srgbClr val="00539F"/>
                </a:solidFill>
                <a:latin typeface="Arial"/>
                <a:ea typeface="Arial"/>
                <a:cs typeface="Arial"/>
              </a:defRPr>
            </a:pPr>
            <a:r>
              <a:rPr sz="2175" b="1">
                <a:solidFill>
                  <a:srgbClr val="00539F"/>
                </a:solidFill>
                <a:latin typeface="Arial"/>
                <a:ea typeface="Arial"/>
                <a:cs typeface="Arial"/>
              </a:rPr>
              <a:t>4</a:t>
            </a:r>
          </a:p>
        </p:txBody>
      </p:sp>
      <p:sp>
        <p:nvSpPr>
          <p:cNvPr id="11" name="Local motion: change horizon and obstacle motion. Explain reject">
            <a:extLst xmlns:a="http://schemas.openxmlformats.org/drawingml/2006/main">
              <a:ext uri="{FF2B5EF4-FFF2-40B4-BE49-F238E27FC236}">
                <a16:creationId xmlns:a16="http://schemas.microsoft.com/office/drawing/2014/main" id="{E92D4481-1ABD-4B3D-91F9-4BFB13C81306}"/>
              </a:ext>
            </a:extLst>
          </p:cNvPr>
          <p:cNvSpPr>
            <a:spLocks xmlns:a="http://schemas.openxmlformats.org/drawingml/2006/main" noGrp="1"/>
          </p:cNvSpPr>
          <p:nvPr/>
        </p:nvSpPr>
        <p:spPr>
          <a:xfrm xmlns:a="http://schemas.openxmlformats.org/drawingml/2006/main">
            <a:off x="1000125" y="3581400"/>
            <a:ext cx="7620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800" b="0">
                <a:solidFill>
                  <a:srgbClr val="17324D"/>
                </a:solidFill>
                <a:latin typeface="Arial"/>
                <a:ea typeface="Arial"/>
                <a:cs typeface="Arial"/>
              </a:defRPr>
            </a:pPr>
            <a:r>
              <a:rPr sz="1800" b="0">
                <a:solidFill>
                  <a:srgbClr val="17324D"/>
                </a:solidFill>
                <a:latin typeface="Arial"/>
                <a:ea typeface="Arial"/>
                <a:cs typeface="Arial"/>
              </a:rPr>
              <a:t>Local motion: change horizon and obstacle motion. Explain rejected candidates.</a:t>
            </a:r>
          </a:p>
        </p:txBody>
      </p:sp>
      <p:sp>
        <p:nvSpPr>
          <p:cNvPr id="12" name="Open interactive experiment">
            <a:extLst xmlns:a="http://schemas.openxmlformats.org/drawingml/2006/main">
              <a:ext uri="{FF2B5EF4-FFF2-40B4-BE49-F238E27FC236}">
                <a16:creationId xmlns:a16="http://schemas.microsoft.com/office/drawing/2014/main" id="{A74846C2-5079-42F5-8A96-CE3886894196}"/>
              </a:ext>
            </a:extLst>
          </p:cNvPr>
          <p:cNvSpPr>
            <a:spLocks xmlns:a="http://schemas.openxmlformats.org/drawingml/2006/main" noGrp="1"/>
          </p:cNvSpPr>
          <p:nvPr/>
        </p:nvSpPr>
        <p:spPr>
          <a:xfrm xmlns:a="http://schemas.openxmlformats.org/drawingml/2006/main">
            <a:off x="619125" y="4476750"/>
            <a:ext cx="790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18232228e50f4c66"/>
              </a:rPr>
              <a:t>Open interactive experiment</a:t>
            </a:r>
          </a:p>
        </p:txBody>
      </p:sp>
    </p:spTree>
    <p:extLst>
      <p:ext uri="{BB962C8B-B14F-4D97-AF65-F5344CB8AC3E}">
        <p14:creationId xmlns:p14="http://schemas.microsoft.com/office/powerpoint/2010/main" val="140642139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ed0eebd6faa3430f"/>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Discussion and exit questions">
            <a:extLst xmlns:a="http://schemas.openxmlformats.org/drawingml/2006/main">
              <a:ext uri="{FF2B5EF4-FFF2-40B4-BE49-F238E27FC236}">
                <a16:creationId xmlns:a16="http://schemas.microsoft.com/office/drawing/2014/main" id="{99A4D490-1D57-4CE9-9CC5-4A1D61BD4696}"/>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Discussion and exit questions</a:t>
            </a:r>
          </a:p>
        </p:txBody>
      </p:sp>
      <p:sp>
        <p:nvSpPr>
          <p:cNvPr id="3" name="44">
            <a:extLst xmlns:a="http://schemas.openxmlformats.org/drawingml/2006/main">
              <a:ext uri="{FF2B5EF4-FFF2-40B4-BE49-F238E27FC236}">
                <a16:creationId xmlns:a16="http://schemas.microsoft.com/office/drawing/2014/main" id="{062894D1-5856-456E-9097-E8DB532A2133}"/>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44</a:t>
            </a:r>
          </a:p>
        </p:txBody>
      </p:sp>
      <p:sp>
        <p:nvSpPr>
          <p:cNvPr id="4" name="Why can an optimal A* path still be unsafe for a vehicle?">
            <a:extLst xmlns:a="http://schemas.openxmlformats.org/drawingml/2006/main">
              <a:ext uri="{FF2B5EF4-FFF2-40B4-BE49-F238E27FC236}">
                <a16:creationId xmlns:a16="http://schemas.microsoft.com/office/drawing/2014/main" id="{7E427F30-0093-4F86-8641-8346689D6D6B}"/>
              </a:ext>
            </a:extLst>
          </p:cNvPr>
          <p:cNvSpPr>
            <a:spLocks xmlns:a="http://schemas.openxmlformats.org/drawingml/2006/main" noGrp="1"/>
          </p:cNvSpPr>
          <p:nvPr/>
        </p:nvSpPr>
        <p:spPr>
          <a:xfrm xmlns:a="http://schemas.openxmlformats.org/drawingml/2006/main">
            <a:off x="619125" y="1438275"/>
            <a:ext cx="7905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Why can an optimal A* path still be unsafe for a vehicle?</a:t>
            </a:r>
          </a:p>
        </p:txBody>
      </p:sp>
      <p:sp>
        <p:nvSpPr>
          <p:cNvPr id="5" name="When might D* Lite repair cost more work than a fresh search?">
            <a:extLst xmlns:a="http://schemas.openxmlformats.org/drawingml/2006/main">
              <a:ext uri="{FF2B5EF4-FFF2-40B4-BE49-F238E27FC236}">
                <a16:creationId xmlns:a16="http://schemas.microsoft.com/office/drawing/2014/main" id="{9D3B56CF-6B43-49EA-AFD6-71ED65CD9572}"/>
              </a:ext>
            </a:extLst>
          </p:cNvPr>
          <p:cNvSpPr>
            <a:spLocks xmlns:a="http://schemas.openxmlformats.org/drawingml/2006/main" noGrp="1"/>
          </p:cNvSpPr>
          <p:nvPr/>
        </p:nvSpPr>
        <p:spPr>
          <a:xfrm xmlns:a="http://schemas.openxmlformats.org/drawingml/2006/main">
            <a:off x="619125" y="2152650"/>
            <a:ext cx="7905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When might D* Lite repair cost more work than a fresh search?</a:t>
            </a:r>
          </a:p>
        </p:txBody>
      </p:sp>
      <p:sp>
        <p:nvSpPr>
          <p:cNvPr id="6" name="Why can a local planner stop while a global route still exists?">
            <a:extLst xmlns:a="http://schemas.openxmlformats.org/drawingml/2006/main">
              <a:ext uri="{FF2B5EF4-FFF2-40B4-BE49-F238E27FC236}">
                <a16:creationId xmlns:a16="http://schemas.microsoft.com/office/drawing/2014/main" id="{383204C1-C347-4343-9A66-E7C0C961F2C2}"/>
              </a:ext>
            </a:extLst>
          </p:cNvPr>
          <p:cNvSpPr>
            <a:spLocks xmlns:a="http://schemas.openxmlformats.org/drawingml/2006/main" noGrp="1"/>
          </p:cNvSpPr>
          <p:nvPr/>
        </p:nvSpPr>
        <p:spPr>
          <a:xfrm xmlns:a="http://schemas.openxmlformats.org/drawingml/2006/main">
            <a:off x="619125" y="2867025"/>
            <a:ext cx="7905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Why can a local planner stop while a global route still exists?</a:t>
            </a:r>
          </a:p>
        </p:txBody>
      </p:sp>
      <p:sp>
        <p:nvSpPr>
          <p:cNvPr id="7" name="Which assumptions would an imagination model need before real ex">
            <a:extLst xmlns:a="http://schemas.openxmlformats.org/drawingml/2006/main">
              <a:ext uri="{FF2B5EF4-FFF2-40B4-BE49-F238E27FC236}">
                <a16:creationId xmlns:a16="http://schemas.microsoft.com/office/drawing/2014/main" id="{A6952FA2-5854-401D-9880-02AA54305B97}"/>
              </a:ext>
            </a:extLst>
          </p:cNvPr>
          <p:cNvSpPr>
            <a:spLocks xmlns:a="http://schemas.openxmlformats.org/drawingml/2006/main" noGrp="1"/>
          </p:cNvSpPr>
          <p:nvPr/>
        </p:nvSpPr>
        <p:spPr>
          <a:xfrm xmlns:a="http://schemas.openxmlformats.org/drawingml/2006/main">
            <a:off x="619125" y="3581400"/>
            <a:ext cx="79057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950" b="0">
                <a:solidFill>
                  <a:srgbClr val="17324D"/>
                </a:solidFill>
                <a:latin typeface="Arial"/>
                <a:ea typeface="Arial"/>
                <a:cs typeface="Arial"/>
              </a:defRPr>
            </a:pPr>
            <a:r>
              <a:rPr sz="1950" b="0">
                <a:solidFill>
                  <a:srgbClr val="17324D"/>
                </a:solidFill>
                <a:latin typeface="Arial"/>
                <a:ea typeface="Arial"/>
                <a:cs typeface="Arial"/>
              </a:rPr>
              <a:t>Which assumptions would an imagination model need before real execution?</a:t>
            </a:r>
          </a:p>
        </p:txBody>
      </p:sp>
    </p:spTree>
    <p:extLst>
      <p:ext uri="{BB962C8B-B14F-4D97-AF65-F5344CB8AC3E}">
        <p14:creationId xmlns:p14="http://schemas.microsoft.com/office/powerpoint/2010/main" val="151079717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2927523c89044bd"/>
          <a:stretch xmlns:a="http://schemas.openxmlformats.org/drawingml/2006/main"/>
        </p:blipFill>
        <p:spPr>
          <a:xfrm xmlns:a="http://schemas.openxmlformats.org/drawingml/2006/main">
            <a:off x="8747093" y="0"/>
            <a:ext cx="396907" cy="396907"/>
          </a:xfrm>
          <a:prstGeom xmlns:a="http://schemas.openxmlformats.org/drawingml/2006/main" prst="rect">
            <a:avLst/>
          </a:prstGeom>
        </p:spPr>
      </p:pic>
      <p:sp>
        <p:nvSpPr>
          <p:cNvPr id="2" name="Reading and resources">
            <a:extLst xmlns:a="http://schemas.openxmlformats.org/drawingml/2006/main">
              <a:ext uri="{FF2B5EF4-FFF2-40B4-BE49-F238E27FC236}">
                <a16:creationId xmlns:a16="http://schemas.microsoft.com/office/drawing/2014/main" id="{A9195529-2ACC-401F-8C46-6AA700AF3FE6}"/>
              </a:ext>
            </a:extLst>
          </p:cNvPr>
          <p:cNvSpPr>
            <a:spLocks xmlns:a="http://schemas.openxmlformats.org/drawingml/2006/main" noGrp="1"/>
          </p:cNvSpPr>
          <p:nvPr/>
        </p:nvSpPr>
        <p:spPr>
          <a:xfrm xmlns:a="http://schemas.openxmlformats.org/drawingml/2006/main">
            <a:off x="495300" y="628650"/>
            <a:ext cx="80962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2550" b="0">
                <a:solidFill>
                  <a:srgbClr val="00A0DF"/>
                </a:solidFill>
                <a:latin typeface="Arial"/>
                <a:ea typeface="Arial"/>
                <a:cs typeface="Arial"/>
              </a:defRPr>
            </a:pPr>
            <a:r>
              <a:rPr sz="2550" b="0">
                <a:solidFill>
                  <a:srgbClr val="00A0DF"/>
                </a:solidFill>
                <a:latin typeface="Arial"/>
                <a:ea typeface="Arial"/>
                <a:cs typeface="Arial"/>
              </a:rPr>
              <a:t>Reading and resources</a:t>
            </a:r>
          </a:p>
        </p:txBody>
      </p:sp>
      <p:sp>
        <p:nvSpPr>
          <p:cNvPr id="3" name="45">
            <a:extLst xmlns:a="http://schemas.openxmlformats.org/drawingml/2006/main">
              <a:ext uri="{FF2B5EF4-FFF2-40B4-BE49-F238E27FC236}">
                <a16:creationId xmlns:a16="http://schemas.microsoft.com/office/drawing/2014/main" id="{B1F15118-7DE8-4DB8-9C68-8A8EC710D3E4}"/>
              </a:ext>
            </a:extLst>
          </p:cNvPr>
          <p:cNvSpPr>
            <a:spLocks xmlns:a="http://schemas.openxmlformats.org/drawingml/2006/main" noGrp="1"/>
          </p:cNvSpPr>
          <p:nvPr/>
        </p:nvSpPr>
        <p:spPr>
          <a:xfrm xmlns:a="http://schemas.openxmlformats.org/drawingml/2006/main">
            <a:off x="8429625" y="4838700"/>
            <a:ext cx="285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200" b="0">
                <a:solidFill>
                  <a:srgbClr val="00539F"/>
                </a:solidFill>
                <a:latin typeface="Arial"/>
                <a:ea typeface="Arial"/>
                <a:cs typeface="Arial"/>
              </a:defRPr>
            </a:pPr>
            <a:r>
              <a:rPr sz="1200" b="0">
                <a:solidFill>
                  <a:srgbClr val="00539F"/>
                </a:solidFill>
                <a:latin typeface="Arial"/>
                <a:ea typeface="Arial"/>
                <a:cs typeface="Arial"/>
              </a:rPr>
              <a:t>45</a:t>
            </a:r>
          </a:p>
        </p:txBody>
      </p:sp>
      <p:sp>
        <p:nvSpPr>
          <p:cNvPr id="4" name="LaValle, Planning Algorithms: search, configuration space, sampl">
            <a:extLst xmlns:a="http://schemas.openxmlformats.org/drawingml/2006/main">
              <a:ext uri="{FF2B5EF4-FFF2-40B4-BE49-F238E27FC236}">
                <a16:creationId xmlns:a16="http://schemas.microsoft.com/office/drawing/2014/main" id="{B34DF27C-3AA6-4388-9E90-63A02FEA2C00}"/>
              </a:ext>
            </a:extLst>
          </p:cNvPr>
          <p:cNvSpPr>
            <a:spLocks xmlns:a="http://schemas.openxmlformats.org/drawingml/2006/main" noGrp="1"/>
          </p:cNvSpPr>
          <p:nvPr/>
        </p:nvSpPr>
        <p:spPr>
          <a:xfrm xmlns:a="http://schemas.openxmlformats.org/drawingml/2006/main">
            <a:off x="619125" y="1428750"/>
            <a:ext cx="7905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LaValle, Planning Algorithms: search, configuration space, sampling, feedback.</a:t>
            </a:r>
          </a:p>
        </p:txBody>
      </p:sp>
      <p:sp>
        <p:nvSpPr>
          <p:cNvPr id="5" name="Stentz: D*. Koenig and Likhachev: D* Lite.">
            <a:extLst xmlns:a="http://schemas.openxmlformats.org/drawingml/2006/main">
              <a:ext uri="{FF2B5EF4-FFF2-40B4-BE49-F238E27FC236}">
                <a16:creationId xmlns:a16="http://schemas.microsoft.com/office/drawing/2014/main" id="{EC5C97A5-531B-47BA-9108-E5EFF6150162}"/>
              </a:ext>
            </a:extLst>
          </p:cNvPr>
          <p:cNvSpPr>
            <a:spLocks xmlns:a="http://schemas.openxmlformats.org/drawingml/2006/main" noGrp="1"/>
          </p:cNvSpPr>
          <p:nvPr/>
        </p:nvSpPr>
        <p:spPr>
          <a:xfrm xmlns:a="http://schemas.openxmlformats.org/drawingml/2006/main">
            <a:off x="619125" y="2085975"/>
            <a:ext cx="7905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Stentz: D*. Koenig and Likhachev: D* Lite.</a:t>
            </a:r>
          </a:p>
        </p:txBody>
      </p:sp>
      <p:sp>
        <p:nvSpPr>
          <p:cNvPr id="6" name="Nav2 documentation: planners, controllers, footprints, and cost ">
            <a:extLst xmlns:a="http://schemas.openxmlformats.org/drawingml/2006/main">
              <a:ext uri="{FF2B5EF4-FFF2-40B4-BE49-F238E27FC236}">
                <a16:creationId xmlns:a16="http://schemas.microsoft.com/office/drawing/2014/main" id="{9416BE81-A7C5-4494-AB61-D8E6D2CEC80F}"/>
              </a:ext>
            </a:extLst>
          </p:cNvPr>
          <p:cNvSpPr>
            <a:spLocks xmlns:a="http://schemas.openxmlformats.org/drawingml/2006/main" noGrp="1"/>
          </p:cNvSpPr>
          <p:nvPr/>
        </p:nvSpPr>
        <p:spPr>
          <a:xfrm xmlns:a="http://schemas.openxmlformats.org/drawingml/2006/main">
            <a:off x="619125" y="2743200"/>
            <a:ext cx="7905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Nav2 documentation: planners, controllers, footprints, and cost tuning.</a:t>
            </a:r>
          </a:p>
        </p:txBody>
      </p:sp>
      <p:sp>
        <p:nvSpPr>
          <p:cNvPr id="7" name="Chirikjian and collaborators: Robot Imagination, PRIMP, and RAIL">
            <a:extLst xmlns:a="http://schemas.openxmlformats.org/drawingml/2006/main">
              <a:ext uri="{FF2B5EF4-FFF2-40B4-BE49-F238E27FC236}">
                <a16:creationId xmlns:a16="http://schemas.microsoft.com/office/drawing/2014/main" id="{F99D8800-E2C8-47A8-8F9A-8BCF412E245C}"/>
              </a:ext>
            </a:extLst>
          </p:cNvPr>
          <p:cNvSpPr>
            <a:spLocks xmlns:a="http://schemas.openxmlformats.org/drawingml/2006/main" noGrp="1"/>
          </p:cNvSpPr>
          <p:nvPr/>
        </p:nvSpPr>
        <p:spPr>
          <a:xfrm xmlns:a="http://schemas.openxmlformats.org/drawingml/2006/main">
            <a:off x="619125" y="3400425"/>
            <a:ext cx="7905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725" b="0">
                <a:solidFill>
                  <a:srgbClr val="17324D"/>
                </a:solidFill>
                <a:latin typeface="Arial"/>
                <a:ea typeface="Arial"/>
                <a:cs typeface="Arial"/>
              </a:defRPr>
            </a:pPr>
            <a:r>
              <a:rPr sz="1725" b="0">
                <a:solidFill>
                  <a:srgbClr val="17324D"/>
                </a:solidFill>
                <a:latin typeface="Arial"/>
                <a:ea typeface="Arial"/>
                <a:cs typeface="Arial"/>
              </a:rPr>
              <a:t>Chirikjian and collaborators: Robot Imagination, PRIMP, and RAIL.</a:t>
            </a:r>
          </a:p>
        </p:txBody>
      </p:sp>
      <p:sp>
        <p:nvSpPr>
          <p:cNvPr id="8" name="Open the seven interactive experiments">
            <a:extLst xmlns:a="http://schemas.openxmlformats.org/drawingml/2006/main">
              <a:ext uri="{FF2B5EF4-FFF2-40B4-BE49-F238E27FC236}">
                <a16:creationId xmlns:a16="http://schemas.microsoft.com/office/drawing/2014/main" id="{93242D12-B0F1-4ECB-8D9B-8D48BE66776B}"/>
              </a:ext>
            </a:extLst>
          </p:cNvPr>
          <p:cNvSpPr>
            <a:spLocks xmlns:a="http://schemas.openxmlformats.org/drawingml/2006/main" noGrp="1"/>
          </p:cNvSpPr>
          <p:nvPr/>
        </p:nvSpPr>
        <p:spPr>
          <a:xfrm xmlns:a="http://schemas.openxmlformats.org/drawingml/2006/main">
            <a:off x="619125" y="4371975"/>
            <a:ext cx="7905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defRPr sz="1425" b="0">
                <a:solidFill>
                  <a:srgbClr val="00539F"/>
                </a:solidFill>
                <a:latin typeface="Arial"/>
                <a:ea typeface="Arial"/>
                <a:cs typeface="Arial"/>
              </a:defRPr>
            </a:pPr>
            <a:r>
              <a:rPr u="sng">
                <a:hlinkClick xmlns:r="http://schemas.openxmlformats.org/officeDocument/2006/relationships" r:id="R023b75f148e540ef"/>
              </a:rPr>
              <a:t>Open the seven interactive experiments</a:t>
            </a:r>
          </a:p>
        </p:txBody>
      </p:sp>
    </p:spTree>
    <p:extLst>
      <p:ext uri="{BB962C8B-B14F-4D97-AF65-F5344CB8AC3E}">
        <p14:creationId xmlns:p14="http://schemas.microsoft.com/office/powerpoint/2010/main" val="20579957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2026-10-03T01:15:01.2510000Z</dcterms:created>
  <dcterms:modified xsi:type="dcterms:W3CDTF">2026-10-03T01:15:01.2510000Z</dcterms:modified>
</coreProperties>
</file>