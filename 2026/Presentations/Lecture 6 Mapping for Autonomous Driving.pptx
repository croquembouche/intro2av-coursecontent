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ae0474913e489f" /><Relationship Type="http://schemas.openxmlformats.org/officeDocument/2006/relationships/extended-properties" Target="/docProps/app.xml" Id="Rc899738ff7214859" /><Relationship Type="http://schemas.openxmlformats.org/officeDocument/2006/relationships/officeDocument" Target="/ppt/presentation.xml" Id="R5d7f2b3e309e4ae6" /></Relationships>
</file>

<file path=ppt/presentation.xml><?xml version="1.0" encoding="utf-8"?>
<p:presentation xmlns:p="http://schemas.openxmlformats.org/presentationml/2006/main">
  <p:sldMasterIdLst>
    <p:sldMasterId xmlns:r="http://schemas.openxmlformats.org/officeDocument/2006/relationships" id="2147483648" r:id="Rac598d06a62c4ab2"/>
  </p:sldMasterIdLst>
  <p:notesMasterIdLst>
    <p:notesMasterId xmlns:r="http://schemas.openxmlformats.org/officeDocument/2006/relationships" r:id="R2073ade960e3420d"/>
  </p:notesMasterIdLst>
  <p:sldIdLst>
    <p:sldId xmlns:r="http://schemas.openxmlformats.org/officeDocument/2006/relationships" id="256" r:id="R2048cc64a57d4914"/>
    <p:sldId xmlns:r="http://schemas.openxmlformats.org/officeDocument/2006/relationships" id="257" r:id="Rd4aec836480c41ab"/>
    <p:sldId xmlns:r="http://schemas.openxmlformats.org/officeDocument/2006/relationships" id="258" r:id="Rc62fde810661451d"/>
    <p:sldId xmlns:r="http://schemas.openxmlformats.org/officeDocument/2006/relationships" id="259" r:id="R2c3226ab87004a1c"/>
    <p:sldId xmlns:r="http://schemas.openxmlformats.org/officeDocument/2006/relationships" id="260" r:id="Rc7bd0d818f1a4771"/>
    <p:sldId xmlns:r="http://schemas.openxmlformats.org/officeDocument/2006/relationships" id="261" r:id="Re3b5458ea261404f"/>
    <p:sldId xmlns:r="http://schemas.openxmlformats.org/officeDocument/2006/relationships" id="262" r:id="Rb9770cc0b7bf4a59"/>
    <p:sldId xmlns:r="http://schemas.openxmlformats.org/officeDocument/2006/relationships" id="263" r:id="Ra9efc840fda3498d"/>
    <p:sldId xmlns:r="http://schemas.openxmlformats.org/officeDocument/2006/relationships" id="264" r:id="R71c7bc7c80974a7c"/>
    <p:sldId xmlns:r="http://schemas.openxmlformats.org/officeDocument/2006/relationships" id="265" r:id="R31bffb261f94420c"/>
    <p:sldId xmlns:r="http://schemas.openxmlformats.org/officeDocument/2006/relationships" id="266" r:id="Rb66bd29b8ff343bc"/>
    <p:sldId xmlns:r="http://schemas.openxmlformats.org/officeDocument/2006/relationships" id="267" r:id="R64a1caa5eb5646c4"/>
    <p:sldId xmlns:r="http://schemas.openxmlformats.org/officeDocument/2006/relationships" id="268" r:id="R27247cb5906044c5"/>
    <p:sldId xmlns:r="http://schemas.openxmlformats.org/officeDocument/2006/relationships" id="269" r:id="R49d885edd545462d"/>
    <p:sldId xmlns:r="http://schemas.openxmlformats.org/officeDocument/2006/relationships" id="270" r:id="R3d132cff6b214f07"/>
    <p:sldId xmlns:r="http://schemas.openxmlformats.org/officeDocument/2006/relationships" id="271" r:id="R29c283da9bd34938"/>
    <p:sldId xmlns:r="http://schemas.openxmlformats.org/officeDocument/2006/relationships" id="272" r:id="Rf44cf8a5f8ee43de"/>
    <p:sldId xmlns:r="http://schemas.openxmlformats.org/officeDocument/2006/relationships" id="273" r:id="Re4121cfe5f974cef"/>
    <p:sldId xmlns:r="http://schemas.openxmlformats.org/officeDocument/2006/relationships" id="274" r:id="R341922a92a824876"/>
    <p:sldId xmlns:r="http://schemas.openxmlformats.org/officeDocument/2006/relationships" id="275" r:id="Rdbea24117db74c0c"/>
    <p:sldId xmlns:r="http://schemas.openxmlformats.org/officeDocument/2006/relationships" id="276" r:id="R4d60bc7bc984455e"/>
    <p:sldId xmlns:r="http://schemas.openxmlformats.org/officeDocument/2006/relationships" id="277" r:id="R732ebba53eed486e"/>
    <p:sldId xmlns:r="http://schemas.openxmlformats.org/officeDocument/2006/relationships" id="278" r:id="Rfa1c30bf2cd34301"/>
    <p:sldId xmlns:r="http://schemas.openxmlformats.org/officeDocument/2006/relationships" id="279" r:id="Rb2cee538e40f4180"/>
    <p:sldId xmlns:r="http://schemas.openxmlformats.org/officeDocument/2006/relationships" id="280" r:id="R70598274e45f4451"/>
    <p:sldId xmlns:r="http://schemas.openxmlformats.org/officeDocument/2006/relationships" id="281" r:id="Raf9edf0071bf4cca"/>
    <p:sldId xmlns:r="http://schemas.openxmlformats.org/officeDocument/2006/relationships" id="282" r:id="Rac103a8dca57465b"/>
    <p:sldId xmlns:r="http://schemas.openxmlformats.org/officeDocument/2006/relationships" id="283" r:id="R51052fe39d8b418b"/>
    <p:sldId xmlns:r="http://schemas.openxmlformats.org/officeDocument/2006/relationships" id="284" r:id="R40c587ebb019436b"/>
    <p:sldId xmlns:r="http://schemas.openxmlformats.org/officeDocument/2006/relationships" id="285" r:id="R010e6419341a428e"/>
    <p:sldId xmlns:r="http://schemas.openxmlformats.org/officeDocument/2006/relationships" id="286" r:id="R5296537ad989473c"/>
    <p:sldId xmlns:r="http://schemas.openxmlformats.org/officeDocument/2006/relationships" id="287" r:id="Rf18cc703c5ee46b6"/>
    <p:sldId xmlns:r="http://schemas.openxmlformats.org/officeDocument/2006/relationships" id="288" r:id="R586937e7a4b64dee"/>
    <p:sldId xmlns:r="http://schemas.openxmlformats.org/officeDocument/2006/relationships" id="289" r:id="R7313c0e9740f4d88"/>
    <p:sldId xmlns:r="http://schemas.openxmlformats.org/officeDocument/2006/relationships" id="290" r:id="R9747d0388eb446a1"/>
    <p:sldId xmlns:r="http://schemas.openxmlformats.org/officeDocument/2006/relationships" id="291" r:id="Rca3d8a44df0244f3"/>
    <p:sldId xmlns:r="http://schemas.openxmlformats.org/officeDocument/2006/relationships" id="292" r:id="Rf4655283071c4c9c"/>
    <p:sldId xmlns:r="http://schemas.openxmlformats.org/officeDocument/2006/relationships" id="293" r:id="R4bbd84e0bbe34a1b"/>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dc393bebd94d0f" /><Relationship Type="http://schemas.openxmlformats.org/officeDocument/2006/relationships/slideMaster" Target="/ppt/slideMasters/slideMaster1.xml" Id="Rac598d06a62c4ab2" /><Relationship Type="http://schemas.openxmlformats.org/officeDocument/2006/relationships/notesMaster" Target="/ppt/notesMasters/notesMaster1.xml" Id="R2073ade960e3420d" /><Relationship Type="http://schemas.openxmlformats.org/officeDocument/2006/relationships/presProps" Target="/ppt/presProps.xml" Id="Rafa4edcc568d4225" /><Relationship Type="http://schemas.openxmlformats.org/officeDocument/2006/relationships/tableStyles" Target="/ppt/tableStyles.xml" Id="Rcdafc76451f34845" /><Relationship Type="http://schemas.openxmlformats.org/officeDocument/2006/relationships/slide" Target="/ppt/slides/slide1.xml" Id="R2048cc64a57d4914" /><Relationship Type="http://schemas.openxmlformats.org/officeDocument/2006/relationships/slide" Target="/ppt/slides/slide2.xml" Id="Rd4aec836480c41ab" /><Relationship Type="http://schemas.openxmlformats.org/officeDocument/2006/relationships/slide" Target="/ppt/slides/slide3.xml" Id="Rc62fde810661451d" /><Relationship Type="http://schemas.openxmlformats.org/officeDocument/2006/relationships/slide" Target="/ppt/slides/slide4.xml" Id="R2c3226ab87004a1c" /><Relationship Type="http://schemas.openxmlformats.org/officeDocument/2006/relationships/slide" Target="/ppt/slides/slide5.xml" Id="Rc7bd0d818f1a4771" /><Relationship Type="http://schemas.openxmlformats.org/officeDocument/2006/relationships/slide" Target="/ppt/slides/slide6.xml" Id="Re3b5458ea261404f" /><Relationship Type="http://schemas.openxmlformats.org/officeDocument/2006/relationships/slide" Target="/ppt/slides/slide7.xml" Id="Rb9770cc0b7bf4a59" /><Relationship Type="http://schemas.openxmlformats.org/officeDocument/2006/relationships/slide" Target="/ppt/slides/slide8.xml" Id="Ra9efc840fda3498d" /><Relationship Type="http://schemas.openxmlformats.org/officeDocument/2006/relationships/slide" Target="/ppt/slides/slide9.xml" Id="R71c7bc7c80974a7c" /><Relationship Type="http://schemas.openxmlformats.org/officeDocument/2006/relationships/slide" Target="/ppt/slides/slide10.xml" Id="R31bffb261f94420c" /><Relationship Type="http://schemas.openxmlformats.org/officeDocument/2006/relationships/slide" Target="/ppt/slides/slide11.xml" Id="Rb66bd29b8ff343bc" /><Relationship Type="http://schemas.openxmlformats.org/officeDocument/2006/relationships/slide" Target="/ppt/slides/slide12.xml" Id="R64a1caa5eb5646c4" /><Relationship Type="http://schemas.openxmlformats.org/officeDocument/2006/relationships/slide" Target="/ppt/slides/slide13.xml" Id="R27247cb5906044c5" /><Relationship Type="http://schemas.openxmlformats.org/officeDocument/2006/relationships/slide" Target="/ppt/slides/slide14.xml" Id="R49d885edd545462d" /><Relationship Type="http://schemas.openxmlformats.org/officeDocument/2006/relationships/slide" Target="/ppt/slides/slide15.xml" Id="R3d132cff6b214f07" /><Relationship Type="http://schemas.openxmlformats.org/officeDocument/2006/relationships/slide" Target="/ppt/slides/slide16.xml" Id="R29c283da9bd34938" /><Relationship Type="http://schemas.openxmlformats.org/officeDocument/2006/relationships/slide" Target="/ppt/slides/slide17.xml" Id="Rf44cf8a5f8ee43de" /><Relationship Type="http://schemas.openxmlformats.org/officeDocument/2006/relationships/slide" Target="/ppt/slides/slide18.xml" Id="Re4121cfe5f974cef" /><Relationship Type="http://schemas.openxmlformats.org/officeDocument/2006/relationships/slide" Target="/ppt/slides/slide19.xml" Id="R341922a92a824876" /><Relationship Type="http://schemas.openxmlformats.org/officeDocument/2006/relationships/slide" Target="/ppt/slides/slide20.xml" Id="Rdbea24117db74c0c" /><Relationship Type="http://schemas.openxmlformats.org/officeDocument/2006/relationships/slide" Target="/ppt/slides/slide21.xml" Id="R4d60bc7bc984455e" /><Relationship Type="http://schemas.openxmlformats.org/officeDocument/2006/relationships/slide" Target="/ppt/slides/slide22.xml" Id="R732ebba53eed486e" /><Relationship Type="http://schemas.openxmlformats.org/officeDocument/2006/relationships/slide" Target="/ppt/slides/slide23.xml" Id="Rfa1c30bf2cd34301" /><Relationship Type="http://schemas.openxmlformats.org/officeDocument/2006/relationships/slide" Target="/ppt/slides/slide24.xml" Id="Rb2cee538e40f4180" /><Relationship Type="http://schemas.openxmlformats.org/officeDocument/2006/relationships/slide" Target="/ppt/slides/slide25.xml" Id="R70598274e45f4451" /><Relationship Type="http://schemas.openxmlformats.org/officeDocument/2006/relationships/slide" Target="/ppt/slides/slide26.xml" Id="Raf9edf0071bf4cca" /><Relationship Type="http://schemas.openxmlformats.org/officeDocument/2006/relationships/slide" Target="/ppt/slides/slide27.xml" Id="Rac103a8dca57465b" /><Relationship Type="http://schemas.openxmlformats.org/officeDocument/2006/relationships/slide" Target="/ppt/slides/slide28.xml" Id="R51052fe39d8b418b" /><Relationship Type="http://schemas.openxmlformats.org/officeDocument/2006/relationships/slide" Target="/ppt/slides/slide29.xml" Id="R40c587ebb019436b" /><Relationship Type="http://schemas.openxmlformats.org/officeDocument/2006/relationships/slide" Target="/ppt/slides/slide30.xml" Id="R010e6419341a428e" /><Relationship Type="http://schemas.openxmlformats.org/officeDocument/2006/relationships/slide" Target="/ppt/slides/slide31.xml" Id="R5296537ad989473c" /><Relationship Type="http://schemas.openxmlformats.org/officeDocument/2006/relationships/slide" Target="/ppt/slides/slide32.xml" Id="Rf18cc703c5ee46b6" /><Relationship Type="http://schemas.openxmlformats.org/officeDocument/2006/relationships/slide" Target="/ppt/slides/slide33.xml" Id="R586937e7a4b64dee" /><Relationship Type="http://schemas.openxmlformats.org/officeDocument/2006/relationships/slide" Target="/ppt/slides/slide34.xml" Id="R7313c0e9740f4d88" /><Relationship Type="http://schemas.openxmlformats.org/officeDocument/2006/relationships/slide" Target="/ppt/slides/slide35.xml" Id="R9747d0388eb446a1" /><Relationship Type="http://schemas.openxmlformats.org/officeDocument/2006/relationships/slide" Target="/ppt/slides/slide36.xml" Id="Rca3d8a44df0244f3" /><Relationship Type="http://schemas.openxmlformats.org/officeDocument/2006/relationships/slide" Target="/ppt/slides/slide37.xml" Id="Rf4655283071c4c9c" /><Relationship Type="http://schemas.openxmlformats.org/officeDocument/2006/relationships/slide" Target="/ppt/slides/slide38.xml" Id="R4bbd84e0bbe34a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735c9f6ddd47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c272b483bc44c2" /><Relationship Type="http://schemas.openxmlformats.org/officeDocument/2006/relationships/notesMaster" Target="/ppt/notesMasters/notesMaster1.xml" Id="Rf0f28b9c4b2540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4b369dd25a4a50" /><Relationship Type="http://schemas.openxmlformats.org/officeDocument/2006/relationships/notesMaster" Target="/ppt/notesMasters/notesMaster1.xml" Id="R809fda5880644f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68856d1c834ac5" /><Relationship Type="http://schemas.openxmlformats.org/officeDocument/2006/relationships/notesMaster" Target="/ppt/notesMasters/notesMaster1.xml" Id="R14619d34221a4a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bcad86081d4509" /><Relationship Type="http://schemas.openxmlformats.org/officeDocument/2006/relationships/notesMaster" Target="/ppt/notesMasters/notesMaster1.xml" Id="R694360e7cce946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e765a860a9421f" /><Relationship Type="http://schemas.openxmlformats.org/officeDocument/2006/relationships/notesMaster" Target="/ppt/notesMasters/notesMaster1.xml" Id="Rd287a75d70c745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0216d5da2d43a5" /><Relationship Type="http://schemas.openxmlformats.org/officeDocument/2006/relationships/notesMaster" Target="/ppt/notesMasters/notesMaster1.xml" Id="R55f54561089d41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ffebecfa7c4a09" /><Relationship Type="http://schemas.openxmlformats.org/officeDocument/2006/relationships/notesMaster" Target="/ppt/notesMasters/notesMaster1.xml" Id="R3e0a9f6be8ac4f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9b380e292d4dff" /><Relationship Type="http://schemas.openxmlformats.org/officeDocument/2006/relationships/notesMaster" Target="/ppt/notesMasters/notesMaster1.xml" Id="Rb59f04315bca45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3b554f81ee414b" /><Relationship Type="http://schemas.openxmlformats.org/officeDocument/2006/relationships/notesMaster" Target="/ppt/notesMasters/notesMaster1.xml" Id="Re769958f30d34f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768ca4cc734a5f" /><Relationship Type="http://schemas.openxmlformats.org/officeDocument/2006/relationships/notesMaster" Target="/ppt/notesMasters/notesMaster1.xml" Id="R6766e4d2cad648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c22423b5fc4191" /><Relationship Type="http://schemas.openxmlformats.org/officeDocument/2006/relationships/notesMaster" Target="/ppt/notesMasters/notesMaster1.xml" Id="R334e565cbb774c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735fd133524fb3" /><Relationship Type="http://schemas.openxmlformats.org/officeDocument/2006/relationships/notesMaster" Target="/ppt/notesMasters/notesMaster1.xml" Id="R9f747fbf0e064c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d5a95c58424a76" /><Relationship Type="http://schemas.openxmlformats.org/officeDocument/2006/relationships/notesMaster" Target="/ppt/notesMasters/notesMaster1.xml" Id="R519b3c037f8643c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5fde78f46046f3" /><Relationship Type="http://schemas.openxmlformats.org/officeDocument/2006/relationships/notesMaster" Target="/ppt/notesMasters/notesMaster1.xml" Id="Rc5f5095dece6481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4a067389419412d" /><Relationship Type="http://schemas.openxmlformats.org/officeDocument/2006/relationships/notesMaster" Target="/ppt/notesMasters/notesMaster1.xml" Id="Rccf6b4602c3849c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00942771c0a490d" /><Relationship Type="http://schemas.openxmlformats.org/officeDocument/2006/relationships/notesMaster" Target="/ppt/notesMasters/notesMaster1.xml" Id="R57fc96f90640407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f5be570d54e4bca" /><Relationship Type="http://schemas.openxmlformats.org/officeDocument/2006/relationships/notesMaster" Target="/ppt/notesMasters/notesMaster1.xml" Id="R88ac908e11d948f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021072d179b4d93" /><Relationship Type="http://schemas.openxmlformats.org/officeDocument/2006/relationships/notesMaster" Target="/ppt/notesMasters/notesMaster1.xml" Id="R8ed571e04d70488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8b60f2e9d494f2f" /><Relationship Type="http://schemas.openxmlformats.org/officeDocument/2006/relationships/notesMaster" Target="/ppt/notesMasters/notesMaster1.xml" Id="R3233b94ad74443b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195ac6213154716" /><Relationship Type="http://schemas.openxmlformats.org/officeDocument/2006/relationships/notesMaster" Target="/ppt/notesMasters/notesMaster1.xml" Id="Ra4b2fc1df757434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d8b8c7bb0c344a7" /><Relationship Type="http://schemas.openxmlformats.org/officeDocument/2006/relationships/notesMaster" Target="/ppt/notesMasters/notesMaster1.xml" Id="R3ca6b605dd984b4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5b07f2ad4bf423d" /><Relationship Type="http://schemas.openxmlformats.org/officeDocument/2006/relationships/notesMaster" Target="/ppt/notesMasters/notesMaster1.xml" Id="R15d6b9d67b64446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9a79caf658a4115" /><Relationship Type="http://schemas.openxmlformats.org/officeDocument/2006/relationships/notesMaster" Target="/ppt/notesMasters/notesMaster1.xml" Id="Rd581708724554d5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4236d11b28c47dc" /><Relationship Type="http://schemas.openxmlformats.org/officeDocument/2006/relationships/notesMaster" Target="/ppt/notesMasters/notesMaster1.xml" Id="Rafa6e816aac349e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c407b0a43a54374" /><Relationship Type="http://schemas.openxmlformats.org/officeDocument/2006/relationships/notesMaster" Target="/ppt/notesMasters/notesMaster1.xml" Id="R5d8721c97ce34b3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0fb28a0269942c7" /><Relationship Type="http://schemas.openxmlformats.org/officeDocument/2006/relationships/notesMaster" Target="/ppt/notesMasters/notesMaster1.xml" Id="R3815d0c9d460489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2810220277546d0" /><Relationship Type="http://schemas.openxmlformats.org/officeDocument/2006/relationships/notesMaster" Target="/ppt/notesMasters/notesMaster1.xml" Id="R8bdab7c94e644e6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7bfcae348ff48be" /><Relationship Type="http://schemas.openxmlformats.org/officeDocument/2006/relationships/notesMaster" Target="/ppt/notesMasters/notesMaster1.xml" Id="R714e1cb6763f4eb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09f8fc2956043b6" /><Relationship Type="http://schemas.openxmlformats.org/officeDocument/2006/relationships/notesMaster" Target="/ppt/notesMasters/notesMaster1.xml" Id="R0cee9e4a28c343a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30ab8569a494162" /><Relationship Type="http://schemas.openxmlformats.org/officeDocument/2006/relationships/notesMaster" Target="/ppt/notesMasters/notesMaster1.xml" Id="R738de092992d415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7d9f7152cd54cf9" /><Relationship Type="http://schemas.openxmlformats.org/officeDocument/2006/relationships/notesMaster" Target="/ppt/notesMasters/notesMaster1.xml" Id="Re0710a3df8a24bc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465f12aa0fb4f04" /><Relationship Type="http://schemas.openxmlformats.org/officeDocument/2006/relationships/notesMaster" Target="/ppt/notesMasters/notesMaster1.xml" Id="Rcaf7028c25234ae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916052970a24fb6" /><Relationship Type="http://schemas.openxmlformats.org/officeDocument/2006/relationships/notesMaster" Target="/ppt/notesMasters/notesMaster1.xml" Id="Rf9f406399a414ac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42b33d937bc4810" /><Relationship Type="http://schemas.openxmlformats.org/officeDocument/2006/relationships/notesMaster" Target="/ppt/notesMasters/notesMaster1.xml" Id="R36e08bc2f7d1449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5caf59f78e241ad" /><Relationship Type="http://schemas.openxmlformats.org/officeDocument/2006/relationships/notesMaster" Target="/ppt/notesMasters/notesMaster1.xml" Id="Rc37916ece1e04f9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64dd6685c2e48c7" /><Relationship Type="http://schemas.openxmlformats.org/officeDocument/2006/relationships/notesMaster" Target="/ppt/notesMasters/notesMaster1.xml" Id="R5d522860c4704c5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a57a83c6d284cbc" /><Relationship Type="http://schemas.openxmlformats.org/officeDocument/2006/relationships/notesMaster" Target="/ppt/notesMasters/notesMaster1.xml" Id="R68ac6b49d55347a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7d90187c3b9437a" /><Relationship Type="http://schemas.openxmlformats.org/officeDocument/2006/relationships/notesMaster" Target="/ppt/notesMasters/notesMaster1.xml" Id="R4c73b61ec2044f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pacing: 80–90 minutes, including 15 minutes of frame-by-frame exploration. Begin with the known-map localization problem from Lecture 5. Here the vehicle also has to build the map it uses.</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should explain each intermediate result, rather than only recognize algorithm names. Ask them to trace one accepted observation through detection, association, pose estimation, and map insertion.</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Lecture 5, ICP and NDT matched observations to a known map. For SLAM the target map grows and may also need correction. A wrong pose places otherwise correct measurements in the wrong location.</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visual feature map supports pose estimation but its sparse points do not imply that unobserved space is free. Point clouds record sampled surfaces. Occupancy maps explicitly distinguish free, occupied, and unknown areas. Semantic maps add meaning, while metric geometry still needs consistent poses.</a:t>
            </a:r>
          </a:p>
          <a:p xmlns:a="http://schemas.openxmlformats.org/drawingml/2006/main">
            <a:r>
              <a:t/>
            </a:r>
          </a:p>
          <a:p xmlns:a="http://schemas.openxmlformats.org/drawingml/2006/main">
            <a:r>
              <a:t>[Sources]</a:t>
            </a:r>
          </a:p>
          <a:p xmlns:a="http://schemas.openxmlformats.org/drawingml/2006/main">
            <a:r>
              <a:t>https://arxiv.org/abs/1610.06475</a:t>
            </a:r>
          </a:p>
          <a:p xmlns:a="http://schemas.openxmlformats.org/drawingml/2006/main">
            <a:r>
              <a:t>https://octomap.github.io/</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p_s as a sensor-frame measurement and p_m as a map-frame point. Calibration connects camera, LiDAR, and vehicle frames. A SLAM map normally chooses its first pose as the local origin. It does not automatically supply global latitude and longitude.</a:t>
            </a:r>
          </a:p>
          <a:p xmlns:a="http://schemas.openxmlformats.org/drawingml/2006/main">
            <a:r>
              <a:t/>
            </a:r>
          </a:p>
          <a:p xmlns:a="http://schemas.openxmlformats.org/drawingml/2006/main">
            <a:r>
              <a:t>[Sources]</a:t>
            </a:r>
          </a:p>
          <a:p xmlns:a="http://schemas.openxmlformats.org/drawingml/2006/main">
            <a:r>
              <a:t>https://www.roboticsproceedings.org/rss10/p07.html</a:t>
            </a:r>
          </a:p>
          <a:p xmlns:a="http://schemas.openxmlformats.org/drawingml/2006/main">
            <a:r>
              <a:t>https://docs.opencv.org/4.x/d9/d0c/group__calib3d.html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front end, which makes associations and estimates motion, from the back end, which revises poses and map structure using accumulated constraints. Sensor-specific residuals differ, but both approaches need reliable associations.</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demo. It uses original frames 20 through 99, with time relative to the chosen excerpt. The visual map starts after a two-view initialization. The LiDAR map starts at the first scan. These are local mapping traces, not an ORB-SLAM3 or LOAM run.</a:t>
            </a:r>
          </a:p>
          <a:p xmlns:a="http://schemas.openxmlformats.org/drawingml/2006/main">
            <a:r>
              <a:t/>
            </a:r>
          </a:p>
          <a:p xmlns:a="http://schemas.openxmlformats.org/drawingml/2006/main">
            <a:r>
              <a:t>[Sources]</a:t>
            </a:r>
          </a:p>
          <a:p xmlns:a="http://schemas.openxmlformats.org/drawingml/2006/main">
            <a:r>
              <a:t>https://www.cvlibs.net/datasets/kitti/</a:t>
            </a:r>
          </a:p>
          <a:p xmlns:a="http://schemas.openxmlformats.org/drawingml/2006/main">
            <a:r>
              <a:t/>
            </a:r>
          </a:p>
          <a:p xmlns:a="http://schemas.openxmlformats.org/drawingml/2006/main">
            <a:r>
              <a:t>[Visuals]</a:t>
            </a:r>
          </a:p>
          <a:p xmlns:a="http://schemas.openxmlformats.org/drawingml/2006/main">
            <a:r>
              <a:t>Recorded KITTI tracking sequence 0001, frames 20–99. Algorithm overlays and maps come from the accompanying Mapping demo. KITTI and derived data: CC BY-NC-SA 3.0. Geiger, Lenz, Urtasun, CVPR 2012. https://www.cvlibs.net/datasets/kitti/</a:t>
            </a:r>
          </a:p>
          <a:p xmlns:a="http://schemas.openxmlformats.org/drawingml/2006/main">
            <a:r>
              <a:t/>
            </a:r>
          </a:p>
          <a:p xmlns:a="http://schemas.openxmlformats.org/drawingml/2006/main">
            <a:r>
              <a:t>Local demo: https://croquembouche.github.io/Intro2AV-CourseContent/mapping/#visual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uniform road patch gives little information about local translation. A long straight edge constrains displacement mainly across that edge. Corners provide stronger 2D localization. The demo uses Shi-Tomasi corners; ORB systems use their own detection and descriptor machinery.</a:t>
            </a:r>
          </a:p>
          <a:p xmlns:a="http://schemas.openxmlformats.org/drawingml/2006/main">
            <a:r>
              <a:t/>
            </a:r>
          </a:p>
          <a:p xmlns:a="http://schemas.openxmlformats.org/drawingml/2006/main">
            <a:r>
              <a:t>[Sources]</a:t>
            </a:r>
          </a:p>
          <a:p xmlns:a="http://schemas.openxmlformats.org/drawingml/2006/main">
            <a:r>
              <a:t>https://docs.opencv.org/4.x/d4/d8c/tutorial_py_shi_tomasi.html</a:t>
            </a:r>
          </a:p>
          <a:p xmlns:a="http://schemas.openxmlformats.org/drawingml/2006/main">
            <a:r>
              <a:t/>
            </a:r>
          </a:p>
          <a:p xmlns:a="http://schemas.openxmlformats.org/drawingml/2006/main">
            <a:r>
              <a:t>[Visuals]</a:t>
            </a:r>
          </a:p>
          <a:p xmlns:a="http://schemas.openxmlformats.org/drawingml/2006/main">
            <a:r>
              <a:t>Recorded KITTI tracking sequence 0001, frames 20–99. Algorithm overlays and maps come from the accompanying Mapping demo. KITTI and derived data: CC BY-NC-SA 3.0. Geiger, Lenz, Urtasun, CVPR 2012. https://www.cvlibs.net/datasets/kitti/</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Play the real frames at quarter speed. The demo runs pyramidal Lucas-Kanade offline, then checks tracking forward and backward. Optical flow supplies candidate correspondences. It does not itself reconstruct the map or establish whether every feature belongs to a static object.</a:t>
            </a:r>
          </a:p>
          <a:p xmlns:a="http://schemas.openxmlformats.org/drawingml/2006/main">
            <a:r>
              <a:t/>
            </a:r>
          </a:p>
          <a:p xmlns:a="http://schemas.openxmlformats.org/drawingml/2006/main">
            <a:r>
              <a:t>[Sources]</a:t>
            </a:r>
          </a:p>
          <a:p xmlns:a="http://schemas.openxmlformats.org/drawingml/2006/main">
            <a:r>
              <a:t>https://docs.opencv.org/4.x/dc/d6b/group__video__track.html</a:t>
            </a:r>
          </a:p>
          <a:p xmlns:a="http://schemas.openxmlformats.org/drawingml/2006/main">
            <a:r>
              <a:t>https://docs.opencv.org/4.x/d9/d0c/group__calib3d.html</a:t>
            </a:r>
          </a:p>
          <a:p xmlns:a="http://schemas.openxmlformats.org/drawingml/2006/main">
            <a:r>
              <a:t/>
            </a:r>
          </a:p>
          <a:p xmlns:a="http://schemas.openxmlformats.org/drawingml/2006/main">
            <a:r>
              <a:t>[Visuals]</a:t>
            </a:r>
          </a:p>
          <a:p xmlns:a="http://schemas.openxmlformats.org/drawingml/2006/main">
            <a:r>
              <a:t>Recorded KITTI tracking sequence 0001, frames 20–99. Algorithm overlays and maps come from the accompanying Mapping demo. KITTI and derived data: CC BY-NC-SA 3.0. Geiger, Lenz, Urtasun, CVPR 2012. https://www.cvlibs.net/datasets/kitti/</a:t>
            </a:r>
          </a:p>
          <a:p xmlns:a="http://schemas.openxmlformats.org/drawingml/2006/main">
            <a:r>
              <a:t/>
            </a:r>
          </a:p>
          <a:p xmlns:a="http://schemas.openxmlformats.org/drawingml/2006/main">
            <a:r>
              <a:t>Local demo: https://croquembouche.github.io/Intro2AV-CourseContent/mapping/#visual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original frame 50, many features are tracked, but only a subset has valid map depth and passes PnP RANSAC. Rejected observations may come from ambiguity, inaccurate depth, noise, or motion. Do not present the orange overlay as a semantic moving-object mask.</a:t>
            </a:r>
          </a:p>
          <a:p xmlns:a="http://schemas.openxmlformats.org/drawingml/2006/main">
            <a:r>
              <a:t/>
            </a:r>
          </a:p>
          <a:p xmlns:a="http://schemas.openxmlformats.org/drawingml/2006/main">
            <a:r>
              <a:t>[Sources]</a:t>
            </a:r>
          </a:p>
          <a:p xmlns:a="http://schemas.openxmlformats.org/drawingml/2006/main">
            <a:r>
              <a:t>https://docs.opencv.org/4.x/d9/d0c/group__calib3d.html</a:t>
            </a:r>
          </a:p>
          <a:p xmlns:a="http://schemas.openxmlformats.org/drawingml/2006/main">
            <a:r>
              <a:t>https://docs.opencv.org/4.x/dc/d6b/group__video__track.html</a:t>
            </a:r>
          </a:p>
          <a:p xmlns:a="http://schemas.openxmlformats.org/drawingml/2006/main">
            <a:r>
              <a:t/>
            </a:r>
          </a:p>
          <a:p xmlns:a="http://schemas.openxmlformats.org/drawingml/2006/main">
            <a:r>
              <a:t>[Visuals]</a:t>
            </a:r>
          </a:p>
          <a:p xmlns:a="http://schemas.openxmlformats.org/drawingml/2006/main">
            <a:r>
              <a:t>Recorded KITTI tracking sequence 0001, frames 20–99. Algorithm overlays and maps come from the accompanying Mapping demo. KITTI and derived data: CC BY-NC-SA 3.0. Geiger, Lenz, Urtasun, CVPR 2012. https://www.cvlibs.net/datasets/kitti/</a:t>
            </a:r>
          </a:p>
          <a:p xmlns:a="http://schemas.openxmlformats.org/drawingml/2006/main">
            <a:r>
              <a:t/>
            </a:r>
          </a:p>
          <a:p xmlns:a="http://schemas.openxmlformats.org/drawingml/2006/main">
            <a:r>
              <a:t>Local demo: https://croquembouche.github.io/Intro2AV-CourseContent/mapping/#visual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X_c = R_cw X_w + t_cw, where the transform maps world to camera. K contains calibrated focal length and principal point. A monocular observation alone does not reveal how far along the ray the landmark lies.</a:t>
            </a:r>
          </a:p>
          <a:p xmlns:a="http://schemas.openxmlformats.org/drawingml/2006/main">
            <a:r>
              <a:t/>
            </a:r>
          </a:p>
          <a:p xmlns:a="http://schemas.openxmlformats.org/drawingml/2006/main">
            <a:r>
              <a:t>[Sources]</a:t>
            </a:r>
          </a:p>
          <a:p xmlns:a="http://schemas.openxmlformats.org/drawingml/2006/main">
            <a:r>
              <a:t>https://docs.opencv.org/4.x/d9/d0c/group__calib3d.html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triangulation as finding the 3D point consistent with observations from different camera centers. Pure rotation changes image coordinates but does not provide a translation baseline for new depth. Distant features can track well while giving weak depth constraints. The demo applies positive-depth, parallax, and reprojection tests.</a:t>
            </a:r>
          </a:p>
          <a:p xmlns:a="http://schemas.openxmlformats.org/drawingml/2006/main">
            <a:r>
              <a:t/>
            </a:r>
          </a:p>
          <a:p xmlns:a="http://schemas.openxmlformats.org/drawingml/2006/main">
            <a:r>
              <a:t>[Sources]</a:t>
            </a:r>
          </a:p>
          <a:p xmlns:a="http://schemas.openxmlformats.org/drawingml/2006/main">
            <a:r>
              <a:t>https://docs.opencv.org/4.x/d9/d0c/group__calib3d.html</a:t>
            </a:r>
          </a:p>
          <a:p xmlns:a="http://schemas.openxmlformats.org/drawingml/2006/main">
            <a:r>
              <a:t>https://arxiv.org/abs/1610.06475</a:t>
            </a:r>
          </a:p>
          <a:p xmlns:a="http://schemas.openxmlformats.org/drawingml/2006/main">
            <a:r>
              <a:t/>
            </a:r>
          </a:p>
          <a:p xmlns:a="http://schemas.openxmlformats.org/drawingml/2006/main">
            <a:r>
              <a:t>[Visuals]</a:t>
            </a:r>
          </a:p>
          <a:p xmlns:a="http://schemas.openxmlformats.org/drawingml/2006/main">
            <a:r>
              <a:t>Recorded KITTI tracking sequence 0001, frames 20–99. Algorithm overlays and maps come from the accompanying Mapping demo. KITTI and derived data: CC BY-NC-SA 3.0. Geiger, Lenz, Urtasun, CVPR 2012. https://www.cvlibs.net/datasets/kitti/</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essential matrix constrains matching normalized image coordinates. Decomposing it yields relative R and the direction of t. The magnitude of t remains unknown in ordinary monocular geometry. The demo initializes using five frames of parallax, with no LiDAR or reference-pose input.</a:t>
            </a:r>
          </a:p>
          <a:p xmlns:a="http://schemas.openxmlformats.org/drawingml/2006/main">
            <a:r>
              <a:t/>
            </a:r>
          </a:p>
          <a:p xmlns:a="http://schemas.openxmlformats.org/drawingml/2006/main">
            <a:r>
              <a:t>[Sources]</a:t>
            </a:r>
          </a:p>
          <a:p xmlns:a="http://schemas.openxmlformats.org/drawingml/2006/main">
            <a:r>
              <a:t>https://docs.opencv.org/4.x/d9/d0c/group__calib3d.html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PnP uses 3D-to-2D correspondences. In this demo solvePnPRansac estimates the pose, followed by nonlinear refinement on its inliers. Define the residual as observed pixel minus projected pixel. A small residual on accepted inliers does not guarantee a globally accurate map.</a:t>
            </a:r>
          </a:p>
          <a:p xmlns:a="http://schemas.openxmlformats.org/drawingml/2006/main">
            <a:r>
              <a:t/>
            </a:r>
          </a:p>
          <a:p xmlns:a="http://schemas.openxmlformats.org/drawingml/2006/main">
            <a:r>
              <a:t>[Sources]</a:t>
            </a:r>
          </a:p>
          <a:p xmlns:a="http://schemas.openxmlformats.org/drawingml/2006/main">
            <a:r>
              <a:t>https://docs.opencv.org/4.x/d9/d0c/group__calib3d.html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full system selects informative keyframes and removes weak or redundant points. The teaching mapper uses regular anchor frames to keep the mechanism inspectable. Click a green inlier in the demo to show the associated landmark and its line to the estimated camera position.</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https://arxiv.org/abs/1610.06475</a:t>
            </a:r>
          </a:p>
          <a:p xmlns:a="http://schemas.openxmlformats.org/drawingml/2006/main">
            <a:r>
              <a:t/>
            </a:r>
          </a:p>
          <a:p xmlns:a="http://schemas.openxmlformats.org/drawingml/2006/main">
            <a:r>
              <a:t>[Visuals]</a:t>
            </a:r>
          </a:p>
          <a:p xmlns:a="http://schemas.openxmlformats.org/drawingml/2006/main">
            <a:r>
              <a:t>Recorded KITTI tracking sequence 0001, frames 20–99. Algorithm overlays and maps come from the accompanying Mapping demo. KITTI and derived data: CC BY-NC-SA 3.0. Geiger, Lenz, Urtasun, CVPR 2012. https://www.cvlibs.net/datasets/kitti/</a:t>
            </a:r>
          </a:p>
          <a:p xmlns:a="http://schemas.openxmlformats.org/drawingml/2006/main">
            <a:r>
              <a:t/>
            </a:r>
          </a:p>
          <a:p xmlns:a="http://schemas.openxmlformats.org/drawingml/2006/main">
            <a:r>
              <a:t>Local demo: https://croquembouche.github.io/Intro2AV-CourseContent/mapping/#visual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PnP, which solves a pose against currently fixed map points, with bundle adjustment, which also adjusts landmark coordinates and other poses. Robust losses reduce the effect of remaining bad associations. Monocular BA needs a fixed origin and scale convention. The short demo does not perform BA.</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https://docs.opencv.org/4.x/d9/d0c/group__calib3d.html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similar-looking building is only a candidate. Verify the relative geometry before adding the loop edge. Graph optimization or BA distributes correction across poses and map points. A short forward-driving clip without a revisit cannot demonstrate a genuine loop closure, so the demo contains no fabricated loop.</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https://arxiv.org/abs/1610.06475</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Stereo uses a calibrated physical baseline. RGB-D gives measured depth within its range. Visual-inertial systems can recover metric scale when calibration and excitation support it. The demo intentionally uses monocular frames and arbitrary scale, which is preserved during later PnP updates.</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https://arxiv.org/abs/1610.06475</a:t>
            </a:r>
          </a:p>
          <a:p xmlns:a="http://schemas.openxmlformats.org/drawingml/2006/main">
            <a:r>
              <a:t>https://docs.opencv.org/4.x/d9/d0c/group__calib3d.html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claim that a sparse feature SLAM map already contains semantic labels. Appearance can help recognize places, while another perception stage may attach object or road semantics. Cost, power, and compute depend on the particular camera and algorithm.</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https://arxiv.org/abs/1610.06475</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a textured facade with a blank wall, and a clear exposure with motion blur. Moving objects can dominate observations if the static scene is poorly visible. Relocalization, additional cameras, depth sensors, or an IMU can improve robustness, but cannot remove all sensing failures.</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https://arxiv.org/abs/1610.06475</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scope clear: visual SLAM is a family, not a synonym for corner tracking. The lecture and demo focus on feature-based sparse mapping because correspondences are visible. Direct methods use image intensity consistency and require attention to exposure, calibration, and scene assumptions.</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the demo to LiDAR at the same original frame. The displayed view is a projection of real 3D returns. LiDAR provides metric depth, but still requires correct pose estimation to put the returns into a consistent map.</a:t>
            </a:r>
          </a:p>
          <a:p xmlns:a="http://schemas.openxmlformats.org/drawingml/2006/main">
            <a:r>
              <a:t/>
            </a:r>
          </a:p>
          <a:p xmlns:a="http://schemas.openxmlformats.org/drawingml/2006/main">
            <a:r>
              <a:t>[Sources]</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Recorded KITTI tracking sequence 0001, frames 20–99. Algorithm overlays and maps come from the accompanying Mapping demo. KITTI and derived data: CC BY-NC-SA 3.0. Geiger, Lenz, Urtasun, CVPR 2012. https://www.cvlibs.net/datasets/kitti/</a:t>
            </a:r>
          </a:p>
          <a:p xmlns:a="http://schemas.openxmlformats.org/drawingml/2006/main">
            <a:r>
              <a:t/>
            </a:r>
          </a:p>
          <a:p xmlns:a="http://schemas.openxmlformats.org/drawingml/2006/main">
            <a:r>
              <a:t>Local demo: https://croquembouche.github.io/Intro2AV-CourseContent/mapping/#lidar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filters invalid and extreme ranges, uses voxel samples, and limits the display density. It lacks per-point timestamps and does not deskew. Explain that the lack of deskew can bend apparent surfaces and bias registration during motion. An IMU or motion estimate may supply a trajectory for deskew.</a:t>
            </a:r>
          </a:p>
          <a:p xmlns:a="http://schemas.openxmlformats.org/drawingml/2006/main">
            <a:r>
              <a:t/>
            </a:r>
          </a:p>
          <a:p xmlns:a="http://schemas.openxmlformats.org/drawingml/2006/main">
            <a:r>
              <a:t>[Sources]</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LOAM uses edge and planar feature points with different residuals. The demo uses a simpler PCA planarity test and point-to-plane ICP. It does not implement LOAM edge selection. A single flat surface poorly constrains sliding within the surface and rotation around its normal.</a:t>
            </a:r>
          </a:p>
          <a:p xmlns:a="http://schemas.openxmlformats.org/drawingml/2006/main">
            <a:r>
              <a:t/>
            </a:r>
          </a:p>
          <a:p xmlns:a="http://schemas.openxmlformats.org/drawingml/2006/main">
            <a:r>
              <a:t>[Sources]</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Recorded KITTI tracking sequence 0001, frames 20–99. Algorithm overlays and maps come from the accompanying Mapping demo. KITTI and derived data: CC BY-NC-SA 3.0. Geiger, Lenz, Urtasun, CVPR 2012. https://www.cvlibs.net/datasets/kitti/</a:t>
            </a:r>
          </a:p>
          <a:p xmlns:a="http://schemas.openxmlformats.org/drawingml/2006/main">
            <a:r>
              <a:t/>
            </a:r>
          </a:p>
          <a:p xmlns:a="http://schemas.openxmlformats.org/drawingml/2006/main">
            <a:r>
              <a:t>Local demo: https://croquembouche.github.io/Intro2AV-CourseContent/mapping/#lidar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this slide to Lecture 5. Point-to-plane and NDT make use of local geometry, but both need overlap and a reasonable initial estimate. The choice of objective changes which errors are penalized and how local structure affects the solution.</a:t>
            </a:r>
          </a:p>
          <a:p xmlns:a="http://schemas.openxmlformats.org/drawingml/2006/main">
            <a:r>
              <a:t/>
            </a:r>
          </a:p>
          <a:p xmlns:a="http://schemas.openxmlformats.org/drawingml/2006/main">
            <a:r>
              <a:t>[Sources]</a:t>
            </a:r>
          </a:p>
          <a:p xmlns:a="http://schemas.openxmlformats.org/drawingml/2006/main">
            <a:r>
              <a:t>https://www.roboticsproceedings.org/rss10/p07.html</a:t>
            </a:r>
          </a:p>
          <a:p xmlns:a="http://schemas.openxmlformats.org/drawingml/2006/main">
            <a:r>
              <a:t>https://pointclouds.org/documentation/tutorials/normal_distributions_transform.html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map contains the preceding eight registered scans. Neighbor covariance supplies PCA normals and a planarity score. Distance and planarity checks gate correspondences. A robust loss downweights large normal residuals. The display shows a subset of accepted correspondences so the geometry stays readable.</a:t>
            </a:r>
          </a:p>
          <a:p xmlns:a="http://schemas.openxmlformats.org/drawingml/2006/main">
            <a:r>
              <a:t/>
            </a:r>
          </a:p>
          <a:p xmlns:a="http://schemas.openxmlformats.org/drawingml/2006/main">
            <a:r>
              <a:t>[Sources]</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Recorded KITTI tracking sequence 0001, frames 20–99. Algorithm overlays and maps come from the accompanying Mapping demo. KITTI and derived data: CC BY-NC-SA 3.0. Geiger, Lenz, Urtasun, CVPR 2012. https://www.cvlibs.net/datasets/kitti/</a:t>
            </a:r>
          </a:p>
          <a:p xmlns:a="http://schemas.openxmlformats.org/drawingml/2006/main">
            <a:r>
              <a:t/>
            </a:r>
          </a:p>
          <a:p xmlns:a="http://schemas.openxmlformats.org/drawingml/2006/main">
            <a:r>
              <a:t>Local demo: https://croquembouche.github.io/Intro2AV-CourseContent/mapping/#lidar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inserts decimated returns after registration. Distinguish the points used to estimate a pose from the larger set that may be inserted afterward. A production persistent map needs better outlier and dynamic-object handling. Every point remains revisable when its supporting pose changes.</a:t>
            </a:r>
          </a:p>
          <a:p xmlns:a="http://schemas.openxmlformats.org/drawingml/2006/main">
            <a:r>
              <a:t/>
            </a:r>
          </a:p>
          <a:p xmlns:a="http://schemas.openxmlformats.org/drawingml/2006/main">
            <a:r>
              <a:t>[Sources]</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Recorded KITTI tracking sequence 0001, frames 20–99. Algorithm overlays and maps come from the accompanying Mapping demo. KITTI and derived data: CC BY-NC-SA 3.0. Geiger, Lenz, Urtasun, CVPR 2012. https://www.cvlibs.net/datasets/kitti/</a:t>
            </a:r>
          </a:p>
          <a:p xmlns:a="http://schemas.openxmlformats.org/drawingml/2006/main">
            <a:r>
              <a:t/>
            </a:r>
          </a:p>
          <a:p xmlns:a="http://schemas.openxmlformats.org/drawingml/2006/main">
            <a:r>
              <a:t>Local demo: https://croquembouche.github.io/Intro2AV-CourseContent/mapping/#lidar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point cloud does not automatically encode safe free space. Occupancy mapping uses a sensor model and repeated observations to update probabilities. OctoMap stores probabilistic occupancy in an octree. Show why an empty-looking area with no measurements cannot be treated as free.</a:t>
            </a:r>
          </a:p>
          <a:p xmlns:a="http://schemas.openxmlformats.org/drawingml/2006/main">
            <a:r>
              <a:t/>
            </a:r>
          </a:p>
          <a:p xmlns:a="http://schemas.openxmlformats.org/drawingml/2006/main">
            <a:r>
              <a:t>[Sources]</a:t>
            </a:r>
          </a:p>
          <a:p xmlns:a="http://schemas.openxmlformats.org/drawingml/2006/main">
            <a:r>
              <a:t>https://octomap.github.io/</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dark but geometrically structured street can remain useful to active ranging. LiDAR maps can support scan matching and reconstruction. Map density depends on the sensor, distance, viewpoint, and accumulation, so avoid promising uniformly dense coverage.</a:t>
            </a:r>
          </a:p>
          <a:p xmlns:a="http://schemas.openxmlformats.org/drawingml/2006/main">
            <a:r>
              <a:t/>
            </a:r>
          </a:p>
          <a:p xmlns:a="http://schemas.openxmlformats.org/drawingml/2006/main">
            <a:r>
              <a:t>[Sources]</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corridor can constrain lateral position while leaving motion along it uncertain. Flat ground alone leaves several directions weakly constrained. Fog, rain, reflective surfaces, and material response can affect returns. Sensor price, size, power, and compute are system-specific tradeoffs.</a:t>
            </a:r>
          </a:p>
          <a:p xmlns:a="http://schemas.openxmlformats.org/drawingml/2006/main">
            <a:r>
              <a:t/>
            </a:r>
          </a:p>
          <a:p xmlns:a="http://schemas.openxmlformats.org/drawingml/2006/main">
            <a:r>
              <a:t>[Sources]</a:t>
            </a:r>
          </a:p>
          <a:p xmlns:a="http://schemas.openxmlformats.org/drawingml/2006/main">
            <a:r>
              <a:t>https://www.roboticsproceedings.org/rss10/p07.html</a:t>
            </a:r>
          </a:p>
          <a:p xmlns:a="http://schemas.openxmlformats.org/drawingml/2006/main">
            <a:r>
              <a:t>https://arxiv.org/abs/1912.03251</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table to compare evidence rather than nominate an unconditional winner. Both sensors need calibration, overlap, and static-environment support. A camera can supply rich appearance while a LiDAR supplies geometry. Their common failure modes include bad association and accumulated pose error.</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these as scenario-based reasoning, not benchmark rankings. In an indoor corridor, camera texture and 3D structural variety both matter. At night, LiDAR may retain useful geometry while visual matching degrades. Moving traffic affects both modalities. More sensor types help when they provide independent constraints.</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Parked and moving vehicles can look similar in one image or scan. Geometry-only rejection is not a semantic motion classifier. Temporal persistence and explicit dynamic-object handling improve static maps. Transient obstacles still belong in perception and planning, even when excluded from the persistent map.</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to Lecture 4. Fusion needs consistent clocks and transforms, as well as a model of uncertainty. A miscalibrated extrinsic transform can make two accurate sensors disagree. Fusion also adds computational and calibration work, and it does not guarantee observability in every environment.</a:t>
            </a:r>
          </a:p>
          <a:p xmlns:a="http://schemas.openxmlformats.org/drawingml/2006/main">
            <a:r>
              <a:t/>
            </a:r>
          </a:p>
          <a:p xmlns:a="http://schemas.openxmlformats.org/drawingml/2006/main">
            <a:r>
              <a:t>[Sources]</a:t>
            </a:r>
          </a:p>
          <a:p xmlns:a="http://schemas.openxmlformats.org/drawingml/2006/main">
            <a:r>
              <a:t>https://arxiv.org/abs/2007.11898</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need only a browser and the supplied page. Ask them to explain which residual each method minimizes, why a tracked feature may be unused, and why the visual map cannot be reported in meters. The checkpoint is a growing map with frame-specific additions and a visible estimated path.</a:t>
            </a:r>
          </a:p>
          <a:p xmlns:a="http://schemas.openxmlformats.org/drawingml/2006/main">
            <a:r>
              <a:t/>
            </a:r>
          </a:p>
          <a:p xmlns:a="http://schemas.openxmlformats.org/drawingml/2006/main">
            <a:r>
              <a:t>[Sources]</a:t>
            </a:r>
          </a:p>
          <a:p xmlns:a="http://schemas.openxmlformats.org/drawingml/2006/main">
            <a:r>
              <a:t>https://www.cvlibs.net/datasets/kitti/</a:t>
            </a:r>
          </a:p>
          <a:p xmlns:a="http://schemas.openxmlformats.org/drawingml/2006/main">
            <a:r>
              <a:t>https://docs.opencv.org/4.x/d9/d0c/group__calib3d.html</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Recorded KITTI tracking sequence 0001, frames 20–99. Algorithm overlays and maps come from the accompanying Mapping demo. KITTI and derived data: CC BY-NC-SA 3.0. Geiger, Lenz, Urtasun, CVPR 2012. https://www.cvlibs.net/datasets/kitti/</a:t>
            </a:r>
          </a:p>
          <a:p xmlns:a="http://schemas.openxmlformats.org/drawingml/2006/main">
            <a:r>
              <a:t/>
            </a:r>
          </a:p>
          <a:p xmlns:a="http://schemas.openxmlformats.org/drawingml/2006/main">
            <a:r>
              <a:t>Local demo: https://croquembouche.github.io/Intro2AV-CourseContent/mapping/#visual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visual tracks constrain projection of established 3D landmarks, while LiDAR surface correspondences constrain alignment along normals. Successful registration lets sensor observations enter a common map frame. A complete answer states that the visual demo has arbitrary scale and both traces omit global SLAM correction.</a:t>
            </a:r>
          </a:p>
          <a:p xmlns:a="http://schemas.openxmlformats.org/drawingml/2006/main">
            <a:r>
              <a:t/>
            </a:r>
          </a:p>
          <a:p xmlns:a="http://schemas.openxmlformats.org/drawingml/2006/main">
            <a:r>
              <a:t>[Sources]</a:t>
            </a:r>
          </a:p>
          <a:p xmlns:a="http://schemas.openxmlformats.org/drawingml/2006/main">
            <a:r>
              <a:t>https://docs.opencv.org/4.x/d9/d0c/group__calib3d.html</a:t>
            </a:r>
          </a:p>
          <a:p xmlns:a="http://schemas.openxmlformats.org/drawingml/2006/main">
            <a:r>
              <a:t>https://www.roboticsproceedings.org/rss10/p07.html</a:t>
            </a:r>
          </a:p>
          <a:p xmlns:a="http://schemas.openxmlformats.org/drawingml/2006/main">
            <a:r>
              <a:t>https://arxiv.org/abs/2007.11898</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yes, small parallax makes depth unstable despite reliable tracking. One plane provides normal-distance constraints while allowing sliding within the plane and rotation around its normal. Verified revisits, repeated map associations, BA or graph optimization, and possibly external anchors improve long-term consistency. Ask students to name the actual constraint rather than simply say more sensors.</a:t>
            </a:r>
          </a:p>
          <a:p xmlns:a="http://schemas.openxmlformats.org/drawingml/2006/main">
            <a:r>
              <a:t/>
            </a:r>
          </a:p>
          <a:p xmlns:a="http://schemas.openxmlformats.org/drawingml/2006/main">
            <a:r>
              <a:t>[Sources]</a:t>
            </a:r>
          </a:p>
          <a:p xmlns:a="http://schemas.openxmlformats.org/drawingml/2006/main">
            <a:r>
              <a:t>https://docs.opencv.org/4.x/d9/d0c/group__calib3d.html</a:t>
            </a:r>
          </a:p>
          <a:p xmlns:a="http://schemas.openxmlformats.org/drawingml/2006/main">
            <a:r>
              <a:t>https://arxiv.org/abs/2007.11898</a:t>
            </a:r>
          </a:p>
          <a:p xmlns:a="http://schemas.openxmlformats.org/drawingml/2006/main">
            <a:r>
              <a:t>https://www.roboticsproceedings.org/rss10/p07.html</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offline package includes the slides, frames, and precomputed traces. No NAS connection is needed for students. Attribute the KITTI frames and derived data under CC BY-NC-SA 3.0. Algorithm references are teaching context; the demo is a compact implementation of selected local mapping steps.</a:t>
            </a:r>
          </a:p>
          <a:p xmlns:a="http://schemas.openxmlformats.org/drawingml/2006/main">
            <a:r>
              <a:t/>
            </a:r>
          </a:p>
          <a:p xmlns:a="http://schemas.openxmlformats.org/drawingml/2006/main">
            <a:r>
              <a:t>[Sources]</a:t>
            </a:r>
          </a:p>
          <a:p xmlns:a="http://schemas.openxmlformats.org/drawingml/2006/main">
            <a:r>
              <a:t>https://www.cvlibs.net/datasets/kitti/</a:t>
            </a:r>
          </a:p>
          <a:p xmlns:a="http://schemas.openxmlformats.org/drawingml/2006/main">
            <a:r>
              <a:t>https://arxiv.org/abs/2007.11898</a:t>
            </a:r>
          </a:p>
          <a:p xmlns:a="http://schemas.openxmlformats.org/drawingml/2006/main">
            <a:r>
              <a:t>https://www.roboticsproceedings.org/rss10/p07.html</a:t>
            </a:r>
          </a:p>
          <a:p xmlns:a="http://schemas.openxmlformats.org/drawingml/2006/main">
            <a:r>
              <a:t>https://octomap.github.io/</a:t>
            </a:r>
          </a:p>
          <a:p xmlns:a="http://schemas.openxmlformats.org/drawingml/2006/main">
            <a:r>
              <a:t/>
            </a:r>
          </a:p>
          <a:p xmlns:a="http://schemas.openxmlformats.org/drawingml/2006/main">
            <a:r>
              <a:t>[Visuals]</a:t>
            </a:r>
          </a:p>
          <a:p xmlns:a="http://schemas.openxmlformats.org/drawingml/2006/main">
            <a:r>
              <a:t>Editable instructional text, equations, or table.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f4640eff7648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250983375d44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de952007e34d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017783b84b4bb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eb1063dd81b42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d73a7ac5d041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251043-8A1E-4AC5-8974-C286B17E518C}"/>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E1D5274-725E-4F09-8901-B5A28AE5FEC0}"/>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0A8F823-1B73-4FE1-B7BD-A65E8D02BAFA}"/>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30E099-D438-4EE6-8B3C-544E6085AE18}"/>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2629320-B55F-4D92-8A13-CD08E9A58C39}"/>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F02A71-ED39-4054-B478-4BB4EDAD3063}"/>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DE7440-BBC2-495B-B7AF-5055444AA45C}"/>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30B84A-8E2D-4FA9-ACCD-7BA45F2AB70E}"/>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38E993-D6CC-4A6D-B3AD-AC892563063B}"/>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578326-456C-44C3-8570-85C5515820D8}"/>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42160630994a79" /><Relationship Type="http://schemas.openxmlformats.org/officeDocument/2006/relationships/slideLayout" Target="/ppt/slideLayouts/slideLayout1.xml" Id="R5d946695634a4477" /><Relationship Type="http://schemas.openxmlformats.org/officeDocument/2006/relationships/slideLayout" Target="/ppt/slideLayouts/slideLayout2.xml" Id="Re2785f22ea364748" /><Relationship Type="http://schemas.openxmlformats.org/officeDocument/2006/relationships/slideLayout" Target="/ppt/slideLayouts/slideLayout3.xml" Id="R9bb49458940d47eb" /><Relationship Type="http://schemas.openxmlformats.org/officeDocument/2006/relationships/slideLayout" Target="/ppt/slideLayouts/slideLayout4.xml" Id="Racdb057cdaa1424c" /><Relationship Type="http://schemas.openxmlformats.org/officeDocument/2006/relationships/slideLayout" Target="/ppt/slideLayouts/slideLayout5.xml" Id="R57f08aab611b43e0" /><Relationship Type="http://schemas.openxmlformats.org/officeDocument/2006/relationships/slideLayout" Target="/ppt/slideLayouts/slideLayout6.xml" Id="R6d3c97aec70147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946695634a4477"/>
    <p:sldLayoutId xmlns:r="http://schemas.openxmlformats.org/officeDocument/2006/relationships" id="2147483650" r:id="Re2785f22ea364748"/>
    <p:sldLayoutId xmlns:r="http://schemas.openxmlformats.org/officeDocument/2006/relationships" id="2147483651" r:id="R9bb49458940d47eb"/>
    <p:sldLayoutId xmlns:r="http://schemas.openxmlformats.org/officeDocument/2006/relationships" id="2147483652" r:id="Racdb057cdaa1424c"/>
    <p:sldLayoutId xmlns:r="http://schemas.openxmlformats.org/officeDocument/2006/relationships" id="2147483653" r:id="R57f08aab611b43e0"/>
    <p:sldLayoutId xmlns:r="http://schemas.openxmlformats.org/officeDocument/2006/relationships" id="2147483654" r:id="R6d3c97aec70147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f1e5d957f844d3" /><Relationship Type="http://schemas.openxmlformats.org/officeDocument/2006/relationships/image" Target="/ppt/media/image.jpeg" Id="Rd979d1c18ebd411a" /><Relationship Type="http://schemas.openxmlformats.org/officeDocument/2006/relationships/notesSlide" Target="/ppt/notesSlides/notesSlide1.xml" Id="Ra6bb20af053044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0cfe37fcbed4240" /><Relationship Type="http://schemas.openxmlformats.org/officeDocument/2006/relationships/image" Target="/ppt/media/image.png" Id="Rceccd34b35144ea5" /><Relationship Type="http://schemas.openxmlformats.org/officeDocument/2006/relationships/notesSlide" Target="/ppt/notesSlides/notesSlide2.xml" Id="R7dca8cf0906a46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91b9b168a684c4f" /><Relationship Type="http://schemas.openxmlformats.org/officeDocument/2006/relationships/image" Target="/ppt/media/image2.png" Id="R644b1ed1f9b4430a" /><Relationship Type="http://schemas.openxmlformats.org/officeDocument/2006/relationships/notesSlide" Target="/ppt/notesSlides/notesSlide3.xml" Id="Rd83ccd06b20b4b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3b6ab8ce50949ed" /><Relationship Type="http://schemas.openxmlformats.org/officeDocument/2006/relationships/image" Target="/ppt/media/image3.png" Id="R93e0c859eeaa466f" /><Relationship Type="http://schemas.openxmlformats.org/officeDocument/2006/relationships/notesSlide" Target="/ppt/notesSlides/notesSlide4.xml" Id="R98fb80887c3446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6267b938daf4d83" /><Relationship Type="http://schemas.openxmlformats.org/officeDocument/2006/relationships/image" Target="/ppt/media/image4.png" Id="R7936ae5128ba4a32" /><Relationship Type="http://schemas.openxmlformats.org/officeDocument/2006/relationships/notesSlide" Target="/ppt/notesSlides/notesSlide5.xml" Id="Rb90621bec57c45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6dc92f7740e4ce7" /><Relationship Type="http://schemas.openxmlformats.org/officeDocument/2006/relationships/image" Target="/ppt/media/image5.png" Id="Rd1516a32bab14c50" /><Relationship Type="http://schemas.openxmlformats.org/officeDocument/2006/relationships/notesSlide" Target="/ppt/notesSlides/notesSlide6.xml" Id="Rab38c098424e46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405166a38774c46" /><Relationship Type="http://schemas.openxmlformats.org/officeDocument/2006/relationships/image" Target="/ppt/media/image6.png" Id="R17d5fa2bec7741a7" /><Relationship Type="http://schemas.openxmlformats.org/officeDocument/2006/relationships/image" Target="/ppt/media/image7.png" Id="R80751525a11c4fa2" /><Relationship Type="http://schemas.openxmlformats.org/officeDocument/2006/relationships/hyperlink" Target="https://croquembouche.github.io/Intro2AV-CourseContent/mapping/#visual" TargetMode="External" Id="Rf2ff612f05c64e04" /><Relationship Type="http://schemas.openxmlformats.org/officeDocument/2006/relationships/notesSlide" Target="/ppt/notesSlides/notesSlide7.xml" Id="Rb087bf5a322441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cab9dcd09d4cc5" /><Relationship Type="http://schemas.openxmlformats.org/officeDocument/2006/relationships/image" Target="/ppt/media/image8.png" Id="R9670ff29241740c0" /><Relationship Type="http://schemas.openxmlformats.org/officeDocument/2006/relationships/image" Target="/ppt/media/image9.png" Id="R140723a6e8764f4d" /><Relationship Type="http://schemas.openxmlformats.org/officeDocument/2006/relationships/notesSlide" Target="/ppt/notesSlides/notesSlide8.xml" Id="R1bfcaf4c9fb346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18652e7ba58496e" /><Relationship Type="http://schemas.openxmlformats.org/officeDocument/2006/relationships/image" Target="/ppt/media/image10.png" Id="Rc6aa86d008814c4f" /><Relationship Type="http://schemas.openxmlformats.org/officeDocument/2006/relationships/image" Target="/ppt/media/image.gif" Id="R62c55c53b8f74999" /><Relationship Type="http://schemas.openxmlformats.org/officeDocument/2006/relationships/hyperlink" Target="https://croquembouche.github.io/Intro2AV-CourseContent/mapping/#visual" TargetMode="External" Id="Ra56a0964d71c4893" /><Relationship Type="http://schemas.openxmlformats.org/officeDocument/2006/relationships/notesSlide" Target="/ppt/notesSlides/notesSlide9.xml" Id="R097a499e6e604c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68fa53ec8d946e4" /><Relationship Type="http://schemas.openxmlformats.org/officeDocument/2006/relationships/image" Target="/ppt/media/image11.png" Id="Ree2ab02a0b6b4fce" /><Relationship Type="http://schemas.openxmlformats.org/officeDocument/2006/relationships/image" Target="/ppt/media/image12.png" Id="R430db70ae67f4a10" /><Relationship Type="http://schemas.openxmlformats.org/officeDocument/2006/relationships/hyperlink" Target="https://croquembouche.github.io/Intro2AV-CourseContent/mapping/#visual" TargetMode="External" Id="R78d361c273174571" /><Relationship Type="http://schemas.openxmlformats.org/officeDocument/2006/relationships/notesSlide" Target="/ppt/notesSlides/notesSlide10.xml" Id="Rd5f9d4d79aea4f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1574f3efee34e7a" /><Relationship Type="http://schemas.openxmlformats.org/officeDocument/2006/relationships/image" Target="/ppt/media/image13.png" Id="Rf1ba34f2d8164760" /><Relationship Type="http://schemas.openxmlformats.org/officeDocument/2006/relationships/notesSlide" Target="/ppt/notesSlides/notesSlide11.xml" Id="R22dd4816a052419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2497dee5cf747bc" /><Relationship Type="http://schemas.openxmlformats.org/officeDocument/2006/relationships/image" Target="/ppt/media/image14.png" Id="R7f9fe0440a204f1b" /><Relationship Type="http://schemas.openxmlformats.org/officeDocument/2006/relationships/image" Target="/ppt/media/image15.png" Id="R3383d60ede574d2c" /><Relationship Type="http://schemas.openxmlformats.org/officeDocument/2006/relationships/notesSlide" Target="/ppt/notesSlides/notesSlide12.xml" Id="R707d699ea9724f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a590288b11940c4" /><Relationship Type="http://schemas.openxmlformats.org/officeDocument/2006/relationships/image" Target="/ppt/media/image16.png" Id="R05a44487f36946ae" /><Relationship Type="http://schemas.openxmlformats.org/officeDocument/2006/relationships/notesSlide" Target="/ppt/notesSlides/notesSlide13.xml" Id="R0a4ad8c57c5340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c0785fea34045dc" /><Relationship Type="http://schemas.openxmlformats.org/officeDocument/2006/relationships/image" Target="/ppt/media/image17.png" Id="Rc71d5ee30e9d40be" /><Relationship Type="http://schemas.openxmlformats.org/officeDocument/2006/relationships/notesSlide" Target="/ppt/notesSlides/notesSlide14.xml" Id="R173539d9f7d741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07fd69d13d54564" /><Relationship Type="http://schemas.openxmlformats.org/officeDocument/2006/relationships/image" Target="/ppt/media/image18.png" Id="R316bd282448a4ea2" /><Relationship Type="http://schemas.openxmlformats.org/officeDocument/2006/relationships/image" Target="/ppt/media/image19.png" Id="Rd22d256677f242c4" /><Relationship Type="http://schemas.openxmlformats.org/officeDocument/2006/relationships/hyperlink" Target="https://croquembouche.github.io/Intro2AV-CourseContent/mapping/#visual" TargetMode="External" Id="R95bbfc79d01b404a" /><Relationship Type="http://schemas.openxmlformats.org/officeDocument/2006/relationships/notesSlide" Target="/ppt/notesSlides/notesSlide15.xml" Id="R0cd0509557a945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af03e78454e4c1e" /><Relationship Type="http://schemas.openxmlformats.org/officeDocument/2006/relationships/image" Target="/ppt/media/image20.png" Id="R56c4aaed3ef84598" /><Relationship Type="http://schemas.openxmlformats.org/officeDocument/2006/relationships/notesSlide" Target="/ppt/notesSlides/notesSlide16.xml" Id="Rbb029fbd8024426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9971ac325504eeb" /><Relationship Type="http://schemas.openxmlformats.org/officeDocument/2006/relationships/image" Target="/ppt/media/image21.png" Id="Re506957dd82044b2" /><Relationship Type="http://schemas.openxmlformats.org/officeDocument/2006/relationships/notesSlide" Target="/ppt/notesSlides/notesSlide17.xml" Id="R9f426e30fbaa42b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693d197c70c4fd0" /><Relationship Type="http://schemas.openxmlformats.org/officeDocument/2006/relationships/image" Target="/ppt/media/image22.png" Id="Rd28e8ba06f53424b" /><Relationship Type="http://schemas.openxmlformats.org/officeDocument/2006/relationships/notesSlide" Target="/ppt/notesSlides/notesSlide18.xml" Id="Rb882b86bbab041e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bc39b3c36bd4d92" /><Relationship Type="http://schemas.openxmlformats.org/officeDocument/2006/relationships/image" Target="/ppt/media/image23.png" Id="R7965d1c2e8424c94" /><Relationship Type="http://schemas.openxmlformats.org/officeDocument/2006/relationships/notesSlide" Target="/ppt/notesSlides/notesSlide19.xml" Id="R2c2efa29f4904c6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1c120bae0fc4d23" /><Relationship Type="http://schemas.openxmlformats.org/officeDocument/2006/relationships/image" Target="/ppt/media/image24.png" Id="R417ffffef2c7494b" /><Relationship Type="http://schemas.openxmlformats.org/officeDocument/2006/relationships/notesSlide" Target="/ppt/notesSlides/notesSlide20.xml" Id="Re86fdbd075914e3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a230b45e20b45b0" /><Relationship Type="http://schemas.openxmlformats.org/officeDocument/2006/relationships/image" Target="/ppt/media/image25.png" Id="Rd6ccea2d341a43ae" /><Relationship Type="http://schemas.openxmlformats.org/officeDocument/2006/relationships/notesSlide" Target="/ppt/notesSlides/notesSlide21.xml" Id="R006bad6c204341a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331e51445be459e" /><Relationship Type="http://schemas.openxmlformats.org/officeDocument/2006/relationships/image" Target="/ppt/media/image26.png" Id="R3d9ae0cc86be499c" /><Relationship Type="http://schemas.openxmlformats.org/officeDocument/2006/relationships/image" Target="/ppt/media/image27.png" Id="R9361471f07b249f2" /><Relationship Type="http://schemas.openxmlformats.org/officeDocument/2006/relationships/hyperlink" Target="https://croquembouche.github.io/Intro2AV-CourseContent/mapping/#lidar" TargetMode="External" Id="R39f0d1d07d6a4ca3" /><Relationship Type="http://schemas.openxmlformats.org/officeDocument/2006/relationships/notesSlide" Target="/ppt/notesSlides/notesSlide22.xml" Id="R19e6c5922e7c4eb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2d783a9983d4fef" /><Relationship Type="http://schemas.openxmlformats.org/officeDocument/2006/relationships/image" Target="/ppt/media/image28.png" Id="R8039be88b35d44d7" /><Relationship Type="http://schemas.openxmlformats.org/officeDocument/2006/relationships/notesSlide" Target="/ppt/notesSlides/notesSlide23.xml" Id="R3664d3da71fd4b5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2823ad5a57b449a" /><Relationship Type="http://schemas.openxmlformats.org/officeDocument/2006/relationships/image" Target="/ppt/media/image29.png" Id="Ra6a9da29dbb843c2" /><Relationship Type="http://schemas.openxmlformats.org/officeDocument/2006/relationships/image" Target="/ppt/media/image30.png" Id="Ra069ad0d34e04b62" /><Relationship Type="http://schemas.openxmlformats.org/officeDocument/2006/relationships/hyperlink" Target="https://croquembouche.github.io/Intro2AV-CourseContent/mapping/#lidar" TargetMode="External" Id="R23e1f19c7d424e16" /><Relationship Type="http://schemas.openxmlformats.org/officeDocument/2006/relationships/notesSlide" Target="/ppt/notesSlides/notesSlide24.xml" Id="Rb1eb2fc727a1433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e1463b487d64ec5" /><Relationship Type="http://schemas.openxmlformats.org/officeDocument/2006/relationships/image" Target="/ppt/media/image31.png" Id="R1a35c71337694ab7" /><Relationship Type="http://schemas.openxmlformats.org/officeDocument/2006/relationships/notesSlide" Target="/ppt/notesSlides/notesSlide25.xml" Id="R3f8a0319e3164f7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c8601210e6a43a8" /><Relationship Type="http://schemas.openxmlformats.org/officeDocument/2006/relationships/image" Target="/ppt/media/image32.png" Id="Rf5f8f95a8337450d" /><Relationship Type="http://schemas.openxmlformats.org/officeDocument/2006/relationships/image" Target="/ppt/media/image2.gif" Id="Ra3266f5ce56d4158" /><Relationship Type="http://schemas.openxmlformats.org/officeDocument/2006/relationships/hyperlink" Target="https://croquembouche.github.io/Intro2AV-CourseContent/mapping/#lidar" TargetMode="External" Id="Rfe3ea13f37ab46b1" /><Relationship Type="http://schemas.openxmlformats.org/officeDocument/2006/relationships/notesSlide" Target="/ppt/notesSlides/notesSlide26.xml" Id="Rdb3650834772435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c43a53d18ec4584" /><Relationship Type="http://schemas.openxmlformats.org/officeDocument/2006/relationships/image" Target="/ppt/media/image33.png" Id="Ra2db639516c44d4c" /><Relationship Type="http://schemas.openxmlformats.org/officeDocument/2006/relationships/image" Target="/ppt/media/image3.gif" Id="R4c211762326140ab" /><Relationship Type="http://schemas.openxmlformats.org/officeDocument/2006/relationships/hyperlink" Target="https://croquembouche.github.io/Intro2AV-CourseContent/mapping/#lidar" TargetMode="External" Id="R9fe90e0bea314f62" /><Relationship Type="http://schemas.openxmlformats.org/officeDocument/2006/relationships/notesSlide" Target="/ppt/notesSlides/notesSlide27.xml" Id="R6e7c93aff05243f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b9aa489034649c4" /><Relationship Type="http://schemas.openxmlformats.org/officeDocument/2006/relationships/image" Target="/ppt/media/image34.png" Id="R70bf0d509a6743aa" /><Relationship Type="http://schemas.openxmlformats.org/officeDocument/2006/relationships/notesSlide" Target="/ppt/notesSlides/notesSlide28.xml" Id="Rbc5f3f5d7c154db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9fbe60534224fc6" /><Relationship Type="http://schemas.openxmlformats.org/officeDocument/2006/relationships/image" Target="/ppt/media/image35.png" Id="Rbb21d71eeb45410d" /><Relationship Type="http://schemas.openxmlformats.org/officeDocument/2006/relationships/notesSlide" Target="/ppt/notesSlides/notesSlide29.xml" Id="R9124f49c63ef4a7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5a34042fc034cff" /><Relationship Type="http://schemas.openxmlformats.org/officeDocument/2006/relationships/image" Target="/ppt/media/image36.png" Id="R15d70439bff744de" /><Relationship Type="http://schemas.openxmlformats.org/officeDocument/2006/relationships/notesSlide" Target="/ppt/notesSlides/notesSlide30.xml" Id="Rcb835134f219446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23f489fb37c4291" /><Relationship Type="http://schemas.openxmlformats.org/officeDocument/2006/relationships/image" Target="/ppt/media/image37.png" Id="R89e4e208c4ea4fab" /><Relationship Type="http://schemas.openxmlformats.org/officeDocument/2006/relationships/notesSlide" Target="/ppt/notesSlides/notesSlide31.xml" Id="Rb9be92a35a58411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3407b4710cc437c" /><Relationship Type="http://schemas.openxmlformats.org/officeDocument/2006/relationships/image" Target="/ppt/media/image38.png" Id="R332f72a260c84910" /><Relationship Type="http://schemas.openxmlformats.org/officeDocument/2006/relationships/notesSlide" Target="/ppt/notesSlides/notesSlide32.xml" Id="R65ffb6fbcc9940d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12f75e7ce4947de" /><Relationship Type="http://schemas.openxmlformats.org/officeDocument/2006/relationships/image" Target="/ppt/media/image39.png" Id="Reb7e130effbc4e60" /><Relationship Type="http://schemas.openxmlformats.org/officeDocument/2006/relationships/notesSlide" Target="/ppt/notesSlides/notesSlide33.xml" Id="R5b5cf41fd538456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6035a0e09e946bd" /><Relationship Type="http://schemas.openxmlformats.org/officeDocument/2006/relationships/image" Target="/ppt/media/image40.png" Id="R92d2223a1ea743b2" /><Relationship Type="http://schemas.openxmlformats.org/officeDocument/2006/relationships/notesSlide" Target="/ppt/notesSlides/notesSlide34.xml" Id="R7e17380472be4e2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887458eee0e4a21" /><Relationship Type="http://schemas.openxmlformats.org/officeDocument/2006/relationships/image" Target="/ppt/media/image41.png" Id="R620e5f0788f84ce4" /><Relationship Type="http://schemas.openxmlformats.org/officeDocument/2006/relationships/image" Target="/ppt/media/image42.png" Id="R0bf9649ed1e94b7a" /><Relationship Type="http://schemas.openxmlformats.org/officeDocument/2006/relationships/hyperlink" Target="https://croquembouche.github.io/Intro2AV-CourseContent/mapping/#visual" TargetMode="External" Id="Rcdbf7def82ff4d3a" /><Relationship Type="http://schemas.openxmlformats.org/officeDocument/2006/relationships/notesSlide" Target="/ppt/notesSlides/notesSlide35.xml" Id="Ra63c4ef145804b9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a5376a5f8274c45" /><Relationship Type="http://schemas.openxmlformats.org/officeDocument/2006/relationships/image" Target="/ppt/media/image43.png" Id="Re26ca45f85a64be7" /><Relationship Type="http://schemas.openxmlformats.org/officeDocument/2006/relationships/notesSlide" Target="/ppt/notesSlides/notesSlide36.xml" Id="R9f58aa4ebfeb412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100ee90bf94474f" /><Relationship Type="http://schemas.openxmlformats.org/officeDocument/2006/relationships/image" Target="/ppt/media/image44.png" Id="R5993d8ea4da14b08" /><Relationship Type="http://schemas.openxmlformats.org/officeDocument/2006/relationships/notesSlide" Target="/ppt/notesSlides/notesSlide37.xml" Id="Rf6301f6b30194b0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c090b0affcd4876" /><Relationship Type="http://schemas.openxmlformats.org/officeDocument/2006/relationships/image" Target="/ppt/media/image45.png" Id="R4314bb454bfe45a3" /><Relationship Type="http://schemas.openxmlformats.org/officeDocument/2006/relationships/hyperlink" Target="https://croquembouche.github.io/Intro2AV-CourseContent/mapping/" TargetMode="External" Id="R36d05561615e43a8" /><Relationship Type="http://schemas.openxmlformats.org/officeDocument/2006/relationships/hyperlink" Target="https://croquembouche.github.io/Intro2AV-CourseContent/downloads/Lecture6_Mapping.zip" TargetMode="External" Id="R1c98f4c692364ce2" /><Relationship Type="http://schemas.openxmlformats.org/officeDocument/2006/relationships/notesSlide" Target="/ppt/notesSlides/notesSlide38.xml" Id="R77b277b136a8428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979d1c18ebd411a"/>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LECTURE 6">
            <a:extLst xmlns:a="http://schemas.openxmlformats.org/drawingml/2006/main">
              <a:ext uri="{FF2B5EF4-FFF2-40B4-BE49-F238E27FC236}">
                <a16:creationId xmlns:a16="http://schemas.microsoft.com/office/drawing/2014/main" id="{43745367-814B-4C0B-A385-3AF77159130E}"/>
              </a:ext>
            </a:extLst>
          </p:cNvPr>
          <p:cNvSpPr>
            <a:spLocks xmlns:a="http://schemas.openxmlformats.org/drawingml/2006/main" noGrp="1"/>
          </p:cNvSpPr>
          <p:nvPr/>
        </p:nvSpPr>
        <p:spPr>
          <a:xfrm xmlns:a="http://schemas.openxmlformats.org/drawingml/2006/main">
            <a:off x="619125" y="90487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LECTURE 6</a:t>
            </a:r>
          </a:p>
        </p:txBody>
      </p:sp>
      <p:sp>
        <p:nvSpPr>
          <p:cNvPr id="3" name="Mapping">
            <a:extLst xmlns:a="http://schemas.openxmlformats.org/drawingml/2006/main">
              <a:ext uri="{FF2B5EF4-FFF2-40B4-BE49-F238E27FC236}">
                <a16:creationId xmlns:a16="http://schemas.microsoft.com/office/drawing/2014/main" id="{8CD670EF-0B71-44DC-8389-E6DC93480797}"/>
              </a:ext>
            </a:extLst>
          </p:cNvPr>
          <p:cNvSpPr>
            <a:spLocks xmlns:a="http://schemas.openxmlformats.org/drawingml/2006/main" noGrp="1"/>
          </p:cNvSpPr>
          <p:nvPr/>
        </p:nvSpPr>
        <p:spPr>
          <a:xfrm xmlns:a="http://schemas.openxmlformats.org/drawingml/2006/main">
            <a:off x="619125" y="1524000"/>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Mapping</a:t>
            </a:r>
          </a:p>
        </p:txBody>
      </p:sp>
      <p:sp>
        <p:nvSpPr>
          <p:cNvPr id="4" name="for autonomous driving">
            <a:extLst xmlns:a="http://schemas.openxmlformats.org/drawingml/2006/main">
              <a:ext uri="{FF2B5EF4-FFF2-40B4-BE49-F238E27FC236}">
                <a16:creationId xmlns:a16="http://schemas.microsoft.com/office/drawing/2014/main" id="{7AB55690-CC6B-4BF4-AAC0-DFB8F73E338B}"/>
              </a:ext>
            </a:extLst>
          </p:cNvPr>
          <p:cNvSpPr>
            <a:spLocks xmlns:a="http://schemas.openxmlformats.org/drawingml/2006/main" noGrp="1"/>
          </p:cNvSpPr>
          <p:nvPr/>
        </p:nvSpPr>
        <p:spPr>
          <a:xfrm xmlns:a="http://schemas.openxmlformats.org/drawingml/2006/main">
            <a:off x="619125" y="23336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775" b="0">
                <a:solidFill>
                  <a:srgbClr val="FFFFFF"/>
                </a:solidFill>
                <a:latin typeface="Arial"/>
                <a:ea typeface="Arial"/>
                <a:cs typeface="Arial"/>
              </a:defRPr>
            </a:pPr>
            <a:r>
              <a:rPr sz="2775" b="0">
                <a:solidFill>
                  <a:srgbClr val="FFFFFF"/>
                </a:solidFill>
                <a:latin typeface="Arial"/>
                <a:ea typeface="Arial"/>
                <a:cs typeface="Arial"/>
              </a:rPr>
              <a:t>for autonomous driving</a:t>
            </a:r>
          </a:p>
        </p:txBody>
      </p:sp>
      <p:sp>
        <p:nvSpPr>
          <p:cNvPr id="5" name="Visual SLAM and LiDAR mapping">
            <a:extLst xmlns:a="http://schemas.openxmlformats.org/drawingml/2006/main">
              <a:ext uri="{FF2B5EF4-FFF2-40B4-BE49-F238E27FC236}">
                <a16:creationId xmlns:a16="http://schemas.microsoft.com/office/drawing/2014/main" id="{EECA11F6-9EEB-4ECB-B4BA-49457A2AB53A}"/>
              </a:ext>
            </a:extLst>
          </p:cNvPr>
          <p:cNvSpPr>
            <a:spLocks xmlns:a="http://schemas.openxmlformats.org/drawingml/2006/main" noGrp="1"/>
          </p:cNvSpPr>
          <p:nvPr/>
        </p:nvSpPr>
        <p:spPr>
          <a:xfrm xmlns:a="http://schemas.openxmlformats.org/drawingml/2006/main">
            <a:off x="619125" y="3143250"/>
            <a:ext cx="771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Visual SLAM and LiDAR mapping</a:t>
            </a:r>
          </a:p>
        </p:txBody>
      </p:sp>
      <p:sp>
        <p:nvSpPr>
          <p:cNvPr id="6" name="Introduction to Autonomous Driving · Fall 2026">
            <a:extLst xmlns:a="http://schemas.openxmlformats.org/drawingml/2006/main">
              <a:ext uri="{FF2B5EF4-FFF2-40B4-BE49-F238E27FC236}">
                <a16:creationId xmlns:a16="http://schemas.microsoft.com/office/drawing/2014/main" id="{A6157FCF-A978-46A3-9A69-22576AB97E3E}"/>
              </a:ext>
            </a:extLst>
          </p:cNvPr>
          <p:cNvSpPr>
            <a:spLocks xmlns:a="http://schemas.openxmlformats.org/drawingml/2006/main" noGrp="1"/>
          </p:cNvSpPr>
          <p:nvPr/>
        </p:nvSpPr>
        <p:spPr>
          <a:xfrm xmlns:a="http://schemas.openxmlformats.org/drawingml/2006/main">
            <a:off x="619125" y="4000500"/>
            <a:ext cx="771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Introduction to Autonomous Driving · Fall 2026</a:t>
            </a:r>
          </a:p>
        </p:txBody>
      </p:sp>
      <p:sp>
        <p:nvSpPr>
          <p:cNvPr id="7" name="1">
            <a:extLst xmlns:a="http://schemas.openxmlformats.org/drawingml/2006/main">
              <a:ext uri="{FF2B5EF4-FFF2-40B4-BE49-F238E27FC236}">
                <a16:creationId xmlns:a16="http://schemas.microsoft.com/office/drawing/2014/main" id="{6CF8022A-5DBD-432B-AEB3-EABCE230D9BC}"/>
              </a:ext>
            </a:extLst>
          </p:cNvPr>
          <p:cNvSpPr>
            <a:spLocks xmlns:a="http://schemas.openxmlformats.org/drawingml/2006/main" noGrp="1"/>
          </p:cNvSpPr>
          <p:nvPr/>
        </p:nvSpPr>
        <p:spPr>
          <a:xfrm xmlns:a="http://schemas.openxmlformats.org/drawingml/2006/main">
            <a:off x="8429625" y="4829175"/>
            <a:ext cx="285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a:t>
            </a:r>
          </a:p>
        </p:txBody>
      </p:sp>
    </p:spTree>
    <p:extLst>
      <p:ext uri="{BB962C8B-B14F-4D97-AF65-F5344CB8AC3E}">
        <p14:creationId xmlns:p14="http://schemas.microsoft.com/office/powerpoint/2010/main" val="8848770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eccd34b35144ea5"/>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Learning goals">
            <a:extLst xmlns:a="http://schemas.openxmlformats.org/drawingml/2006/main">
              <a:ext uri="{FF2B5EF4-FFF2-40B4-BE49-F238E27FC236}">
                <a16:creationId xmlns:a16="http://schemas.microsoft.com/office/drawing/2014/main" id="{6A6C627C-F0C7-4DE3-80D4-B129D2F27FE3}"/>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Learning goals</a:t>
            </a:r>
          </a:p>
        </p:txBody>
      </p:sp>
      <p:sp>
        <p:nvSpPr>
          <p:cNvPr id="3" name="2">
            <a:extLst xmlns:a="http://schemas.openxmlformats.org/drawingml/2006/main">
              <a:ext uri="{FF2B5EF4-FFF2-40B4-BE49-F238E27FC236}">
                <a16:creationId xmlns:a16="http://schemas.microsoft.com/office/drawing/2014/main" id="{2D6ACE5D-8CDD-469D-803C-10D50D196A61}"/>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a:t>
            </a:r>
          </a:p>
        </p:txBody>
      </p:sp>
      <p:sp>
        <p:nvSpPr>
          <p:cNvPr id="4" name="Explain how successive observations constrain motion and map stru">
            <a:extLst xmlns:a="http://schemas.openxmlformats.org/drawingml/2006/main">
              <a:ext uri="{FF2B5EF4-FFF2-40B4-BE49-F238E27FC236}">
                <a16:creationId xmlns:a16="http://schemas.microsoft.com/office/drawing/2014/main" id="{0FB2DEB0-F597-4292-BC11-8EF6BB0783A1}"/>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Explain how successive observations constrain motion and map structure.</a:t>
            </a:r>
          </a:p>
        </p:txBody>
      </p:sp>
      <p:sp>
        <p:nvSpPr>
          <p:cNvPr id="5" name="Follow visual landmarks and LiDAR surface correspondences.">
            <a:extLst xmlns:a="http://schemas.openxmlformats.org/drawingml/2006/main">
              <a:ext uri="{FF2B5EF4-FFF2-40B4-BE49-F238E27FC236}">
                <a16:creationId xmlns:a16="http://schemas.microsoft.com/office/drawing/2014/main" id="{BDC3B71B-9512-4454-8E34-EA6C76442988}"/>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Follow visual landmarks and LiDAR surface correspondences.</a:t>
            </a:r>
          </a:p>
        </p:txBody>
      </p:sp>
      <p:sp>
        <p:nvSpPr>
          <p:cNvPr id="6" name="Compare map outputs, failure conditions, and sensor tradeoffs.">
            <a:extLst xmlns:a="http://schemas.openxmlformats.org/drawingml/2006/main">
              <a:ext uri="{FF2B5EF4-FFF2-40B4-BE49-F238E27FC236}">
                <a16:creationId xmlns:a16="http://schemas.microsoft.com/office/drawing/2014/main" id="{B74554B9-6621-4A3E-A170-D90AD8B99FC3}"/>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Compare map outputs, failure conditions, and sensor tradeoffs.</a:t>
            </a:r>
          </a:p>
        </p:txBody>
      </p:sp>
    </p:spTree>
    <p:extLst>
      <p:ext uri="{BB962C8B-B14F-4D97-AF65-F5344CB8AC3E}">
        <p14:creationId xmlns:p14="http://schemas.microsoft.com/office/powerpoint/2010/main" val="17208754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44b1ed1f9b4430a"/>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Localization, mapping, and SLAM">
            <a:extLst xmlns:a="http://schemas.openxmlformats.org/drawingml/2006/main">
              <a:ext uri="{FF2B5EF4-FFF2-40B4-BE49-F238E27FC236}">
                <a16:creationId xmlns:a16="http://schemas.microsoft.com/office/drawing/2014/main" id="{8C4964DF-A0EB-4BF2-B0C9-C4CF9383EF40}"/>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Localization, mapping, and SLAM</a:t>
            </a:r>
          </a:p>
        </p:txBody>
      </p:sp>
      <p:sp>
        <p:nvSpPr>
          <p:cNvPr id="3" name="3">
            <a:extLst xmlns:a="http://schemas.openxmlformats.org/drawingml/2006/main">
              <a:ext uri="{FF2B5EF4-FFF2-40B4-BE49-F238E27FC236}">
                <a16:creationId xmlns:a16="http://schemas.microsoft.com/office/drawing/2014/main" id="{8D8FC623-3BA1-4E3F-A275-5ABEA2FC2DFE}"/>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a:t>
            </a:r>
          </a:p>
        </p:txBody>
      </p:sp>
      <p:sp>
        <p:nvSpPr>
          <p:cNvPr id="4" name="Localization estimates a pose in an existing map.">
            <a:extLst xmlns:a="http://schemas.openxmlformats.org/drawingml/2006/main">
              <a:ext uri="{FF2B5EF4-FFF2-40B4-BE49-F238E27FC236}">
                <a16:creationId xmlns:a16="http://schemas.microsoft.com/office/drawing/2014/main" id="{B26789CF-DD9F-4A9F-8BC8-C4C355C1E06F}"/>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Localization estimates a pose in an existing map.</a:t>
            </a:r>
          </a:p>
        </p:txBody>
      </p:sp>
      <p:sp>
        <p:nvSpPr>
          <p:cNvPr id="5" name="Mapping combines observations using their sensor poses.">
            <a:extLst xmlns:a="http://schemas.openxmlformats.org/drawingml/2006/main">
              <a:ext uri="{FF2B5EF4-FFF2-40B4-BE49-F238E27FC236}">
                <a16:creationId xmlns:a16="http://schemas.microsoft.com/office/drawing/2014/main" id="{FA837211-9CF4-4B22-B803-E76694BC5484}"/>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Mapping combines observations using their sensor poses.</a:t>
            </a:r>
          </a:p>
        </p:txBody>
      </p:sp>
      <p:sp>
        <p:nvSpPr>
          <p:cNvPr id="6" name="SLAM estimates the trajectory and map together.">
            <a:extLst xmlns:a="http://schemas.openxmlformats.org/drawingml/2006/main">
              <a:ext uri="{FF2B5EF4-FFF2-40B4-BE49-F238E27FC236}">
                <a16:creationId xmlns:a16="http://schemas.microsoft.com/office/drawing/2014/main" id="{C95D171A-29D2-494C-ABF2-6787F9313B28}"/>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SLAM estimates the trajectory and map together.</a:t>
            </a:r>
          </a:p>
        </p:txBody>
      </p:sp>
    </p:spTree>
    <p:extLst>
      <p:ext uri="{BB962C8B-B14F-4D97-AF65-F5344CB8AC3E}">
        <p14:creationId xmlns:p14="http://schemas.microsoft.com/office/powerpoint/2010/main" val="16761920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93e0c859eeaa466f"/>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Map representations">
            <a:extLst xmlns:a="http://schemas.openxmlformats.org/drawingml/2006/main">
              <a:ext uri="{FF2B5EF4-FFF2-40B4-BE49-F238E27FC236}">
                <a16:creationId xmlns:a16="http://schemas.microsoft.com/office/drawing/2014/main" id="{409FE87A-BA80-45EA-9751-00221CF255CD}"/>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Map representations</a:t>
            </a:r>
          </a:p>
        </p:txBody>
      </p:sp>
      <p:sp>
        <p:nvSpPr>
          <p:cNvPr id="3" name="4">
            <a:extLst xmlns:a="http://schemas.openxmlformats.org/drawingml/2006/main">
              <a:ext uri="{FF2B5EF4-FFF2-40B4-BE49-F238E27FC236}">
                <a16:creationId xmlns:a16="http://schemas.microsoft.com/office/drawing/2014/main" id="{3769B472-6FFB-4DDA-A295-754E4B0E05B7}"/>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4</a:t>
            </a:r>
          </a:p>
        </p:txBody>
      </p:sp>
      <p:graphicFrame>
        <p:nvGraphicFramePr>
          <p:cNvPr id="8" name=""/>
          <p:cNvGraphicFramePr/>
          <p:nvPr/>
        </p:nvGraphicFramePr>
        <p:xfrm>
          <a:off xmlns:a="http://schemas.openxmlformats.org/drawingml/2006/main" x="523875" y="1438275"/>
          <a:ext xmlns:a="http://schemas.openxmlformats.org/drawingml/2006/main" cx="8096250" cy="2952750"/>
        </p:xfrm>
        <a:graphic xmlns:a="http://schemas.openxmlformats.org/drawingml/2006/main">
          <a:graphicData uri="http://schemas.openxmlformats.org/drawingml/2006/table">
            <a:tbl>
              <a:tblPr/>
              <a:tblGrid>
                <a:gridCol w="2095500"/>
                <a:gridCol w="3000375"/>
                <a:gridCol w="3000375"/>
              </a:tblGrid>
              <a:tr h="590550">
                <a:tc>
                  <a:txBody>
                    <a:bodyPr lIns="114300" tIns="85725" rIns="114300" bIns="85725">
                      <a:noAutofit/>
                    </a:bodyPr>
                    <a:lstStyle/>
                    <a:p>
                      <a:r>
                        <a:rPr sz="1350" b="1">
                          <a:solidFill>
                            <a:srgbClr val="FFFFFF"/>
                          </a:solidFill>
                          <a:latin typeface="Arial"/>
                          <a:ea typeface="Arial"/>
                          <a:cs typeface="Arial"/>
                        </a:rPr>
                        <a:t>Representation</a:t>
                      </a:r>
                    </a:p>
                  </a:txBody>
                  <a:tcPr marL="91440" marR="91440" marT="45720" marB="45720" anchor="ctr">
                    <a:solidFill>
                      <a:srgbClr val="00539F"/>
                    </a:solidFill>
                  </a:tcPr>
                </a:tc>
                <a:tc>
                  <a:txBody>
                    <a:bodyPr lIns="114300" tIns="85725" rIns="114300" bIns="85725">
                      <a:noAutofit/>
                    </a:bodyPr>
                    <a:lstStyle/>
                    <a:p>
                      <a:r>
                        <a:rPr sz="1350" b="1">
                          <a:solidFill>
                            <a:srgbClr val="FFFFFF"/>
                          </a:solidFill>
                          <a:latin typeface="Arial"/>
                          <a:ea typeface="Arial"/>
                          <a:cs typeface="Arial"/>
                        </a:rPr>
                        <a:t>Stored information</a:t>
                      </a:r>
                    </a:p>
                  </a:txBody>
                  <a:tcPr marL="91440" marR="91440" marT="45720" marB="45720" anchor="ctr">
                    <a:solidFill>
                      <a:srgbClr val="00539F"/>
                    </a:solidFill>
                  </a:tcPr>
                </a:tc>
                <a:tc>
                  <a:txBody>
                    <a:bodyPr lIns="114300" tIns="85725" rIns="114300" bIns="85725">
                      <a:noAutofit/>
                    </a:bodyPr>
                    <a:lstStyle/>
                    <a:p>
                      <a:r>
                        <a:rPr sz="1350" b="1">
                          <a:solidFill>
                            <a:srgbClr val="FFFFFF"/>
                          </a:solidFill>
                          <a:latin typeface="Arial"/>
                          <a:ea typeface="Arial"/>
                          <a:cs typeface="Arial"/>
                        </a:rPr>
                        <a:t>Typical use</a:t>
                      </a:r>
                    </a:p>
                  </a:txBody>
                  <a:tcPr marL="91440" marR="91440" marT="45720" marB="45720" anchor="ctr">
                    <a:solidFill>
                      <a:srgbClr val="00539F"/>
                    </a:solidFill>
                  </a:tcPr>
                </a:tc>
              </a:tr>
              <a:tr h="590550">
                <a:tc>
                  <a:txBody>
                    <a:bodyPr lIns="114300" tIns="85725" rIns="114300" bIns="85725">
                      <a:noAutofit/>
                    </a:bodyPr>
                    <a:lstStyle/>
                    <a:p>
                      <a:r>
                        <a:rPr sz="1350" b="0">
                          <a:solidFill>
                            <a:srgbClr val="17324D"/>
                          </a:solidFill>
                          <a:latin typeface="Arial"/>
                          <a:ea typeface="Arial"/>
                          <a:cs typeface="Arial"/>
                        </a:rPr>
                        <a:t>Sparse landmarks</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3D points and observations</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Visual localization</a:t>
                      </a:r>
                    </a:p>
                  </a:txBody>
                  <a:tcPr marL="91440" marR="91440" marT="45720" marB="45720" anchor="ctr">
                    <a:solidFill>
                      <a:srgbClr val="FFFFFF"/>
                    </a:solidFill>
                  </a:tcPr>
                </a:tc>
              </a:tr>
              <a:tr h="590550">
                <a:tc>
                  <a:txBody>
                    <a:bodyPr lIns="114300" tIns="85725" rIns="114300" bIns="85725">
                      <a:noAutofit/>
                    </a:bodyPr>
                    <a:lstStyle/>
                    <a:p>
                      <a:r>
                        <a:rPr sz="1350" b="0">
                          <a:solidFill>
                            <a:srgbClr val="17324D"/>
                          </a:solidFill>
                          <a:latin typeface="Arial"/>
                          <a:ea typeface="Arial"/>
                          <a:cs typeface="Arial"/>
                        </a:rPr>
                        <a:t>Point cloud / surfels</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Surface geometry</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Registration and reconstruction</a:t>
                      </a:r>
                    </a:p>
                  </a:txBody>
                  <a:tcPr marL="91440" marR="91440" marT="45720" marB="45720" anchor="ctr">
                    <a:solidFill>
                      <a:srgbClr val="F1F6FA"/>
                    </a:solidFill>
                  </a:tcPr>
                </a:tc>
              </a:tr>
              <a:tr h="590550">
                <a:tc>
                  <a:txBody>
                    <a:bodyPr lIns="114300" tIns="85725" rIns="114300" bIns="85725">
                      <a:noAutofit/>
                    </a:bodyPr>
                    <a:lstStyle/>
                    <a:p>
                      <a:r>
                        <a:rPr sz="1350" b="0">
                          <a:solidFill>
                            <a:srgbClr val="17324D"/>
                          </a:solidFill>
                          <a:latin typeface="Arial"/>
                          <a:ea typeface="Arial"/>
                          <a:cs typeface="Arial"/>
                        </a:rPr>
                        <a:t>Occupancy grid / voxels</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Free, occupied, unknown</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Planning and exploration</a:t>
                      </a:r>
                    </a:p>
                  </a:txBody>
                  <a:tcPr marL="91440" marR="91440" marT="45720" marB="45720" anchor="ctr">
                    <a:solidFill>
                      <a:srgbClr val="FFFFFF"/>
                    </a:solidFill>
                  </a:tcPr>
                </a:tc>
              </a:tr>
              <a:tr h="590550">
                <a:tc>
                  <a:txBody>
                    <a:bodyPr lIns="114300" tIns="85725" rIns="114300" bIns="85725">
                      <a:noAutofit/>
                    </a:bodyPr>
                    <a:lstStyle/>
                    <a:p>
                      <a:r>
                        <a:rPr sz="1350" b="0">
                          <a:solidFill>
                            <a:srgbClr val="17324D"/>
                          </a:solidFill>
                          <a:latin typeface="Arial"/>
                          <a:ea typeface="Arial"/>
                          <a:cs typeface="Arial"/>
                        </a:rPr>
                        <a:t>Semantic map</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Geometry with labels</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Task and scene reasoning</a:t>
                      </a:r>
                    </a:p>
                  </a:txBody>
                  <a:tcPr marL="91440" marR="91440" marT="45720" marB="45720" anchor="ctr">
                    <a:solidFill>
                      <a:srgbClr val="F1F6FA"/>
                    </a:solidFill>
                  </a:tcPr>
                </a:tc>
              </a:tr>
            </a:tbl>
          </a:graphicData>
        </a:graphic>
      </p:graphicFrame>
    </p:spTree>
    <p:extLst>
      <p:ext uri="{BB962C8B-B14F-4D97-AF65-F5344CB8AC3E}">
        <p14:creationId xmlns:p14="http://schemas.microsoft.com/office/powerpoint/2010/main" val="6341095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936ae5128ba4a32"/>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The pose places each observation">
            <a:extLst xmlns:a="http://schemas.openxmlformats.org/drawingml/2006/main">
              <a:ext uri="{FF2B5EF4-FFF2-40B4-BE49-F238E27FC236}">
                <a16:creationId xmlns:a16="http://schemas.microsoft.com/office/drawing/2014/main" id="{D97D3AF6-585F-4E64-A75E-F78B5019A98A}"/>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pose places each observation</a:t>
            </a:r>
          </a:p>
        </p:txBody>
      </p:sp>
      <p:sp>
        <p:nvSpPr>
          <p:cNvPr id="3" name="5">
            <a:extLst xmlns:a="http://schemas.openxmlformats.org/drawingml/2006/main">
              <a:ext uri="{FF2B5EF4-FFF2-40B4-BE49-F238E27FC236}">
                <a16:creationId xmlns:a16="http://schemas.microsoft.com/office/drawing/2014/main" id="{1893A85B-4397-4CD4-8E2C-345139C55851}"/>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5</a:t>
            </a:r>
          </a:p>
        </p:txBody>
      </p:sp>
      <p:sp>
        <p:nvSpPr>
          <p:cNvPr id="4" name="p_map = R p_sensor + t">
            <a:extLst xmlns:a="http://schemas.openxmlformats.org/drawingml/2006/main">
              <a:ext uri="{FF2B5EF4-FFF2-40B4-BE49-F238E27FC236}">
                <a16:creationId xmlns:a16="http://schemas.microsoft.com/office/drawing/2014/main" id="{FB9E8EA2-E4F4-471B-AF1A-6348F3468F3E}"/>
              </a:ext>
            </a:extLst>
          </p:cNvPr>
          <p:cNvSpPr>
            <a:spLocks xmlns:a="http://schemas.openxmlformats.org/drawingml/2006/main" noGrp="1"/>
          </p:cNvSpPr>
          <p:nvPr/>
        </p:nvSpPr>
        <p:spPr>
          <a:xfrm xmlns:a="http://schemas.openxmlformats.org/drawingml/2006/main">
            <a:off x="714375" y="1476375"/>
            <a:ext cx="7762875" cy="1071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p_map = R p_sensor + t</a:t>
            </a:r>
          </a:p>
        </p:txBody>
      </p:sp>
      <p:sp>
        <p:nvSpPr>
          <p:cNvPr id="5" name="T = [ R  t ; 0  1 ]">
            <a:extLst xmlns:a="http://schemas.openxmlformats.org/drawingml/2006/main">
              <a:ext uri="{FF2B5EF4-FFF2-40B4-BE49-F238E27FC236}">
                <a16:creationId xmlns:a16="http://schemas.microsoft.com/office/drawing/2014/main" id="{94C33601-141E-474C-AAD7-2B401B66A45A}"/>
              </a:ext>
            </a:extLst>
          </p:cNvPr>
          <p:cNvSpPr>
            <a:spLocks xmlns:a="http://schemas.openxmlformats.org/drawingml/2006/main" noGrp="1"/>
          </p:cNvSpPr>
          <p:nvPr/>
        </p:nvSpPr>
        <p:spPr>
          <a:xfrm xmlns:a="http://schemas.openxmlformats.org/drawingml/2006/main">
            <a:off x="714375" y="2547938"/>
            <a:ext cx="7762875" cy="1071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T = [ R  t ; 0  1 ]</a:t>
            </a:r>
          </a:p>
        </p:txBody>
      </p:sp>
      <p:sp>
        <p:nvSpPr>
          <p:cNvPr id="6" name="T maps sensor coordinates into the chosen map frame.&#10;A pose error">
            <a:extLst xmlns:a="http://schemas.openxmlformats.org/drawingml/2006/main">
              <a:ext uri="{FF2B5EF4-FFF2-40B4-BE49-F238E27FC236}">
                <a16:creationId xmlns:a16="http://schemas.microsoft.com/office/drawing/2014/main" id="{FA174FED-863E-4EF8-856E-7EDB11E320F8}"/>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T maps sensor coordinates into the chosen map frame.</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A pose error shifts or rotates every point in the new frame.</a:t>
            </a:r>
          </a:p>
        </p:txBody>
      </p:sp>
    </p:spTree>
    <p:extLst>
      <p:ext uri="{BB962C8B-B14F-4D97-AF65-F5344CB8AC3E}">
        <p14:creationId xmlns:p14="http://schemas.microsoft.com/office/powerpoint/2010/main" val="20367601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1516a32bab14c50"/>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The SLAM pipeline">
            <a:extLst xmlns:a="http://schemas.openxmlformats.org/drawingml/2006/main">
              <a:ext uri="{FF2B5EF4-FFF2-40B4-BE49-F238E27FC236}">
                <a16:creationId xmlns:a16="http://schemas.microsoft.com/office/drawing/2014/main" id="{DA77A8C0-EDC5-4886-AAD4-7CB50F4C9C6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SLAM pipeline</a:t>
            </a:r>
          </a:p>
        </p:txBody>
      </p:sp>
      <p:sp>
        <p:nvSpPr>
          <p:cNvPr id="3" name="6">
            <a:extLst xmlns:a="http://schemas.openxmlformats.org/drawingml/2006/main">
              <a:ext uri="{FF2B5EF4-FFF2-40B4-BE49-F238E27FC236}">
                <a16:creationId xmlns:a16="http://schemas.microsoft.com/office/drawing/2014/main" id="{269048F9-56EA-46C2-8EEB-92ADE4B126E5}"/>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6</a:t>
            </a:r>
          </a:p>
        </p:txBody>
      </p:sp>
      <p:sp>
        <p:nvSpPr>
          <p:cNvPr id="4" name="1">
            <a:extLst xmlns:a="http://schemas.openxmlformats.org/drawingml/2006/main">
              <a:ext uri="{FF2B5EF4-FFF2-40B4-BE49-F238E27FC236}">
                <a16:creationId xmlns:a16="http://schemas.microsoft.com/office/drawing/2014/main" id="{61579D77-0540-4127-9ABF-BAF13D3217B6}"/>
              </a:ext>
            </a:extLst>
          </p:cNvPr>
          <p:cNvSpPr>
            <a:spLocks xmlns:a="http://schemas.openxmlformats.org/drawingml/2006/main" noGrp="1"/>
          </p:cNvSpPr>
          <p:nvPr/>
        </p:nvSpPr>
        <p:spPr>
          <a:xfrm xmlns:a="http://schemas.openxmlformats.org/drawingml/2006/main">
            <a:off x="523875" y="1447800"/>
            <a:ext cx="333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1</a:t>
            </a:r>
          </a:p>
        </p:txBody>
      </p:sp>
      <p:sp>
        <p:nvSpPr>
          <p:cNvPr id="5" name="Associate the current observations with earlier observations or m">
            <a:extLst xmlns:a="http://schemas.openxmlformats.org/drawingml/2006/main">
              <a:ext uri="{FF2B5EF4-FFF2-40B4-BE49-F238E27FC236}">
                <a16:creationId xmlns:a16="http://schemas.microsoft.com/office/drawing/2014/main" id="{D06C6C62-8C5D-43A5-AC27-C2064E0EF77C}"/>
              </a:ext>
            </a:extLst>
          </p:cNvPr>
          <p:cNvSpPr>
            <a:spLocks xmlns:a="http://schemas.openxmlformats.org/drawingml/2006/main" noGrp="1"/>
          </p:cNvSpPr>
          <p:nvPr/>
        </p:nvSpPr>
        <p:spPr>
          <a:xfrm xmlns:a="http://schemas.openxmlformats.org/drawingml/2006/main">
            <a:off x="1000125" y="1447800"/>
            <a:ext cx="7620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Associate the current observations with earlier observations or map elements.</a:t>
            </a:r>
          </a:p>
        </p:txBody>
      </p:sp>
      <p:sp>
        <p:nvSpPr>
          <p:cNvPr id="6" name="2">
            <a:extLst xmlns:a="http://schemas.openxmlformats.org/drawingml/2006/main">
              <a:ext uri="{FF2B5EF4-FFF2-40B4-BE49-F238E27FC236}">
                <a16:creationId xmlns:a16="http://schemas.microsoft.com/office/drawing/2014/main" id="{4E2BC2A2-1E99-4F46-A7D2-5F2B4E722DE2}"/>
              </a:ext>
            </a:extLst>
          </p:cNvPr>
          <p:cNvSpPr>
            <a:spLocks xmlns:a="http://schemas.openxmlformats.org/drawingml/2006/main" noGrp="1"/>
          </p:cNvSpPr>
          <p:nvPr/>
        </p:nvSpPr>
        <p:spPr>
          <a:xfrm xmlns:a="http://schemas.openxmlformats.org/drawingml/2006/main">
            <a:off x="523875" y="2257425"/>
            <a:ext cx="333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2</a:t>
            </a:r>
          </a:p>
        </p:txBody>
      </p:sp>
      <p:sp>
        <p:nvSpPr>
          <p:cNvPr id="7" name="Estimate pose, then add useful new map structure.">
            <a:extLst xmlns:a="http://schemas.openxmlformats.org/drawingml/2006/main">
              <a:ext uri="{FF2B5EF4-FFF2-40B4-BE49-F238E27FC236}">
                <a16:creationId xmlns:a16="http://schemas.microsoft.com/office/drawing/2014/main" id="{59097106-C1A6-472B-A3C9-51182C5CC666}"/>
              </a:ext>
            </a:extLst>
          </p:cNvPr>
          <p:cNvSpPr>
            <a:spLocks xmlns:a="http://schemas.openxmlformats.org/drawingml/2006/main" noGrp="1"/>
          </p:cNvSpPr>
          <p:nvPr/>
        </p:nvSpPr>
        <p:spPr>
          <a:xfrm xmlns:a="http://schemas.openxmlformats.org/drawingml/2006/main">
            <a:off x="1000125" y="2257425"/>
            <a:ext cx="7620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Estimate pose, then add useful new map structure.</a:t>
            </a:r>
          </a:p>
        </p:txBody>
      </p:sp>
      <p:sp>
        <p:nvSpPr>
          <p:cNvPr id="8" name="3">
            <a:extLst xmlns:a="http://schemas.openxmlformats.org/drawingml/2006/main">
              <a:ext uri="{FF2B5EF4-FFF2-40B4-BE49-F238E27FC236}">
                <a16:creationId xmlns:a16="http://schemas.microsoft.com/office/drawing/2014/main" id="{762126DF-5113-4763-9839-AC6E4E5C9A4E}"/>
              </a:ext>
            </a:extLst>
          </p:cNvPr>
          <p:cNvSpPr>
            <a:spLocks xmlns:a="http://schemas.openxmlformats.org/drawingml/2006/main" noGrp="1"/>
          </p:cNvSpPr>
          <p:nvPr/>
        </p:nvSpPr>
        <p:spPr>
          <a:xfrm xmlns:a="http://schemas.openxmlformats.org/drawingml/2006/main">
            <a:off x="523875" y="3067050"/>
            <a:ext cx="333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3</a:t>
            </a:r>
          </a:p>
        </p:txBody>
      </p:sp>
      <p:sp>
        <p:nvSpPr>
          <p:cNvPr id="9" name="Refine local estimates and verify revisited places.">
            <a:extLst xmlns:a="http://schemas.openxmlformats.org/drawingml/2006/main">
              <a:ext uri="{FF2B5EF4-FFF2-40B4-BE49-F238E27FC236}">
                <a16:creationId xmlns:a16="http://schemas.microsoft.com/office/drawing/2014/main" id="{1BD42951-755A-4861-B956-F8D4F74F3C6A}"/>
              </a:ext>
            </a:extLst>
          </p:cNvPr>
          <p:cNvSpPr>
            <a:spLocks xmlns:a="http://schemas.openxmlformats.org/drawingml/2006/main" noGrp="1"/>
          </p:cNvSpPr>
          <p:nvPr/>
        </p:nvSpPr>
        <p:spPr>
          <a:xfrm xmlns:a="http://schemas.openxmlformats.org/drawingml/2006/main">
            <a:off x="1000125" y="3067050"/>
            <a:ext cx="7620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Refine local estimates and verify revisited places.</a:t>
            </a:r>
          </a:p>
        </p:txBody>
      </p:sp>
    </p:spTree>
    <p:extLst>
      <p:ext uri="{BB962C8B-B14F-4D97-AF65-F5344CB8AC3E}">
        <p14:creationId xmlns:p14="http://schemas.microsoft.com/office/powerpoint/2010/main" val="20411582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7d5fa2bec7741a7"/>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The real driving sequence">
            <a:extLst xmlns:a="http://schemas.openxmlformats.org/drawingml/2006/main">
              <a:ext uri="{FF2B5EF4-FFF2-40B4-BE49-F238E27FC236}">
                <a16:creationId xmlns:a16="http://schemas.microsoft.com/office/drawing/2014/main" id="{466F932B-AE15-4DA6-820B-FD3D8558E0AC}"/>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real driving sequence</a:t>
            </a:r>
          </a:p>
        </p:txBody>
      </p:sp>
      <p:sp>
        <p:nvSpPr>
          <p:cNvPr id="3" name="7">
            <a:extLst xmlns:a="http://schemas.openxmlformats.org/drawingml/2006/main">
              <a:ext uri="{FF2B5EF4-FFF2-40B4-BE49-F238E27FC236}">
                <a16:creationId xmlns:a16="http://schemas.microsoft.com/office/drawing/2014/main" id="{90CA00AA-DF5B-41AA-B4DF-BC0A576D8B64}"/>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7</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0751525a11c4fa2"/>
          <a:stretch xmlns:a="http://schemas.openxmlformats.org/drawingml/2006/main"/>
        </p:blipFill>
        <p:spPr>
          <a:xfrm xmlns:a="http://schemas.openxmlformats.org/drawingml/2006/main">
            <a:off x="495300" y="1464595"/>
            <a:ext cx="5286375" cy="2538160"/>
          </a:xfrm>
          <a:prstGeom xmlns:a="http://schemas.openxmlformats.org/drawingml/2006/main" prst="rect">
            <a:avLst/>
          </a:prstGeom>
        </p:spPr>
      </p:pic>
      <p:sp>
        <p:nvSpPr>
          <p:cNvPr id="5" name="KITTI tracking sequence 0001.&#10;&#10;80 camera and LiDAR frames at nomi">
            <a:extLst xmlns:a="http://schemas.openxmlformats.org/drawingml/2006/main">
              <a:ext uri="{FF2B5EF4-FFF2-40B4-BE49-F238E27FC236}">
                <a16:creationId xmlns:a16="http://schemas.microsoft.com/office/drawing/2014/main" id="{ACC5BD4D-8B8E-4280-B534-A655A705136C}"/>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KITTI tracking sequence 0001.</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80 camera and LiDAR frames at nominal 10 Hz.</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Both maps use estimated poses.</a:t>
            </a:r>
          </a:p>
        </p:txBody>
      </p:sp>
      <p:sp>
        <p:nvSpPr>
          <p:cNvPr id="6" name="Open interactive demo">
            <a:extLst xmlns:a="http://schemas.openxmlformats.org/drawingml/2006/main">
              <a:ext uri="{FF2B5EF4-FFF2-40B4-BE49-F238E27FC236}">
                <a16:creationId xmlns:a16="http://schemas.microsoft.com/office/drawing/2014/main" id="{F54B4FBC-41A8-4EE5-8423-310B611D4A46}"/>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f2ff612f05c64e04"/>
              </a:rPr>
              <a:t>Open interactive demo</a:t>
            </a:r>
          </a:p>
        </p:txBody>
      </p:sp>
    </p:spTree>
    <p:extLst>
      <p:ext uri="{BB962C8B-B14F-4D97-AF65-F5344CB8AC3E}">
        <p14:creationId xmlns:p14="http://schemas.microsoft.com/office/powerpoint/2010/main" val="4911580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670ff29241740c0"/>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Visual features">
            <a:extLst xmlns:a="http://schemas.openxmlformats.org/drawingml/2006/main">
              <a:ext uri="{FF2B5EF4-FFF2-40B4-BE49-F238E27FC236}">
                <a16:creationId xmlns:a16="http://schemas.microsoft.com/office/drawing/2014/main" id="{D1D3AF8D-6A2B-4FDC-B2EB-FECEB31DDFA2}"/>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Visual features</a:t>
            </a:r>
          </a:p>
        </p:txBody>
      </p:sp>
      <p:sp>
        <p:nvSpPr>
          <p:cNvPr id="3" name="8">
            <a:extLst xmlns:a="http://schemas.openxmlformats.org/drawingml/2006/main">
              <a:ext uri="{FF2B5EF4-FFF2-40B4-BE49-F238E27FC236}">
                <a16:creationId xmlns:a16="http://schemas.microsoft.com/office/drawing/2014/main" id="{FC6216B6-FC48-4C48-965B-74C15C5DEF1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8</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40723a6e8764f4d"/>
          <a:stretch xmlns:a="http://schemas.openxmlformats.org/drawingml/2006/main"/>
        </p:blipFill>
        <p:spPr>
          <a:xfrm xmlns:a="http://schemas.openxmlformats.org/drawingml/2006/main">
            <a:off x="945356" y="1400175"/>
            <a:ext cx="4386263" cy="2924175"/>
          </a:xfrm>
          <a:prstGeom xmlns:a="http://schemas.openxmlformats.org/drawingml/2006/main" prst="rect">
            <a:avLst/>
          </a:prstGeom>
        </p:spPr>
      </p:pic>
      <p:sp>
        <p:nvSpPr>
          <p:cNvPr id="5" name="Corners vary in more than one image direction.&#10;&#10;A track links the">
            <a:extLst xmlns:a="http://schemas.openxmlformats.org/drawingml/2006/main">
              <a:ext uri="{FF2B5EF4-FFF2-40B4-BE49-F238E27FC236}">
                <a16:creationId xmlns:a16="http://schemas.microsoft.com/office/drawing/2014/main" id="{285BD169-278B-4C6C-99C1-080873C8BFAF}"/>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Corners vary in more than one image direction.</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 track links the same image detail across time.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Depth and geometry decide whether it becomes a landmark.</a:t>
            </a:r>
          </a:p>
        </p:txBody>
      </p:sp>
    </p:spTree>
    <p:extLst>
      <p:ext uri="{BB962C8B-B14F-4D97-AF65-F5344CB8AC3E}">
        <p14:creationId xmlns:p14="http://schemas.microsoft.com/office/powerpoint/2010/main" val="14474013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6aa86d008814c4f"/>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Tracking across video frames">
            <a:extLst xmlns:a="http://schemas.openxmlformats.org/drawingml/2006/main">
              <a:ext uri="{FF2B5EF4-FFF2-40B4-BE49-F238E27FC236}">
                <a16:creationId xmlns:a16="http://schemas.microsoft.com/office/drawing/2014/main" id="{D3C976B0-148A-4F4D-998C-882268998CE5}"/>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Tracking across video frames</a:t>
            </a:r>
          </a:p>
        </p:txBody>
      </p:sp>
      <p:sp>
        <p:nvSpPr>
          <p:cNvPr id="3" name="9">
            <a:extLst xmlns:a="http://schemas.openxmlformats.org/drawingml/2006/main">
              <a:ext uri="{FF2B5EF4-FFF2-40B4-BE49-F238E27FC236}">
                <a16:creationId xmlns:a16="http://schemas.microsoft.com/office/drawing/2014/main" id="{A51F89A6-97EB-4288-9B20-E13494C86E29}"/>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2c55c53b8f74999"/>
          <a:stretch xmlns:a="http://schemas.openxmlformats.org/drawingml/2006/main"/>
        </p:blipFill>
        <p:spPr>
          <a:xfrm xmlns:a="http://schemas.openxmlformats.org/drawingml/2006/main">
            <a:off x="1138238" y="1400175"/>
            <a:ext cx="4000500" cy="2667000"/>
          </a:xfrm>
          <a:prstGeom xmlns:a="http://schemas.openxmlformats.org/drawingml/2006/main" prst="rect">
            <a:avLst/>
          </a:prstGeom>
        </p:spPr>
      </p:pic>
      <p:sp>
        <p:nvSpPr>
          <p:cNvPr id="5" name="Green tracks contribute to pose estimation.&#10;&#10;Orange tracks remain">
            <a:extLst xmlns:a="http://schemas.openxmlformats.org/drawingml/2006/main">
              <a:ext uri="{FF2B5EF4-FFF2-40B4-BE49-F238E27FC236}">
                <a16:creationId xmlns:a16="http://schemas.microsoft.com/office/drawing/2014/main" id="{BD01C7AE-8572-40BD-A4A5-B8AE05BEC963}"/>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Green tracks contribute to pose estimation.</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Orange tracks remain unused for the current pose.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Track identity connects an observation to a 3D landmark.</a:t>
            </a:r>
          </a:p>
        </p:txBody>
      </p:sp>
      <p:sp>
        <p:nvSpPr>
          <p:cNvPr id="6" name="Open interactive demo">
            <a:extLst xmlns:a="http://schemas.openxmlformats.org/drawingml/2006/main">
              <a:ext uri="{FF2B5EF4-FFF2-40B4-BE49-F238E27FC236}">
                <a16:creationId xmlns:a16="http://schemas.microsoft.com/office/drawing/2014/main" id="{ACF12E18-320F-4B29-A6E5-8C08CA6987C0}"/>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a56a0964d71c4893"/>
              </a:rPr>
              <a:t>Open interactive demo</a:t>
            </a:r>
          </a:p>
        </p:txBody>
      </p:sp>
    </p:spTree>
    <p:extLst>
      <p:ext uri="{BB962C8B-B14F-4D97-AF65-F5344CB8AC3E}">
        <p14:creationId xmlns:p14="http://schemas.microsoft.com/office/powerpoint/2010/main" val="3925902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e2ab02a0b6b4fce"/>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Robust correspondence checks">
            <a:extLst xmlns:a="http://schemas.openxmlformats.org/drawingml/2006/main">
              <a:ext uri="{FF2B5EF4-FFF2-40B4-BE49-F238E27FC236}">
                <a16:creationId xmlns:a16="http://schemas.microsoft.com/office/drawing/2014/main" id="{00F60A8F-4966-4F56-8AB5-8C4671EA3541}"/>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Robust correspondence checks</a:t>
            </a:r>
          </a:p>
        </p:txBody>
      </p:sp>
      <p:sp>
        <p:nvSpPr>
          <p:cNvPr id="3" name="10">
            <a:extLst xmlns:a="http://schemas.openxmlformats.org/drawingml/2006/main">
              <a:ext uri="{FF2B5EF4-FFF2-40B4-BE49-F238E27FC236}">
                <a16:creationId xmlns:a16="http://schemas.microsoft.com/office/drawing/2014/main" id="{972C3C21-2A84-4A2F-BFD6-2B6ECC6DCA23}"/>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30db70ae67f4a10"/>
          <a:stretch xmlns:a="http://schemas.openxmlformats.org/drawingml/2006/main"/>
        </p:blipFill>
        <p:spPr>
          <a:xfrm xmlns:a="http://schemas.openxmlformats.org/drawingml/2006/main">
            <a:off x="1138238" y="1400175"/>
            <a:ext cx="4000500" cy="2667000"/>
          </a:xfrm>
          <a:prstGeom xmlns:a="http://schemas.openxmlformats.org/drawingml/2006/main" prst="rect">
            <a:avLst/>
          </a:prstGeom>
        </p:spPr>
      </p:pic>
      <p:sp>
        <p:nvSpPr>
          <p:cNvPr id="5" name="Tracking consistency removes unreliable image matches.&#10;&#10;RANSAC fi">
            <a:extLst xmlns:a="http://schemas.openxmlformats.org/drawingml/2006/main">
              <a:ext uri="{FF2B5EF4-FFF2-40B4-BE49-F238E27FC236}">
                <a16:creationId xmlns:a16="http://schemas.microsoft.com/office/drawing/2014/main" id="{F692C97B-B2F8-4A06-B70C-587EB3497658}"/>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Tracking consistency removes unreliable image matches.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RANSAC finds a pose supported by many mapped observations.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Reprojection error tests the agreement with that pose.</a:t>
            </a:r>
          </a:p>
        </p:txBody>
      </p:sp>
      <p:sp>
        <p:nvSpPr>
          <p:cNvPr id="6" name="Open interactive demo">
            <a:extLst xmlns:a="http://schemas.openxmlformats.org/drawingml/2006/main">
              <a:ext uri="{FF2B5EF4-FFF2-40B4-BE49-F238E27FC236}">
                <a16:creationId xmlns:a16="http://schemas.microsoft.com/office/drawing/2014/main" id="{1FDB5B00-43FB-4377-9E8D-C27BB6EC83BA}"/>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78d361c273174571"/>
              </a:rPr>
              <a:t>Open interactive demo</a:t>
            </a:r>
          </a:p>
        </p:txBody>
      </p:sp>
    </p:spTree>
    <p:extLst>
      <p:ext uri="{BB962C8B-B14F-4D97-AF65-F5344CB8AC3E}">
        <p14:creationId xmlns:p14="http://schemas.microsoft.com/office/powerpoint/2010/main" val="16433004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1ba34f2d8164760"/>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The camera projection model">
            <a:extLst xmlns:a="http://schemas.openxmlformats.org/drawingml/2006/main">
              <a:ext uri="{FF2B5EF4-FFF2-40B4-BE49-F238E27FC236}">
                <a16:creationId xmlns:a16="http://schemas.microsoft.com/office/drawing/2014/main" id="{5B27A2AB-FB61-45A4-8C59-7B38B2197655}"/>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camera projection model</a:t>
            </a:r>
          </a:p>
        </p:txBody>
      </p:sp>
      <p:sp>
        <p:nvSpPr>
          <p:cNvPr id="3" name="11">
            <a:extLst xmlns:a="http://schemas.openxmlformats.org/drawingml/2006/main">
              <a:ext uri="{FF2B5EF4-FFF2-40B4-BE49-F238E27FC236}">
                <a16:creationId xmlns:a16="http://schemas.microsoft.com/office/drawing/2014/main" id="{0E4D3A9E-CF69-4B92-B1D8-2AEB5514841E}"/>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11</a:t>
            </a:r>
          </a:p>
        </p:txBody>
      </p:sp>
      <p:sp>
        <p:nvSpPr>
          <p:cNvPr id="4" name="X_camera = R_camera,world X_world + t">
            <a:extLst xmlns:a="http://schemas.openxmlformats.org/drawingml/2006/main">
              <a:ext uri="{FF2B5EF4-FFF2-40B4-BE49-F238E27FC236}">
                <a16:creationId xmlns:a16="http://schemas.microsoft.com/office/drawing/2014/main" id="{C84DFFA7-2B7D-4F50-93BE-E199B5D4F1E6}"/>
              </a:ext>
            </a:extLst>
          </p:cNvPr>
          <p:cNvSpPr>
            <a:spLocks xmlns:a="http://schemas.openxmlformats.org/drawingml/2006/main" noGrp="1"/>
          </p:cNvSpPr>
          <p:nvPr/>
        </p:nvSpPr>
        <p:spPr>
          <a:xfrm xmlns:a="http://schemas.openxmlformats.org/drawingml/2006/main">
            <a:off x="714375" y="147637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X_camera = R_camera,world X_world + t</a:t>
            </a:r>
          </a:p>
        </p:txBody>
      </p:sp>
      <p:sp>
        <p:nvSpPr>
          <p:cNvPr id="5" name="u = f_x X / Z + c_x">
            <a:extLst xmlns:a="http://schemas.openxmlformats.org/drawingml/2006/main">
              <a:ext uri="{FF2B5EF4-FFF2-40B4-BE49-F238E27FC236}">
                <a16:creationId xmlns:a16="http://schemas.microsoft.com/office/drawing/2014/main" id="{F4FE04EC-BD84-4623-9F22-BE314BF6FD18}"/>
              </a:ext>
            </a:extLst>
          </p:cNvPr>
          <p:cNvSpPr>
            <a:spLocks xmlns:a="http://schemas.openxmlformats.org/drawingml/2006/main" noGrp="1"/>
          </p:cNvSpPr>
          <p:nvPr/>
        </p:nvSpPr>
        <p:spPr>
          <a:xfrm xmlns:a="http://schemas.openxmlformats.org/drawingml/2006/main">
            <a:off x="714375" y="2127250"/>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u = f_x X / Z + c_x</a:t>
            </a:r>
          </a:p>
        </p:txBody>
      </p:sp>
      <p:sp>
        <p:nvSpPr>
          <p:cNvPr id="6" name="v = f_y Y / Z + c_y">
            <a:extLst xmlns:a="http://schemas.openxmlformats.org/drawingml/2006/main">
              <a:ext uri="{FF2B5EF4-FFF2-40B4-BE49-F238E27FC236}">
                <a16:creationId xmlns:a16="http://schemas.microsoft.com/office/drawing/2014/main" id="{CDFC7C5E-5B5F-459B-B1FC-D2FE355E9237}"/>
              </a:ext>
            </a:extLst>
          </p:cNvPr>
          <p:cNvSpPr>
            <a:spLocks xmlns:a="http://schemas.openxmlformats.org/drawingml/2006/main" noGrp="1"/>
          </p:cNvSpPr>
          <p:nvPr/>
        </p:nvSpPr>
        <p:spPr>
          <a:xfrm xmlns:a="http://schemas.openxmlformats.org/drawingml/2006/main">
            <a:off x="714375" y="277812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v = f_y Y / Z + c_y</a:t>
            </a:r>
          </a:p>
        </p:txBody>
      </p:sp>
      <p:sp>
        <p:nvSpPr>
          <p:cNvPr id="7" name="A 3D landmark predicts a pixel at a candidate camera pose.&#10;Depth ">
            <a:extLst xmlns:a="http://schemas.openxmlformats.org/drawingml/2006/main">
              <a:ext uri="{FF2B5EF4-FFF2-40B4-BE49-F238E27FC236}">
                <a16:creationId xmlns:a16="http://schemas.microsoft.com/office/drawing/2014/main" id="{D4EA0387-4206-449C-AC3E-14D42B0B1DCF}"/>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A 3D landmark predicts a pixel at a candidate camera pose.</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Depth disappears in projection, so one pixel defines a viewing ray.</a:t>
            </a:r>
          </a:p>
        </p:txBody>
      </p:sp>
    </p:spTree>
    <p:extLst>
      <p:ext uri="{BB962C8B-B14F-4D97-AF65-F5344CB8AC3E}">
        <p14:creationId xmlns:p14="http://schemas.microsoft.com/office/powerpoint/2010/main" val="2691496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f9fe0440a204f1b"/>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Parallax and triangulation">
            <a:extLst xmlns:a="http://schemas.openxmlformats.org/drawingml/2006/main">
              <a:ext uri="{FF2B5EF4-FFF2-40B4-BE49-F238E27FC236}">
                <a16:creationId xmlns:a16="http://schemas.microsoft.com/office/drawing/2014/main" id="{1635EE9F-F018-4059-95AA-CD4B9C21194A}"/>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Parallax and triangulation</a:t>
            </a:r>
          </a:p>
        </p:txBody>
      </p:sp>
      <p:sp>
        <p:nvSpPr>
          <p:cNvPr id="3" name="12">
            <a:extLst xmlns:a="http://schemas.openxmlformats.org/drawingml/2006/main">
              <a:ext uri="{FF2B5EF4-FFF2-40B4-BE49-F238E27FC236}">
                <a16:creationId xmlns:a16="http://schemas.microsoft.com/office/drawing/2014/main" id="{9B469A24-B78F-48E3-B575-BD65F78A4E2A}"/>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12</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383d60ede574d2c"/>
          <a:stretch xmlns:a="http://schemas.openxmlformats.org/drawingml/2006/main"/>
        </p:blipFill>
        <p:spPr>
          <a:xfrm xmlns:a="http://schemas.openxmlformats.org/drawingml/2006/main">
            <a:off x="1111594" y="1400175"/>
            <a:ext cx="4053788" cy="2924175"/>
          </a:xfrm>
          <a:prstGeom xmlns:a="http://schemas.openxmlformats.org/drawingml/2006/main" prst="rect">
            <a:avLst/>
          </a:prstGeom>
        </p:spPr>
      </p:pic>
      <p:sp>
        <p:nvSpPr>
          <p:cNvPr id="5" name="Two views of a static point provide two viewing rays.&#10;&#10;Camera tra">
            <a:extLst xmlns:a="http://schemas.openxmlformats.org/drawingml/2006/main">
              <a:ext uri="{FF2B5EF4-FFF2-40B4-BE49-F238E27FC236}">
                <a16:creationId xmlns:a16="http://schemas.microsoft.com/office/drawing/2014/main" id="{839CAC50-2038-44D5-A617-04FAA539DFB3}"/>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Two views of a static point provide two viewing rays.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Camera translation creates parallax between the observations.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Small parallax makes depth sensitive to pixel error.</a:t>
            </a:r>
          </a:p>
        </p:txBody>
      </p:sp>
    </p:spTree>
    <p:extLst>
      <p:ext uri="{BB962C8B-B14F-4D97-AF65-F5344CB8AC3E}">
        <p14:creationId xmlns:p14="http://schemas.microsoft.com/office/powerpoint/2010/main" val="84600922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5a44487f36946ae"/>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Monocular initialization">
            <a:extLst xmlns:a="http://schemas.openxmlformats.org/drawingml/2006/main">
              <a:ext uri="{FF2B5EF4-FFF2-40B4-BE49-F238E27FC236}">
                <a16:creationId xmlns:a16="http://schemas.microsoft.com/office/drawing/2014/main" id="{6D2389E4-23A7-4727-A18E-E79D4A97F41F}"/>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Monocular initialization</a:t>
            </a:r>
          </a:p>
        </p:txBody>
      </p:sp>
      <p:sp>
        <p:nvSpPr>
          <p:cNvPr id="3" name="13">
            <a:extLst xmlns:a="http://schemas.openxmlformats.org/drawingml/2006/main">
              <a:ext uri="{FF2B5EF4-FFF2-40B4-BE49-F238E27FC236}">
                <a16:creationId xmlns:a16="http://schemas.microsoft.com/office/drawing/2014/main" id="{F931DAF4-84FC-4078-8034-409D6E6F109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13</a:t>
            </a:r>
          </a:p>
        </p:txBody>
      </p:sp>
      <p:sp>
        <p:nvSpPr>
          <p:cNvPr id="4" name="x₂ᵀ E x₁ = 0">
            <a:extLst xmlns:a="http://schemas.openxmlformats.org/drawingml/2006/main">
              <a:ext uri="{FF2B5EF4-FFF2-40B4-BE49-F238E27FC236}">
                <a16:creationId xmlns:a16="http://schemas.microsoft.com/office/drawing/2014/main" id="{F22CD6B7-CB97-4B54-A1D2-60BCCEA7450D}"/>
              </a:ext>
            </a:extLst>
          </p:cNvPr>
          <p:cNvSpPr>
            <a:spLocks xmlns:a="http://schemas.openxmlformats.org/drawingml/2006/main" noGrp="1"/>
          </p:cNvSpPr>
          <p:nvPr/>
        </p:nvSpPr>
        <p:spPr>
          <a:xfrm xmlns:a="http://schemas.openxmlformats.org/drawingml/2006/main">
            <a:off x="714375" y="147637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x₂ᵀ E x₁ = 0</a:t>
            </a:r>
          </a:p>
        </p:txBody>
      </p:sp>
      <p:sp>
        <p:nvSpPr>
          <p:cNvPr id="5" name="E = [t]× R">
            <a:extLst xmlns:a="http://schemas.openxmlformats.org/drawingml/2006/main">
              <a:ext uri="{FF2B5EF4-FFF2-40B4-BE49-F238E27FC236}">
                <a16:creationId xmlns:a16="http://schemas.microsoft.com/office/drawing/2014/main" id="{83733D66-1DA5-4ED0-8144-CFB9DB7A0674}"/>
              </a:ext>
            </a:extLst>
          </p:cNvPr>
          <p:cNvSpPr>
            <a:spLocks xmlns:a="http://schemas.openxmlformats.org/drawingml/2006/main" noGrp="1"/>
          </p:cNvSpPr>
          <p:nvPr/>
        </p:nvSpPr>
        <p:spPr>
          <a:xfrm xmlns:a="http://schemas.openxmlformats.org/drawingml/2006/main">
            <a:off x="714375" y="2127250"/>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E = [t]× R</a:t>
            </a:r>
          </a:p>
        </p:txBody>
      </p:sp>
      <p:sp>
        <p:nvSpPr>
          <p:cNvPr id="6" name="Initial baseline length = 1 arbitrary unit">
            <a:extLst xmlns:a="http://schemas.openxmlformats.org/drawingml/2006/main">
              <a:ext uri="{FF2B5EF4-FFF2-40B4-BE49-F238E27FC236}">
                <a16:creationId xmlns:a16="http://schemas.microsoft.com/office/drawing/2014/main" id="{DD9FF207-7B24-4361-851A-FA70BA2C4018}"/>
              </a:ext>
            </a:extLst>
          </p:cNvPr>
          <p:cNvSpPr>
            <a:spLocks xmlns:a="http://schemas.openxmlformats.org/drawingml/2006/main" noGrp="1"/>
          </p:cNvSpPr>
          <p:nvPr/>
        </p:nvSpPr>
        <p:spPr>
          <a:xfrm xmlns:a="http://schemas.openxmlformats.org/drawingml/2006/main">
            <a:off x="714375" y="2778125"/>
            <a:ext cx="7762875"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Initial baseline length = 1 arbitrary unit</a:t>
            </a:r>
          </a:p>
        </p:txBody>
      </p:sp>
      <p:sp>
        <p:nvSpPr>
          <p:cNvPr id="7" name="Estimate relative rotation and translation direction from image m">
            <a:extLst xmlns:a="http://schemas.openxmlformats.org/drawingml/2006/main">
              <a:ext uri="{FF2B5EF4-FFF2-40B4-BE49-F238E27FC236}">
                <a16:creationId xmlns:a16="http://schemas.microsoft.com/office/drawing/2014/main" id="{43E6F884-025E-4AD3-A074-8864C5EB76C5}"/>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Estimate relative rotation and translation direction from image matches.</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Choose an initial baseline as one map unit.</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Triangulate a first set of sparse landmarks.</a:t>
            </a:r>
          </a:p>
        </p:txBody>
      </p:sp>
    </p:spTree>
    <p:extLst>
      <p:ext uri="{BB962C8B-B14F-4D97-AF65-F5344CB8AC3E}">
        <p14:creationId xmlns:p14="http://schemas.microsoft.com/office/powerpoint/2010/main" val="11665233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71d5ee30e9d40be"/>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Pose estimation against a visual map">
            <a:extLst xmlns:a="http://schemas.openxmlformats.org/drawingml/2006/main">
              <a:ext uri="{FF2B5EF4-FFF2-40B4-BE49-F238E27FC236}">
                <a16:creationId xmlns:a16="http://schemas.microsoft.com/office/drawing/2014/main" id="{15674A37-B304-4875-A207-C5A7E7CAF742}"/>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Pose estimation against a visual map</a:t>
            </a:r>
          </a:p>
        </p:txBody>
      </p:sp>
      <p:sp>
        <p:nvSpPr>
          <p:cNvPr id="3" name="14">
            <a:extLst xmlns:a="http://schemas.openxmlformats.org/drawingml/2006/main">
              <a:ext uri="{FF2B5EF4-FFF2-40B4-BE49-F238E27FC236}">
                <a16:creationId xmlns:a16="http://schemas.microsoft.com/office/drawing/2014/main" id="{6C32A3D4-5446-4C26-9638-B5431AA8418B}"/>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14</a:t>
            </a:r>
          </a:p>
        </p:txBody>
      </p:sp>
      <p:sp>
        <p:nvSpPr>
          <p:cNvPr id="4" name="r_ij = u_ij − π(K, T_camera,world X_j)">
            <a:extLst xmlns:a="http://schemas.openxmlformats.org/drawingml/2006/main">
              <a:ext uri="{FF2B5EF4-FFF2-40B4-BE49-F238E27FC236}">
                <a16:creationId xmlns:a16="http://schemas.microsoft.com/office/drawing/2014/main" id="{346A74F3-9C76-4CD2-9912-F4F8FB136B98}"/>
              </a:ext>
            </a:extLst>
          </p:cNvPr>
          <p:cNvSpPr>
            <a:spLocks xmlns:a="http://schemas.openxmlformats.org/drawingml/2006/main" noGrp="1"/>
          </p:cNvSpPr>
          <p:nvPr/>
        </p:nvSpPr>
        <p:spPr>
          <a:xfrm xmlns:a="http://schemas.openxmlformats.org/drawingml/2006/main">
            <a:off x="714375" y="1476375"/>
            <a:ext cx="7762875" cy="1071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r_ij = u_ij − π(K, T_camera,world X_j)</a:t>
            </a:r>
          </a:p>
        </p:txBody>
      </p:sp>
      <p:sp>
        <p:nvSpPr>
          <p:cNvPr id="5" name="Pose update minimizes Σ ρ(‖r_ij‖²)">
            <a:extLst xmlns:a="http://schemas.openxmlformats.org/drawingml/2006/main">
              <a:ext uri="{FF2B5EF4-FFF2-40B4-BE49-F238E27FC236}">
                <a16:creationId xmlns:a16="http://schemas.microsoft.com/office/drawing/2014/main" id="{992E1956-D7D4-435B-82C3-998D35102083}"/>
              </a:ext>
            </a:extLst>
          </p:cNvPr>
          <p:cNvSpPr>
            <a:spLocks xmlns:a="http://schemas.openxmlformats.org/drawingml/2006/main" noGrp="1"/>
          </p:cNvSpPr>
          <p:nvPr/>
        </p:nvSpPr>
        <p:spPr>
          <a:xfrm xmlns:a="http://schemas.openxmlformats.org/drawingml/2006/main">
            <a:off x="714375" y="2547938"/>
            <a:ext cx="7762875" cy="1071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Pose update minimizes Σ ρ(‖r_ij‖²)</a:t>
            </a:r>
          </a:p>
        </p:txBody>
      </p:sp>
      <p:sp>
        <p:nvSpPr>
          <p:cNvPr id="6" name="Mapped 3D landmarks supply correspondences to current pixels.&#10;PnP">
            <a:extLst xmlns:a="http://schemas.openxmlformats.org/drawingml/2006/main">
              <a:ext uri="{FF2B5EF4-FFF2-40B4-BE49-F238E27FC236}">
                <a16:creationId xmlns:a16="http://schemas.microsoft.com/office/drawing/2014/main" id="{33D390FA-B2A4-4C72-8F95-7F5770659EFD}"/>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Mapped 3D landmarks supply correspondences to current pixels.</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PnP estimates the camera pose.</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Only geometrically consistent inliers constrain the update.</a:t>
            </a:r>
          </a:p>
        </p:txBody>
      </p:sp>
    </p:spTree>
    <p:extLst>
      <p:ext uri="{BB962C8B-B14F-4D97-AF65-F5344CB8AC3E}">
        <p14:creationId xmlns:p14="http://schemas.microsoft.com/office/powerpoint/2010/main" val="56462430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16bd282448a4ea2"/>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Keyframes and new map points">
            <a:extLst xmlns:a="http://schemas.openxmlformats.org/drawingml/2006/main">
              <a:ext uri="{FF2B5EF4-FFF2-40B4-BE49-F238E27FC236}">
                <a16:creationId xmlns:a16="http://schemas.microsoft.com/office/drawing/2014/main" id="{59622C90-83A3-4F15-9BCD-3D870A0CC92D}"/>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Keyframes and new map points</a:t>
            </a:r>
          </a:p>
        </p:txBody>
      </p:sp>
      <p:sp>
        <p:nvSpPr>
          <p:cNvPr id="3" name="15">
            <a:extLst xmlns:a="http://schemas.openxmlformats.org/drawingml/2006/main">
              <a:ext uri="{FF2B5EF4-FFF2-40B4-BE49-F238E27FC236}">
                <a16:creationId xmlns:a16="http://schemas.microsoft.com/office/drawing/2014/main" id="{BA50354C-76D7-4752-8E2D-7D173EFDADF4}"/>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22d256677f242c4"/>
          <a:stretch xmlns:a="http://schemas.openxmlformats.org/drawingml/2006/main"/>
        </p:blipFill>
        <p:spPr>
          <a:xfrm xmlns:a="http://schemas.openxmlformats.org/drawingml/2006/main">
            <a:off x="495300" y="1464595"/>
            <a:ext cx="5286375" cy="2538160"/>
          </a:xfrm>
          <a:prstGeom xmlns:a="http://schemas.openxmlformats.org/drawingml/2006/main" prst="rect">
            <a:avLst/>
          </a:prstGeom>
        </p:spPr>
      </p:pic>
      <p:sp>
        <p:nvSpPr>
          <p:cNvPr id="5" name="Keyframes preserve useful views of the scene.&#10;&#10;New observations n">
            <a:extLst xmlns:a="http://schemas.openxmlformats.org/drawingml/2006/main">
              <a:ext uri="{FF2B5EF4-FFF2-40B4-BE49-F238E27FC236}">
                <a16:creationId xmlns:a16="http://schemas.microsoft.com/office/drawing/2014/main" id="{D13A7A0B-D63E-4BEB-B87C-9E533AF3F84A}"/>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Keyframes preserve useful views of the scene.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New observations need sufficient baseline before triangulation.</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Repeated observations allow a landmark to support later poses.</a:t>
            </a:r>
          </a:p>
        </p:txBody>
      </p:sp>
      <p:sp>
        <p:nvSpPr>
          <p:cNvPr id="6" name="Open interactive demo">
            <a:extLst xmlns:a="http://schemas.openxmlformats.org/drawingml/2006/main">
              <a:ext uri="{FF2B5EF4-FFF2-40B4-BE49-F238E27FC236}">
                <a16:creationId xmlns:a16="http://schemas.microsoft.com/office/drawing/2014/main" id="{A280D5CC-4A23-4706-8B50-6328DF8F07D0}"/>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95bbfc79d01b404a"/>
              </a:rPr>
              <a:t>Open interactive demo</a:t>
            </a:r>
          </a:p>
        </p:txBody>
      </p:sp>
    </p:spTree>
    <p:extLst>
      <p:ext uri="{BB962C8B-B14F-4D97-AF65-F5344CB8AC3E}">
        <p14:creationId xmlns:p14="http://schemas.microsoft.com/office/powerpoint/2010/main" val="14647437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6c4aaed3ef84598"/>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Bundle adjustment">
            <a:extLst xmlns:a="http://schemas.openxmlformats.org/drawingml/2006/main">
              <a:ext uri="{FF2B5EF4-FFF2-40B4-BE49-F238E27FC236}">
                <a16:creationId xmlns:a16="http://schemas.microsoft.com/office/drawing/2014/main" id="{112EE658-8E7C-4499-B2D3-CDF1AFD42808}"/>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Bundle adjustment</a:t>
            </a:r>
          </a:p>
        </p:txBody>
      </p:sp>
      <p:sp>
        <p:nvSpPr>
          <p:cNvPr id="3" name="16">
            <a:extLst xmlns:a="http://schemas.openxmlformats.org/drawingml/2006/main">
              <a:ext uri="{FF2B5EF4-FFF2-40B4-BE49-F238E27FC236}">
                <a16:creationId xmlns:a16="http://schemas.microsoft.com/office/drawing/2014/main" id="{162FD455-2EFE-4E30-9320-638E5D54C83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16</a:t>
            </a:r>
          </a:p>
        </p:txBody>
      </p:sp>
      <p:sp>
        <p:nvSpPr>
          <p:cNvPr id="4" name="min over {T_i, X_j}  Σ_(i,j) ρ(‖u_ij − π(K,T_i X_j)‖²)">
            <a:extLst xmlns:a="http://schemas.openxmlformats.org/drawingml/2006/main">
              <a:ext uri="{FF2B5EF4-FFF2-40B4-BE49-F238E27FC236}">
                <a16:creationId xmlns:a16="http://schemas.microsoft.com/office/drawing/2014/main" id="{E9E3C077-F39A-482E-9B83-6C4AB0CF9B95}"/>
              </a:ext>
            </a:extLst>
          </p:cNvPr>
          <p:cNvSpPr>
            <a:spLocks xmlns:a="http://schemas.openxmlformats.org/drawingml/2006/main" noGrp="1"/>
          </p:cNvSpPr>
          <p:nvPr/>
        </p:nvSpPr>
        <p:spPr>
          <a:xfrm xmlns:a="http://schemas.openxmlformats.org/drawingml/2006/main">
            <a:off x="714375" y="1476375"/>
            <a:ext cx="7762875" cy="1071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1">
                <a:solidFill>
                  <a:srgbClr val="00539F"/>
                </a:solidFill>
                <a:latin typeface="Arial"/>
                <a:ea typeface="Arial"/>
                <a:cs typeface="Arial"/>
              </a:defRPr>
            </a:pPr>
            <a:r>
              <a:rPr sz="2100" b="1">
                <a:solidFill>
                  <a:srgbClr val="00539F"/>
                </a:solidFill>
                <a:latin typeface="Arial"/>
                <a:ea typeface="Arial"/>
                <a:cs typeface="Arial"/>
              </a:rPr>
              <a:t>min over {T_i, X_j}  Σ_(i,j) ρ(‖u_ij − π(K,T_i X_j)‖²)</a:t>
            </a:r>
          </a:p>
        </p:txBody>
      </p:sp>
      <p:sp>
        <p:nvSpPr>
          <p:cNvPr id="5" name="Unknowns: camera poses and 3D landmarks">
            <a:extLst xmlns:a="http://schemas.openxmlformats.org/drawingml/2006/main">
              <a:ext uri="{FF2B5EF4-FFF2-40B4-BE49-F238E27FC236}">
                <a16:creationId xmlns:a16="http://schemas.microsoft.com/office/drawing/2014/main" id="{87456114-7C3F-4C39-81B6-85825B4F7C81}"/>
              </a:ext>
            </a:extLst>
          </p:cNvPr>
          <p:cNvSpPr>
            <a:spLocks xmlns:a="http://schemas.openxmlformats.org/drawingml/2006/main" noGrp="1"/>
          </p:cNvSpPr>
          <p:nvPr/>
        </p:nvSpPr>
        <p:spPr>
          <a:xfrm xmlns:a="http://schemas.openxmlformats.org/drawingml/2006/main">
            <a:off x="714375" y="2547938"/>
            <a:ext cx="7762875" cy="1071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Unknowns: camera poses and 3D landmarks</a:t>
            </a:r>
          </a:p>
        </p:txBody>
      </p:sp>
      <p:sp>
        <p:nvSpPr>
          <p:cNvPr id="6" name="Optimize camera poses and landmark positions together.&#10;Use repeat">
            <a:extLst xmlns:a="http://schemas.openxmlformats.org/drawingml/2006/main">
              <a:ext uri="{FF2B5EF4-FFF2-40B4-BE49-F238E27FC236}">
                <a16:creationId xmlns:a16="http://schemas.microsoft.com/office/drawing/2014/main" id="{811A06DA-B91C-42EA-8221-CFE437936928}"/>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Optimize camera poses and landmark positions together.</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Use repeated observations to reduce reprojection error.</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Fix the coordinate gauge so the solution is well defined.</a:t>
            </a:r>
          </a:p>
        </p:txBody>
      </p:sp>
    </p:spTree>
    <p:extLst>
      <p:ext uri="{BB962C8B-B14F-4D97-AF65-F5344CB8AC3E}">
        <p14:creationId xmlns:p14="http://schemas.microsoft.com/office/powerpoint/2010/main" val="510671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506957dd82044b2"/>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Drift and loop closure">
            <a:extLst xmlns:a="http://schemas.openxmlformats.org/drawingml/2006/main">
              <a:ext uri="{FF2B5EF4-FFF2-40B4-BE49-F238E27FC236}">
                <a16:creationId xmlns:a16="http://schemas.microsoft.com/office/drawing/2014/main" id="{DF24869E-BEB8-42AA-BFF0-48D48D3EA5DE}"/>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Drift and loop closure</a:t>
            </a:r>
          </a:p>
        </p:txBody>
      </p:sp>
      <p:sp>
        <p:nvSpPr>
          <p:cNvPr id="3" name="17">
            <a:extLst xmlns:a="http://schemas.openxmlformats.org/drawingml/2006/main">
              <a:ext uri="{FF2B5EF4-FFF2-40B4-BE49-F238E27FC236}">
                <a16:creationId xmlns:a16="http://schemas.microsoft.com/office/drawing/2014/main" id="{03C8953A-E3FA-4C07-A5C0-7D13560856E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17</a:t>
            </a:r>
          </a:p>
        </p:txBody>
      </p:sp>
      <p:sp>
        <p:nvSpPr>
          <p:cNvPr id="4" name="Small local estimation errors accumulate over a trajectory.">
            <a:extLst xmlns:a="http://schemas.openxmlformats.org/drawingml/2006/main">
              <a:ext uri="{FF2B5EF4-FFF2-40B4-BE49-F238E27FC236}">
                <a16:creationId xmlns:a16="http://schemas.microsoft.com/office/drawing/2014/main" id="{73D2C8D0-E171-4280-A82E-4A9967A6FE65}"/>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Small local estimation errors accumulate over a trajectory.</a:t>
            </a:r>
          </a:p>
        </p:txBody>
      </p:sp>
      <p:sp>
        <p:nvSpPr>
          <p:cNvPr id="5" name="Place recognition proposes an earlier location.">
            <a:extLst xmlns:a="http://schemas.openxmlformats.org/drawingml/2006/main">
              <a:ext uri="{FF2B5EF4-FFF2-40B4-BE49-F238E27FC236}">
                <a16:creationId xmlns:a16="http://schemas.microsoft.com/office/drawing/2014/main" id="{93C87B7C-EE2F-4CBD-A0F8-7596503B06B1}"/>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Place recognition proposes an earlier location.</a:t>
            </a:r>
          </a:p>
        </p:txBody>
      </p:sp>
      <p:sp>
        <p:nvSpPr>
          <p:cNvPr id="6" name="Geometric verification supplies a loop constraint for correction.">
            <a:extLst xmlns:a="http://schemas.openxmlformats.org/drawingml/2006/main">
              <a:ext uri="{FF2B5EF4-FFF2-40B4-BE49-F238E27FC236}">
                <a16:creationId xmlns:a16="http://schemas.microsoft.com/office/drawing/2014/main" id="{02D8CF8E-5610-41E1-AA09-425DCEF46E99}"/>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Geometric verification supplies a loop constraint for correction.</a:t>
            </a:r>
          </a:p>
        </p:txBody>
      </p:sp>
    </p:spTree>
    <p:extLst>
      <p:ext uri="{BB962C8B-B14F-4D97-AF65-F5344CB8AC3E}">
        <p14:creationId xmlns:p14="http://schemas.microsoft.com/office/powerpoint/2010/main" val="15668070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d28e8ba06f53424b"/>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Scale in visual mapping">
            <a:extLst xmlns:a="http://schemas.openxmlformats.org/drawingml/2006/main">
              <a:ext uri="{FF2B5EF4-FFF2-40B4-BE49-F238E27FC236}">
                <a16:creationId xmlns:a16="http://schemas.microsoft.com/office/drawing/2014/main" id="{8ABF905B-EC9F-460A-A6DF-5452C5C2DEC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Scale in visual mapping</a:t>
            </a:r>
          </a:p>
        </p:txBody>
      </p:sp>
      <p:sp>
        <p:nvSpPr>
          <p:cNvPr id="3" name="18">
            <a:extLst xmlns:a="http://schemas.openxmlformats.org/drawingml/2006/main">
              <a:ext uri="{FF2B5EF4-FFF2-40B4-BE49-F238E27FC236}">
                <a16:creationId xmlns:a16="http://schemas.microsoft.com/office/drawing/2014/main" id="{AFA2D65C-6E68-40E0-85F1-1AF311DCB71E}"/>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18</a:t>
            </a:r>
          </a:p>
        </p:txBody>
      </p:sp>
      <p:graphicFrame>
        <p:nvGraphicFramePr>
          <p:cNvPr id="8" name=""/>
          <p:cNvGraphicFramePr/>
          <p:nvPr/>
        </p:nvGraphicFramePr>
        <p:xfrm>
          <a:off xmlns:a="http://schemas.openxmlformats.org/drawingml/2006/main" x="523875" y="1438275"/>
          <a:ext xmlns:a="http://schemas.openxmlformats.org/drawingml/2006/main" cx="8096250" cy="2952750"/>
        </p:xfrm>
        <a:graphic xmlns:a="http://schemas.openxmlformats.org/drawingml/2006/main">
          <a:graphicData uri="http://schemas.openxmlformats.org/drawingml/2006/table">
            <a:tbl>
              <a:tblPr/>
              <a:tblGrid>
                <a:gridCol w="2095500"/>
                <a:gridCol w="3000375"/>
                <a:gridCol w="3000375"/>
              </a:tblGrid>
              <a:tr h="590550">
                <a:tc>
                  <a:txBody>
                    <a:bodyPr lIns="114300" tIns="85725" rIns="114300" bIns="85725">
                      <a:noAutofit/>
                    </a:bodyPr>
                    <a:lstStyle/>
                    <a:p>
                      <a:r>
                        <a:rPr sz="1350" b="1">
                          <a:solidFill>
                            <a:srgbClr val="FFFFFF"/>
                          </a:solidFill>
                          <a:latin typeface="Arial"/>
                          <a:ea typeface="Arial"/>
                          <a:cs typeface="Arial"/>
                        </a:rPr>
                        <a:t>Sensor configuration</a:t>
                      </a:r>
                    </a:p>
                  </a:txBody>
                  <a:tcPr marL="91440" marR="91440" marT="45720" marB="45720" anchor="ctr">
                    <a:solidFill>
                      <a:srgbClr val="00539F"/>
                    </a:solidFill>
                  </a:tcPr>
                </a:tc>
                <a:tc>
                  <a:txBody>
                    <a:bodyPr lIns="114300" tIns="85725" rIns="114300" bIns="85725">
                      <a:noAutofit/>
                    </a:bodyPr>
                    <a:lstStyle/>
                    <a:p>
                      <a:r>
                        <a:rPr sz="1350" b="1">
                          <a:solidFill>
                            <a:srgbClr val="FFFFFF"/>
                          </a:solidFill>
                          <a:latin typeface="Arial"/>
                          <a:ea typeface="Arial"/>
                          <a:cs typeface="Arial"/>
                        </a:rPr>
                        <a:t>Depth / scale cue</a:t>
                      </a:r>
                    </a:p>
                  </a:txBody>
                  <a:tcPr marL="91440" marR="91440" marT="45720" marB="45720" anchor="ctr">
                    <a:solidFill>
                      <a:srgbClr val="00539F"/>
                    </a:solidFill>
                  </a:tcPr>
                </a:tc>
                <a:tc>
                  <a:txBody>
                    <a:bodyPr lIns="114300" tIns="85725" rIns="114300" bIns="85725">
                      <a:noAutofit/>
                    </a:bodyPr>
                    <a:lstStyle/>
                    <a:p>
                      <a:r>
                        <a:rPr sz="1350" b="1">
                          <a:solidFill>
                            <a:srgbClr val="FFFFFF"/>
                          </a:solidFill>
                          <a:latin typeface="Arial"/>
                          <a:ea typeface="Arial"/>
                          <a:cs typeface="Arial"/>
                        </a:rPr>
                        <a:t>Main limitation</a:t>
                      </a:r>
                    </a:p>
                  </a:txBody>
                  <a:tcPr marL="91440" marR="91440" marT="45720" marB="45720" anchor="ctr">
                    <a:solidFill>
                      <a:srgbClr val="00539F"/>
                    </a:solidFill>
                  </a:tcPr>
                </a:tc>
              </a:tr>
              <a:tr h="590550">
                <a:tc>
                  <a:txBody>
                    <a:bodyPr lIns="114300" tIns="85725" rIns="114300" bIns="85725">
                      <a:noAutofit/>
                    </a:bodyPr>
                    <a:lstStyle/>
                    <a:p>
                      <a:r>
                        <a:rPr sz="1350" b="0">
                          <a:solidFill>
                            <a:srgbClr val="17324D"/>
                          </a:solidFill>
                          <a:latin typeface="Arial"/>
                          <a:ea typeface="Arial"/>
                          <a:cs typeface="Arial"/>
                        </a:rPr>
                        <a:t>Monocular camera</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Motion and parallax</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Unknown metric scale</a:t>
                      </a:r>
                    </a:p>
                  </a:txBody>
                  <a:tcPr marL="91440" marR="91440" marT="45720" marB="45720" anchor="ctr">
                    <a:solidFill>
                      <a:srgbClr val="FFFFFF"/>
                    </a:solidFill>
                  </a:tcPr>
                </a:tc>
              </a:tr>
              <a:tr h="590550">
                <a:tc>
                  <a:txBody>
                    <a:bodyPr lIns="114300" tIns="85725" rIns="114300" bIns="85725">
                      <a:noAutofit/>
                    </a:bodyPr>
                    <a:lstStyle/>
                    <a:p>
                      <a:r>
                        <a:rPr sz="1350" b="0">
                          <a:solidFill>
                            <a:srgbClr val="17324D"/>
                          </a:solidFill>
                          <a:latin typeface="Arial"/>
                          <a:ea typeface="Arial"/>
                          <a:cs typeface="Arial"/>
                        </a:rPr>
                        <a:t>Stereo cameras</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Known camera baseline</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Depth weak at long range</a:t>
                      </a:r>
                    </a:p>
                  </a:txBody>
                  <a:tcPr marL="91440" marR="91440" marT="45720" marB="45720" anchor="ctr">
                    <a:solidFill>
                      <a:srgbClr val="F1F6FA"/>
                    </a:solidFill>
                  </a:tcPr>
                </a:tc>
              </a:tr>
              <a:tr h="590550">
                <a:tc>
                  <a:txBody>
                    <a:bodyPr lIns="114300" tIns="85725" rIns="114300" bIns="85725">
                      <a:noAutofit/>
                    </a:bodyPr>
                    <a:lstStyle/>
                    <a:p>
                      <a:r>
                        <a:rPr sz="1350" b="0">
                          <a:solidFill>
                            <a:srgbClr val="17324D"/>
                          </a:solidFill>
                          <a:latin typeface="Arial"/>
                          <a:ea typeface="Arial"/>
                          <a:cs typeface="Arial"/>
                        </a:rPr>
                        <a:t>RGB-D camera</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Measured depth</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Range and sensing conditions</a:t>
                      </a:r>
                    </a:p>
                  </a:txBody>
                  <a:tcPr marL="91440" marR="91440" marT="45720" marB="45720" anchor="ctr">
                    <a:solidFill>
                      <a:srgbClr val="FFFFFF"/>
                    </a:solidFill>
                  </a:tcPr>
                </a:tc>
              </a:tr>
              <a:tr h="590550">
                <a:tc>
                  <a:txBody>
                    <a:bodyPr lIns="114300" tIns="85725" rIns="114300" bIns="85725">
                      <a:noAutofit/>
                    </a:bodyPr>
                    <a:lstStyle/>
                    <a:p>
                      <a:r>
                        <a:rPr sz="1350" b="0">
                          <a:solidFill>
                            <a:srgbClr val="17324D"/>
                          </a:solidFill>
                          <a:latin typeface="Arial"/>
                          <a:ea typeface="Arial"/>
                          <a:cs typeface="Arial"/>
                        </a:rPr>
                        <a:t>Camera + IMU</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Inertial constraints</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Calibration and initialization</a:t>
                      </a:r>
                    </a:p>
                  </a:txBody>
                  <a:tcPr marL="91440" marR="91440" marT="45720" marB="45720" anchor="ctr">
                    <a:solidFill>
                      <a:srgbClr val="F1F6FA"/>
                    </a:solidFill>
                  </a:tcPr>
                </a:tc>
              </a:tr>
            </a:tbl>
          </a:graphicData>
        </a:graphic>
      </p:graphicFrame>
    </p:spTree>
    <p:extLst>
      <p:ext uri="{BB962C8B-B14F-4D97-AF65-F5344CB8AC3E}">
        <p14:creationId xmlns:p14="http://schemas.microsoft.com/office/powerpoint/2010/main" val="154974182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965d1c2e8424c94"/>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Visual SLAM advantages">
            <a:extLst xmlns:a="http://schemas.openxmlformats.org/drawingml/2006/main">
              <a:ext uri="{FF2B5EF4-FFF2-40B4-BE49-F238E27FC236}">
                <a16:creationId xmlns:a16="http://schemas.microsoft.com/office/drawing/2014/main" id="{24A50CD4-E3D4-46C4-94E2-44D6A8872EFF}"/>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Visual SLAM advantages</a:t>
            </a:r>
          </a:p>
        </p:txBody>
      </p:sp>
      <p:sp>
        <p:nvSpPr>
          <p:cNvPr id="3" name="19">
            <a:extLst xmlns:a="http://schemas.openxmlformats.org/drawingml/2006/main">
              <a:ext uri="{FF2B5EF4-FFF2-40B4-BE49-F238E27FC236}">
                <a16:creationId xmlns:a16="http://schemas.microsoft.com/office/drawing/2014/main" id="{7E5D58DA-7DD1-4FE3-8414-8E8A1EA92A84}"/>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19</a:t>
            </a:r>
          </a:p>
        </p:txBody>
      </p:sp>
      <p:sp>
        <p:nvSpPr>
          <p:cNvPr id="4" name="Cameras capture rich appearance with compact hardware.">
            <a:extLst xmlns:a="http://schemas.openxmlformats.org/drawingml/2006/main">
              <a:ext uri="{FF2B5EF4-FFF2-40B4-BE49-F238E27FC236}">
                <a16:creationId xmlns:a16="http://schemas.microsoft.com/office/drawing/2014/main" id="{AD905C8E-C0F1-4DDC-8F7A-3D099AB53D3D}"/>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Cameras capture rich appearance with compact hardware.</a:t>
            </a:r>
          </a:p>
        </p:txBody>
      </p:sp>
      <p:sp>
        <p:nvSpPr>
          <p:cNvPr id="5" name="Distinctive texture supports landmarks and place recognition.">
            <a:extLst xmlns:a="http://schemas.openxmlformats.org/drawingml/2006/main">
              <a:ext uri="{FF2B5EF4-FFF2-40B4-BE49-F238E27FC236}">
                <a16:creationId xmlns:a16="http://schemas.microsoft.com/office/drawing/2014/main" id="{EE5EA28A-E590-4D2A-8AB7-DFE3319B68E9}"/>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Distinctive texture supports landmarks and place recognition.</a:t>
            </a:r>
          </a:p>
        </p:txBody>
      </p:sp>
      <p:sp>
        <p:nvSpPr>
          <p:cNvPr id="6" name="Image data can also support semantic interpretation.">
            <a:extLst xmlns:a="http://schemas.openxmlformats.org/drawingml/2006/main">
              <a:ext uri="{FF2B5EF4-FFF2-40B4-BE49-F238E27FC236}">
                <a16:creationId xmlns:a16="http://schemas.microsoft.com/office/drawing/2014/main" id="{EAFF500A-F46D-4730-AFEC-10D38521BC43}"/>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Image data can also support semantic interpretation.</a:t>
            </a:r>
          </a:p>
        </p:txBody>
      </p:sp>
    </p:spTree>
    <p:extLst>
      <p:ext uri="{BB962C8B-B14F-4D97-AF65-F5344CB8AC3E}">
        <p14:creationId xmlns:p14="http://schemas.microsoft.com/office/powerpoint/2010/main" val="95976740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17ffffef2c7494b"/>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Visual SLAM limitations">
            <a:extLst xmlns:a="http://schemas.openxmlformats.org/drawingml/2006/main">
              <a:ext uri="{FF2B5EF4-FFF2-40B4-BE49-F238E27FC236}">
                <a16:creationId xmlns:a16="http://schemas.microsoft.com/office/drawing/2014/main" id="{30375C4D-8485-43E3-B501-C608A458AD33}"/>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Visual SLAM limitations</a:t>
            </a:r>
          </a:p>
        </p:txBody>
      </p:sp>
      <p:sp>
        <p:nvSpPr>
          <p:cNvPr id="3" name="20">
            <a:extLst xmlns:a="http://schemas.openxmlformats.org/drawingml/2006/main">
              <a:ext uri="{FF2B5EF4-FFF2-40B4-BE49-F238E27FC236}">
                <a16:creationId xmlns:a16="http://schemas.microsoft.com/office/drawing/2014/main" id="{31AD5499-2A8C-4148-9E22-0B2B7DD3792B}"/>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20</a:t>
            </a:r>
          </a:p>
        </p:txBody>
      </p:sp>
      <p:sp>
        <p:nvSpPr>
          <p:cNvPr id="4" name="Low texture, blur, and changing illumination weaken matching.">
            <a:extLst xmlns:a="http://schemas.openxmlformats.org/drawingml/2006/main">
              <a:ext uri="{FF2B5EF4-FFF2-40B4-BE49-F238E27FC236}">
                <a16:creationId xmlns:a16="http://schemas.microsoft.com/office/drawing/2014/main" id="{37ACF069-2ED3-4DCE-A09B-45F8272F1122}"/>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Low texture, blur, and changing illumination weaken matching.</a:t>
            </a:r>
          </a:p>
        </p:txBody>
      </p:sp>
      <p:sp>
        <p:nvSpPr>
          <p:cNvPr id="5" name="Repeated patterns create ambiguous correspondences.">
            <a:extLst xmlns:a="http://schemas.openxmlformats.org/drawingml/2006/main">
              <a:ext uri="{FF2B5EF4-FFF2-40B4-BE49-F238E27FC236}">
                <a16:creationId xmlns:a16="http://schemas.microsoft.com/office/drawing/2014/main" id="{82650706-8397-4922-8825-DFB6A810FAFB}"/>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Repeated patterns create ambiguous correspondences.</a:t>
            </a:r>
          </a:p>
        </p:txBody>
      </p:sp>
      <p:sp>
        <p:nvSpPr>
          <p:cNvPr id="6" name="Monocular depth and scale require additional constraints.">
            <a:extLst xmlns:a="http://schemas.openxmlformats.org/drawingml/2006/main">
              <a:ext uri="{FF2B5EF4-FFF2-40B4-BE49-F238E27FC236}">
                <a16:creationId xmlns:a16="http://schemas.microsoft.com/office/drawing/2014/main" id="{9FB94F5C-9A1B-4CEC-8B8F-3BDCD40F6A68}"/>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Monocular depth and scale require additional constraints.</a:t>
            </a:r>
          </a:p>
        </p:txBody>
      </p:sp>
    </p:spTree>
    <p:extLst>
      <p:ext uri="{BB962C8B-B14F-4D97-AF65-F5344CB8AC3E}">
        <p14:creationId xmlns:p14="http://schemas.microsoft.com/office/powerpoint/2010/main" val="77415336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6ccea2d341a43ae"/>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Visual methods beyond feature tracking">
            <a:extLst xmlns:a="http://schemas.openxmlformats.org/drawingml/2006/main">
              <a:ext uri="{FF2B5EF4-FFF2-40B4-BE49-F238E27FC236}">
                <a16:creationId xmlns:a16="http://schemas.microsoft.com/office/drawing/2014/main" id="{FB29FD84-D88F-4CA0-A8EE-88A3564170C0}"/>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Visual methods beyond feature tracking</a:t>
            </a:r>
          </a:p>
        </p:txBody>
      </p:sp>
      <p:sp>
        <p:nvSpPr>
          <p:cNvPr id="3" name="21">
            <a:extLst xmlns:a="http://schemas.openxmlformats.org/drawingml/2006/main">
              <a:ext uri="{FF2B5EF4-FFF2-40B4-BE49-F238E27FC236}">
                <a16:creationId xmlns:a16="http://schemas.microsoft.com/office/drawing/2014/main" id="{F28A9F0E-305A-41A4-A1BD-7B2D5C5B477B}"/>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21</a:t>
            </a:r>
          </a:p>
        </p:txBody>
      </p:sp>
      <p:sp>
        <p:nvSpPr>
          <p:cNvPr id="4" name="Direct methods minimize photometric error at selected pixels.">
            <a:extLst xmlns:a="http://schemas.openxmlformats.org/drawingml/2006/main">
              <a:ext uri="{FF2B5EF4-FFF2-40B4-BE49-F238E27FC236}">
                <a16:creationId xmlns:a16="http://schemas.microsoft.com/office/drawing/2014/main" id="{4D36EAE5-C5F4-43CD-942D-B9A15B9FD7D6}"/>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Direct methods minimize photometric error at selected pixels.</a:t>
            </a:r>
          </a:p>
        </p:txBody>
      </p:sp>
      <p:sp>
        <p:nvSpPr>
          <p:cNvPr id="5" name="Dense methods estimate more of the visible surface.">
            <a:extLst xmlns:a="http://schemas.openxmlformats.org/drawingml/2006/main">
              <a:ext uri="{FF2B5EF4-FFF2-40B4-BE49-F238E27FC236}">
                <a16:creationId xmlns:a16="http://schemas.microsoft.com/office/drawing/2014/main" id="{6D4E99B3-446A-419C-AF3C-4D5E985318F7}"/>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Dense methods estimate more of the visible surface.</a:t>
            </a:r>
          </a:p>
        </p:txBody>
      </p:sp>
      <p:sp>
        <p:nvSpPr>
          <p:cNvPr id="6" name="The map representation depends on the estimator and sensors.">
            <a:extLst xmlns:a="http://schemas.openxmlformats.org/drawingml/2006/main">
              <a:ext uri="{FF2B5EF4-FFF2-40B4-BE49-F238E27FC236}">
                <a16:creationId xmlns:a16="http://schemas.microsoft.com/office/drawing/2014/main" id="{5F4A0DAA-25F1-4FA8-884A-37E2964B7D5F}"/>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The map representation depends on the estimator and sensors.</a:t>
            </a:r>
          </a:p>
        </p:txBody>
      </p:sp>
    </p:spTree>
    <p:extLst>
      <p:ext uri="{BB962C8B-B14F-4D97-AF65-F5344CB8AC3E}">
        <p14:creationId xmlns:p14="http://schemas.microsoft.com/office/powerpoint/2010/main" val="3131891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d9ae0cc86be499c"/>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LiDAR observations">
            <a:extLst xmlns:a="http://schemas.openxmlformats.org/drawingml/2006/main">
              <a:ext uri="{FF2B5EF4-FFF2-40B4-BE49-F238E27FC236}">
                <a16:creationId xmlns:a16="http://schemas.microsoft.com/office/drawing/2014/main" id="{04437F29-E092-4C1E-A97F-4D7AA40271D8}"/>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LiDAR observations</a:t>
            </a:r>
          </a:p>
        </p:txBody>
      </p:sp>
      <p:sp>
        <p:nvSpPr>
          <p:cNvPr id="3" name="22">
            <a:extLst xmlns:a="http://schemas.openxmlformats.org/drawingml/2006/main">
              <a:ext uri="{FF2B5EF4-FFF2-40B4-BE49-F238E27FC236}">
                <a16:creationId xmlns:a16="http://schemas.microsoft.com/office/drawing/2014/main" id="{6B76823B-68F1-42B3-9CEE-1364EB25EC02}"/>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361471f07b249f2"/>
          <a:stretch xmlns:a="http://schemas.openxmlformats.org/drawingml/2006/main"/>
        </p:blipFill>
        <p:spPr>
          <a:xfrm xmlns:a="http://schemas.openxmlformats.org/drawingml/2006/main">
            <a:off x="1138238" y="1400175"/>
            <a:ext cx="4000500" cy="2667000"/>
          </a:xfrm>
          <a:prstGeom xmlns:a="http://schemas.openxmlformats.org/drawingml/2006/main" prst="rect">
            <a:avLst/>
          </a:prstGeom>
        </p:spPr>
      </p:pic>
      <p:sp>
        <p:nvSpPr>
          <p:cNvPr id="5" name="Each return measures range and direction to a sampled surface.&#10;&#10;A">
            <a:extLst xmlns:a="http://schemas.openxmlformats.org/drawingml/2006/main">
              <a:ext uri="{FF2B5EF4-FFF2-40B4-BE49-F238E27FC236}">
                <a16:creationId xmlns:a16="http://schemas.microsoft.com/office/drawing/2014/main" id="{9FF7ECE1-06EB-4201-84CF-276F70849353}"/>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Each return measures range and direction to a sampled surface.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 scan contains points collected over a period of time.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Registration estimates the transform that aligns overlapping geometry.</a:t>
            </a:r>
          </a:p>
        </p:txBody>
      </p:sp>
      <p:sp>
        <p:nvSpPr>
          <p:cNvPr id="6" name="Open interactive demo">
            <a:extLst xmlns:a="http://schemas.openxmlformats.org/drawingml/2006/main">
              <a:ext uri="{FF2B5EF4-FFF2-40B4-BE49-F238E27FC236}">
                <a16:creationId xmlns:a16="http://schemas.microsoft.com/office/drawing/2014/main" id="{AAE22246-3777-496C-91F1-FDD094C63BFA}"/>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39f0d1d07d6a4ca3"/>
              </a:rPr>
              <a:t>Open interactive demo</a:t>
            </a:r>
          </a:p>
        </p:txBody>
      </p:sp>
    </p:spTree>
    <p:extLst>
      <p:ext uri="{BB962C8B-B14F-4D97-AF65-F5344CB8AC3E}">
        <p14:creationId xmlns:p14="http://schemas.microsoft.com/office/powerpoint/2010/main" val="89311003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039be88b35d44d7"/>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LiDAR preprocessing">
            <a:extLst xmlns:a="http://schemas.openxmlformats.org/drawingml/2006/main">
              <a:ext uri="{FF2B5EF4-FFF2-40B4-BE49-F238E27FC236}">
                <a16:creationId xmlns:a16="http://schemas.microsoft.com/office/drawing/2014/main" id="{5577F907-E053-4032-9C7D-C988F7B6C7BC}"/>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LiDAR preprocessing</a:t>
            </a:r>
          </a:p>
        </p:txBody>
      </p:sp>
      <p:sp>
        <p:nvSpPr>
          <p:cNvPr id="3" name="23">
            <a:extLst xmlns:a="http://schemas.openxmlformats.org/drawingml/2006/main">
              <a:ext uri="{FF2B5EF4-FFF2-40B4-BE49-F238E27FC236}">
                <a16:creationId xmlns:a16="http://schemas.microsoft.com/office/drawing/2014/main" id="{4094AF8E-1CD5-4097-A3F0-18FBDA0E8F88}"/>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23</a:t>
            </a:r>
          </a:p>
        </p:txBody>
      </p:sp>
      <p:sp>
        <p:nvSpPr>
          <p:cNvPr id="4" name="Remove invalid returns and select a useful range.">
            <a:extLst xmlns:a="http://schemas.openxmlformats.org/drawingml/2006/main">
              <a:ext uri="{FF2B5EF4-FFF2-40B4-BE49-F238E27FC236}">
                <a16:creationId xmlns:a16="http://schemas.microsoft.com/office/drawing/2014/main" id="{7DCBAED4-90E7-4E5B-9920-1E7530513C5D}"/>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Remove invalid returns and select a useful range.</a:t>
            </a:r>
          </a:p>
        </p:txBody>
      </p:sp>
      <p:sp>
        <p:nvSpPr>
          <p:cNvPr id="5" name="Voxel sampling reduces repeated nearby points.">
            <a:extLst xmlns:a="http://schemas.openxmlformats.org/drawingml/2006/main">
              <a:ext uri="{FF2B5EF4-FFF2-40B4-BE49-F238E27FC236}">
                <a16:creationId xmlns:a16="http://schemas.microsoft.com/office/drawing/2014/main" id="{4AE8B966-A293-4749-A96F-D4A33F490D59}"/>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Voxel sampling reduces repeated nearby points.</a:t>
            </a:r>
          </a:p>
        </p:txBody>
      </p:sp>
      <p:sp>
        <p:nvSpPr>
          <p:cNvPr id="6" name="Deskew compensates for sensor motion during a scan.">
            <a:extLst xmlns:a="http://schemas.openxmlformats.org/drawingml/2006/main">
              <a:ext uri="{FF2B5EF4-FFF2-40B4-BE49-F238E27FC236}">
                <a16:creationId xmlns:a16="http://schemas.microsoft.com/office/drawing/2014/main" id="{108474DD-6473-46B3-9904-63FE98D47082}"/>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Deskew compensates for sensor motion during a scan.</a:t>
            </a:r>
          </a:p>
        </p:txBody>
      </p:sp>
    </p:spTree>
    <p:extLst>
      <p:ext uri="{BB962C8B-B14F-4D97-AF65-F5344CB8AC3E}">
        <p14:creationId xmlns:p14="http://schemas.microsoft.com/office/powerpoint/2010/main" val="135087972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6a9da29dbb843c2"/>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Geometry used for registration">
            <a:extLst xmlns:a="http://schemas.openxmlformats.org/drawingml/2006/main">
              <a:ext uri="{FF2B5EF4-FFF2-40B4-BE49-F238E27FC236}">
                <a16:creationId xmlns:a16="http://schemas.microsoft.com/office/drawing/2014/main" id="{B571DA5B-BE93-481E-BA67-55E790484743}"/>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Geometry used for registration</a:t>
            </a:r>
          </a:p>
        </p:txBody>
      </p:sp>
      <p:sp>
        <p:nvSpPr>
          <p:cNvPr id="3" name="24">
            <a:extLst xmlns:a="http://schemas.openxmlformats.org/drawingml/2006/main">
              <a:ext uri="{FF2B5EF4-FFF2-40B4-BE49-F238E27FC236}">
                <a16:creationId xmlns:a16="http://schemas.microsoft.com/office/drawing/2014/main" id="{AF9B773C-F260-4EE5-8666-D74236FD08B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069ad0d34e04b62"/>
          <a:stretch xmlns:a="http://schemas.openxmlformats.org/drawingml/2006/main"/>
        </p:blipFill>
        <p:spPr>
          <a:xfrm xmlns:a="http://schemas.openxmlformats.org/drawingml/2006/main">
            <a:off x="1138238" y="1400175"/>
            <a:ext cx="4000500" cy="2667000"/>
          </a:xfrm>
          <a:prstGeom xmlns:a="http://schemas.openxmlformats.org/drawingml/2006/main" prst="rect">
            <a:avLst/>
          </a:prstGeom>
        </p:spPr>
      </p:pic>
      <p:sp>
        <p:nvSpPr>
          <p:cNvPr id="5" name="Planes constrain motion along their surface normals.&#10;&#10;Edges provi">
            <a:extLst xmlns:a="http://schemas.openxmlformats.org/drawingml/2006/main">
              <a:ext uri="{FF2B5EF4-FFF2-40B4-BE49-F238E27FC236}">
                <a16:creationId xmlns:a16="http://schemas.microsoft.com/office/drawing/2014/main" id="{7BA76453-A76F-4619-9A0E-E6755087C0C4}"/>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Planes constrain motion along their surface normals.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Edges provide other geometric constraints.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The scene must contain enough independent structure.</a:t>
            </a:r>
          </a:p>
        </p:txBody>
      </p:sp>
      <p:sp>
        <p:nvSpPr>
          <p:cNvPr id="6" name="Open interactive demo">
            <a:extLst xmlns:a="http://schemas.openxmlformats.org/drawingml/2006/main">
              <a:ext uri="{FF2B5EF4-FFF2-40B4-BE49-F238E27FC236}">
                <a16:creationId xmlns:a16="http://schemas.microsoft.com/office/drawing/2014/main" id="{70F02570-B911-4CBD-886B-F27B32F422BC}"/>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23e1f19c7d424e16"/>
              </a:rPr>
              <a:t>Open interactive demo</a:t>
            </a:r>
          </a:p>
        </p:txBody>
      </p:sp>
    </p:spTree>
    <p:extLst>
      <p:ext uri="{BB962C8B-B14F-4D97-AF65-F5344CB8AC3E}">
        <p14:creationId xmlns:p14="http://schemas.microsoft.com/office/powerpoint/2010/main" val="108504071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a35c71337694ab7"/>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Scan registration objectives">
            <a:extLst xmlns:a="http://schemas.openxmlformats.org/drawingml/2006/main">
              <a:ext uri="{FF2B5EF4-FFF2-40B4-BE49-F238E27FC236}">
                <a16:creationId xmlns:a16="http://schemas.microsoft.com/office/drawing/2014/main" id="{930A8255-04C6-4453-B712-02767276C29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Scan registration objectives</a:t>
            </a:r>
          </a:p>
        </p:txBody>
      </p:sp>
      <p:sp>
        <p:nvSpPr>
          <p:cNvPr id="3" name="25">
            <a:extLst xmlns:a="http://schemas.openxmlformats.org/drawingml/2006/main">
              <a:ext uri="{FF2B5EF4-FFF2-40B4-BE49-F238E27FC236}">
                <a16:creationId xmlns:a16="http://schemas.microsoft.com/office/drawing/2014/main" id="{D8650354-8368-47CB-911B-E662D80A453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25</a:t>
            </a:r>
          </a:p>
        </p:txBody>
      </p:sp>
      <p:sp>
        <p:nvSpPr>
          <p:cNvPr id="4" name="Point-to-point: r = R p + t − q">
            <a:extLst xmlns:a="http://schemas.openxmlformats.org/drawingml/2006/main">
              <a:ext uri="{FF2B5EF4-FFF2-40B4-BE49-F238E27FC236}">
                <a16:creationId xmlns:a16="http://schemas.microsoft.com/office/drawing/2014/main" id="{E447A818-7E63-4553-81CC-D9FBF335EA40}"/>
              </a:ext>
            </a:extLst>
          </p:cNvPr>
          <p:cNvSpPr>
            <a:spLocks xmlns:a="http://schemas.openxmlformats.org/drawingml/2006/main" noGrp="1"/>
          </p:cNvSpPr>
          <p:nvPr/>
        </p:nvSpPr>
        <p:spPr>
          <a:xfrm xmlns:a="http://schemas.openxmlformats.org/drawingml/2006/main">
            <a:off x="714375" y="1476375"/>
            <a:ext cx="7762875" cy="1071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Point-to-point: r = R p + t − q</a:t>
            </a:r>
          </a:p>
        </p:txBody>
      </p:sp>
      <p:sp>
        <p:nvSpPr>
          <p:cNvPr id="5" name="Point-to-plane: r = nᵀ(R p + t − q)">
            <a:extLst xmlns:a="http://schemas.openxmlformats.org/drawingml/2006/main">
              <a:ext uri="{FF2B5EF4-FFF2-40B4-BE49-F238E27FC236}">
                <a16:creationId xmlns:a16="http://schemas.microsoft.com/office/drawing/2014/main" id="{5DA28B2E-834C-4E72-87B8-2D5619D7852D}"/>
              </a:ext>
            </a:extLst>
          </p:cNvPr>
          <p:cNvSpPr>
            <a:spLocks xmlns:a="http://schemas.openxmlformats.org/drawingml/2006/main" noGrp="1"/>
          </p:cNvSpPr>
          <p:nvPr/>
        </p:nvSpPr>
        <p:spPr>
          <a:xfrm xmlns:a="http://schemas.openxmlformats.org/drawingml/2006/main">
            <a:off x="714375" y="2547938"/>
            <a:ext cx="7762875" cy="1071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Point-to-plane: r = nᵀ(R p + t − q)</a:t>
            </a:r>
          </a:p>
        </p:txBody>
      </p:sp>
      <p:sp>
        <p:nvSpPr>
          <p:cNvPr id="6" name="Point-to-point uses distance between corresponding samples.&#10;Point">
            <a:extLst xmlns:a="http://schemas.openxmlformats.org/drawingml/2006/main">
              <a:ext uri="{FF2B5EF4-FFF2-40B4-BE49-F238E27FC236}">
                <a16:creationId xmlns:a16="http://schemas.microsoft.com/office/drawing/2014/main" id="{6A006223-5825-4CE2-81B2-DCB0E2A9322D}"/>
              </a:ext>
            </a:extLst>
          </p:cNvPr>
          <p:cNvSpPr>
            <a:spLocks xmlns:a="http://schemas.openxmlformats.org/drawingml/2006/main" noGrp="1"/>
          </p:cNvSpPr>
          <p:nvPr/>
        </p:nvSpPr>
        <p:spPr>
          <a:xfrm xmlns:a="http://schemas.openxmlformats.org/drawingml/2006/main">
            <a:off x="714375" y="374332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Point-to-point uses distance between corresponding samples.</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Point-to-plane uses displacement along the map surface normal.</a:t>
            </a:r>
          </a:p>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NDT compares points with local map distributions.</a:t>
            </a:r>
          </a:p>
        </p:txBody>
      </p:sp>
    </p:spTree>
    <p:extLst>
      <p:ext uri="{BB962C8B-B14F-4D97-AF65-F5344CB8AC3E}">
        <p14:creationId xmlns:p14="http://schemas.microsoft.com/office/powerpoint/2010/main" val="183688575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5f8f95a8337450d"/>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Scan-to-map registration">
            <a:extLst xmlns:a="http://schemas.openxmlformats.org/drawingml/2006/main">
              <a:ext uri="{FF2B5EF4-FFF2-40B4-BE49-F238E27FC236}">
                <a16:creationId xmlns:a16="http://schemas.microsoft.com/office/drawing/2014/main" id="{E648C53A-4C1E-4D94-8540-8A32BA739108}"/>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Scan-to-map registration</a:t>
            </a:r>
          </a:p>
        </p:txBody>
      </p:sp>
      <p:sp>
        <p:nvSpPr>
          <p:cNvPr id="3" name="26">
            <a:extLst xmlns:a="http://schemas.openxmlformats.org/drawingml/2006/main">
              <a:ext uri="{FF2B5EF4-FFF2-40B4-BE49-F238E27FC236}">
                <a16:creationId xmlns:a16="http://schemas.microsoft.com/office/drawing/2014/main" id="{2FEFECD7-9614-4EB1-9ED6-2F7C4E687452}"/>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3266f5ce56d4158"/>
          <a:stretch xmlns:a="http://schemas.openxmlformats.org/drawingml/2006/main"/>
        </p:blipFill>
        <p:spPr>
          <a:xfrm xmlns:a="http://schemas.openxmlformats.org/drawingml/2006/main">
            <a:off x="1138238" y="1400175"/>
            <a:ext cx="4000500" cy="2667000"/>
          </a:xfrm>
          <a:prstGeom xmlns:a="http://schemas.openxmlformats.org/drawingml/2006/main" prst="rect">
            <a:avLst/>
          </a:prstGeom>
        </p:spPr>
      </p:pic>
      <p:sp>
        <p:nvSpPr>
          <p:cNvPr id="5" name="Predict the next pose from recent motion.&#10;&#10;Match current surface ">
            <a:extLst xmlns:a="http://schemas.openxmlformats.org/drawingml/2006/main">
              <a:ext uri="{FF2B5EF4-FFF2-40B4-BE49-F238E27FC236}">
                <a16:creationId xmlns:a16="http://schemas.microsoft.com/office/drawing/2014/main" id="{C5B520D9-C17E-4065-B9A3-CDE49EA8A48A}"/>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Predict the next pose from recent motion.</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Match current surface samples to the local map.</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Refine the pose with a robust geometric objective.</a:t>
            </a:r>
          </a:p>
        </p:txBody>
      </p:sp>
      <p:sp>
        <p:nvSpPr>
          <p:cNvPr id="6" name="Open interactive demo">
            <a:extLst xmlns:a="http://schemas.openxmlformats.org/drawingml/2006/main">
              <a:ext uri="{FF2B5EF4-FFF2-40B4-BE49-F238E27FC236}">
                <a16:creationId xmlns:a16="http://schemas.microsoft.com/office/drawing/2014/main" id="{35770008-3F8B-4289-994F-DBE54F5ED28B}"/>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fe3ea13f37ab46b1"/>
              </a:rPr>
              <a:t>Open interactive demo</a:t>
            </a:r>
          </a:p>
        </p:txBody>
      </p:sp>
    </p:spTree>
    <p:extLst>
      <p:ext uri="{BB962C8B-B14F-4D97-AF65-F5344CB8AC3E}">
        <p14:creationId xmlns:p14="http://schemas.microsoft.com/office/powerpoint/2010/main" val="11866299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2db639516c44d4c"/>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Map integration">
            <a:extLst xmlns:a="http://schemas.openxmlformats.org/drawingml/2006/main">
              <a:ext uri="{FF2B5EF4-FFF2-40B4-BE49-F238E27FC236}">
                <a16:creationId xmlns:a16="http://schemas.microsoft.com/office/drawing/2014/main" id="{DE7F2613-B6FD-47F2-810E-4214ED55A5DD}"/>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Map integration</a:t>
            </a:r>
          </a:p>
        </p:txBody>
      </p:sp>
      <p:sp>
        <p:nvSpPr>
          <p:cNvPr id="3" name="27">
            <a:extLst xmlns:a="http://schemas.openxmlformats.org/drawingml/2006/main">
              <a:ext uri="{FF2B5EF4-FFF2-40B4-BE49-F238E27FC236}">
                <a16:creationId xmlns:a16="http://schemas.microsoft.com/office/drawing/2014/main" id="{6EDF5491-4D0B-4AB6-97D1-C28EFD75F348}"/>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27</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c211762326140ab"/>
          <a:stretch xmlns:a="http://schemas.openxmlformats.org/drawingml/2006/main"/>
        </p:blipFill>
        <p:spPr>
          <a:xfrm xmlns:a="http://schemas.openxmlformats.org/drawingml/2006/main">
            <a:off x="1289855" y="1400175"/>
            <a:ext cx="3697266" cy="2667000"/>
          </a:xfrm>
          <a:prstGeom xmlns:a="http://schemas.openxmlformats.org/drawingml/2006/main" prst="rect">
            <a:avLst/>
          </a:prstGeom>
        </p:spPr>
      </p:pic>
      <p:sp>
        <p:nvSpPr>
          <p:cNvPr id="5" name="Transform the accepted scan into the map frame.&#10;&#10;Accumulate surfa">
            <a:extLst xmlns:a="http://schemas.openxmlformats.org/drawingml/2006/main">
              <a:ext uri="{FF2B5EF4-FFF2-40B4-BE49-F238E27FC236}">
                <a16:creationId xmlns:a16="http://schemas.microsoft.com/office/drawing/2014/main" id="{34C647F4-51AF-452D-B546-22B3075D7366}"/>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Transform the accepted scan into the map frame.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Accumulate surface observations using the estimated pose.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Manage map resolution and remove inconsistent structure.</a:t>
            </a:r>
          </a:p>
        </p:txBody>
      </p:sp>
      <p:sp>
        <p:nvSpPr>
          <p:cNvPr id="6" name="Open interactive demo">
            <a:extLst xmlns:a="http://schemas.openxmlformats.org/drawingml/2006/main">
              <a:ext uri="{FF2B5EF4-FFF2-40B4-BE49-F238E27FC236}">
                <a16:creationId xmlns:a16="http://schemas.microsoft.com/office/drawing/2014/main" id="{892612A5-1D21-4F4C-97B9-326D7C9CEA8D}"/>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9fe90e0bea314f62"/>
              </a:rPr>
              <a:t>Open interactive demo</a:t>
            </a:r>
          </a:p>
        </p:txBody>
      </p:sp>
    </p:spTree>
    <p:extLst>
      <p:ext uri="{BB962C8B-B14F-4D97-AF65-F5344CB8AC3E}">
        <p14:creationId xmlns:p14="http://schemas.microsoft.com/office/powerpoint/2010/main" val="127495123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0bf0d509a6743aa"/>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Occupancy and free space">
            <a:extLst xmlns:a="http://schemas.openxmlformats.org/drawingml/2006/main">
              <a:ext uri="{FF2B5EF4-FFF2-40B4-BE49-F238E27FC236}">
                <a16:creationId xmlns:a16="http://schemas.microsoft.com/office/drawing/2014/main" id="{2D494B1A-2C90-46E8-8460-48195371AD8D}"/>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Occupancy and free space</a:t>
            </a:r>
          </a:p>
        </p:txBody>
      </p:sp>
      <p:sp>
        <p:nvSpPr>
          <p:cNvPr id="3" name="28">
            <a:extLst xmlns:a="http://schemas.openxmlformats.org/drawingml/2006/main">
              <a:ext uri="{FF2B5EF4-FFF2-40B4-BE49-F238E27FC236}">
                <a16:creationId xmlns:a16="http://schemas.microsoft.com/office/drawing/2014/main" id="{045F28F6-B5B1-4215-8D8A-CB424D3DDE48}"/>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28</a:t>
            </a:r>
          </a:p>
        </p:txBody>
      </p:sp>
      <p:sp>
        <p:nvSpPr>
          <p:cNvPr id="4" name="A return supplies evidence for an occupied endpoint.">
            <a:extLst xmlns:a="http://schemas.openxmlformats.org/drawingml/2006/main">
              <a:ext uri="{FF2B5EF4-FFF2-40B4-BE49-F238E27FC236}">
                <a16:creationId xmlns:a16="http://schemas.microsoft.com/office/drawing/2014/main" id="{7E257AEE-77F4-4600-8F5F-11C52403BFA4}"/>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 return supplies evidence for an occupied endpoint.</a:t>
            </a:r>
          </a:p>
        </p:txBody>
      </p:sp>
      <p:sp>
        <p:nvSpPr>
          <p:cNvPr id="5" name="The ray supplies evidence for free space before the return.">
            <a:extLst xmlns:a="http://schemas.openxmlformats.org/drawingml/2006/main">
              <a:ext uri="{FF2B5EF4-FFF2-40B4-BE49-F238E27FC236}">
                <a16:creationId xmlns:a16="http://schemas.microsoft.com/office/drawing/2014/main" id="{39F8F7AD-1D32-4672-96E2-07BE8B20020C}"/>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The ray supplies evidence for free space before the return.</a:t>
            </a:r>
          </a:p>
        </p:txBody>
      </p:sp>
      <p:sp>
        <p:nvSpPr>
          <p:cNvPr id="6" name="Space outside observed rays remains unknown.">
            <a:extLst xmlns:a="http://schemas.openxmlformats.org/drawingml/2006/main">
              <a:ext uri="{FF2B5EF4-FFF2-40B4-BE49-F238E27FC236}">
                <a16:creationId xmlns:a16="http://schemas.microsoft.com/office/drawing/2014/main" id="{7DAA02EA-ADE7-429D-BB42-81BBBF5EA900}"/>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Space outside observed rays remains unknown.</a:t>
            </a:r>
          </a:p>
        </p:txBody>
      </p:sp>
    </p:spTree>
    <p:extLst>
      <p:ext uri="{BB962C8B-B14F-4D97-AF65-F5344CB8AC3E}">
        <p14:creationId xmlns:p14="http://schemas.microsoft.com/office/powerpoint/2010/main" val="93444939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b21d71eeb45410d"/>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LiDAR mapping advantages">
            <a:extLst xmlns:a="http://schemas.openxmlformats.org/drawingml/2006/main">
              <a:ext uri="{FF2B5EF4-FFF2-40B4-BE49-F238E27FC236}">
                <a16:creationId xmlns:a16="http://schemas.microsoft.com/office/drawing/2014/main" id="{48DF4854-4C3C-48B2-BF0C-228114656B9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LiDAR mapping advantages</a:t>
            </a:r>
          </a:p>
        </p:txBody>
      </p:sp>
      <p:sp>
        <p:nvSpPr>
          <p:cNvPr id="3" name="29">
            <a:extLst xmlns:a="http://schemas.openxmlformats.org/drawingml/2006/main">
              <a:ext uri="{FF2B5EF4-FFF2-40B4-BE49-F238E27FC236}">
                <a16:creationId xmlns:a16="http://schemas.microsoft.com/office/drawing/2014/main" id="{87A77D40-F894-41BD-A3EA-2C4966A0218A}"/>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29</a:t>
            </a:r>
          </a:p>
        </p:txBody>
      </p:sp>
      <p:sp>
        <p:nvSpPr>
          <p:cNvPr id="4" name="Measured range provides metric scene geometry.">
            <a:extLst xmlns:a="http://schemas.openxmlformats.org/drawingml/2006/main">
              <a:ext uri="{FF2B5EF4-FFF2-40B4-BE49-F238E27FC236}">
                <a16:creationId xmlns:a16="http://schemas.microsoft.com/office/drawing/2014/main" id="{44D05719-87AB-48B6-A491-95D2E47099A8}"/>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Measured range provides metric scene geometry.</a:t>
            </a:r>
          </a:p>
        </p:txBody>
      </p:sp>
      <p:sp>
        <p:nvSpPr>
          <p:cNvPr id="5" name="Ambient lighting and image texture matter less.">
            <a:extLst xmlns:a="http://schemas.openxmlformats.org/drawingml/2006/main">
              <a:ext uri="{FF2B5EF4-FFF2-40B4-BE49-F238E27FC236}">
                <a16:creationId xmlns:a16="http://schemas.microsoft.com/office/drawing/2014/main" id="{E3150475-DDA4-4DF4-B458-209A359B167C}"/>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Ambient lighting and image texture matter less.</a:t>
            </a:r>
          </a:p>
        </p:txBody>
      </p:sp>
      <p:sp>
        <p:nvSpPr>
          <p:cNvPr id="6" name="Surface maps support geometric localization and reconstruction.">
            <a:extLst xmlns:a="http://schemas.openxmlformats.org/drawingml/2006/main">
              <a:ext uri="{FF2B5EF4-FFF2-40B4-BE49-F238E27FC236}">
                <a16:creationId xmlns:a16="http://schemas.microsoft.com/office/drawing/2014/main" id="{E0335102-500C-405C-9087-C94FCE50C172}"/>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Surface maps support geometric localization and reconstruction.</a:t>
            </a:r>
          </a:p>
        </p:txBody>
      </p:sp>
    </p:spTree>
    <p:extLst>
      <p:ext uri="{BB962C8B-B14F-4D97-AF65-F5344CB8AC3E}">
        <p14:creationId xmlns:p14="http://schemas.microsoft.com/office/powerpoint/2010/main" val="141940539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5d70439bff744de"/>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LiDAR mapping limitations">
            <a:extLst xmlns:a="http://schemas.openxmlformats.org/drawingml/2006/main">
              <a:ext uri="{FF2B5EF4-FFF2-40B4-BE49-F238E27FC236}">
                <a16:creationId xmlns:a16="http://schemas.microsoft.com/office/drawing/2014/main" id="{D5D26D11-06F6-4626-91EA-BE2E69BB874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LiDAR mapping limitations</a:t>
            </a:r>
          </a:p>
        </p:txBody>
      </p:sp>
      <p:sp>
        <p:nvSpPr>
          <p:cNvPr id="3" name="30">
            <a:extLst xmlns:a="http://schemas.openxmlformats.org/drawingml/2006/main">
              <a:ext uri="{FF2B5EF4-FFF2-40B4-BE49-F238E27FC236}">
                <a16:creationId xmlns:a16="http://schemas.microsoft.com/office/drawing/2014/main" id="{126F7BC2-09ED-4810-AA3C-B16242D628D8}"/>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30</a:t>
            </a:r>
          </a:p>
        </p:txBody>
      </p:sp>
      <p:sp>
        <p:nvSpPr>
          <p:cNvPr id="4" name="Sparse or repetitive geometry weakens observability.">
            <a:extLst xmlns:a="http://schemas.openxmlformats.org/drawingml/2006/main">
              <a:ext uri="{FF2B5EF4-FFF2-40B4-BE49-F238E27FC236}">
                <a16:creationId xmlns:a16="http://schemas.microsoft.com/office/drawing/2014/main" id="{DB0C40A8-7989-429E-99E8-0E3CB465E5E0}"/>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Sparse or repetitive geometry weakens observability.</a:t>
            </a:r>
          </a:p>
        </p:txBody>
      </p:sp>
      <p:sp>
        <p:nvSpPr>
          <p:cNvPr id="5" name="Motion distortion and moving objects corrupt alignment.">
            <a:extLst xmlns:a="http://schemas.openxmlformats.org/drawingml/2006/main">
              <a:ext uri="{FF2B5EF4-FFF2-40B4-BE49-F238E27FC236}">
                <a16:creationId xmlns:a16="http://schemas.microsoft.com/office/drawing/2014/main" id="{75E39F11-D74B-427C-BC1C-5C6787E5870A}"/>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Motion distortion and moving objects corrupt alignment.</a:t>
            </a:r>
          </a:p>
        </p:txBody>
      </p:sp>
      <p:sp>
        <p:nvSpPr>
          <p:cNvPr id="6" name="Weather, glass, and weak returns can reduce useful measurements.">
            <a:extLst xmlns:a="http://schemas.openxmlformats.org/drawingml/2006/main">
              <a:ext uri="{FF2B5EF4-FFF2-40B4-BE49-F238E27FC236}">
                <a16:creationId xmlns:a16="http://schemas.microsoft.com/office/drawing/2014/main" id="{E842F968-6FCF-4F51-9C4A-682275F378A1}"/>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Weather, glass, and weak returns can reduce useful measurements.</a:t>
            </a:r>
          </a:p>
        </p:txBody>
      </p:sp>
    </p:spTree>
    <p:extLst>
      <p:ext uri="{BB962C8B-B14F-4D97-AF65-F5344CB8AC3E}">
        <p14:creationId xmlns:p14="http://schemas.microsoft.com/office/powerpoint/2010/main" val="45258213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89e4e208c4ea4fab"/>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Visual and LiDAR mapping">
            <a:extLst xmlns:a="http://schemas.openxmlformats.org/drawingml/2006/main">
              <a:ext uri="{FF2B5EF4-FFF2-40B4-BE49-F238E27FC236}">
                <a16:creationId xmlns:a16="http://schemas.microsoft.com/office/drawing/2014/main" id="{2FC131B9-5C4F-41C9-BAE2-CE37B61C7F69}"/>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Visual and LiDAR mapping</a:t>
            </a:r>
          </a:p>
        </p:txBody>
      </p:sp>
      <p:sp>
        <p:nvSpPr>
          <p:cNvPr id="3" name="31">
            <a:extLst xmlns:a="http://schemas.openxmlformats.org/drawingml/2006/main">
              <a:ext uri="{FF2B5EF4-FFF2-40B4-BE49-F238E27FC236}">
                <a16:creationId xmlns:a16="http://schemas.microsoft.com/office/drawing/2014/main" id="{0C057AB6-F8B8-4EED-B03F-18F82973FC20}"/>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31</a:t>
            </a:r>
          </a:p>
        </p:txBody>
      </p:sp>
      <p:graphicFrame>
        <p:nvGraphicFramePr>
          <p:cNvPr id="8" name=""/>
          <p:cNvGraphicFramePr/>
          <p:nvPr/>
        </p:nvGraphicFramePr>
        <p:xfrm>
          <a:off xmlns:a="http://schemas.openxmlformats.org/drawingml/2006/main" x="523875" y="1438275"/>
          <a:ext xmlns:a="http://schemas.openxmlformats.org/drawingml/2006/main" cx="8096250" cy="2952750"/>
        </p:xfrm>
        <a:graphic xmlns:a="http://schemas.openxmlformats.org/drawingml/2006/main">
          <a:graphicData uri="http://schemas.openxmlformats.org/drawingml/2006/table">
            <a:tbl>
              <a:tblPr/>
              <a:tblGrid>
                <a:gridCol w="2095500"/>
                <a:gridCol w="3000375"/>
                <a:gridCol w="3000375"/>
              </a:tblGrid>
              <a:tr h="492125">
                <a:tc>
                  <a:txBody>
                    <a:bodyPr lIns="114300" tIns="85725" rIns="114300" bIns="85725">
                      <a:noAutofit/>
                    </a:bodyPr>
                    <a:lstStyle/>
                    <a:p>
                      <a:r>
                        <a:rPr sz="1350" b="1">
                          <a:solidFill>
                            <a:srgbClr val="FFFFFF"/>
                          </a:solidFill>
                          <a:latin typeface="Arial"/>
                          <a:ea typeface="Arial"/>
                          <a:cs typeface="Arial"/>
                        </a:rPr>
                        <a:t>Dimension</a:t>
                      </a:r>
                    </a:p>
                  </a:txBody>
                  <a:tcPr marL="91440" marR="91440" marT="45720" marB="45720" anchor="ctr">
                    <a:solidFill>
                      <a:srgbClr val="00539F"/>
                    </a:solidFill>
                  </a:tcPr>
                </a:tc>
                <a:tc>
                  <a:txBody>
                    <a:bodyPr lIns="114300" tIns="85725" rIns="114300" bIns="85725">
                      <a:noAutofit/>
                    </a:bodyPr>
                    <a:lstStyle/>
                    <a:p>
                      <a:r>
                        <a:rPr sz="1350" b="1">
                          <a:solidFill>
                            <a:srgbClr val="FFFFFF"/>
                          </a:solidFill>
                          <a:latin typeface="Arial"/>
                          <a:ea typeface="Arial"/>
                          <a:cs typeface="Arial"/>
                        </a:rPr>
                        <a:t>Visual mapping</a:t>
                      </a:r>
                    </a:p>
                  </a:txBody>
                  <a:tcPr marL="91440" marR="91440" marT="45720" marB="45720" anchor="ctr">
                    <a:solidFill>
                      <a:srgbClr val="00539F"/>
                    </a:solidFill>
                  </a:tcPr>
                </a:tc>
                <a:tc>
                  <a:txBody>
                    <a:bodyPr lIns="114300" tIns="85725" rIns="114300" bIns="85725">
                      <a:noAutofit/>
                    </a:bodyPr>
                    <a:lstStyle/>
                    <a:p>
                      <a:r>
                        <a:rPr sz="1350" b="1">
                          <a:solidFill>
                            <a:srgbClr val="FFFFFF"/>
                          </a:solidFill>
                          <a:latin typeface="Arial"/>
                          <a:ea typeface="Arial"/>
                          <a:cs typeface="Arial"/>
                        </a:rPr>
                        <a:t>LiDAR mapping</a:t>
                      </a:r>
                    </a:p>
                  </a:txBody>
                  <a:tcPr marL="91440" marR="91440" marT="45720" marB="45720" anchor="ctr">
                    <a:solidFill>
                      <a:srgbClr val="00539F"/>
                    </a:solidFill>
                  </a:tcPr>
                </a:tc>
              </a:tr>
              <a:tr h="492125">
                <a:tc>
                  <a:txBody>
                    <a:bodyPr lIns="114300" tIns="85725" rIns="114300" bIns="85725">
                      <a:noAutofit/>
                    </a:bodyPr>
                    <a:lstStyle/>
                    <a:p>
                      <a:r>
                        <a:rPr sz="1350" b="0">
                          <a:solidFill>
                            <a:srgbClr val="17324D"/>
                          </a:solidFill>
                          <a:latin typeface="Arial"/>
                          <a:ea typeface="Arial"/>
                          <a:cs typeface="Arial"/>
                        </a:rPr>
                        <a:t>Primary evidence</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Appearance across images</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Range and surface geometry</a:t>
                      </a:r>
                    </a:p>
                  </a:txBody>
                  <a:tcPr marL="91440" marR="91440" marT="45720" marB="45720" anchor="ctr">
                    <a:solidFill>
                      <a:srgbClr val="FFFFFF"/>
                    </a:solidFill>
                  </a:tcPr>
                </a:tc>
              </a:tr>
              <a:tr h="492125">
                <a:tc>
                  <a:txBody>
                    <a:bodyPr lIns="114300" tIns="85725" rIns="114300" bIns="85725">
                      <a:noAutofit/>
                    </a:bodyPr>
                    <a:lstStyle/>
                    <a:p>
                      <a:r>
                        <a:rPr sz="1350" b="0">
                          <a:solidFill>
                            <a:srgbClr val="17324D"/>
                          </a:solidFill>
                          <a:latin typeface="Arial"/>
                          <a:ea typeface="Arial"/>
                          <a:cs typeface="Arial"/>
                        </a:rPr>
                        <a:t>Typical map</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Sparse landmarks / depth</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Surface points / voxels</a:t>
                      </a:r>
                    </a:p>
                  </a:txBody>
                  <a:tcPr marL="91440" marR="91440" marT="45720" marB="45720" anchor="ctr">
                    <a:solidFill>
                      <a:srgbClr val="F1F6FA"/>
                    </a:solidFill>
                  </a:tcPr>
                </a:tc>
              </a:tr>
              <a:tr h="492125">
                <a:tc>
                  <a:txBody>
                    <a:bodyPr lIns="114300" tIns="85725" rIns="114300" bIns="85725">
                      <a:noAutofit/>
                    </a:bodyPr>
                    <a:lstStyle/>
                    <a:p>
                      <a:r>
                        <a:rPr sz="1350" b="0">
                          <a:solidFill>
                            <a:srgbClr val="17324D"/>
                          </a:solidFill>
                          <a:latin typeface="Arial"/>
                          <a:ea typeface="Arial"/>
                          <a:cs typeface="Arial"/>
                        </a:rPr>
                        <a:t>Scale</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Depends on sensor configuration</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Metric ranging</a:t>
                      </a:r>
                    </a:p>
                  </a:txBody>
                  <a:tcPr marL="91440" marR="91440" marT="45720" marB="45720" anchor="ctr">
                    <a:solidFill>
                      <a:srgbClr val="FFFFFF"/>
                    </a:solidFill>
                  </a:tcPr>
                </a:tc>
              </a:tr>
              <a:tr h="492125">
                <a:tc>
                  <a:txBody>
                    <a:bodyPr lIns="114300" tIns="85725" rIns="114300" bIns="85725">
                      <a:noAutofit/>
                    </a:bodyPr>
                    <a:lstStyle/>
                    <a:p>
                      <a:r>
                        <a:rPr sz="1350" b="0">
                          <a:solidFill>
                            <a:srgbClr val="17324D"/>
                          </a:solidFill>
                          <a:latin typeface="Arial"/>
                          <a:ea typeface="Arial"/>
                          <a:cs typeface="Arial"/>
                        </a:rPr>
                        <a:t>Weak scene</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Dark, blurred, low texture</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Sparse or repetitive geometry</a:t>
                      </a:r>
                    </a:p>
                  </a:txBody>
                  <a:tcPr marL="91440" marR="91440" marT="45720" marB="45720" anchor="ctr">
                    <a:solidFill>
                      <a:srgbClr val="F1F6FA"/>
                    </a:solidFill>
                  </a:tcPr>
                </a:tc>
              </a:tr>
              <a:tr h="492125">
                <a:tc>
                  <a:txBody>
                    <a:bodyPr lIns="114300" tIns="85725" rIns="114300" bIns="85725">
                      <a:noAutofit/>
                    </a:bodyPr>
                    <a:lstStyle/>
                    <a:p>
                      <a:r>
                        <a:rPr sz="1350" b="0">
                          <a:solidFill>
                            <a:srgbClr val="17324D"/>
                          </a:solidFill>
                          <a:latin typeface="Arial"/>
                          <a:ea typeface="Arial"/>
                          <a:cs typeface="Arial"/>
                        </a:rPr>
                        <a:t>Practical tradeoff</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Compact sensors, rich appearance</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Direct depth, sensor resources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6326055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332f72a260c84910"/>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Mapping in different environments">
            <a:extLst xmlns:a="http://schemas.openxmlformats.org/drawingml/2006/main">
              <a:ext uri="{FF2B5EF4-FFF2-40B4-BE49-F238E27FC236}">
                <a16:creationId xmlns:a16="http://schemas.microsoft.com/office/drawing/2014/main" id="{98108DE6-FC96-4DE7-937C-29774777BFD0}"/>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Mapping in different environments</a:t>
            </a:r>
          </a:p>
        </p:txBody>
      </p:sp>
      <p:sp>
        <p:nvSpPr>
          <p:cNvPr id="3" name="32">
            <a:extLst xmlns:a="http://schemas.openxmlformats.org/drawingml/2006/main">
              <a:ext uri="{FF2B5EF4-FFF2-40B4-BE49-F238E27FC236}">
                <a16:creationId xmlns:a16="http://schemas.microsoft.com/office/drawing/2014/main" id="{ACD1F17C-5099-4CE9-922F-F9D9958DA940}"/>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32</a:t>
            </a:r>
          </a:p>
        </p:txBody>
      </p:sp>
      <p:graphicFrame>
        <p:nvGraphicFramePr>
          <p:cNvPr id="8" name=""/>
          <p:cNvGraphicFramePr/>
          <p:nvPr/>
        </p:nvGraphicFramePr>
        <p:xfrm>
          <a:off xmlns:a="http://schemas.openxmlformats.org/drawingml/2006/main" x="523875" y="1438275"/>
          <a:ext xmlns:a="http://schemas.openxmlformats.org/drawingml/2006/main" cx="8096250" cy="2952750"/>
        </p:xfrm>
        <a:graphic xmlns:a="http://schemas.openxmlformats.org/drawingml/2006/main">
          <a:graphicData uri="http://schemas.openxmlformats.org/drawingml/2006/table">
            <a:tbl>
              <a:tblPr/>
              <a:tblGrid>
                <a:gridCol w="2095500"/>
                <a:gridCol w="3000375"/>
                <a:gridCol w="3000375"/>
              </a:tblGrid>
              <a:tr h="492125">
                <a:tc>
                  <a:txBody>
                    <a:bodyPr lIns="114300" tIns="85725" rIns="114300" bIns="85725">
                      <a:noAutofit/>
                    </a:bodyPr>
                    <a:lstStyle/>
                    <a:p>
                      <a:r>
                        <a:rPr sz="1350" b="1">
                          <a:solidFill>
                            <a:srgbClr val="FFFFFF"/>
                          </a:solidFill>
                          <a:latin typeface="Arial"/>
                          <a:ea typeface="Arial"/>
                          <a:cs typeface="Arial"/>
                        </a:rPr>
                        <a:t>Environment</a:t>
                      </a:r>
                    </a:p>
                  </a:txBody>
                  <a:tcPr marL="91440" marR="91440" marT="45720" marB="45720" anchor="ctr">
                    <a:solidFill>
                      <a:srgbClr val="00539F"/>
                    </a:solidFill>
                  </a:tcPr>
                </a:tc>
                <a:tc>
                  <a:txBody>
                    <a:bodyPr lIns="114300" tIns="85725" rIns="114300" bIns="85725">
                      <a:noAutofit/>
                    </a:bodyPr>
                    <a:lstStyle/>
                    <a:p>
                      <a:r>
                        <a:rPr sz="1350" b="1">
                          <a:solidFill>
                            <a:srgbClr val="FFFFFF"/>
                          </a:solidFill>
                          <a:latin typeface="Arial"/>
                          <a:ea typeface="Arial"/>
                          <a:cs typeface="Arial"/>
                        </a:rPr>
                        <a:t>Visual concern</a:t>
                      </a:r>
                    </a:p>
                  </a:txBody>
                  <a:tcPr marL="91440" marR="91440" marT="45720" marB="45720" anchor="ctr">
                    <a:solidFill>
                      <a:srgbClr val="00539F"/>
                    </a:solidFill>
                  </a:tcPr>
                </a:tc>
                <a:tc>
                  <a:txBody>
                    <a:bodyPr lIns="114300" tIns="85725" rIns="114300" bIns="85725">
                      <a:noAutofit/>
                    </a:bodyPr>
                    <a:lstStyle/>
                    <a:p>
                      <a:r>
                        <a:rPr sz="1350" b="1">
                          <a:solidFill>
                            <a:srgbClr val="FFFFFF"/>
                          </a:solidFill>
                          <a:latin typeface="Arial"/>
                          <a:ea typeface="Arial"/>
                          <a:cs typeface="Arial"/>
                        </a:rPr>
                        <a:t>LiDAR concern</a:t>
                      </a:r>
                    </a:p>
                  </a:txBody>
                  <a:tcPr marL="91440" marR="91440" marT="45720" marB="45720" anchor="ctr">
                    <a:solidFill>
                      <a:srgbClr val="00539F"/>
                    </a:solidFill>
                  </a:tcPr>
                </a:tc>
              </a:tr>
              <a:tr h="492125">
                <a:tc>
                  <a:txBody>
                    <a:bodyPr lIns="114300" tIns="85725" rIns="114300" bIns="85725">
                      <a:noAutofit/>
                    </a:bodyPr>
                    <a:lstStyle/>
                    <a:p>
                      <a:r>
                        <a:rPr sz="1350" b="0">
                          <a:solidFill>
                            <a:srgbClr val="17324D"/>
                          </a:solidFill>
                          <a:latin typeface="Arial"/>
                          <a:ea typeface="Arial"/>
                          <a:cs typeface="Arial"/>
                        </a:rPr>
                        <a:t>Textured indoor space</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Blur and exposure</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Glass and limited overlap</a:t>
                      </a:r>
                    </a:p>
                  </a:txBody>
                  <a:tcPr marL="91440" marR="91440" marT="45720" marB="45720" anchor="ctr">
                    <a:solidFill>
                      <a:srgbClr val="FFFFFF"/>
                    </a:solidFill>
                  </a:tcPr>
                </a:tc>
              </a:tr>
              <a:tr h="492125">
                <a:tc>
                  <a:txBody>
                    <a:bodyPr lIns="114300" tIns="85725" rIns="114300" bIns="85725">
                      <a:noAutofit/>
                    </a:bodyPr>
                    <a:lstStyle/>
                    <a:p>
                      <a:r>
                        <a:rPr sz="1350" b="0">
                          <a:solidFill>
                            <a:srgbClr val="17324D"/>
                          </a:solidFill>
                          <a:latin typeface="Arial"/>
                          <a:ea typeface="Arial"/>
                          <a:cs typeface="Arial"/>
                        </a:rPr>
                        <a:t>Long corridor</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Repeated appearance</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Weak motion along corridor</a:t>
                      </a:r>
                    </a:p>
                  </a:txBody>
                  <a:tcPr marL="91440" marR="91440" marT="45720" marB="45720" anchor="ctr">
                    <a:solidFill>
                      <a:srgbClr val="F1F6FA"/>
                    </a:solidFill>
                  </a:tcPr>
                </a:tc>
              </a:tr>
              <a:tr h="492125">
                <a:tc>
                  <a:txBody>
                    <a:bodyPr lIns="114300" tIns="85725" rIns="114300" bIns="85725">
                      <a:noAutofit/>
                    </a:bodyPr>
                    <a:lstStyle/>
                    <a:p>
                      <a:r>
                        <a:rPr sz="1350" b="0">
                          <a:solidFill>
                            <a:srgbClr val="17324D"/>
                          </a:solidFill>
                          <a:latin typeface="Arial"/>
                          <a:ea typeface="Arial"/>
                          <a:cs typeface="Arial"/>
                        </a:rPr>
                        <a:t>Night driving</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Low light and glare</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Return strength and geometry</a:t>
                      </a:r>
                    </a:p>
                  </a:txBody>
                  <a:tcPr marL="91440" marR="91440" marT="45720" marB="45720" anchor="ctr">
                    <a:solidFill>
                      <a:srgbClr val="FFFFFF"/>
                    </a:solidFill>
                  </a:tcPr>
                </a:tc>
              </a:tr>
              <a:tr h="492125">
                <a:tc>
                  <a:txBody>
                    <a:bodyPr lIns="114300" tIns="85725" rIns="114300" bIns="85725">
                      <a:noAutofit/>
                    </a:bodyPr>
                    <a:lstStyle/>
                    <a:p>
                      <a:r>
                        <a:rPr sz="1350" b="0">
                          <a:solidFill>
                            <a:srgbClr val="17324D"/>
                          </a:solidFill>
                          <a:latin typeface="Arial"/>
                          <a:ea typeface="Arial"/>
                          <a:cs typeface="Arial"/>
                        </a:rPr>
                        <a:t>Open highway</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Distant features, weak parallax</a:t>
                      </a:r>
                    </a:p>
                  </a:txBody>
                  <a:tcPr marL="91440" marR="91440" marT="45720" marB="45720" anchor="ctr">
                    <a:solidFill>
                      <a:srgbClr val="F1F6FA"/>
                    </a:solidFill>
                  </a:tcPr>
                </a:tc>
                <a:tc>
                  <a:txBody>
                    <a:bodyPr lIns="114300" tIns="85725" rIns="114300" bIns="85725">
                      <a:noAutofit/>
                    </a:bodyPr>
                    <a:lstStyle/>
                    <a:p>
                      <a:r>
                        <a:rPr sz="1350" b="0">
                          <a:solidFill>
                            <a:srgbClr val="17324D"/>
                          </a:solidFill>
                          <a:latin typeface="Arial"/>
                          <a:ea typeface="Arial"/>
                          <a:cs typeface="Arial"/>
                        </a:rPr>
                        <a:t>Few stable nearby structures</a:t>
                      </a:r>
                    </a:p>
                  </a:txBody>
                  <a:tcPr marL="91440" marR="91440" marT="45720" marB="45720" anchor="ctr">
                    <a:solidFill>
                      <a:srgbClr val="F1F6FA"/>
                    </a:solidFill>
                  </a:tcPr>
                </a:tc>
              </a:tr>
              <a:tr h="492125">
                <a:tc>
                  <a:txBody>
                    <a:bodyPr lIns="114300" tIns="85725" rIns="114300" bIns="85725">
                      <a:noAutofit/>
                    </a:bodyPr>
                    <a:lstStyle/>
                    <a:p>
                      <a:r>
                        <a:rPr sz="1350" b="0">
                          <a:solidFill>
                            <a:srgbClr val="17324D"/>
                          </a:solidFill>
                          <a:latin typeface="Arial"/>
                          <a:ea typeface="Arial"/>
                          <a:cs typeface="Arial"/>
                        </a:rPr>
                        <a:t>Busy street</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Many moving image features</a:t>
                      </a:r>
                    </a:p>
                  </a:txBody>
                  <a:tcPr marL="91440" marR="91440" marT="45720" marB="45720" anchor="ctr">
                    <a:solidFill>
                      <a:srgbClr val="FFFFFF"/>
                    </a:solidFill>
                  </a:tcPr>
                </a:tc>
                <a:tc>
                  <a:txBody>
                    <a:bodyPr lIns="114300" tIns="85725" rIns="114300" bIns="85725">
                      <a:noAutofit/>
                    </a:bodyPr>
                    <a:lstStyle/>
                    <a:p>
                      <a:r>
                        <a:rPr sz="1350" b="0">
                          <a:solidFill>
                            <a:srgbClr val="17324D"/>
                          </a:solidFill>
                          <a:latin typeface="Arial"/>
                          <a:ea typeface="Arial"/>
                          <a:cs typeface="Arial"/>
                        </a:rPr>
                        <a:t>Moving surfaces and ghost points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94058848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b7e130effbc4e60"/>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Dynamic objects and map quality">
            <a:extLst xmlns:a="http://schemas.openxmlformats.org/drawingml/2006/main">
              <a:ext uri="{FF2B5EF4-FFF2-40B4-BE49-F238E27FC236}">
                <a16:creationId xmlns:a16="http://schemas.microsoft.com/office/drawing/2014/main" id="{0200786F-DC54-4D02-A9A7-0ED6B6E841E9}"/>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Dynamic objects and map quality</a:t>
            </a:r>
          </a:p>
        </p:txBody>
      </p:sp>
      <p:sp>
        <p:nvSpPr>
          <p:cNvPr id="3" name="33">
            <a:extLst xmlns:a="http://schemas.openxmlformats.org/drawingml/2006/main">
              <a:ext uri="{FF2B5EF4-FFF2-40B4-BE49-F238E27FC236}">
                <a16:creationId xmlns:a16="http://schemas.microsoft.com/office/drawing/2014/main" id="{A259FEE5-9ADE-43AF-A156-EB722289B382}"/>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33</a:t>
            </a:r>
          </a:p>
        </p:txBody>
      </p:sp>
      <p:sp>
        <p:nvSpPr>
          <p:cNvPr id="4" name="A static-scene model cannot explain independent object motion.">
            <a:extLst xmlns:a="http://schemas.openxmlformats.org/drawingml/2006/main">
              <a:ext uri="{FF2B5EF4-FFF2-40B4-BE49-F238E27FC236}">
                <a16:creationId xmlns:a16="http://schemas.microsoft.com/office/drawing/2014/main" id="{797C6FA2-AB42-4B3A-BF25-3DD5D35019F0}"/>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 static-scene model cannot explain independent object motion.</a:t>
            </a:r>
          </a:p>
        </p:txBody>
      </p:sp>
      <p:sp>
        <p:nvSpPr>
          <p:cNvPr id="5" name="Robust estimation rejects some inconsistent observations.">
            <a:extLst xmlns:a="http://schemas.openxmlformats.org/drawingml/2006/main">
              <a:ext uri="{FF2B5EF4-FFF2-40B4-BE49-F238E27FC236}">
                <a16:creationId xmlns:a16="http://schemas.microsoft.com/office/drawing/2014/main" id="{A4952B82-84BB-468E-82E6-E5FDE03576AD}"/>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Robust estimation rejects some inconsistent observations.</a:t>
            </a:r>
          </a:p>
        </p:txBody>
      </p:sp>
      <p:sp>
        <p:nvSpPr>
          <p:cNvPr id="6" name="Persistent mapping needs checks across time and viewpoints.">
            <a:extLst xmlns:a="http://schemas.openxmlformats.org/drawingml/2006/main">
              <a:ext uri="{FF2B5EF4-FFF2-40B4-BE49-F238E27FC236}">
                <a16:creationId xmlns:a16="http://schemas.microsoft.com/office/drawing/2014/main" id="{C2C70081-B89A-4AB6-BA51-C93A0888DD85}"/>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Persistent mapping needs checks across time and viewpoints.</a:t>
            </a:r>
          </a:p>
        </p:txBody>
      </p:sp>
    </p:spTree>
    <p:extLst>
      <p:ext uri="{BB962C8B-B14F-4D97-AF65-F5344CB8AC3E}">
        <p14:creationId xmlns:p14="http://schemas.microsoft.com/office/powerpoint/2010/main" val="203715507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2d2223a1ea743b2"/>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Camera, LiDAR, and IMU fusion">
            <a:extLst xmlns:a="http://schemas.openxmlformats.org/drawingml/2006/main">
              <a:ext uri="{FF2B5EF4-FFF2-40B4-BE49-F238E27FC236}">
                <a16:creationId xmlns:a16="http://schemas.microsoft.com/office/drawing/2014/main" id="{D938E0EC-922B-4404-ADC6-6AC91D438B9E}"/>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Camera, LiDAR, and IMU fusion</a:t>
            </a:r>
          </a:p>
        </p:txBody>
      </p:sp>
      <p:sp>
        <p:nvSpPr>
          <p:cNvPr id="3" name="34">
            <a:extLst xmlns:a="http://schemas.openxmlformats.org/drawingml/2006/main">
              <a:ext uri="{FF2B5EF4-FFF2-40B4-BE49-F238E27FC236}">
                <a16:creationId xmlns:a16="http://schemas.microsoft.com/office/drawing/2014/main" id="{18B0EB51-BFF5-4867-946C-0A7FCA5073C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34</a:t>
            </a:r>
          </a:p>
        </p:txBody>
      </p:sp>
      <p:sp>
        <p:nvSpPr>
          <p:cNvPr id="4" name="IMU measurements help predict rapid motion and support deskew.">
            <a:extLst xmlns:a="http://schemas.openxmlformats.org/drawingml/2006/main">
              <a:ext uri="{FF2B5EF4-FFF2-40B4-BE49-F238E27FC236}">
                <a16:creationId xmlns:a16="http://schemas.microsoft.com/office/drawing/2014/main" id="{96E50C28-C77D-49E9-B6FA-B96E1C4B3187}"/>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IMU measurements help predict rapid motion and support deskew.</a:t>
            </a:r>
          </a:p>
        </p:txBody>
      </p:sp>
      <p:sp>
        <p:nvSpPr>
          <p:cNvPr id="5" name="Camera appearance and LiDAR geometry supply different constraints">
            <a:extLst xmlns:a="http://schemas.openxmlformats.org/drawingml/2006/main">
              <a:ext uri="{FF2B5EF4-FFF2-40B4-BE49-F238E27FC236}">
                <a16:creationId xmlns:a16="http://schemas.microsoft.com/office/drawing/2014/main" id="{7FFA1A3D-4AC1-47C7-BBE1-49A26B0C1BDF}"/>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Camera appearance and LiDAR geometry supply different constraints.</a:t>
            </a:r>
          </a:p>
        </p:txBody>
      </p:sp>
      <p:sp>
        <p:nvSpPr>
          <p:cNvPr id="6" name="Timing and extrinsic calibration connect all measurements.">
            <a:extLst xmlns:a="http://schemas.openxmlformats.org/drawingml/2006/main">
              <a:ext uri="{FF2B5EF4-FFF2-40B4-BE49-F238E27FC236}">
                <a16:creationId xmlns:a16="http://schemas.microsoft.com/office/drawing/2014/main" id="{17E80FD2-92EE-48D4-A905-D45180288C37}"/>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Timing and extrinsic calibration connect all measurements.</a:t>
            </a:r>
          </a:p>
        </p:txBody>
      </p:sp>
    </p:spTree>
    <p:extLst>
      <p:ext uri="{BB962C8B-B14F-4D97-AF65-F5344CB8AC3E}">
        <p14:creationId xmlns:p14="http://schemas.microsoft.com/office/powerpoint/2010/main" val="189383960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20e5f0788f84ce4"/>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Interactive comparison exercise">
            <a:extLst xmlns:a="http://schemas.openxmlformats.org/drawingml/2006/main">
              <a:ext uri="{FF2B5EF4-FFF2-40B4-BE49-F238E27FC236}">
                <a16:creationId xmlns:a16="http://schemas.microsoft.com/office/drawing/2014/main" id="{8A45BEB6-7CAE-4310-9C38-1AC2A6D7AE70}"/>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Interactive comparison exercise</a:t>
            </a:r>
          </a:p>
        </p:txBody>
      </p:sp>
      <p:sp>
        <p:nvSpPr>
          <p:cNvPr id="3" name="35">
            <a:extLst xmlns:a="http://schemas.openxmlformats.org/drawingml/2006/main">
              <a:ext uri="{FF2B5EF4-FFF2-40B4-BE49-F238E27FC236}">
                <a16:creationId xmlns:a16="http://schemas.microsoft.com/office/drawing/2014/main" id="{398D4BCD-68A3-4FD9-ADDB-327C53EA9D3F}"/>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bf9649ed1e94b7a"/>
          <a:stretch xmlns:a="http://schemas.openxmlformats.org/drawingml/2006/main"/>
        </p:blipFill>
        <p:spPr>
          <a:xfrm xmlns:a="http://schemas.openxmlformats.org/drawingml/2006/main">
            <a:off x="495300" y="1464595"/>
            <a:ext cx="5286375" cy="2538160"/>
          </a:xfrm>
          <a:prstGeom xmlns:a="http://schemas.openxmlformats.org/drawingml/2006/main" prst="rect">
            <a:avLst/>
          </a:prstGeom>
        </p:spPr>
      </p:pic>
      <p:sp>
        <p:nvSpPr>
          <p:cNvPr id="5" name="Open the demo and pause at original frame 50.&#10;&#10;Select a visual in">
            <a:extLst xmlns:a="http://schemas.openxmlformats.org/drawingml/2006/main">
              <a:ext uri="{FF2B5EF4-FFF2-40B4-BE49-F238E27FC236}">
                <a16:creationId xmlns:a16="http://schemas.microsoft.com/office/drawing/2014/main" id="{6210E3BF-5EF3-48BC-984D-F8A1B353E799}"/>
              </a:ext>
            </a:extLst>
          </p:cNvPr>
          <p:cNvSpPr>
            <a:spLocks xmlns:a="http://schemas.openxmlformats.org/drawingml/2006/main" noGrp="1"/>
          </p:cNvSpPr>
          <p:nvPr/>
        </p:nvSpPr>
        <p:spPr>
          <a:xfrm xmlns:a="http://schemas.openxmlformats.org/drawingml/2006/main">
            <a:off x="6000750" y="1447800"/>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Open the demo and pause at original frame 50.</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Select a visual inlier, then switch to LiDAR and inspect a correspondence.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Toggle accumulated mapping and compare the map outputs.</a:t>
            </a:r>
          </a:p>
        </p:txBody>
      </p:sp>
      <p:sp>
        <p:nvSpPr>
          <p:cNvPr id="6" name="Open interactive demo">
            <a:extLst xmlns:a="http://schemas.openxmlformats.org/drawingml/2006/main">
              <a:ext uri="{FF2B5EF4-FFF2-40B4-BE49-F238E27FC236}">
                <a16:creationId xmlns:a16="http://schemas.microsoft.com/office/drawing/2014/main" id="{1DA60323-0D8C-460D-8559-49AC6994640E}"/>
              </a:ext>
            </a:extLst>
          </p:cNvPr>
          <p:cNvSpPr>
            <a:spLocks xmlns:a="http://schemas.openxmlformats.org/drawingml/2006/main" noGrp="1"/>
          </p:cNvSpPr>
          <p:nvPr/>
        </p:nvSpPr>
        <p:spPr>
          <a:xfrm xmlns:a="http://schemas.openxmlformats.org/drawingml/2006/main">
            <a:off x="523875" y="4171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cdbf7def82ff4d3a"/>
              </a:rPr>
              <a:t>Open interactive demo</a:t>
            </a:r>
          </a:p>
        </p:txBody>
      </p:sp>
    </p:spTree>
    <p:extLst>
      <p:ext uri="{BB962C8B-B14F-4D97-AF65-F5344CB8AC3E}">
        <p14:creationId xmlns:p14="http://schemas.microsoft.com/office/powerpoint/2010/main" val="95782025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26ca45f85a64be7"/>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Student deliverable">
            <a:extLst xmlns:a="http://schemas.openxmlformats.org/drawingml/2006/main">
              <a:ext uri="{FF2B5EF4-FFF2-40B4-BE49-F238E27FC236}">
                <a16:creationId xmlns:a16="http://schemas.microsoft.com/office/drawing/2014/main" id="{23CC3B78-2355-42E4-A1B1-BFDF222ED10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Student deliverable</a:t>
            </a:r>
          </a:p>
        </p:txBody>
      </p:sp>
      <p:sp>
        <p:nvSpPr>
          <p:cNvPr id="3" name="36">
            <a:extLst xmlns:a="http://schemas.openxmlformats.org/drawingml/2006/main">
              <a:ext uri="{FF2B5EF4-FFF2-40B4-BE49-F238E27FC236}">
                <a16:creationId xmlns:a16="http://schemas.microsoft.com/office/drawing/2014/main" id="{EC8C7763-221F-4CEC-B7AD-A22DBDEE8EFE}"/>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36</a:t>
            </a:r>
          </a:p>
        </p:txBody>
      </p:sp>
      <p:sp>
        <p:nvSpPr>
          <p:cNvPr id="4" name="Capture one image track and one LiDAR correspondence.">
            <a:extLst xmlns:a="http://schemas.openxmlformats.org/drawingml/2006/main">
              <a:ext uri="{FF2B5EF4-FFF2-40B4-BE49-F238E27FC236}">
                <a16:creationId xmlns:a16="http://schemas.microsoft.com/office/drawing/2014/main" id="{32B9A270-8345-414D-B2DA-14F070EE6CE0}"/>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Capture one image track and one LiDAR correspondence.</a:t>
            </a:r>
          </a:p>
        </p:txBody>
      </p:sp>
      <p:sp>
        <p:nvSpPr>
          <p:cNvPr id="5" name="Explain how each observation constrains pose and contributes to t">
            <a:extLst xmlns:a="http://schemas.openxmlformats.org/drawingml/2006/main">
              <a:ext uri="{FF2B5EF4-FFF2-40B4-BE49-F238E27FC236}">
                <a16:creationId xmlns:a16="http://schemas.microsoft.com/office/drawing/2014/main" id="{B286BD49-85B7-4C05-BE28-2C33A98A36AF}"/>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Explain how each observation constrains pose and contributes to the map.</a:t>
            </a:r>
          </a:p>
        </p:txBody>
      </p:sp>
      <p:sp>
        <p:nvSpPr>
          <p:cNvPr id="6" name="Choose a sensor setup for one environment and justify its limitat">
            <a:extLst xmlns:a="http://schemas.openxmlformats.org/drawingml/2006/main">
              <a:ext uri="{FF2B5EF4-FFF2-40B4-BE49-F238E27FC236}">
                <a16:creationId xmlns:a16="http://schemas.microsoft.com/office/drawing/2014/main" id="{5904607B-3438-4EE2-9D41-4AE43DE4F22C}"/>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Choose a sensor setup for one environment and justify its limitations.</a:t>
            </a:r>
          </a:p>
        </p:txBody>
      </p:sp>
    </p:spTree>
    <p:extLst>
      <p:ext uri="{BB962C8B-B14F-4D97-AF65-F5344CB8AC3E}">
        <p14:creationId xmlns:p14="http://schemas.microsoft.com/office/powerpoint/2010/main" val="54101141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993d8ea4da14b08"/>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Discussion">
            <a:extLst xmlns:a="http://schemas.openxmlformats.org/drawingml/2006/main">
              <a:ext uri="{FF2B5EF4-FFF2-40B4-BE49-F238E27FC236}">
                <a16:creationId xmlns:a16="http://schemas.microsoft.com/office/drawing/2014/main" id="{C6FF2A05-9F3B-483C-9BCE-80C8CA5776DD}"/>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Discussion</a:t>
            </a:r>
          </a:p>
        </p:txBody>
      </p:sp>
      <p:sp>
        <p:nvSpPr>
          <p:cNvPr id="3" name="37">
            <a:extLst xmlns:a="http://schemas.openxmlformats.org/drawingml/2006/main">
              <a:ext uri="{FF2B5EF4-FFF2-40B4-BE49-F238E27FC236}">
                <a16:creationId xmlns:a16="http://schemas.microsoft.com/office/drawing/2014/main" id="{01649CDB-DA2D-4B80-ABF3-4729B0AE8B9F}"/>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37</a:t>
            </a:r>
          </a:p>
        </p:txBody>
      </p:sp>
      <p:sp>
        <p:nvSpPr>
          <p:cNvPr id="4" name="Can a well-tracked distant feature still have poor depth?">
            <a:extLst xmlns:a="http://schemas.openxmlformats.org/drawingml/2006/main">
              <a:ext uri="{FF2B5EF4-FFF2-40B4-BE49-F238E27FC236}">
                <a16:creationId xmlns:a16="http://schemas.microsoft.com/office/drawing/2014/main" id="{22EBA142-84CE-4887-85A2-04266D7F9D96}"/>
              </a:ext>
            </a:extLst>
          </p:cNvPr>
          <p:cNvSpPr>
            <a:spLocks xmlns:a="http://schemas.openxmlformats.org/drawingml/2006/main" noGrp="1"/>
          </p:cNvSpPr>
          <p:nvPr/>
        </p:nvSpPr>
        <p:spPr>
          <a:xfrm xmlns:a="http://schemas.openxmlformats.org/drawingml/2006/main">
            <a:off x="619125" y="144780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Can a well-tracked distant feature still have poor depth?</a:t>
            </a:r>
          </a:p>
        </p:txBody>
      </p:sp>
      <p:sp>
        <p:nvSpPr>
          <p:cNvPr id="5" name="Why can a single plane leave some motion directions uncertain?">
            <a:extLst xmlns:a="http://schemas.openxmlformats.org/drawingml/2006/main">
              <a:ext uri="{FF2B5EF4-FFF2-40B4-BE49-F238E27FC236}">
                <a16:creationId xmlns:a16="http://schemas.microsoft.com/office/drawing/2014/main" id="{F5A87E84-1C1B-490F-A1ED-E2C64E8B08D8}"/>
              </a:ext>
            </a:extLst>
          </p:cNvPr>
          <p:cNvSpPr>
            <a:spLocks xmlns:a="http://schemas.openxmlformats.org/drawingml/2006/main" noGrp="1"/>
          </p:cNvSpPr>
          <p:nvPr/>
        </p:nvSpPr>
        <p:spPr>
          <a:xfrm xmlns:a="http://schemas.openxmlformats.org/drawingml/2006/main">
            <a:off x="619125" y="2257425"/>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Why can a single plane leave some motion directions uncertain?</a:t>
            </a:r>
          </a:p>
        </p:txBody>
      </p:sp>
      <p:sp>
        <p:nvSpPr>
          <p:cNvPr id="6" name="What extra evidence turns local mapping into a consistent long-te">
            <a:extLst xmlns:a="http://schemas.openxmlformats.org/drawingml/2006/main">
              <a:ext uri="{FF2B5EF4-FFF2-40B4-BE49-F238E27FC236}">
                <a16:creationId xmlns:a16="http://schemas.microsoft.com/office/drawing/2014/main" id="{0D00AEC3-0C72-4993-A0AD-86416D8DE02A}"/>
              </a:ext>
            </a:extLst>
          </p:cNvPr>
          <p:cNvSpPr>
            <a:spLocks xmlns:a="http://schemas.openxmlformats.org/drawingml/2006/main" noGrp="1"/>
          </p:cNvSpPr>
          <p:nvPr/>
        </p:nvSpPr>
        <p:spPr>
          <a:xfrm xmlns:a="http://schemas.openxmlformats.org/drawingml/2006/main">
            <a:off x="619125" y="3067050"/>
            <a:ext cx="7905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What extra evidence turns local mapping into a consistent long-term map?</a:t>
            </a:r>
          </a:p>
        </p:txBody>
      </p:sp>
    </p:spTree>
    <p:extLst>
      <p:ext uri="{BB962C8B-B14F-4D97-AF65-F5344CB8AC3E}">
        <p14:creationId xmlns:p14="http://schemas.microsoft.com/office/powerpoint/2010/main" val="207973037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314bb454bfe45a3"/>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Lecture resources">
            <a:extLst xmlns:a="http://schemas.openxmlformats.org/drawingml/2006/main">
              <a:ext uri="{FF2B5EF4-FFF2-40B4-BE49-F238E27FC236}">
                <a16:creationId xmlns:a16="http://schemas.microsoft.com/office/drawing/2014/main" id="{D096742C-4312-475C-9931-C72646DA088D}"/>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Lecture resources</a:t>
            </a:r>
          </a:p>
        </p:txBody>
      </p:sp>
      <p:sp>
        <p:nvSpPr>
          <p:cNvPr id="3" name="38">
            <a:extLst xmlns:a="http://schemas.openxmlformats.org/drawingml/2006/main">
              <a:ext uri="{FF2B5EF4-FFF2-40B4-BE49-F238E27FC236}">
                <a16:creationId xmlns:a16="http://schemas.microsoft.com/office/drawing/2014/main" id="{04B32B9F-665F-419C-A7AE-ED8838714CD8}"/>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38</a:t>
            </a:r>
          </a:p>
        </p:txBody>
      </p:sp>
      <p:sp>
        <p:nvSpPr>
          <p:cNvPr id="4" name="Online: real-frame visual and LiDAR mapping playback.">
            <a:extLst xmlns:a="http://schemas.openxmlformats.org/drawingml/2006/main">
              <a:ext uri="{FF2B5EF4-FFF2-40B4-BE49-F238E27FC236}">
                <a16:creationId xmlns:a16="http://schemas.microsoft.com/office/drawing/2014/main" id="{B891E14A-144A-4C39-B785-8AF402FC32FA}"/>
              </a:ext>
            </a:extLst>
          </p:cNvPr>
          <p:cNvSpPr>
            <a:spLocks xmlns:a="http://schemas.openxmlformats.org/drawingml/2006/main" noGrp="1"/>
          </p:cNvSpPr>
          <p:nvPr/>
        </p:nvSpPr>
        <p:spPr>
          <a:xfrm xmlns:a="http://schemas.openxmlformats.org/drawingml/2006/main">
            <a:off x="571500" y="1428750"/>
            <a:ext cx="8001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Online: real-frame visual and LiDAR mapping playback.</a:t>
            </a:r>
          </a:p>
        </p:txBody>
      </p:sp>
      <p:sp>
        <p:nvSpPr>
          <p:cNvPr id="5" name="Offline: open Labs/Mapping/index.html from the lecture package.">
            <a:extLst xmlns:a="http://schemas.openxmlformats.org/drawingml/2006/main">
              <a:ext uri="{FF2B5EF4-FFF2-40B4-BE49-F238E27FC236}">
                <a16:creationId xmlns:a16="http://schemas.microsoft.com/office/drawing/2014/main" id="{CD02EA23-2EB4-49A4-84D0-9D3E75D5286A}"/>
              </a:ext>
            </a:extLst>
          </p:cNvPr>
          <p:cNvSpPr>
            <a:spLocks xmlns:a="http://schemas.openxmlformats.org/drawingml/2006/main" noGrp="1"/>
          </p:cNvSpPr>
          <p:nvPr/>
        </p:nvSpPr>
        <p:spPr>
          <a:xfrm xmlns:a="http://schemas.openxmlformats.org/drawingml/2006/main">
            <a:off x="571500" y="1943100"/>
            <a:ext cx="8001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Offline: open Labs/Mapping/index.html from the lecture package.</a:t>
            </a:r>
          </a:p>
        </p:txBody>
      </p:sp>
      <p:sp>
        <p:nvSpPr>
          <p:cNvPr id="6" name="References and implementation scope appear in the demo and slide ">
            <a:extLst xmlns:a="http://schemas.openxmlformats.org/drawingml/2006/main">
              <a:ext uri="{FF2B5EF4-FFF2-40B4-BE49-F238E27FC236}">
                <a16:creationId xmlns:a16="http://schemas.microsoft.com/office/drawing/2014/main" id="{1F5864B3-DCD2-4C1B-B80F-1296DBD7A17E}"/>
              </a:ext>
            </a:extLst>
          </p:cNvPr>
          <p:cNvSpPr>
            <a:spLocks xmlns:a="http://schemas.openxmlformats.org/drawingml/2006/main" noGrp="1"/>
          </p:cNvSpPr>
          <p:nvPr/>
        </p:nvSpPr>
        <p:spPr>
          <a:xfrm xmlns:a="http://schemas.openxmlformats.org/drawingml/2006/main">
            <a:off x="571500" y="2457450"/>
            <a:ext cx="8001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References and implementation scope appear in the demo and slide notes.</a:t>
            </a:r>
          </a:p>
        </p:txBody>
      </p:sp>
      <p:sp>
        <p:nvSpPr>
          <p:cNvPr id="7" name="Open Mapping demos">
            <a:extLst xmlns:a="http://schemas.openxmlformats.org/drawingml/2006/main">
              <a:ext uri="{FF2B5EF4-FFF2-40B4-BE49-F238E27FC236}">
                <a16:creationId xmlns:a16="http://schemas.microsoft.com/office/drawing/2014/main" id="{79696DB1-CD28-4992-ADCB-DB36E721C71A}"/>
              </a:ext>
            </a:extLst>
          </p:cNvPr>
          <p:cNvSpPr>
            <a:spLocks xmlns:a="http://schemas.openxmlformats.org/drawingml/2006/main" noGrp="1"/>
          </p:cNvSpPr>
          <p:nvPr/>
        </p:nvSpPr>
        <p:spPr>
          <a:xfrm xmlns:a="http://schemas.openxmlformats.org/drawingml/2006/main">
            <a:off x="571500" y="33337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36d05561615e43a8"/>
              </a:rPr>
              <a:t>Open Mapping demos</a:t>
            </a:r>
          </a:p>
        </p:txBody>
      </p:sp>
      <p:sp>
        <p:nvSpPr>
          <p:cNvPr id="8" name="Download the offline lecture package">
            <a:extLst xmlns:a="http://schemas.openxmlformats.org/drawingml/2006/main">
              <a:ext uri="{FF2B5EF4-FFF2-40B4-BE49-F238E27FC236}">
                <a16:creationId xmlns:a16="http://schemas.microsoft.com/office/drawing/2014/main" id="{8328FE10-4C18-4A99-9A27-EB53887690E8}"/>
              </a:ext>
            </a:extLst>
          </p:cNvPr>
          <p:cNvSpPr>
            <a:spLocks xmlns:a="http://schemas.openxmlformats.org/drawingml/2006/main" noGrp="1"/>
          </p:cNvSpPr>
          <p:nvPr/>
        </p:nvSpPr>
        <p:spPr>
          <a:xfrm xmlns:a="http://schemas.openxmlformats.org/drawingml/2006/main">
            <a:off x="571500" y="38100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1c98f4c692364ce2"/>
              </a:rPr>
              <a:t>Download the offline lecture package</a:t>
            </a:r>
          </a:p>
        </p:txBody>
      </p:sp>
    </p:spTree>
    <p:extLst>
      <p:ext uri="{BB962C8B-B14F-4D97-AF65-F5344CB8AC3E}">
        <p14:creationId xmlns:p14="http://schemas.microsoft.com/office/powerpoint/2010/main" val="6240596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2026-10-01T13:37:32.5340000Z</dcterms:created>
  <dcterms:modified xsi:type="dcterms:W3CDTF">2026-10-01T13:37:32.5340000Z</dcterms:modified>
</coreProperties>
</file>