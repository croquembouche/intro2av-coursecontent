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dat" ContentType="application/x-fontdata"/>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8218fd174f4120" /><Relationship Type="http://schemas.openxmlformats.org/officeDocument/2006/relationships/extended-properties" Target="/docProps/app.xml" Id="Rb1713d80fb15448e" /><Relationship Type="http://schemas.openxmlformats.org/officeDocument/2006/relationships/officeDocument" Target="/ppt/presentation.xml" Id="R3107095472d34cf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86249e26e494189"/>
  </p:sldMasterIdLst>
  <p:notesMasterIdLst>
    <p:notesMasterId xmlns:r="http://schemas.openxmlformats.org/officeDocument/2006/relationships" r:id="Reebe8fa4116f4781"/>
  </p:notesMasterIdLst>
  <p:sldIdLst>
    <p:sldId xmlns:r="http://schemas.openxmlformats.org/officeDocument/2006/relationships" id="256" r:id="Rbf3998e2158f45d1"/>
    <p:sldId xmlns:r="http://schemas.openxmlformats.org/officeDocument/2006/relationships" id="257" r:id="R7c647f6a017f4a20"/>
    <p:sldId xmlns:r="http://schemas.openxmlformats.org/officeDocument/2006/relationships" id="258" r:id="Rebca349aeaa64158"/>
    <p:sldId xmlns:r="http://schemas.openxmlformats.org/officeDocument/2006/relationships" id="259" r:id="R0be529fd42b8455e"/>
    <p:sldId xmlns:r="http://schemas.openxmlformats.org/officeDocument/2006/relationships" id="260" r:id="Racf56c0c610b4f14"/>
    <p:sldId xmlns:r="http://schemas.openxmlformats.org/officeDocument/2006/relationships" id="261" r:id="Rce22efdfcfdb426a"/>
    <p:sldId xmlns:r="http://schemas.openxmlformats.org/officeDocument/2006/relationships" id="262" r:id="R3d57a689f2324d41"/>
    <p:sldId xmlns:r="http://schemas.openxmlformats.org/officeDocument/2006/relationships" id="263" r:id="Rc0862e407d644b33"/>
    <p:sldId xmlns:r="http://schemas.openxmlformats.org/officeDocument/2006/relationships" id="264" r:id="R451c45b98c044a02"/>
    <p:sldId xmlns:r="http://schemas.openxmlformats.org/officeDocument/2006/relationships" id="265" r:id="R887c12b59d474c29"/>
    <p:sldId xmlns:r="http://schemas.openxmlformats.org/officeDocument/2006/relationships" id="266" r:id="R54cd42751eda4e64"/>
    <p:sldId xmlns:r="http://schemas.openxmlformats.org/officeDocument/2006/relationships" id="267" r:id="R1e3f21d2b6104bb7"/>
    <p:sldId xmlns:r="http://schemas.openxmlformats.org/officeDocument/2006/relationships" id="268" r:id="R981dcda930f44d7c"/>
    <p:sldId xmlns:r="http://schemas.openxmlformats.org/officeDocument/2006/relationships" id="269" r:id="R74401bb8923f4660"/>
    <p:sldId xmlns:r="http://schemas.openxmlformats.org/officeDocument/2006/relationships" id="270" r:id="R01c5ba8049d147ff"/>
    <p:sldId xmlns:r="http://schemas.openxmlformats.org/officeDocument/2006/relationships" id="271" r:id="Rb9ed1eb81bcb43b7"/>
    <p:sldId xmlns:r="http://schemas.openxmlformats.org/officeDocument/2006/relationships" id="272" r:id="R8c6033e6b44d45bf"/>
    <p:sldId xmlns:r="http://schemas.openxmlformats.org/officeDocument/2006/relationships" id="273" r:id="Ra0e439d841254643"/>
    <p:sldId xmlns:r="http://schemas.openxmlformats.org/officeDocument/2006/relationships" id="274" r:id="R720e144bd6fa4a30"/>
    <p:sldId xmlns:r="http://schemas.openxmlformats.org/officeDocument/2006/relationships" id="275" r:id="R04909d6041304b4c"/>
    <p:sldId xmlns:r="http://schemas.openxmlformats.org/officeDocument/2006/relationships" id="276" r:id="R739b99ba15804c82"/>
    <p:sldId xmlns:r="http://schemas.openxmlformats.org/officeDocument/2006/relationships" id="277" r:id="Rcf96d726f9c9423d"/>
    <p:sldId xmlns:r="http://schemas.openxmlformats.org/officeDocument/2006/relationships" id="278" r:id="Rb40091ed037c4085"/>
    <p:sldId xmlns:r="http://schemas.openxmlformats.org/officeDocument/2006/relationships" id="279" r:id="Rdaafc70644da4465"/>
    <p:sldId xmlns:r="http://schemas.openxmlformats.org/officeDocument/2006/relationships" id="280" r:id="Rdd4471b078a543a7"/>
    <p:sldId xmlns:r="http://schemas.openxmlformats.org/officeDocument/2006/relationships" id="281" r:id="R277599a56007406d"/>
    <p:sldId xmlns:r="http://schemas.openxmlformats.org/officeDocument/2006/relationships" id="282" r:id="R6c65f0fa193643db"/>
    <p:sldId xmlns:r="http://schemas.openxmlformats.org/officeDocument/2006/relationships" id="283" r:id="R05ce482de3ca4066"/>
    <p:sldId xmlns:r="http://schemas.openxmlformats.org/officeDocument/2006/relationships" id="284" r:id="R1da0ff4794d04b01"/>
    <p:sldId xmlns:r="http://schemas.openxmlformats.org/officeDocument/2006/relationships" id="285" r:id="Rf9e22ad4bbe74d31"/>
    <p:sldId xmlns:r="http://schemas.openxmlformats.org/officeDocument/2006/relationships" id="286" r:id="Ra1d86028feaa4dc9"/>
    <p:sldId xmlns:r="http://schemas.openxmlformats.org/officeDocument/2006/relationships" id="287" r:id="R44c288fce74d4519"/>
    <p:sldId xmlns:r="http://schemas.openxmlformats.org/officeDocument/2006/relationships" id="288" r:id="Rf770babbdd1542ad"/>
    <p:sldId xmlns:r="http://schemas.openxmlformats.org/officeDocument/2006/relationships" id="289" r:id="R0cabef24c080472b"/>
    <p:sldId xmlns:r="http://schemas.openxmlformats.org/officeDocument/2006/relationships" id="290" r:id="R3b66442ba5644628"/>
    <p:sldId xmlns:r="http://schemas.openxmlformats.org/officeDocument/2006/relationships" id="291" r:id="Ra5ae0973fb884c56"/>
  </p:sldIdLst>
  <p:sldSz cx="9144000" cy="5143500"/>
  <p:notesSz cx="6858000" cy="9144000"/>
  <p:embeddedFontLst>
    <p:embeddedFont>
      <p:font typeface="Helvetica Neue"/>
      <p:regular xmlns:r="http://schemas.openxmlformats.org/officeDocument/2006/relationships" r:id="Rf9c4b81d46464da4"/>
      <p:bold xmlns:r="http://schemas.openxmlformats.org/officeDocument/2006/relationships" r:id="R27d1e2ad55b84e1a"/>
      <p:italic xmlns:r="http://schemas.openxmlformats.org/officeDocument/2006/relationships" r:id="R997e2f250d5244ea"/>
      <p:boldItalic xmlns:r="http://schemas.openxmlformats.org/officeDocument/2006/relationships" r:id="R0324007747694b2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14554678815f48d8" /><Relationship Type="http://schemas.openxmlformats.org/officeDocument/2006/relationships/slideMaster" Target="/ppt/slideMasters/slideMaster1.xml" Id="Rc86249e26e494189" /><Relationship Type="http://schemas.openxmlformats.org/officeDocument/2006/relationships/notesMaster" Target="/ppt/notesMasters/notesMaster1.xml" Id="Reebe8fa4116f4781" /><Relationship Type="http://schemas.openxmlformats.org/officeDocument/2006/relationships/presProps" Target="/ppt/presProps.xml" Id="R93f121ab8ce740d1" /><Relationship Type="http://schemas.openxmlformats.org/officeDocument/2006/relationships/viewProps" Target="/ppt/viewProps.xml" Id="R87e5dd999e2d4372" /><Relationship Type="http://schemas.openxmlformats.org/officeDocument/2006/relationships/tableStyles" Target="/ppt/tableStyles.xml" Id="R59a1bea75206476c" /><Relationship Type="http://schemas.openxmlformats.org/officeDocument/2006/relationships/font" Target="/ppt/fonts/font.dat" Id="Rf9c4b81d46464da4" /><Relationship Type="http://schemas.openxmlformats.org/officeDocument/2006/relationships/font" Target="/ppt/fonts/font2.dat" Id="R27d1e2ad55b84e1a" /><Relationship Type="http://schemas.openxmlformats.org/officeDocument/2006/relationships/font" Target="/ppt/fonts/font3.dat" Id="R997e2f250d5244ea" /><Relationship Type="http://schemas.openxmlformats.org/officeDocument/2006/relationships/font" Target="/ppt/fonts/font4.dat" Id="R0324007747694b2f" /><Relationship Type="http://schemas.openxmlformats.org/officeDocument/2006/relationships/slide" Target="/ppt/slides/slide1.xml" Id="Rbf3998e2158f45d1" /><Relationship Type="http://schemas.openxmlformats.org/officeDocument/2006/relationships/slide" Target="/ppt/slides/slide2.xml" Id="R7c647f6a017f4a20" /><Relationship Type="http://schemas.openxmlformats.org/officeDocument/2006/relationships/slide" Target="/ppt/slides/slide3.xml" Id="Rebca349aeaa64158" /><Relationship Type="http://schemas.openxmlformats.org/officeDocument/2006/relationships/slide" Target="/ppt/slides/slide4.xml" Id="R0be529fd42b8455e" /><Relationship Type="http://schemas.openxmlformats.org/officeDocument/2006/relationships/slide" Target="/ppt/slides/slide5.xml" Id="Racf56c0c610b4f14" /><Relationship Type="http://schemas.openxmlformats.org/officeDocument/2006/relationships/slide" Target="/ppt/slides/slide6.xml" Id="Rce22efdfcfdb426a" /><Relationship Type="http://schemas.openxmlformats.org/officeDocument/2006/relationships/slide" Target="/ppt/slides/slide7.xml" Id="R3d57a689f2324d41" /><Relationship Type="http://schemas.openxmlformats.org/officeDocument/2006/relationships/slide" Target="/ppt/slides/slide8.xml" Id="Rc0862e407d644b33" /><Relationship Type="http://schemas.openxmlformats.org/officeDocument/2006/relationships/slide" Target="/ppt/slides/slide9.xml" Id="R451c45b98c044a02" /><Relationship Type="http://schemas.openxmlformats.org/officeDocument/2006/relationships/slide" Target="/ppt/slides/slide10.xml" Id="R887c12b59d474c29" /><Relationship Type="http://schemas.openxmlformats.org/officeDocument/2006/relationships/slide" Target="/ppt/slides/slide11.xml" Id="R54cd42751eda4e64" /><Relationship Type="http://schemas.openxmlformats.org/officeDocument/2006/relationships/slide" Target="/ppt/slides/slide12.xml" Id="R1e3f21d2b6104bb7" /><Relationship Type="http://schemas.openxmlformats.org/officeDocument/2006/relationships/slide" Target="/ppt/slides/slide13.xml" Id="R981dcda930f44d7c" /><Relationship Type="http://schemas.openxmlformats.org/officeDocument/2006/relationships/slide" Target="/ppt/slides/slide14.xml" Id="R74401bb8923f4660" /><Relationship Type="http://schemas.openxmlformats.org/officeDocument/2006/relationships/slide" Target="/ppt/slides/slide15.xml" Id="R01c5ba8049d147ff" /><Relationship Type="http://schemas.openxmlformats.org/officeDocument/2006/relationships/slide" Target="/ppt/slides/slide16.xml" Id="Rb9ed1eb81bcb43b7" /><Relationship Type="http://schemas.openxmlformats.org/officeDocument/2006/relationships/slide" Target="/ppt/slides/slide17.xml" Id="R8c6033e6b44d45bf" /><Relationship Type="http://schemas.openxmlformats.org/officeDocument/2006/relationships/slide" Target="/ppt/slides/slide18.xml" Id="Ra0e439d841254643" /><Relationship Type="http://schemas.openxmlformats.org/officeDocument/2006/relationships/slide" Target="/ppt/slides/slide19.xml" Id="R720e144bd6fa4a30" /><Relationship Type="http://schemas.openxmlformats.org/officeDocument/2006/relationships/slide" Target="/ppt/slides/slide20.xml" Id="R04909d6041304b4c" /><Relationship Type="http://schemas.openxmlformats.org/officeDocument/2006/relationships/slide" Target="/ppt/slides/slide21.xml" Id="R739b99ba15804c82" /><Relationship Type="http://schemas.openxmlformats.org/officeDocument/2006/relationships/slide" Target="/ppt/slides/slide22.xml" Id="Rcf96d726f9c9423d" /><Relationship Type="http://schemas.openxmlformats.org/officeDocument/2006/relationships/slide" Target="/ppt/slides/slide23.xml" Id="Rb40091ed037c4085" /><Relationship Type="http://schemas.openxmlformats.org/officeDocument/2006/relationships/slide" Target="/ppt/slides/slide24.xml" Id="Rdaafc70644da4465" /><Relationship Type="http://schemas.openxmlformats.org/officeDocument/2006/relationships/slide" Target="/ppt/slides/slide25.xml" Id="Rdd4471b078a543a7" /><Relationship Type="http://schemas.openxmlformats.org/officeDocument/2006/relationships/slide" Target="/ppt/slides/slide26.xml" Id="R277599a56007406d" /><Relationship Type="http://schemas.openxmlformats.org/officeDocument/2006/relationships/slide" Target="/ppt/slides/slide27.xml" Id="R6c65f0fa193643db" /><Relationship Type="http://schemas.openxmlformats.org/officeDocument/2006/relationships/slide" Target="/ppt/slides/slide28.xml" Id="R05ce482de3ca4066" /><Relationship Type="http://schemas.openxmlformats.org/officeDocument/2006/relationships/slide" Target="/ppt/slides/slide29.xml" Id="R1da0ff4794d04b01" /><Relationship Type="http://schemas.openxmlformats.org/officeDocument/2006/relationships/slide" Target="/ppt/slides/slide30.xml" Id="Rf9e22ad4bbe74d31" /><Relationship Type="http://schemas.openxmlformats.org/officeDocument/2006/relationships/slide" Target="/ppt/slides/slide31.xml" Id="Ra1d86028feaa4dc9" /><Relationship Type="http://schemas.openxmlformats.org/officeDocument/2006/relationships/slide" Target="/ppt/slides/slide32.xml" Id="R44c288fce74d4519" /><Relationship Type="http://schemas.openxmlformats.org/officeDocument/2006/relationships/slide" Target="/ppt/slides/slide33.xml" Id="Rf770babbdd1542ad" /><Relationship Type="http://schemas.openxmlformats.org/officeDocument/2006/relationships/slide" Target="/ppt/slides/slide34.xml" Id="R0cabef24c080472b" /><Relationship Type="http://schemas.openxmlformats.org/officeDocument/2006/relationships/slide" Target="/ppt/slides/slide35.xml" Id="R3b66442ba5644628" /><Relationship Type="http://schemas.openxmlformats.org/officeDocument/2006/relationships/slide" Target="/ppt/slides/slide36.xml" Id="Ra5ae0973fb884c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8d568e41ec48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20c4c1e8234dad" /><Relationship Type="http://schemas.openxmlformats.org/officeDocument/2006/relationships/notesMaster" Target="/ppt/notesMasters/notesMaster1.xml" Id="Rff8ad574770d47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6c1b18642c438e" /><Relationship Type="http://schemas.openxmlformats.org/officeDocument/2006/relationships/notesMaster" Target="/ppt/notesMasters/notesMaster1.xml" Id="Rc0624772f4bf44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ea98d111784636" /><Relationship Type="http://schemas.openxmlformats.org/officeDocument/2006/relationships/notesMaster" Target="/ppt/notesMasters/notesMaster1.xml" Id="Rd3aae02a99814a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33ca16056942ba" /><Relationship Type="http://schemas.openxmlformats.org/officeDocument/2006/relationships/notesMaster" Target="/ppt/notesMasters/notesMaster1.xml" Id="Rbf030205d0fa40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c01daf20c14760" /><Relationship Type="http://schemas.openxmlformats.org/officeDocument/2006/relationships/notesMaster" Target="/ppt/notesMasters/notesMaster1.xml" Id="Rda9da796b7944b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179ce24fbb4eae" /><Relationship Type="http://schemas.openxmlformats.org/officeDocument/2006/relationships/notesMaster" Target="/ppt/notesMasters/notesMaster1.xml" Id="R62cd054eb9214d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5f0f98f7e946ba" /><Relationship Type="http://schemas.openxmlformats.org/officeDocument/2006/relationships/notesMaster" Target="/ppt/notesMasters/notesMaster1.xml" Id="Re3eb2e0bcb8348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14c5cfd828404c" /><Relationship Type="http://schemas.openxmlformats.org/officeDocument/2006/relationships/notesMaster" Target="/ppt/notesMasters/notesMaster1.xml" Id="R8a4601bd999946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2ecfc3e9094720" /><Relationship Type="http://schemas.openxmlformats.org/officeDocument/2006/relationships/notesMaster" Target="/ppt/notesMasters/notesMaster1.xml" Id="R93281afd20874e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09f1612acc454d" /><Relationship Type="http://schemas.openxmlformats.org/officeDocument/2006/relationships/notesMaster" Target="/ppt/notesMasters/notesMaster1.xml" Id="Rc947bf5f0f2342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f190b6e0114541" /><Relationship Type="http://schemas.openxmlformats.org/officeDocument/2006/relationships/notesMaster" Target="/ppt/notesMasters/notesMaster1.xml" Id="Rf75a907c98034c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ee7b97182748f3" /><Relationship Type="http://schemas.openxmlformats.org/officeDocument/2006/relationships/notesMaster" Target="/ppt/notesMasters/notesMaster1.xml" Id="R0b8f36f40bce41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4a1d95432046b9" /><Relationship Type="http://schemas.openxmlformats.org/officeDocument/2006/relationships/notesMaster" Target="/ppt/notesMasters/notesMaster1.xml" Id="R0a47777e301b41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87fcf020204dee" /><Relationship Type="http://schemas.openxmlformats.org/officeDocument/2006/relationships/notesMaster" Target="/ppt/notesMasters/notesMaster1.xml" Id="R89a35b91fa724e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b3ab1e11f248ca" /><Relationship Type="http://schemas.openxmlformats.org/officeDocument/2006/relationships/notesMaster" Target="/ppt/notesMasters/notesMaster1.xml" Id="R659f17b7538f40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461de3a5ca4711" /><Relationship Type="http://schemas.openxmlformats.org/officeDocument/2006/relationships/notesMaster" Target="/ppt/notesMasters/notesMaster1.xml" Id="R99c5fd7a65eb45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378871a4644e81" /><Relationship Type="http://schemas.openxmlformats.org/officeDocument/2006/relationships/notesMaster" Target="/ppt/notesMasters/notesMaster1.xml" Id="R81835c0439524e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7e5d93d8df443a" /><Relationship Type="http://schemas.openxmlformats.org/officeDocument/2006/relationships/notesMaster" Target="/ppt/notesMasters/notesMaster1.xml" Id="Re3b55bbcb47447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e40230c4d44510" /><Relationship Type="http://schemas.openxmlformats.org/officeDocument/2006/relationships/notesMaster" Target="/ppt/notesMasters/notesMaster1.xml" Id="R433f607eadb047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cb20cd56a04a21" /><Relationship Type="http://schemas.openxmlformats.org/officeDocument/2006/relationships/notesMaster" Target="/ppt/notesMasters/notesMaster1.xml" Id="R7df03e293e014e6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6636f5ad484e8c" /><Relationship Type="http://schemas.openxmlformats.org/officeDocument/2006/relationships/notesMaster" Target="/ppt/notesMasters/notesMaster1.xml" Id="R4e2d619636ab40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0e0724a35c48cd" /><Relationship Type="http://schemas.openxmlformats.org/officeDocument/2006/relationships/notesMaster" Target="/ppt/notesMasters/notesMaster1.xml" Id="R9fa86ce9153544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84cf957c01345a2" /><Relationship Type="http://schemas.openxmlformats.org/officeDocument/2006/relationships/notesMaster" Target="/ppt/notesMasters/notesMaster1.xml" Id="R0317b0fb799741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366dc7164c54d20" /><Relationship Type="http://schemas.openxmlformats.org/officeDocument/2006/relationships/notesMaster" Target="/ppt/notesMasters/notesMaster1.xml" Id="R3d23bfb7cf0e468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ec723806c204020" /><Relationship Type="http://schemas.openxmlformats.org/officeDocument/2006/relationships/notesMaster" Target="/ppt/notesMasters/notesMaster1.xml" Id="R62491bf4f7ad48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c801eb9a344792" /><Relationship Type="http://schemas.openxmlformats.org/officeDocument/2006/relationships/notesMaster" Target="/ppt/notesMasters/notesMaster1.xml" Id="R3fd6714b90b944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db7e1ebeb6497c" /><Relationship Type="http://schemas.openxmlformats.org/officeDocument/2006/relationships/notesMaster" Target="/ppt/notesMasters/notesMaster1.xml" Id="R2fa6486c8d224ff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f6aff6578924ec7" /><Relationship Type="http://schemas.openxmlformats.org/officeDocument/2006/relationships/notesMaster" Target="/ppt/notesMasters/notesMaster1.xml" Id="R1e8eb64e06f54d4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3d9b0e45584af3" /><Relationship Type="http://schemas.openxmlformats.org/officeDocument/2006/relationships/notesMaster" Target="/ppt/notesMasters/notesMaster1.xml" Id="Rb5ab05f735ca429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932a5d7f6604b55" /><Relationship Type="http://schemas.openxmlformats.org/officeDocument/2006/relationships/notesMaster" Target="/ppt/notesMasters/notesMaster1.xml" Id="R440e093b2ea943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e78fc95a01c4346" /><Relationship Type="http://schemas.openxmlformats.org/officeDocument/2006/relationships/notesMaster" Target="/ppt/notesMasters/notesMaster1.xml" Id="Re277872e548f43a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60747dfac0b43ed" /><Relationship Type="http://schemas.openxmlformats.org/officeDocument/2006/relationships/notesMaster" Target="/ppt/notesMasters/notesMaster1.xml" Id="R6658af69a9ad43c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cc87a161b064718" /><Relationship Type="http://schemas.openxmlformats.org/officeDocument/2006/relationships/notesMaster" Target="/ppt/notesMasters/notesMaster1.xml" Id="Ra92f3adcb98448d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daca047becd4a55" /><Relationship Type="http://schemas.openxmlformats.org/officeDocument/2006/relationships/notesMaster" Target="/ppt/notesMasters/notesMaster1.xml" Id="R9b5a9c1895fb46e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3d87b591dad47af" /><Relationship Type="http://schemas.openxmlformats.org/officeDocument/2006/relationships/notesMaster" Target="/ppt/notesMasters/notesMaster1.xml" Id="Rf41723f4603e417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6119042d02d4e14" /><Relationship Type="http://schemas.openxmlformats.org/officeDocument/2006/relationships/notesMaster" Target="/ppt/notesMasters/notesMaster1.xml" Id="R9676a08dc4f94d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Approximately 75–85 minutes with instructor-led demonstrations. Sequence: understand ICP, identify its limitations, introduce AMCL for pose uncertainty, then introduce NDT for distribution-based scan matching. End by selecting methods for actual operating conditions. A known map is assumed.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a vehicle near a building corner as the opening example. The immediate task is to find the vehicle pose that makes its scan agree with the existing map. Keep the opening focused on localization rather than repeating perception or calibration definitions.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2D for visibility, then note that 3D poses contain translation plus roll, pitch, and yaw. Define T_map,sensor explicitly as mapping sensor coordinates into the map. With known sensor extrinsics, recover vehicle pose as T_map,base = T_map,sensor × inverse(T_base,sensor).</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ICP block: about 20 minutes, slides 5–13. The scan is a sparse, partial observation of the map; point ordering does not tell us correspondences. Green is simulation truth and blue is the estimate. Truth is not given to ICP.</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 nearest neighbor is a candidate match. With a bad pose guess, a scan point from one wall may be paired with another wall. The gate rejects distant pairs, but an overly small gate can also remove useful matches before alignment.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Explain p_i is a scan point, q_c(i) its current matched map point, and R must be a valid rotation. In 2D the centered dot/cross sums give the optimal angle; 3D commonly uses an SVD with a determinant correction. The matching problem and rigid solve are different subproblems.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Play the animation, then pause after one iteration in the live demo. Each displayed update is calculated from real nearest-neighbor pairs and a least-squares rigid solve. A stationary update can be a correct solution or a local minimum.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ICP provides a direct geometric measurement of alignment. It is useful for local tracking and registration when overlap and initialization are good. Point-to-plane methods need normals. Accuracy, speed, and convergence depend on the variant, data, and implementation; do not claim one universal ranking.</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Run the poor-guess preset. Ask whether the algorithm can know which wall is intended using only its current nearest neighbors. Compare the residual and the green true pose. Do not imply every poor guess fails, or that every low residual proves failure.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Along an ideal straight wall, motion parallel to the wall is weakly constrained. Repeated rooms or poles can produce several plausible alignments. Moving cars and people may not belong to the static map. Filtering, robust rejection, good priors, and informative stable geometry matter. ICP can still be useful in dynamic scenes if enough static structure remains.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https://pointclouds.org/documentation/classpcl_1_1_iterative_closest_point_with_normals.html</a:t>
            </a:r>
            <a:endParaRPr/>
          </a:p>
          <a:p xmlns:a="http://schemas.openxmlformats.org/drawingml/2006/main">
            <a:pPr marL="0" lvl="0" indent="0" algn="l">
              <a:lnSpc>
                <a:spcPct val="100000"/>
              </a:lnSpc>
              <a:spcBef>
                <a:spcPts val="360"/>
              </a:spcBef>
              <a:spcAft>
                <a:spcPts val="0"/>
              </a:spcAft>
              <a:buSzPts val="1400"/>
              <a:buNone/>
            </a:pPr>
            <a:r>
              <a:t>https://arxiv.org/abs/2104.03657</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Demonstration, 4 minutes. Choose Set scan pose guess and drag to set position and heading. Use Inspect to view the current nearest-neighbor distance. Compare a good initialization with a wrong basin. Ask why more iterations cannot necessarily repair a wrong correspondence pattern.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https://croquembouche.github.io/Intro2AV-CourseContent/localization/#icp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This is the motivation for AMCL: representing pose uncertainty over time. A particle filter can retain several regions; a local scan matcher typically optimizes one initialization. AMCL is a Bayesian localization filter; ICP is a registration algorithm. AMCL does not solve every ICP failure, especially missing or ambiguous static geometry.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AMCL block: about 22 minutes, slides 14–23. Interpret spread in position and heading separately. If two clusters survive, the weighted mean can be physically implausible between them. Inspect clusters rather than treating the blue mean arrow as guaranteed truth.</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Explain the integral as all previous poses contributing to the new belief through a motion model. u_t is odometry, z_t is the scan, m is the map. Our demo uses noisy body-frame increments, not the full production Nav2 differential or omnidirectional model.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In the likelihood-field model, use endpoint distance to the nearest occupied surface. It is not direct point-to-point scan registration. A random-measurement term prevents every imperfect scan from receiving zero likelihood. Beam skipping and dynamic-object handling matter in production.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Explain proportionality and normalization. If we just resampled, weights begin uniform. Otherwise multiply existing weights, as the demo does. Use log likelihoods in code to avoid numerical underflow from multiplying many small numbers.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Show the cycle. Distinguish a copied particle from a better measured pose. Too few particles can eliminate a useful mode. Motion noise can spread the surviving particles at the next prediction. In our demo the last measurement ESS remains visible after resampling and is labeled that way.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KLD sampling bounds approximation error under its assumptions; it is not a correctness certificate for the true pose. Our demo samples until the occupied-bin formula is met, clamped to 150–800. For one occupied bin it retains the maximum, following a conservative special case. Tighten epsilon to request more samples. z=2.326 is the normal quantile used in this example.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With enough samples covering the correct region, AMCL can perform global localization or track a known pose. Its multimodal belief is useful in ambiguous environments, unlike a single pose guess. KLD adaptation changes the computational budget within limits. Nav2 AMCL is designed around a 2D pose and a static occupancy map.</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the green ring to distinguish a physical pose change from a filter update. Automatic recovery mechanisms may inject random poses depending on configuration. Do not promise automatic recovery from ordinary resampling. Our demo deliberately requires explicit global reinitialization.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This animation uses 800 initial samples in the bounded room, including uniformly sampled heading. It is a small teaching example, not evidence of reliable recovery on a large road map. The scan and odometry are the only update inputs; the initialization does not center on truth.</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Finite sampling may miss a narrow correct region or lose it during resampling. More particles can improve coverage but cost more computation. A stale occupancy map and blocked walls weaken measurement likelihoods. Beam skipping can help with some inconsistent observations, but does not reconstruct missing static evidence. Standard Nav2 AMCL is planar; a particle filter over six pose dimensions is possible but much harder to cover efficiently.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https://arxiv.org/abs/2104.03657</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Demonstration, 4 minutes. Map action Place / kidnap vehicle changes the physical pose only; Place AMCL prior changes the belief only. Inspect a particle to display its projected scan. Drive with the arrow buttons. Compare local coverage, a wrong prior, and global reinitialization. Neither recovery nor correct convergence is guaranteed.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https://croquembouche.github.io/Intro2AV-CourseContent/localization/#amcl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Transition: NDT revisits the map representation used for scan matching. It addresses a different issue from AMCL: scoring a scan against local statistical geometry, rather than maintaining a pose distribution. It can be a local measurement source inside a broader localization system. NDT is not an automatic replacement for AMCL or a guaranteed solution to ICP initialization problems.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Explain an elongated ellipse: points spread along a wall but little across it. Sample covariance can be singular with too few or nearly collinear points. Our 2D demo requires five points per cell and adds 0.012 m² to covariance diagonal entries. These are teaching settings, not PCL defaults.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Mahalanobis distance penalizes displacement across a thin wall more than along it. Explain inverse covariance qualitatively before presenting the expression. Production variants differ in Gaussian normalization, outlier mixture, neighboring-cell support, and optimizer. The demo minimizes an average negative log score with an outlier floor.</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Show the animation. The demo evaluates neighboring cells and uses coordinate search to make each optimization step inspectable. PCL uses a different optimizer; the teaching output is not a PCL benchmark. A stationary score can still correspond to a wrong local solution.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The distribution representation avoids a direct nearest raw-point correspondence for every point in the same form as point-to-point ICP. Covariance gives directional information about local geometry. Precomputed cell statistics can be reused. Runtime and accuracy still depend on resolution, point count, optimizer, and implementation. Autoware provides a concrete 3D LiDAR scan-to-map NDT localizer; this is an application example, not evidence that NDT always outperforms ICP.</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https://autowarefoundation.github.io/autoware_core/latest/localization/autoware_ndt_scan_matcher/</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Compare 0.5 m and 2 m. A cell containing a corner mixes two surface directions into one covariance. Too small a cell may lack enough points. Coarse-to-fine registration is a useful strategy in some systems, but this demo runs one selected resolution at a time.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NDT is generally used as a local registration method and benefits from an initial pose estimate. A Gaussian representation does not make dynamic returns static or resolve an unobservable direction. Sparse cells need adequate support and covariance regularization. Reject inconsistent returns, retain stable structures, and monitor the estimate against other sensors. Dynamic map loading in Autoware refers to loading map regions; it does not mean NDT inherently tracks moving objects.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https://autowarefoundation.github.io/autoware_core/latest/localization/autoware_ndt_scan_matcher/</a:t>
            </a:r>
            <a:endParaRPr/>
          </a:p>
          <a:p xmlns:a="http://schemas.openxmlformats.org/drawingml/2006/main">
            <a:pPr marL="0" lvl="0" indent="0" algn="l">
              <a:lnSpc>
                <a:spcPct val="100000"/>
              </a:lnSpc>
              <a:spcBef>
                <a:spcPts val="360"/>
              </a:spcBef>
              <a:spcAft>
                <a:spcPts val="0"/>
              </a:spcAft>
              <a:buSzPts val="1400"/>
              <a:buNone/>
            </a:pPr>
            <a:r>
              <a:t>https://arxiv.org/abs/2104.03657</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Demonstration, 3 minutes. Inspect shows cell point count, mean, and covariance. Compare 0.5 m, 1 m, and 2 m cells using the same initial pose. A lower cost is not a calibrated pose probability. The demo uses a simplified optimizer and is not a performance comparison with PCL or 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Localization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https://croquembouche.github.io/Intro2AV-CourseContent/localization/#ndt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These are conditional engineering choices, not indoor-only restrictions. A mapped office or warehouse with planar motion and a 2D laser fits the assumptions of standard AMCL. ICP is useful for local scan registration with a reliable prior. NDT can also work indoors with a sufficiently detailed point-cloud map and supported cells. Repeated aisles can confuse all methods; distinct structure and independent constraints remain important.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NDT is used in Autoware for 3D LiDAR localization against a point-cloud map. ICP can also register outdoor scans; outdoors is not a reason to rule it out. AMCL can work on a mostly planar outdoor site with a stable 2D map. An open field or feature-poor road can provide too little geometry for any LiDAR-map method; GNSS/IMU or other independent constraints may be needed. These comparisons are inferences from algorithm assumptions and documented system designs, not benchmark rankings.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https://autowarefoundation.github.io/autoware_core/latest/localization/autoware_ndt_scan_matcher/</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Static means stable map geometry, not a stationary robot. All three methods can localize a moving robot. In dynamic scenes, people and vehicles may hide mapped surfaces or generate conflicting returns. ICP can reject bad pairs; AMCL can use robust measurement models or beam skipping; NDT needs robust scoring or preprocessing as well. None is inherently immune to moving objects. Long-term map changes may require map maintenance or relocalization; simply tuning an optimizer cannot restore absent geometry.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https://arxiv.org/abs/2104.03657</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Start with the map and the state to estimate. Is there a 2D occupancy map or a 3D point-cloud map? Is a good pose prior available, or is the robot globally uncertain? Then consider stable geometry, dynamics, computation, and recovery. These methods can be combined; a registration result can feed a filter. Avoid universal rankings by indoor/outdoor alone.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Answers: both optimize locally and can be misled by initialization, ambiguity, or map mismatch. Multiple hypotheses help with uncertain or ambiguous location if particles cover the correct region. Heavy occlusion reduces stable evidence for every method; reject inconsistent returns and use other constraints rather than assuming a more complex method will fix it. Suggested pacing: setup 5, ICP 20, AMCL 23, NDT 20, comparisons and discussion 12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https://pointclouds.org/documentation/tutorials/iterative_closest_point.html</a:t>
            </a:r>
            <a:endParaRPr/>
          </a:p>
          <a:p xmlns:a="http://schemas.openxmlformats.org/drawingml/2006/main">
            <a:pPr marL="0" lvl="0" indent="0" algn="l">
              <a:lnSpc>
                <a:spcPct val="100000"/>
              </a:lnSpc>
              <a:spcBef>
                <a:spcPts val="360"/>
              </a:spcBef>
              <a:spcAft>
                <a:spcPts val="0"/>
              </a:spcAft>
              <a:buSzPts val="1400"/>
              <a:buNone/>
            </a:pPr>
            <a:r>
              <a:t>https://docs.nav2.org/jazzy/configuration_and_development/configuration_guide/others/configuring_amcl/</a:t>
            </a:r>
            <a:endParaRPr/>
          </a:p>
          <a:p xmlns:a="http://schemas.openxmlformats.org/drawingml/2006/main">
            <a:pPr marL="0" lvl="0" indent="0" algn="l">
              <a:lnSpc>
                <a:spcPct val="100000"/>
              </a:lnSpc>
              <a:spcBef>
                <a:spcPts val="360"/>
              </a:spcBef>
              <a:spcAft>
                <a:spcPts val="0"/>
              </a:spcAft>
              <a:buSzPts val="1400"/>
              <a:buNone/>
            </a:pPr>
            <a:r>
              <a:t>https://pointclouds.org/documentation/tutorials/normal_distributions_transform.html</a:t>
            </a:r>
            <a:endParaRPr/>
          </a:p>
          <a:p xmlns:a="http://schemas.openxmlformats.org/drawingml/2006/main">
            <a:pPr marL="0" lvl="0" indent="0" algn="l">
              <a:lnSpc>
                <a:spcPct val="100000"/>
              </a:lnSpc>
              <a:spcBef>
                <a:spcPts val="360"/>
              </a:spcBef>
              <a:spcAft>
                <a:spcPts val="0"/>
              </a:spcAft>
              <a:buSzPts val="1400"/>
              <a:buNone/>
            </a:pPr>
            <a:r>
              <a:t>https://papers.nips.cc/paper_files/paper/2001/hash/c5b2cebf15b205503560c4e8e6d1ea78-Abstract.html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42cd426ba249bd" /><Relationship Type="http://schemas.openxmlformats.org/officeDocument/2006/relationships/image" Target="/ppt/media/image.jpeg" Id="Rd2a7d026ea684d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f352b389dd4a2c" /><Relationship Type="http://schemas.openxmlformats.org/officeDocument/2006/relationships/image" Target="/ppt/media/image.png" Id="Rb4a55ef8ac2f45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e3f157e38d4dfe" /><Relationship Type="http://schemas.openxmlformats.org/officeDocument/2006/relationships/image" Target="/ppt/media/image2.jpeg" Id="Red721edc4beb4a0f" /><Relationship Type="http://schemas.openxmlformats.org/officeDocument/2006/relationships/image" Target="/ppt/media/image.png" Id="R949d38b5dd294f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cf0f649ffa4d1a" /><Relationship Type="http://schemas.openxmlformats.org/officeDocument/2006/relationships/image" Target="/ppt/media/image2.jpeg" Id="Raf5d305385ce44f0" /><Relationship Type="http://schemas.openxmlformats.org/officeDocument/2006/relationships/image" Target="/ppt/media/image.png" Id="Rbeffdbdeffcb47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2c9fd872954699" /><Relationship Type="http://schemas.openxmlformats.org/officeDocument/2006/relationships/image" Target="/ppt/media/image2.jpeg" Id="Rf9499f8de43b4505" /><Relationship Type="http://schemas.openxmlformats.org/officeDocument/2006/relationships/image" Target="/ppt/media/image.png" Id="Ra08e258eadea46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70ec8a998e4693" /><Relationship Type="http://schemas.openxmlformats.org/officeDocument/2006/relationships/image" Target="/ppt/media/image2.jpeg" Id="Rdbb27f4409c84a72" /><Relationship Type="http://schemas.openxmlformats.org/officeDocument/2006/relationships/image" Target="/ppt/media/image.png" Id="R760da5615aa7487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bdf9e18bbd4448a" /><Relationship Type="http://schemas.openxmlformats.org/officeDocument/2006/relationships/image" Target="/ppt/media/image2.jpeg" Id="Re18c6162c0fd408e" /><Relationship Type="http://schemas.openxmlformats.org/officeDocument/2006/relationships/image" Target="/ppt/media/image.png" Id="Rf5ec76112b264fa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df4e94348f94d8b" /><Relationship Type="http://schemas.openxmlformats.org/officeDocument/2006/relationships/image" Target="/ppt/media/image2.jpeg" Id="Ref64c32069cf4df2" /><Relationship Type="http://schemas.openxmlformats.org/officeDocument/2006/relationships/image" Target="/ppt/media/image.png" Id="R58c4714018754ec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79d426eeb64952" /><Relationship Type="http://schemas.openxmlformats.org/officeDocument/2006/relationships/image" Target="/ppt/media/image2.jpeg" Id="R84a33f0e6e7c4e22" /><Relationship Type="http://schemas.openxmlformats.org/officeDocument/2006/relationships/image" Target="/ppt/media/image.png" Id="R1e20e3e745bd4ce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b389eb9c510403e" /><Relationship Type="http://schemas.openxmlformats.org/officeDocument/2006/relationships/image" Target="/ppt/media/image2.jpeg" Id="R4b45d63b586b4309" /><Relationship Type="http://schemas.openxmlformats.org/officeDocument/2006/relationships/image" Target="/ppt/media/image.png" Id="R912d89e238d545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36b8115f4794116" /><Relationship Type="http://schemas.openxmlformats.org/officeDocument/2006/relationships/image" Target="/ppt/media/image2.jpeg" Id="Rf07b45f4e3ef4f0a" /><Relationship Type="http://schemas.openxmlformats.org/officeDocument/2006/relationships/image" Target="/ppt/media/image.png" Id="R8d9fb8620b11498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0297aa87dd544df" /><Relationship Type="http://schemas.openxmlformats.org/officeDocument/2006/relationships/image" Target="/ppt/media/image2.jpeg" Id="Rdde32c8959ee48b8" /><Relationship Type="http://schemas.openxmlformats.org/officeDocument/2006/relationships/image" Target="/ppt/media/image.png" Id="R89e6c64ae326408e" /></Relationships>
</file>

<file path=ppt/slideLayouts/slideLayout1.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d2a7d026ea684dfb">
            <a:alphaModFix/>
          </a:blip>
          <a:stretch>
            <a:fillRect l="0" t="0" r="0" b="0"/>
          </a:stretch>
        </a:blipFill>
      </p:bgPr>
    </p:bg>
    <p:spTree>
      <p:nvGrpSpPr>
        <p:cNvPr id="1" name=""/>
        <p:cNvGrpSpPr/>
        <p:nvPr/>
      </p:nvGrpSpPr>
      <p:grpSpPr>
        <a:xfrm xmlns:a="http://schemas.openxmlformats.org/drawingml/2006/main"/>
      </p:grpSpPr>
      <p:sp>
        <p:nvSpPr>
          <p:cNvPr id="14" name="Google Shape;14;p5">
            <a:extLst xmlns:a="http://schemas.openxmlformats.org/drawingml/2006/main">
              <a:ext uri="{FF2B5EF4-FFF2-40B4-BE49-F238E27FC236}">
                <a16:creationId xmlns:a16="http://schemas.microsoft.com/office/drawing/2014/main" id="{EE9ED71F-3551-4438-85B7-9B9AE6CDE244}"/>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lt1"/>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5" name="Google Shape;15;p5">
            <a:extLst xmlns:a="http://schemas.openxmlformats.org/drawingml/2006/main">
              <a:ext uri="{FF2B5EF4-FFF2-40B4-BE49-F238E27FC236}">
                <a16:creationId xmlns:a16="http://schemas.microsoft.com/office/drawing/2014/main" id="{5EC03B77-5463-43C0-8A98-279C1E061655}"/>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lnSpc>
                <a:spcPct val="100000"/>
              </a:lnSpc>
              <a:spcBef>
                <a:spcPts val="360"/>
              </a:spcBef>
              <a:spcAft>
                <a:spcPts val="0"/>
              </a:spcAft>
              <a:buClr>
                <a:schemeClr val="accent5"/>
              </a:buClr>
              <a:buSzPts val="1800"/>
              <a:buNone/>
              <a:defRPr>
                <a:solidFill>
                  <a:schemeClr val="accent5"/>
                </a:solidFill>
              </a:defRPr>
            </a:lvl1pPr>
            <a:lvl2pPr algn="ctr">
              <a:lnSpc>
                <a:spcPct val="100000"/>
              </a:lnSpc>
              <a:spcBef>
                <a:spcPts val="360"/>
              </a:spcBef>
              <a:spcAft>
                <a:spcPts val="0"/>
              </a:spcAft>
              <a:buClr>
                <a:srgbClr val="888888"/>
              </a:buClr>
              <a:buSzPts val="1800"/>
              <a:buNone/>
              <a:defRPr>
                <a:solidFill>
                  <a:srgbClr val="888888"/>
                </a:solidFill>
              </a:defRPr>
            </a:lvl2pPr>
            <a:lvl3pPr algn="ctr">
              <a:lnSpc>
                <a:spcPct val="100000"/>
              </a:lnSpc>
              <a:spcBef>
                <a:spcPts val="360"/>
              </a:spcBef>
              <a:spcAft>
                <a:spcPts val="0"/>
              </a:spcAft>
              <a:buClr>
                <a:srgbClr val="888888"/>
              </a:buClr>
              <a:buSzPts val="1800"/>
              <a:buNone/>
              <a:defRPr>
                <a:solidFill>
                  <a:srgbClr val="888888"/>
                </a:solidFill>
              </a:defRPr>
            </a:lvl3pPr>
            <a:lvl4pPr algn="ctr">
              <a:lnSpc>
                <a:spcPct val="100000"/>
              </a:lnSpc>
              <a:spcBef>
                <a:spcPts val="360"/>
              </a:spcBef>
              <a:spcAft>
                <a:spcPts val="0"/>
              </a:spcAft>
              <a:buClr>
                <a:srgbClr val="888888"/>
              </a:buClr>
              <a:buSzPts val="1800"/>
              <a:buNone/>
              <a:defRPr>
                <a:solidFill>
                  <a:srgbClr val="888888"/>
                </a:solidFill>
              </a:defRPr>
            </a:lvl4pPr>
            <a:lvl5pPr algn="ctr">
              <a:lnSpc>
                <a:spcPct val="100000"/>
              </a:lnSpc>
              <a:spcBef>
                <a:spcPts val="360"/>
              </a:spcBef>
              <a:spcAft>
                <a:spcPts val="0"/>
              </a:spcAft>
              <a:buClr>
                <a:srgbClr val="888888"/>
              </a:buClr>
              <a:buSzPts val="18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xmlns:a="http://schemas.openxmlformats.org/drawingml/2006/main"/>
        </p:txBody>
      </p:sp>
    </p:spTree>
  </p:cSld>
</p:sldLayout>
</file>

<file path=ppt/slideLayouts/slideLayout2.xml><?xml version="1.0" encoding="utf-8"?>
<p:sldLayout xmlns:p="http://schemas.openxmlformats.org/presentationml/2006/main" matchingName="Title and Content" type="obj">
  <p:cSld name="OBJECT">
    <p:bg>
      <p:bgPr>
        <a:solidFill xmlns:a="http://schemas.openxmlformats.org/drawingml/2006/main">
          <a:schemeClr val="lt1"/>
        </a:solidFill>
      </p:bgPr>
    </p:bg>
    <p:spTree>
      <p:nvGrpSpPr>
        <p:cNvPr id="1" name=""/>
        <p:cNvGrpSpPr/>
        <p:nvPr/>
      </p:nvGrpSpPr>
      <p:grpSpPr>
        <a:xfrm xmlns:a="http://schemas.openxmlformats.org/drawingml/2006/main"/>
      </p:grpSpPr>
      <p:sp>
        <p:nvSpPr>
          <p:cNvPr id="17" name="Google Shape;17;p6">
            <a:extLst xmlns:a="http://schemas.openxmlformats.org/drawingml/2006/main">
              <a:ext uri="{FF2B5EF4-FFF2-40B4-BE49-F238E27FC236}">
                <a16:creationId xmlns:a16="http://schemas.microsoft.com/office/drawing/2014/main" id="{C79D7B47-0CBE-41BC-A27C-BF942DC17ACF}"/>
              </a:ext>
            </a:extLst>
          </p:cNvPr>
          <p:cNvSpPr>
            <a:spLocks xmlns:a="http://schemas.openxmlformats.org/drawingml/2006/main" noGrp="1"/>
          </p:cNvSpPr>
          <p:nvPr>
            <p:ph type="title" idx="0"/>
          </p:nvPr>
        </p:nvSpPr>
        <p:spPr>
          <a:xfrm xmlns:a="http://schemas.openxmlformats.org/drawingml/2006/main">
            <a:off x="457200" y="52849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8" name="Google Shape;18;p6">
            <a:extLst xmlns:a="http://schemas.openxmlformats.org/drawingml/2006/main">
              <a:ext uri="{FF2B5EF4-FFF2-40B4-BE49-F238E27FC236}">
                <a16:creationId xmlns:a16="http://schemas.microsoft.com/office/drawing/2014/main" id="{74BC8D3C-C384-4A5D-B3F3-C6EB1E7B3B5D}"/>
              </a:ext>
            </a:extLst>
          </p:cNvPr>
          <p:cNvSpPr>
            <a:spLocks xmlns:a="http://schemas.openxmlformats.org/drawingml/2006/main" noGrp="1"/>
          </p:cNvSpPr>
          <p:nvPr>
            <p:ph type="body" idx="1"/>
          </p:nvPr>
        </p:nvSpPr>
        <p:spPr>
          <a:xfrm xmlns:a="http://schemas.openxmlformats.org/drawingml/2006/main">
            <a:off x="457200" y="154305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rgbClr val="006096"/>
              </a:buClr>
              <a:buSzPts val="1800"/>
              <a:buChar char="•"/>
              <a:defRPr>
                <a:solidFill>
                  <a:srgbClr val="006096"/>
                </a:solidFill>
              </a:defRPr>
            </a:lvl1pPr>
            <a:lvl2pPr marL="914400" indent="-342900" algn="l">
              <a:lnSpc>
                <a:spcPct val="100000"/>
              </a:lnSpc>
              <a:spcBef>
                <a:spcPts val="360"/>
              </a:spcBef>
              <a:spcAft>
                <a:spcPts val="0"/>
              </a:spcAft>
              <a:buClr>
                <a:srgbClr val="006096"/>
              </a:buClr>
              <a:buSzPts val="1800"/>
              <a:buChar char="–"/>
              <a:defRPr>
                <a:solidFill>
                  <a:srgbClr val="006096"/>
                </a:solidFill>
              </a:defRPr>
            </a:lvl2pPr>
            <a:lvl3pPr marL="1371600" indent="-342900" algn="l">
              <a:lnSpc>
                <a:spcPct val="100000"/>
              </a:lnSpc>
              <a:spcBef>
                <a:spcPts val="360"/>
              </a:spcBef>
              <a:spcAft>
                <a:spcPts val="0"/>
              </a:spcAft>
              <a:buClr>
                <a:srgbClr val="006096"/>
              </a:buClr>
              <a:buSzPts val="1800"/>
              <a:buChar char="•"/>
              <a:defRPr>
                <a:solidFill>
                  <a:srgbClr val="006096"/>
                </a:solidFill>
              </a:defRPr>
            </a:lvl3pPr>
            <a:lvl4pPr marL="1828800" indent="-342900" algn="l">
              <a:lnSpc>
                <a:spcPct val="100000"/>
              </a:lnSpc>
              <a:spcBef>
                <a:spcPts val="360"/>
              </a:spcBef>
              <a:spcAft>
                <a:spcPts val="0"/>
              </a:spcAft>
              <a:buClr>
                <a:srgbClr val="006096"/>
              </a:buClr>
              <a:buSzPts val="1800"/>
              <a:buChar char="–"/>
              <a:defRPr>
                <a:solidFill>
                  <a:srgbClr val="006096"/>
                </a:solidFill>
              </a:defRPr>
            </a:lvl4pPr>
            <a:lvl5pPr marL="2286000" indent="-342900" algn="l">
              <a:lnSpc>
                <a:spcPct val="100000"/>
              </a:lnSpc>
              <a:spcBef>
                <a:spcPts val="360"/>
              </a:spcBef>
              <a:spcAft>
                <a:spcPts val="0"/>
              </a:spcAft>
              <a:buClr>
                <a:srgbClr val="006096"/>
              </a:buClr>
              <a:buSzPts val="1800"/>
              <a:buChar char="»"/>
              <a:defRPr>
                <a:solidFill>
                  <a:srgbClr val="006096"/>
                </a:solidFill>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19" name="Google Shape;19;p6">
            <a:extLst xmlns:a="http://schemas.openxmlformats.org/drawingml/2006/main">
              <a:ext uri="{FF2B5EF4-FFF2-40B4-BE49-F238E27FC236}">
                <a16:creationId xmlns:a16="http://schemas.microsoft.com/office/drawing/2014/main" id="{7A507B5B-61C7-47F8-9CA2-2E85FB24A3C7}"/>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24" name="Google Shape;20;p6"/>
          <p:cNvPicPr>
            <a:picLocks xmlns:a="http://schemas.openxmlformats.org/drawingml/2006/main" noChangeAspect="1"/>
          </p:cNvPicPr>
          <p:nvPr/>
        </p:nvPicPr>
        <p:blipFill rotWithShape="1">
          <a:blip xmlns:r="http://schemas.openxmlformats.org/officeDocument/2006/relationships" xmlns:a="http://schemas.openxmlformats.org/drawingml/2006/main" r:embed="Rb4a55ef8ac2f45e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Custom Layout">
  <p:cSld name="Custom Layout">
    <p:bg>
      <p:bgPr>
        <a:blipFill xmlns:a="http://schemas.openxmlformats.org/drawingml/2006/main">
          <a:blip xmlns:r="http://schemas.openxmlformats.org/officeDocument/2006/relationships" r:embed="Red721edc4beb4a0f">
            <a:alphaModFix/>
          </a:blip>
          <a:stretch>
            <a:fillRect l="0" t="0" r="0" b="0"/>
          </a:stretch>
        </a:blipFill>
      </p:bgPr>
    </p:bg>
    <p:spTree>
      <p:nvGrpSpPr>
        <p:cNvPr id="1" name=""/>
        <p:cNvGrpSpPr/>
        <p:nvPr/>
      </p:nvGrpSpPr>
      <p:grpSpPr>
        <a:xfrm xmlns:a="http://schemas.openxmlformats.org/drawingml/2006/main"/>
      </p:grpSpPr>
      <p:sp>
        <p:nvSpPr>
          <p:cNvPr id="22" name="Google Shape;22;p7">
            <a:extLst xmlns:a="http://schemas.openxmlformats.org/drawingml/2006/main">
              <a:ext uri="{FF2B5EF4-FFF2-40B4-BE49-F238E27FC236}">
                <a16:creationId xmlns:a16="http://schemas.microsoft.com/office/drawing/2014/main" id="{642AC0A4-E9F6-4A67-87FC-91551F30940B}"/>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3" name="Google Shape;23;p7">
            <a:extLst xmlns:a="http://schemas.openxmlformats.org/drawingml/2006/main">
              <a:ext uri="{FF2B5EF4-FFF2-40B4-BE49-F238E27FC236}">
                <a16:creationId xmlns:a16="http://schemas.microsoft.com/office/drawing/2014/main" id="{20B5EA5C-A8C7-4A8F-A0AF-244DAB62F05D}"/>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r>
              <a:t>1</a:t>
            </a:r>
            <a:endParaRPr>
              <a:solidFill>
                <a:schemeClr val="dk2"/>
              </a:solidFill>
            </a:endParaRPr>
          </a:p>
        </p:txBody>
      </p:sp>
      <p:pic>
        <p:nvPicPr>
          <p:cNvPr id="27" name="Google Shape;24;p7"/>
          <p:cNvPicPr>
            <a:picLocks xmlns:a="http://schemas.openxmlformats.org/drawingml/2006/main" noChangeAspect="1"/>
          </p:cNvPicPr>
          <p:nvPr/>
        </p:nvPicPr>
        <p:blipFill rotWithShape="1">
          <a:blip xmlns:r="http://schemas.openxmlformats.org/officeDocument/2006/relationships" xmlns:a="http://schemas.openxmlformats.org/drawingml/2006/main" r:embed="R949d38b5dd294f64">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Section Header" type="secHead">
  <p:cSld name="SECTION_HEADER">
    <p:bg>
      <p:bgPr>
        <a:blipFill xmlns:a="http://schemas.openxmlformats.org/drawingml/2006/main">
          <a:blip xmlns:r="http://schemas.openxmlformats.org/officeDocument/2006/relationships" r:embed="Raf5d305385ce44f0">
            <a:alphaModFix/>
          </a:blip>
          <a:stretch>
            <a:fillRect l="0" t="0" r="0" b="0"/>
          </a:stretch>
        </a:blipFill>
      </p:bgPr>
    </p:bg>
    <p:spTree>
      <p:nvGrpSpPr>
        <p:cNvPr id="1" name=""/>
        <p:cNvGrpSpPr/>
        <p:nvPr/>
      </p:nvGrpSpPr>
      <p:grpSpPr>
        <a:xfrm xmlns:a="http://schemas.openxmlformats.org/drawingml/2006/main"/>
      </p:grpSpPr>
      <p:sp>
        <p:nvSpPr>
          <p:cNvPr id="26" name="Google Shape;26;p8">
            <a:extLst xmlns:a="http://schemas.openxmlformats.org/drawingml/2006/main">
              <a:ext uri="{FF2B5EF4-FFF2-40B4-BE49-F238E27FC236}">
                <a16:creationId xmlns:a16="http://schemas.microsoft.com/office/drawing/2014/main" id="{E3E70F02-DD3D-47A5-8F35-820EE6519C51}"/>
              </a:ext>
            </a:extLst>
          </p:cNvPr>
          <p:cNvSpPr>
            <a:spLocks xmlns:a="http://schemas.openxmlformats.org/drawingml/2006/main" noGrp="1"/>
          </p:cNvSpPr>
          <p:nvPr>
            <p:ph type="title" idx="0"/>
          </p:nvPr>
        </p:nvSpPr>
        <p:spPr>
          <a:xfrm xmlns:a="http://schemas.openxmlformats.org/drawingml/2006/main">
            <a:off x="722313" y="2477691"/>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SzPts val="1400"/>
              <a:buNone/>
              <a:defRPr sz="3200" b="1" cap="none">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7" name="Google Shape;27;p8">
            <a:extLst xmlns:a="http://schemas.openxmlformats.org/drawingml/2006/main">
              <a:ext uri="{FF2B5EF4-FFF2-40B4-BE49-F238E27FC236}">
                <a16:creationId xmlns:a16="http://schemas.microsoft.com/office/drawing/2014/main" id="{28F565E2-66D6-4375-B6AE-4D09BF9715F4}"/>
              </a:ext>
            </a:extLst>
          </p:cNvPr>
          <p:cNvSpPr>
            <a:spLocks xmlns:a="http://schemas.openxmlformats.org/drawingml/2006/main" noGrp="1"/>
          </p:cNvSpPr>
          <p:nvPr>
            <p:ph type="body" idx="1"/>
          </p:nvPr>
        </p:nvSpPr>
        <p:spPr>
          <a:xfrm xmlns:a="http://schemas.openxmlformats.org/drawingml/2006/main">
            <a:off x="722313" y="1352550"/>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28" name="Google Shape;28;p8">
            <a:extLst xmlns:a="http://schemas.openxmlformats.org/drawingml/2006/main">
              <a:ext uri="{FF2B5EF4-FFF2-40B4-BE49-F238E27FC236}">
                <a16:creationId xmlns:a16="http://schemas.microsoft.com/office/drawing/2014/main" id="{E36CAC64-3B77-4E3D-9866-47C6993BB1E3}"/>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33" name="Google Shape;29;p8"/>
          <p:cNvPicPr>
            <a:picLocks xmlns:a="http://schemas.openxmlformats.org/drawingml/2006/main" noChangeAspect="1"/>
          </p:cNvPicPr>
          <p:nvPr/>
        </p:nvPicPr>
        <p:blipFill rotWithShape="1">
          <a:blip xmlns:r="http://schemas.openxmlformats.org/officeDocument/2006/relationships" xmlns:a="http://schemas.openxmlformats.org/drawingml/2006/main" r:embed="Rbeffdbdeffcb4787">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Two Content" type="twoObj">
  <p:cSld name="TWO_OBJECTS">
    <p:bg>
      <p:bgPr>
        <a:blipFill xmlns:a="http://schemas.openxmlformats.org/drawingml/2006/main">
          <a:blip xmlns:r="http://schemas.openxmlformats.org/officeDocument/2006/relationships" r:embed="Rf9499f8de43b4505">
            <a:alphaModFix/>
          </a:blip>
          <a:stretch>
            <a:fillRect l="0" t="0" r="0" b="0"/>
          </a:stretch>
        </a:blipFill>
      </p:bgPr>
    </p:bg>
    <p:spTree>
      <p:nvGrpSpPr>
        <p:cNvPr id="1" name=""/>
        <p:cNvGrpSpPr/>
        <p:nvPr/>
      </p:nvGrpSpPr>
      <p:grpSpPr>
        <a:xfrm xmlns:a="http://schemas.openxmlformats.org/drawingml/2006/main"/>
      </p:grpSpPr>
      <p:sp>
        <p:nvSpPr>
          <p:cNvPr id="31" name="Google Shape;31;p9">
            <a:extLst xmlns:a="http://schemas.openxmlformats.org/drawingml/2006/main">
              <a:ext uri="{FF2B5EF4-FFF2-40B4-BE49-F238E27FC236}">
                <a16:creationId xmlns:a16="http://schemas.microsoft.com/office/drawing/2014/main" id="{572AB830-7281-4F1F-A6A2-10F9214EF704}"/>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32" name="Google Shape;32;p9">
            <a:extLst xmlns:a="http://schemas.openxmlformats.org/drawingml/2006/main">
              <a:ext uri="{FF2B5EF4-FFF2-40B4-BE49-F238E27FC236}">
                <a16:creationId xmlns:a16="http://schemas.microsoft.com/office/drawing/2014/main" id="{882D9A88-529D-4EA8-BEBD-7A937BCCDCFD}"/>
              </a:ext>
            </a:extLst>
          </p:cNvPr>
          <p:cNvSpPr>
            <a:spLocks xmlns:a="http://schemas.openxmlformats.org/drawingml/2006/main" noGrp="1"/>
          </p:cNvSpPr>
          <p:nvPr>
            <p:ph type="body" idx="1"/>
          </p:nvPr>
        </p:nvSpPr>
        <p:spPr>
          <a:xfrm xmlns:a="http://schemas.openxmlformats.org/drawingml/2006/main">
            <a:off x="457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3" name="Google Shape;33;p9">
            <a:extLst xmlns:a="http://schemas.openxmlformats.org/drawingml/2006/main">
              <a:ext uri="{FF2B5EF4-FFF2-40B4-BE49-F238E27FC236}">
                <a16:creationId xmlns:a16="http://schemas.microsoft.com/office/drawing/2014/main" id="{FFD379FB-FC6A-411B-9864-DAB682D25069}"/>
              </a:ext>
            </a:extLst>
          </p:cNvPr>
          <p:cNvSpPr>
            <a:spLocks xmlns:a="http://schemas.openxmlformats.org/drawingml/2006/main" noGrp="1"/>
          </p:cNvSpPr>
          <p:nvPr>
            <p:ph type="body" idx="2"/>
          </p:nvPr>
        </p:nvSpPr>
        <p:spPr>
          <a:xfrm xmlns:a="http://schemas.openxmlformats.org/drawingml/2006/main">
            <a:off x="4648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4" name="Google Shape;34;p9">
            <a:extLst xmlns:a="http://schemas.openxmlformats.org/drawingml/2006/main">
              <a:ext uri="{FF2B5EF4-FFF2-40B4-BE49-F238E27FC236}">
                <a16:creationId xmlns:a16="http://schemas.microsoft.com/office/drawing/2014/main" id="{40A3B26B-30F2-4DD4-8A73-C8DCE1238AA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0" name="Google Shape;35;p9"/>
          <p:cNvPicPr>
            <a:picLocks xmlns:a="http://schemas.openxmlformats.org/drawingml/2006/main" noChangeAspect="1"/>
          </p:cNvPicPr>
          <p:nvPr/>
        </p:nvPicPr>
        <p:blipFill rotWithShape="1">
          <a:blip xmlns:r="http://schemas.openxmlformats.org/officeDocument/2006/relationships" xmlns:a="http://schemas.openxmlformats.org/drawingml/2006/main" r:embed="Ra08e258eadea469c">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Comparison">
  <p:cSld name="Comparison">
    <p:bg>
      <p:bgPr>
        <a:blipFill xmlns:a="http://schemas.openxmlformats.org/drawingml/2006/main">
          <a:blip xmlns:r="http://schemas.openxmlformats.org/officeDocument/2006/relationships" r:embed="Rdbb27f4409c84a72">
            <a:alphaModFix/>
          </a:blip>
          <a:stretch>
            <a:fillRect l="0" t="0" r="0" b="0"/>
          </a:stretch>
        </a:blipFill>
      </p:bgPr>
    </p:bg>
    <p:spTree>
      <p:nvGrpSpPr>
        <p:cNvPr id="1" name=""/>
        <p:cNvGrpSpPr/>
        <p:nvPr/>
      </p:nvGrpSpPr>
      <p:grpSpPr>
        <a:xfrm xmlns:a="http://schemas.openxmlformats.org/drawingml/2006/main"/>
      </p:grpSpPr>
      <p:sp>
        <p:nvSpPr>
          <p:cNvPr id="37" name="Google Shape;37;p10">
            <a:extLst xmlns:a="http://schemas.openxmlformats.org/drawingml/2006/main">
              <a:ext uri="{FF2B5EF4-FFF2-40B4-BE49-F238E27FC236}">
                <a16:creationId xmlns:a16="http://schemas.microsoft.com/office/drawing/2014/main" id="{5132B670-240F-426D-A702-8349F6ACF749}"/>
              </a:ext>
            </a:extLst>
          </p:cNvPr>
          <p:cNvSpPr>
            <a:spLocks xmlns:a="http://schemas.openxmlformats.org/drawingml/2006/main" noGrp="1"/>
          </p:cNvSpPr>
          <p:nvPr>
            <p:ph type="body" idx="1"/>
          </p:nvPr>
        </p:nvSpPr>
        <p:spPr>
          <a:xfrm xmlns:a="http://schemas.openxmlformats.org/drawingml/2006/main">
            <a:off x="457200" y="514350"/>
            <a:ext cx="4040188"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38" name="Google Shape;38;p10">
            <a:extLst xmlns:a="http://schemas.openxmlformats.org/drawingml/2006/main">
              <a:ext uri="{FF2B5EF4-FFF2-40B4-BE49-F238E27FC236}">
                <a16:creationId xmlns:a16="http://schemas.microsoft.com/office/drawing/2014/main" id="{47B53898-A81A-4D92-BB3A-1247A98C010A}"/>
              </a:ext>
            </a:extLst>
          </p:cNvPr>
          <p:cNvSpPr>
            <a:spLocks xmlns:a="http://schemas.openxmlformats.org/drawingml/2006/main" noGrp="1"/>
          </p:cNvSpPr>
          <p:nvPr>
            <p:ph type="body" idx="2"/>
          </p:nvPr>
        </p:nvSpPr>
        <p:spPr>
          <a:xfrm xmlns:a="http://schemas.openxmlformats.org/drawingml/2006/main">
            <a:off x="457200" y="1288255"/>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39" name="Google Shape;39;p10">
            <a:extLst xmlns:a="http://schemas.openxmlformats.org/drawingml/2006/main">
              <a:ext uri="{FF2B5EF4-FFF2-40B4-BE49-F238E27FC236}">
                <a16:creationId xmlns:a16="http://schemas.microsoft.com/office/drawing/2014/main" id="{BCF58325-F569-4BB2-9070-680C3E96C1FD}"/>
              </a:ext>
            </a:extLst>
          </p:cNvPr>
          <p:cNvSpPr>
            <a:spLocks xmlns:a="http://schemas.openxmlformats.org/drawingml/2006/main" noGrp="1"/>
          </p:cNvSpPr>
          <p:nvPr>
            <p:ph type="body" idx="3"/>
          </p:nvPr>
        </p:nvSpPr>
        <p:spPr>
          <a:xfrm xmlns:a="http://schemas.openxmlformats.org/drawingml/2006/main">
            <a:off x="4645026" y="514350"/>
            <a:ext cx="4041775"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471A090D-3F21-4FB3-A839-7EEC9B8C5E89}"/>
              </a:ext>
            </a:extLst>
          </p:cNvPr>
          <p:cNvSpPr>
            <a:spLocks xmlns:a="http://schemas.openxmlformats.org/drawingml/2006/main" noGrp="1"/>
          </p:cNvSpPr>
          <p:nvPr>
            <p:ph type="body" idx="4"/>
          </p:nvPr>
        </p:nvSpPr>
        <p:spPr>
          <a:xfrm xmlns:a="http://schemas.openxmlformats.org/drawingml/2006/main">
            <a:off x="4645026" y="1288255"/>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74371D8F-0CCC-404B-99F0-BA0973EE7237}"/>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8" name="Google Shape;42;p10"/>
          <p:cNvPicPr>
            <a:picLocks xmlns:a="http://schemas.openxmlformats.org/drawingml/2006/main" noChangeAspect="1"/>
          </p:cNvPicPr>
          <p:nvPr/>
        </p:nvPicPr>
        <p:blipFill rotWithShape="1">
          <a:blip xmlns:r="http://schemas.openxmlformats.org/officeDocument/2006/relationships" xmlns:a="http://schemas.openxmlformats.org/drawingml/2006/main" r:embed="R760da5615aa7487b">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7.xml><?xml version="1.0" encoding="utf-8"?>
<p:sldLayout xmlns:p="http://schemas.openxmlformats.org/presentationml/2006/main" matchingName="Title Only" type="titleOnly">
  <p:cSld name="TITLE_ONLY">
    <p:bg>
      <p:bgPr>
        <a:blipFill xmlns:a="http://schemas.openxmlformats.org/drawingml/2006/main">
          <a:blip xmlns:r="http://schemas.openxmlformats.org/officeDocument/2006/relationships" r:embed="Re18c6162c0fd408e">
            <a:alphaModFix/>
          </a:blip>
          <a:stretch>
            <a:fillRect l="0" t="0" r="0" b="0"/>
          </a:stretch>
        </a:blipFill>
      </p:bgPr>
    </p:bg>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C72BA869-5F5A-4340-8BFF-955523601914}"/>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DDBE5E72-ED27-4482-BAF2-AD787D74EEB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9" name="Google Shape;46;p11"/>
          <p:cNvPicPr>
            <a:picLocks xmlns:a="http://schemas.openxmlformats.org/drawingml/2006/main" noChangeAspect="1"/>
          </p:cNvPicPr>
          <p:nvPr/>
        </p:nvPicPr>
        <p:blipFill rotWithShape="1">
          <a:blip xmlns:r="http://schemas.openxmlformats.org/officeDocument/2006/relationships" xmlns:a="http://schemas.openxmlformats.org/drawingml/2006/main" r:embed="Rf5ec76112b264faf">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8.xml><?xml version="1.0" encoding="utf-8"?>
<p:sldLayout xmlns:p="http://schemas.openxmlformats.org/presentationml/2006/main" matchingName="Blank" type="blank">
  <p:cSld name="BLANK">
    <p:bg>
      <p:bgPr>
        <a:blipFill xmlns:a="http://schemas.openxmlformats.org/drawingml/2006/main">
          <a:blip xmlns:r="http://schemas.openxmlformats.org/officeDocument/2006/relationships" r:embed="Ref64c32069cf4df2">
            <a:alphaModFix/>
          </a:blip>
          <a:stretch>
            <a:fillRect l="0" t="0" r="0" b="0"/>
          </a:stretch>
        </a:blipFill>
      </p:bgPr>
    </p:bg>
    <p:spTree>
      <p:nvGrpSpPr>
        <p:cNvPr id="1" name=""/>
        <p:cNvGrpSpPr/>
        <p:nvPr/>
      </p:nvGrpSpPr>
      <p:grpSpPr>
        <a:xfrm xmlns:a="http://schemas.openxmlformats.org/drawingml/2006/main"/>
      </p:grpSpPr>
      <p:sp>
        <p:nvSpPr>
          <p:cNvPr id="48" name="Google Shape;48;p12">
            <a:extLst xmlns:a="http://schemas.openxmlformats.org/drawingml/2006/main">
              <a:ext uri="{FF2B5EF4-FFF2-40B4-BE49-F238E27FC236}">
                <a16:creationId xmlns:a16="http://schemas.microsoft.com/office/drawing/2014/main" id="{67B86C1F-4CDF-4B46-979E-6AAE21529B98}"/>
              </a:ext>
            </a:extLst>
          </p:cNvPr>
          <p:cNvSpPr>
            <a:spLocks xmlns:a="http://schemas.openxmlformats.org/drawingml/2006/main" noGrp="1"/>
          </p:cNvSpPr>
          <p:nvPr>
            <p:ph type="sldNum" idx="12"/>
          </p:nvPr>
        </p:nvSpPr>
        <p:spPr>
          <a:xfrm xmlns:a="http://schemas.openxmlformats.org/drawingml/2006/main">
            <a:off x="32766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51" name="Google Shape;49;p12"/>
          <p:cNvPicPr>
            <a:picLocks xmlns:a="http://schemas.openxmlformats.org/drawingml/2006/main" noChangeAspect="1"/>
          </p:cNvPicPr>
          <p:nvPr/>
        </p:nvPicPr>
        <p:blipFill rotWithShape="1">
          <a:blip xmlns:r="http://schemas.openxmlformats.org/officeDocument/2006/relationships" xmlns:a="http://schemas.openxmlformats.org/drawingml/2006/main" r:embed="R58c4714018754ec8">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9.xml><?xml version="1.0" encoding="utf-8"?>
<p:sldLayout xmlns:p="http://schemas.openxmlformats.org/presentationml/2006/main" matchingName="Content with Caption" type="objTx">
  <p:cSld name="OBJECT_WITH_CAPTION_TEXT">
    <p:bg>
      <p:bgPr>
        <a:blipFill xmlns:a="http://schemas.openxmlformats.org/drawingml/2006/main">
          <a:blip xmlns:r="http://schemas.openxmlformats.org/officeDocument/2006/relationships" r:embed="R84a33f0e6e7c4e22">
            <a:alphaModFix/>
          </a:blip>
          <a:stretch>
            <a:fillRect l="0" t="0" r="0" b="0"/>
          </a:stretch>
        </a:blip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2A2D6E6E-4EDD-46AA-BC3B-FF5AEA5806E7}"/>
              </a:ext>
            </a:extLst>
          </p:cNvPr>
          <p:cNvSpPr>
            <a:spLocks xmlns:a="http://schemas.openxmlformats.org/drawingml/2006/main" noGrp="1"/>
          </p:cNvSpPr>
          <p:nvPr>
            <p:ph type="title" idx="0"/>
          </p:nvPr>
        </p:nvSpPr>
        <p:spPr>
          <a:xfrm xmlns:a="http://schemas.openxmlformats.org/drawingml/2006/main">
            <a:off x="457201" y="438150"/>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2F07ADC9-0E3A-40F2-B18F-BF95BAF4D5D2}"/>
              </a:ext>
            </a:extLst>
          </p:cNvPr>
          <p:cNvSpPr>
            <a:spLocks xmlns:a="http://schemas.openxmlformats.org/drawingml/2006/main" noGrp="1"/>
          </p:cNvSpPr>
          <p:nvPr>
            <p:ph type="body" idx="1"/>
          </p:nvPr>
        </p:nvSpPr>
        <p:spPr>
          <a:xfrm xmlns:a="http://schemas.openxmlformats.org/drawingml/2006/main">
            <a:off x="3575050" y="438151"/>
            <a:ext cx="5111750" cy="365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lnSpc>
                <a:spcPct val="100000"/>
              </a:lnSpc>
              <a:spcBef>
                <a:spcPts val="640"/>
              </a:spcBef>
              <a:spcAft>
                <a:spcPts val="0"/>
              </a:spcAft>
              <a:buClr>
                <a:schemeClr val="dk2"/>
              </a:buClr>
              <a:buSzPts val="3200"/>
              <a:buChar char="•"/>
              <a:defRPr sz="3200"/>
            </a:lvl1pPr>
            <a:lvl2pPr marL="914400" indent="-406400" algn="l">
              <a:lnSpc>
                <a:spcPct val="100000"/>
              </a:lnSpc>
              <a:spcBef>
                <a:spcPts val="560"/>
              </a:spcBef>
              <a:spcAft>
                <a:spcPts val="0"/>
              </a:spcAft>
              <a:buClr>
                <a:schemeClr val="dk2"/>
              </a:buClr>
              <a:buSzPts val="2800"/>
              <a:buChar char="–"/>
              <a:defRPr sz="2800"/>
            </a:lvl2pPr>
            <a:lvl3pPr marL="1371600" indent="-381000" algn="l">
              <a:lnSpc>
                <a:spcPct val="100000"/>
              </a:lnSpc>
              <a:spcBef>
                <a:spcPts val="480"/>
              </a:spcBef>
              <a:spcAft>
                <a:spcPts val="0"/>
              </a:spcAft>
              <a:buClr>
                <a:schemeClr val="dk2"/>
              </a:buClr>
              <a:buSzPts val="2400"/>
              <a:buChar char="•"/>
              <a:defRPr sz="2400"/>
            </a:lvl3pPr>
            <a:lvl4pPr marL="1828800" indent="-355600" algn="l">
              <a:lnSpc>
                <a:spcPct val="100000"/>
              </a:lnSpc>
              <a:spcBef>
                <a:spcPts val="400"/>
              </a:spcBef>
              <a:spcAft>
                <a:spcPts val="0"/>
              </a:spcAft>
              <a:buClr>
                <a:schemeClr val="dk2"/>
              </a:buClr>
              <a:buSzPts val="2000"/>
              <a:buChar char="–"/>
              <a:defRPr sz="2000"/>
            </a:lvl4pPr>
            <a:lvl5pPr marL="2286000" indent="-355600" algn="l">
              <a:lnSpc>
                <a:spcPct val="100000"/>
              </a:lnSpc>
              <a:spcBef>
                <a:spcPts val="400"/>
              </a:spcBef>
              <a:spcAft>
                <a:spcPts val="0"/>
              </a:spcAft>
              <a:buClr>
                <a:schemeClr val="dk2"/>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DAA04ECC-D61D-496C-9912-DDA30C3F9DF6}"/>
              </a:ext>
            </a:extLst>
          </p:cNvPr>
          <p:cNvSpPr>
            <a:spLocks xmlns:a="http://schemas.openxmlformats.org/drawingml/2006/main" noGrp="1"/>
          </p:cNvSpPr>
          <p:nvPr>
            <p:ph type="body" idx="2"/>
          </p:nvPr>
        </p:nvSpPr>
        <p:spPr>
          <a:xfrm xmlns:a="http://schemas.openxmlformats.org/drawingml/2006/main">
            <a:off x="457201" y="1428750"/>
            <a:ext cx="3008313" cy="26670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rgbClr val="006096"/>
              </a:buClr>
              <a:buSzPts val="1400"/>
              <a:buNone/>
              <a:defRPr sz="1400">
                <a:solidFill>
                  <a:srgbClr val="006096"/>
                </a:solidFill>
              </a:defRPr>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3FF89AA4-6F42-4B35-B555-5FD3165C0DF0}"/>
              </a:ext>
            </a:extLst>
          </p:cNvPr>
          <p:cNvSpPr>
            <a:spLocks xmlns:a="http://schemas.openxmlformats.org/drawingml/2006/main" noGrp="1"/>
          </p:cNvSpPr>
          <p:nvPr>
            <p:ph type="sldNum" idx="12"/>
          </p:nvPr>
        </p:nvSpPr>
        <p:spPr>
          <a:xfrm xmlns:a="http://schemas.openxmlformats.org/drawingml/2006/main">
            <a:off x="3563998"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0" name="Google Shape;55;p13"/>
          <p:cNvPicPr>
            <a:picLocks xmlns:a="http://schemas.openxmlformats.org/drawingml/2006/main" noChangeAspect="1"/>
          </p:cNvPicPr>
          <p:nvPr/>
        </p:nvPicPr>
        <p:blipFill rotWithShape="1">
          <a:blip xmlns:r="http://schemas.openxmlformats.org/officeDocument/2006/relationships" xmlns:a="http://schemas.openxmlformats.org/drawingml/2006/main" r:embed="R1e20e3e745bd4ceb">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0.xml><?xml version="1.0" encoding="utf-8"?>
<p:sldLayout xmlns:p="http://schemas.openxmlformats.org/presentationml/2006/main" matchingName="Picture with Caption" type="picTx">
  <p:cSld name="PICTURE_WITH_CAPTION_TEXT">
    <p:bg>
      <p:bgPr>
        <a:blipFill xmlns:a="http://schemas.openxmlformats.org/drawingml/2006/main">
          <a:blip xmlns:r="http://schemas.openxmlformats.org/officeDocument/2006/relationships" r:embed="R4b45d63b586b4309">
            <a:alphaModFix/>
          </a:blip>
          <a:stretch>
            <a:fillRect l="0" t="0" r="0" b="0"/>
          </a:stretch>
        </a:blipFill>
      </p:bgPr>
    </p:bg>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CF7C9820-D33E-447C-83DE-C1EA0A05BF55}"/>
              </a:ext>
            </a:extLst>
          </p:cNvPr>
          <p:cNvSpPr>
            <a:spLocks xmlns:a="http://schemas.openxmlformats.org/drawingml/2006/main" noGrp="1"/>
          </p:cNvSpPr>
          <p:nvPr>
            <p:ph type="title" idx="0"/>
          </p:nvPr>
        </p:nvSpPr>
        <p:spPr>
          <a:xfrm xmlns:a="http://schemas.openxmlformats.org/drawingml/2006/main">
            <a:off x="6096000" y="459580"/>
            <a:ext cx="2514600" cy="6643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1E1CD35B-791E-4E68-B758-53F1062D112F}"/>
              </a:ext>
            </a:extLst>
          </p:cNvPr>
          <p:cNvSpPr>
            <a:spLocks xmlns:a="http://schemas.openxmlformats.org/drawingml/2006/main" noGrp="1"/>
          </p:cNvSpPr>
          <p:nvPr>
            <p:ph type="pic" idx="2"/>
          </p:nvPr>
        </p:nvSpPr>
        <p:spPr>
          <a:xfrm xmlns:a="http://schemas.openxmlformats.org/drawingml/2006/main">
            <a:off x="457200" y="459580"/>
            <a:ext cx="5486400" cy="3636169"/>
          </a:xfrm>
          <a:prstGeom xmlns:a="http://schemas.openxmlformats.org/drawingml/2006/main" prst="rect">
            <a:avLst/>
          </a:prstGeom>
          <a:noFill xmlns:a="http://schemas.openxmlformats.org/drawingml/2006/main"/>
          <a:ln xmlns:a="http://schemas.openxmlformats.org/drawingml/2006/main">
            <a:noFill/>
          </a:ln>
        </p:spPr>
      </p:sp>
      <p:sp>
        <p:nvSpPr>
          <p:cNvPr id="59" name="Google Shape;59;p14">
            <a:extLst xmlns:a="http://schemas.openxmlformats.org/drawingml/2006/main">
              <a:ext uri="{FF2B5EF4-FFF2-40B4-BE49-F238E27FC236}">
                <a16:creationId xmlns:a16="http://schemas.microsoft.com/office/drawing/2014/main" id="{E7FE0A16-DCC9-4873-8B41-8DAE163200E2}"/>
              </a:ext>
            </a:extLst>
          </p:cNvPr>
          <p:cNvSpPr>
            <a:spLocks xmlns:a="http://schemas.openxmlformats.org/drawingml/2006/main" noGrp="1"/>
          </p:cNvSpPr>
          <p:nvPr>
            <p:ph type="body" idx="1"/>
          </p:nvPr>
        </p:nvSpPr>
        <p:spPr>
          <a:xfrm xmlns:a="http://schemas.openxmlformats.org/drawingml/2006/main">
            <a:off x="6096000" y="1200150"/>
            <a:ext cx="25146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chemeClr val="dk2"/>
              </a:buClr>
              <a:buSzPts val="1400"/>
              <a:buNone/>
              <a:defRPr sz="1400"/>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60" name="Google Shape;60;p14">
            <a:extLst xmlns:a="http://schemas.openxmlformats.org/drawingml/2006/main">
              <a:ext uri="{FF2B5EF4-FFF2-40B4-BE49-F238E27FC236}">
                <a16:creationId xmlns:a16="http://schemas.microsoft.com/office/drawing/2014/main" id="{BB41893C-B038-422B-9D08-44FB58DB226F}"/>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6" name="Google Shape;61;p14"/>
          <p:cNvPicPr>
            <a:picLocks xmlns:a="http://schemas.openxmlformats.org/drawingml/2006/main" noChangeAspect="1"/>
          </p:cNvPicPr>
          <p:nvPr/>
        </p:nvPicPr>
        <p:blipFill rotWithShape="1">
          <a:blip xmlns:r="http://schemas.openxmlformats.org/officeDocument/2006/relationships" xmlns:a="http://schemas.openxmlformats.org/drawingml/2006/main" r:embed="R912d89e238d54595">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1.xml><?xml version="1.0" encoding="utf-8"?>
<p:sldLayout xmlns:p="http://schemas.openxmlformats.org/presentationml/2006/main" matchingName="Title and Vertical Text" type="vertTx">
  <p:cSld name="VERTICAL_TEXT">
    <p:bg>
      <p:bgPr>
        <a:blipFill xmlns:a="http://schemas.openxmlformats.org/drawingml/2006/main">
          <a:blip xmlns:r="http://schemas.openxmlformats.org/officeDocument/2006/relationships" r:embed="Rf07b45f4e3ef4f0a">
            <a:alphaModFix/>
          </a:blip>
          <a:stretch>
            <a:fillRect l="0" t="0" r="0" b="0"/>
          </a:stretch>
        </a:blipFill>
      </p:bgPr>
    </p:bg>
    <p:spTree>
      <p:nvGrpSpPr>
        <p:cNvPr id="1" name=""/>
        <p:cNvGrpSpPr/>
        <p:nvPr/>
      </p:nvGrpSpPr>
      <p:grpSpPr>
        <a:xfrm xmlns:a="http://schemas.openxmlformats.org/drawingml/2006/main"/>
      </p:grpSpPr>
      <p:sp>
        <p:nvSpPr>
          <p:cNvPr id="63" name="Google Shape;63;p15">
            <a:extLst xmlns:a="http://schemas.openxmlformats.org/drawingml/2006/main">
              <a:ext uri="{FF2B5EF4-FFF2-40B4-BE49-F238E27FC236}">
                <a16:creationId xmlns:a16="http://schemas.microsoft.com/office/drawing/2014/main" id="{685E8DEF-7480-49FD-AC15-32F9C6A90691}"/>
              </a:ext>
            </a:extLst>
          </p:cNvPr>
          <p:cNvSpPr>
            <a:spLocks xmlns:a="http://schemas.openxmlformats.org/drawingml/2006/main" noGrp="1"/>
          </p:cNvSpPr>
          <p:nvPr>
            <p:ph type="title" idx="0"/>
          </p:nvPr>
        </p:nvSpPr>
        <p:spPr>
          <a:xfrm xmlns:a="http://schemas.openxmlformats.org/drawingml/2006/main">
            <a:off x="457200" y="4762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257AC52E-7BE7-4427-B9E5-920F32576641}"/>
              </a:ext>
            </a:extLst>
          </p:cNvPr>
          <p:cNvSpPr>
            <a:spLocks xmlns:a="http://schemas.openxmlformats.org/drawingml/2006/main" noGrp="1"/>
          </p:cNvSpPr>
          <p:nvPr>
            <p:ph type="body" idx="1"/>
          </p:nvPr>
        </p:nvSpPr>
        <p:spPr>
          <a:xfrm xmlns:a="http://schemas.openxmlformats.org/drawingml/2006/main" rot="5400000">
            <a:off x="3246438" y="-1284287"/>
            <a:ext cx="2651125"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CDC71E33-7814-4593-A560-4F4F1CEB3B0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0" name="Google Shape;66;p15"/>
          <p:cNvPicPr>
            <a:picLocks xmlns:a="http://schemas.openxmlformats.org/drawingml/2006/main" noChangeAspect="1"/>
          </p:cNvPicPr>
          <p:nvPr/>
        </p:nvPicPr>
        <p:blipFill rotWithShape="1">
          <a:blip xmlns:r="http://schemas.openxmlformats.org/officeDocument/2006/relationships" xmlns:a="http://schemas.openxmlformats.org/drawingml/2006/main" r:embed="R8d9fb8620b11498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2.xml><?xml version="1.0" encoding="utf-8"?>
<p:sldLayout xmlns:p="http://schemas.openxmlformats.org/presentationml/2006/main" matchingName="Vertical Title and Text" type="vertTitleAndTx">
  <p:cSld name="VERTICAL_TITLE_AND_VERTICAL_TEXT">
    <p:bg>
      <p:bgPr>
        <a:blipFill xmlns:a="http://schemas.openxmlformats.org/drawingml/2006/main">
          <a:blip xmlns:r="http://schemas.openxmlformats.org/officeDocument/2006/relationships" r:embed="Rdde32c8959ee48b8">
            <a:alphaModFix/>
          </a:blip>
          <a:stretch>
            <a:fillRect l="0" t="0" r="0" b="0"/>
          </a:stretch>
        </a:blipFill>
      </p:bgPr>
    </p:bg>
    <p:spTree>
      <p:nvGrpSpPr>
        <p:cNvPr id="1" name=""/>
        <p:cNvGrpSpPr/>
        <p:nvPr/>
      </p:nvGrpSpPr>
      <p:grpSpPr>
        <a:xfrm xmlns:a="http://schemas.openxmlformats.org/drawingml/2006/main"/>
      </p:grpSpPr>
      <p:sp>
        <p:nvSpPr>
          <p:cNvPr id="68" name="Google Shape;68;p16">
            <a:extLst xmlns:a="http://schemas.openxmlformats.org/drawingml/2006/main">
              <a:ext uri="{FF2B5EF4-FFF2-40B4-BE49-F238E27FC236}">
                <a16:creationId xmlns:a16="http://schemas.microsoft.com/office/drawing/2014/main" id="{D5328C58-70E2-49B4-BCAB-5F4D8F7FC5A0}"/>
              </a:ext>
            </a:extLst>
          </p:cNvPr>
          <p:cNvSpPr>
            <a:spLocks xmlns:a="http://schemas.openxmlformats.org/drawingml/2006/main" noGrp="1"/>
          </p:cNvSpPr>
          <p:nvPr>
            <p:ph type="title" idx="0"/>
          </p:nvPr>
        </p:nvSpPr>
        <p:spPr>
          <a:xfrm xmlns:a="http://schemas.openxmlformats.org/drawingml/2006/main" rot="5400000">
            <a:off x="5857724" y="1277143"/>
            <a:ext cx="3579813"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707CA7D3-A880-4F84-B3AC-F929EB88C1CE}"/>
              </a:ext>
            </a:extLst>
          </p:cNvPr>
          <p:cNvSpPr>
            <a:spLocks xmlns:a="http://schemas.openxmlformats.org/drawingml/2006/main" noGrp="1"/>
          </p:cNvSpPr>
          <p:nvPr>
            <p:ph type="body" idx="1"/>
          </p:nvPr>
        </p:nvSpPr>
        <p:spPr>
          <a:xfrm xmlns:a="http://schemas.openxmlformats.org/drawingml/2006/main" rot="5400000">
            <a:off x="1677194" y="-704057"/>
            <a:ext cx="3579813"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FFB6F35B-F066-437B-96A7-40DDC118CB88}"/>
              </a:ext>
            </a:extLst>
          </p:cNvPr>
          <p:cNvSpPr>
            <a:spLocks xmlns:a="http://schemas.openxmlformats.org/drawingml/2006/main" noGrp="1"/>
          </p:cNvSpPr>
          <p:nvPr>
            <p:ph type="sldNum" idx="12"/>
          </p:nvPr>
        </p:nvSpPr>
        <p:spPr>
          <a:xfrm xmlns:a="http://schemas.openxmlformats.org/drawingml/2006/main">
            <a:off x="33528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5" name="Google Shape;71;p16"/>
          <p:cNvPicPr>
            <a:picLocks xmlns:a="http://schemas.openxmlformats.org/drawingml/2006/main" noChangeAspect="1"/>
          </p:cNvPicPr>
          <p:nvPr/>
        </p:nvPicPr>
        <p:blipFill rotWithShape="1">
          <a:blip xmlns:r="http://schemas.openxmlformats.org/officeDocument/2006/relationships" xmlns:a="http://schemas.openxmlformats.org/drawingml/2006/main" r:embed="R89e6c64ae326408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9e0aa8aa43b24314" /><Relationship Type="http://schemas.openxmlformats.org/officeDocument/2006/relationships/theme" Target="/ppt/slideMasters/theme/theme2.xml" Id="Rbf48421f8c9342ac" /><Relationship Type="http://schemas.openxmlformats.org/officeDocument/2006/relationships/slideLayout" Target="/ppt/slideLayouts/slideLayout1.xml" Id="Rb782634aa6804fad" /><Relationship Type="http://schemas.openxmlformats.org/officeDocument/2006/relationships/slideLayout" Target="/ppt/slideLayouts/slideLayout2.xml" Id="Rdaffe17e304b443a" /><Relationship Type="http://schemas.openxmlformats.org/officeDocument/2006/relationships/slideLayout" Target="/ppt/slideLayouts/slideLayout3.xml" Id="R9f286934b5b544b3" /><Relationship Type="http://schemas.openxmlformats.org/officeDocument/2006/relationships/slideLayout" Target="/ppt/slideLayouts/slideLayout4.xml" Id="R0260d25406ab4bd3" /><Relationship Type="http://schemas.openxmlformats.org/officeDocument/2006/relationships/slideLayout" Target="/ppt/slideLayouts/slideLayout5.xml" Id="Rc3c1f5b2d3fe466b" /><Relationship Type="http://schemas.openxmlformats.org/officeDocument/2006/relationships/slideLayout" Target="/ppt/slideLayouts/slideLayout6.xml" Id="R583113e96e944dd1" /><Relationship Type="http://schemas.openxmlformats.org/officeDocument/2006/relationships/slideLayout" Target="/ppt/slideLayouts/slideLayout7.xml" Id="R66e47e41ce8546cb" /><Relationship Type="http://schemas.openxmlformats.org/officeDocument/2006/relationships/slideLayout" Target="/ppt/slideLayouts/slideLayout8.xml" Id="Rc24420cdb25346ee" /><Relationship Type="http://schemas.openxmlformats.org/officeDocument/2006/relationships/slideLayout" Target="/ppt/slideLayouts/slideLayout9.xml" Id="R3707f64c754b4140" /><Relationship Type="http://schemas.openxmlformats.org/officeDocument/2006/relationships/slideLayout" Target="/ppt/slideLayouts/slideLayout10.xml" Id="R69cac311e6284a34" /><Relationship Type="http://schemas.openxmlformats.org/officeDocument/2006/relationships/slideLayout" Target="/ppt/slideLayouts/slideLayout11.xml" Id="R5a4d373b02364141" /><Relationship Type="http://schemas.openxmlformats.org/officeDocument/2006/relationships/slideLayout" Target="/ppt/slideLayouts/slideLayout12.xml" Id="R9a51c6139e0844e3" /></Relationships>
</file>

<file path=ppt/slideMasters/slideMaster1.xml><?xml version="1.0" encoding="utf-8"?>
<p:sldMaster xmlns:p="http://schemas.openxmlformats.org/presentationml/2006/main">
  <p:cSld>
    <p:bg>
      <p:bgPr>
        <a:blipFill xmlns:a="http://schemas.openxmlformats.org/drawingml/2006/main">
          <a:blip xmlns:r="http://schemas.openxmlformats.org/officeDocument/2006/relationships" r:embed="R9e0aa8aa43b24314">
            <a:alphaModFix/>
          </a:blip>
          <a:stretch>
            <a:fillRect l="0" t="0" r="0" b="0"/>
          </a:stretch>
        </a:blip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EA55C3EE-8EE7-44BB-9FA7-7BE99AF87134}"/>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3200" b="0" i="0" u="none" cap="none">
                <a:solidFill>
                  <a:schemeClr val="lt1"/>
                </a:solidFill>
                <a:latin typeface="Calibri"/>
                <a:ea typeface="Calibri"/>
                <a:cs typeface="Calibri"/>
              </a:defRPr>
            </a:lvl1pPr>
            <a:lvl2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2pPr>
            <a:lvl3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3pPr>
            <a:lvl4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4pPr>
            <a:lvl5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5pPr>
            <a:lvl6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6pPr>
            <a:lvl7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7pPr>
            <a:lvl8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8pPr>
            <a:lvl9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9pPr>
          </a:lstStyle>
          <a:p xmlns:a="http://schemas.openxmlformats.org/drawingml/2006/main"/>
        </p:txBody>
      </p:sp>
      <p:sp>
        <p:nvSpPr>
          <p:cNvPr id="11" name="Google Shape;11;p4">
            <a:extLst xmlns:a="http://schemas.openxmlformats.org/drawingml/2006/main">
              <a:ext uri="{FF2B5EF4-FFF2-40B4-BE49-F238E27FC236}">
                <a16:creationId xmlns:a16="http://schemas.microsoft.com/office/drawing/2014/main" id="{A5D6AE06-8596-4986-BC67-327F2A29CD36}"/>
              </a:ext>
            </a:extLst>
          </p:cNvPr>
          <p:cNvSpPr>
            <a:spLocks xmlns:a="http://schemas.openxmlformats.org/drawingml/2006/main" noGrp="1"/>
          </p:cNvSpPr>
          <p:nvPr>
            <p:ph type="body" idx="1"/>
          </p:nvPr>
        </p:nvSpPr>
        <p:spPr>
          <a:xfrm xmlns:a="http://schemas.openxmlformats.org/drawingml/2006/main">
            <a:off x="457200" y="194310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1pPr>
            <a:lvl2pPr marL="9144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2pPr>
            <a:lvl3pPr marL="13716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3pPr>
            <a:lvl4pPr marL="18288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4pPr>
            <a:lvl5pPr marL="22860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4">
            <a:extLst xmlns:a="http://schemas.openxmlformats.org/drawingml/2006/main">
              <a:ext uri="{FF2B5EF4-FFF2-40B4-BE49-F238E27FC236}">
                <a16:creationId xmlns:a16="http://schemas.microsoft.com/office/drawing/2014/main" id="{827FF4F2-1D4F-48FC-A4F1-A35FFC2B07AF}"/>
              </a:ext>
            </a:extLst>
          </p:cNvPr>
          <p:cNvSpPr>
            <a:spLocks xmlns:a="http://schemas.openxmlformats.org/drawingml/2006/main" noGrp="1"/>
          </p:cNvSpPr>
          <p:nvPr>
            <p:ph type="sldNum" idx="12"/>
          </p:nvPr>
        </p:nvSpPr>
        <p:spPr>
          <a:xfrm xmlns:a="http://schemas.openxmlformats.org/drawingml/2006/main">
            <a:off x="6553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9pPr>
          </a:lstStyle>
          <a:p xmlns:a="http://schemas.openxmlformats.org/drawingml/2006/main">
            <a:pPr marL="0" lvl="0" indent="0" algn="r">
              <a:spcBef>
                <a:spcPts val="0"/>
              </a:spcBef>
              <a:spcAft>
                <a:spcPts val="0"/>
              </a:spcAft>
              <a:buNone/>
            </a:pPr>
            <a:r>
              <a:t>1</a:t>
            </a:r>
            <a:endParaRPr sz="1400">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782634aa6804fad"/>
    <p:sldLayoutId xmlns:r="http://schemas.openxmlformats.org/officeDocument/2006/relationships" id="2147483650" r:id="Rdaffe17e304b443a"/>
    <p:sldLayoutId xmlns:r="http://schemas.openxmlformats.org/officeDocument/2006/relationships" id="2147483651" r:id="R9f286934b5b544b3"/>
    <p:sldLayoutId xmlns:r="http://schemas.openxmlformats.org/officeDocument/2006/relationships" id="2147483652" r:id="R0260d25406ab4bd3"/>
    <p:sldLayoutId xmlns:r="http://schemas.openxmlformats.org/officeDocument/2006/relationships" id="2147483653" r:id="Rc3c1f5b2d3fe466b"/>
    <p:sldLayoutId xmlns:r="http://schemas.openxmlformats.org/officeDocument/2006/relationships" id="2147483654" r:id="R583113e96e944dd1"/>
    <p:sldLayoutId xmlns:r="http://schemas.openxmlformats.org/officeDocument/2006/relationships" id="2147483655" r:id="R66e47e41ce8546cb"/>
    <p:sldLayoutId xmlns:r="http://schemas.openxmlformats.org/officeDocument/2006/relationships" id="2147483656" r:id="Rc24420cdb25346ee"/>
    <p:sldLayoutId xmlns:r="http://schemas.openxmlformats.org/officeDocument/2006/relationships" id="2147483657" r:id="R3707f64c754b4140"/>
    <p:sldLayoutId xmlns:r="http://schemas.openxmlformats.org/officeDocument/2006/relationships" id="2147483658" r:id="R69cac311e6284a34"/>
    <p:sldLayoutId xmlns:r="http://schemas.openxmlformats.org/officeDocument/2006/relationships" id="2147483659" r:id="R5a4d373b02364141"/>
    <p:sldLayoutId xmlns:r="http://schemas.openxmlformats.org/officeDocument/2006/relationships" id="2147483660" r:id="R9a51c6139e0844e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972e3bf13f4344" /><Relationship Type="http://schemas.openxmlformats.org/officeDocument/2006/relationships/notesSlide" Target="/ppt/notesSlides/notesSlide1.xml" Id="R34125d88cf6041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cca165440274bba" /><Relationship Type="http://schemas.openxmlformats.org/officeDocument/2006/relationships/notesSlide" Target="/ppt/notesSlides/notesSlide2.xml" Id="Rb2cd511621ac4a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7ab150375314b94" /><Relationship Type="http://schemas.openxmlformats.org/officeDocument/2006/relationships/notesSlide" Target="/ppt/notesSlides/notesSlide3.xml" Id="R6bcc9a83ccaa4b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471f6bb4a374fbf" /><Relationship Type="http://schemas.openxmlformats.org/officeDocument/2006/relationships/image" Target="/ppt/media/image2.png" Id="R6c163576a66245bb" /><Relationship Type="http://schemas.openxmlformats.org/officeDocument/2006/relationships/notesSlide" Target="/ppt/notesSlides/notesSlide4.xml" Id="R981768a3a3344c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0b57e8f75574abb" /><Relationship Type="http://schemas.openxmlformats.org/officeDocument/2006/relationships/image" Target="/ppt/media/image3.png" Id="R73a65d5d80d74704" /><Relationship Type="http://schemas.openxmlformats.org/officeDocument/2006/relationships/notesSlide" Target="/ppt/notesSlides/notesSlide5.xml" Id="R89111fd7677640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25c94e477f44d1c" /><Relationship Type="http://schemas.openxmlformats.org/officeDocument/2006/relationships/notesSlide" Target="/ppt/notesSlides/notesSlide6.xml" Id="R3aae3cfacde24e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d2a782b84274db6" /><Relationship Type="http://schemas.openxmlformats.org/officeDocument/2006/relationships/image" Target="/ppt/media/image.gif" Id="Rdf52c929309f406e" /><Relationship Type="http://schemas.openxmlformats.org/officeDocument/2006/relationships/notesSlide" Target="/ppt/notesSlides/notesSlide7.xml" Id="R42730e718d4d4f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614ea6f39f343db" /><Relationship Type="http://schemas.openxmlformats.org/officeDocument/2006/relationships/image" Target="/ppt/media/image4.png" Id="Re84cef2769d242e9" /><Relationship Type="http://schemas.openxmlformats.org/officeDocument/2006/relationships/notesSlide" Target="/ppt/notesSlides/notesSlide8.xml" Id="Re8510d8079ff4b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a988dbe947e4f7f" /><Relationship Type="http://schemas.openxmlformats.org/officeDocument/2006/relationships/image" Target="/ppt/media/image2.gif" Id="Re8488209df6d4811" /><Relationship Type="http://schemas.openxmlformats.org/officeDocument/2006/relationships/notesSlide" Target="/ppt/notesSlides/notesSlide9.xml" Id="R576228da855f4f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0fc7deca7434ad3" /><Relationship Type="http://schemas.openxmlformats.org/officeDocument/2006/relationships/notesSlide" Target="/ppt/notesSlides/notesSlide10.xml" Id="R619926bc33ad41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1577cb011694afc" /><Relationship Type="http://schemas.openxmlformats.org/officeDocument/2006/relationships/image" Target="/ppt/media/image5.png" Id="Rfc6072c750bc4607" /><Relationship Type="http://schemas.openxmlformats.org/officeDocument/2006/relationships/hyperlink" Target="https://croquembouche.github.io/Intro2AV-CourseContent/localization/#icp" TargetMode="External" Id="R2f84b0bbb2374bf2" /><Relationship Type="http://schemas.openxmlformats.org/officeDocument/2006/relationships/notesSlide" Target="/ppt/notesSlides/notesSlide11.xml" Id="Ra24335184d3c4e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65d356491134db4" /><Relationship Type="http://schemas.openxmlformats.org/officeDocument/2006/relationships/notesSlide" Target="/ppt/notesSlides/notesSlide12.xml" Id="R0701d9e38a5f4b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6a261a092e448ae" /><Relationship Type="http://schemas.openxmlformats.org/officeDocument/2006/relationships/image" Target="/ppt/media/image6.png" Id="R73b3883d8f114c41" /><Relationship Type="http://schemas.openxmlformats.org/officeDocument/2006/relationships/notesSlide" Target="/ppt/notesSlides/notesSlide13.xml" Id="R064d48996bde40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71f28a65c5f448d" /><Relationship Type="http://schemas.openxmlformats.org/officeDocument/2006/relationships/notesSlide" Target="/ppt/notesSlides/notesSlide14.xml" Id="Ra110abb03b8f44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7c198aa350454f58" /><Relationship Type="http://schemas.openxmlformats.org/officeDocument/2006/relationships/image" Target="/ppt/media/image7.png" Id="Rf6c68fe508f643e1" /><Relationship Type="http://schemas.openxmlformats.org/officeDocument/2006/relationships/notesSlide" Target="/ppt/notesSlides/notesSlide15.xml" Id="R88d654a8bafc4c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4a1a88ed53f423e" /><Relationship Type="http://schemas.openxmlformats.org/officeDocument/2006/relationships/notesSlide" Target="/ppt/notesSlides/notesSlide16.xml" Id="R0e641018fd494d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7c0320e2b61846e7" /><Relationship Type="http://schemas.openxmlformats.org/officeDocument/2006/relationships/image" Target="/ppt/media/image3.gif" Id="R1f15f7e04a06475c" /><Relationship Type="http://schemas.openxmlformats.org/officeDocument/2006/relationships/notesSlide" Target="/ppt/notesSlides/notesSlide17.xml" Id="R2958ac3317b34a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89cd06bc11c4a37" /><Relationship Type="http://schemas.openxmlformats.org/officeDocument/2006/relationships/notesSlide" Target="/ppt/notesSlides/notesSlide18.xml" Id="R7072a3c89ff14eb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dd8008e70f642b8" /><Relationship Type="http://schemas.openxmlformats.org/officeDocument/2006/relationships/image" Target="/ppt/media/image8.png" Id="R2a435bdbdada48c3" /><Relationship Type="http://schemas.openxmlformats.org/officeDocument/2006/relationships/notesSlide" Target="/ppt/notesSlides/notesSlide19.xml" Id="R690689af2a104cd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f4b459844e848ab" /><Relationship Type="http://schemas.openxmlformats.org/officeDocument/2006/relationships/image" Target="/ppt/media/image4.gif" Id="Rc93dd8a68f8d4a7c" /><Relationship Type="http://schemas.openxmlformats.org/officeDocument/2006/relationships/notesSlide" Target="/ppt/notesSlides/notesSlide20.xml" Id="R2764a051246e4f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6dab7df6ed904047" /><Relationship Type="http://schemas.openxmlformats.org/officeDocument/2006/relationships/image" Target="/ppt/media/image5.gif" Id="R7c249227666a4614" /><Relationship Type="http://schemas.openxmlformats.org/officeDocument/2006/relationships/notesSlide" Target="/ppt/notesSlides/notesSlide21.xml" Id="R740e587ec61446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20c6cd43c0ec4f1b" /><Relationship Type="http://schemas.openxmlformats.org/officeDocument/2006/relationships/notesSlide" Target="/ppt/notesSlides/notesSlide22.xml" Id="R99e627a384534f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0b73f6a5d6946b4" /><Relationship Type="http://schemas.openxmlformats.org/officeDocument/2006/relationships/image" Target="/ppt/media/image9.png" Id="R9310c53e5b724916" /><Relationship Type="http://schemas.openxmlformats.org/officeDocument/2006/relationships/hyperlink" Target="https://croquembouche.github.io/Intro2AV-CourseContent/localization/#amcl" TargetMode="External" Id="R2447cdb69e82440f" /><Relationship Type="http://schemas.openxmlformats.org/officeDocument/2006/relationships/notesSlide" Target="/ppt/notesSlides/notesSlide23.xml" Id="R8939f0cb096a405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add3ee0d54f417e" /><Relationship Type="http://schemas.openxmlformats.org/officeDocument/2006/relationships/image" Target="/ppt/media/image10.png" Id="R7c234bc6297f4c79" /><Relationship Type="http://schemas.openxmlformats.org/officeDocument/2006/relationships/notesSlide" Target="/ppt/notesSlides/notesSlide24.xml" Id="Rc2d9729d8488490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3e0b4654cb994c86" /><Relationship Type="http://schemas.openxmlformats.org/officeDocument/2006/relationships/notesSlide" Target="/ppt/notesSlides/notesSlide25.xml" Id="R3a2fefd285d4423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4697e3f1dc93496b" /><Relationship Type="http://schemas.openxmlformats.org/officeDocument/2006/relationships/notesSlide" Target="/ppt/notesSlides/notesSlide26.xml" Id="R3932a000eac54b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9cf2a7df89d46f8" /><Relationship Type="http://schemas.openxmlformats.org/officeDocument/2006/relationships/image" Target="/ppt/media/image6.gif" Id="R4ed9b5d0c0994bb3" /><Relationship Type="http://schemas.openxmlformats.org/officeDocument/2006/relationships/notesSlide" Target="/ppt/notesSlides/notesSlide27.xml" Id="R722a8698965d425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5be846cda2cb4783" /><Relationship Type="http://schemas.openxmlformats.org/officeDocument/2006/relationships/notesSlide" Target="/ppt/notesSlides/notesSlide28.xml" Id="Rfd0cac3c05c2481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dfed16c2dc2f4ba4" /><Relationship Type="http://schemas.openxmlformats.org/officeDocument/2006/relationships/image" Target="/ppt/media/image7.gif" Id="Rb2cb39926a834a99" /><Relationship Type="http://schemas.openxmlformats.org/officeDocument/2006/relationships/notesSlide" Target="/ppt/notesSlides/notesSlide29.xml" Id="Rf6100ed510d54bb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cd2f9b9429a4e5c" /><Relationship Type="http://schemas.openxmlformats.org/officeDocument/2006/relationships/notesSlide" Target="/ppt/notesSlides/notesSlide30.xml" Id="Rf6df18b854e7492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58a26ab7bd54f77" /><Relationship Type="http://schemas.openxmlformats.org/officeDocument/2006/relationships/image" Target="/ppt/media/image11.png" Id="R184fa2e5b91443cc" /><Relationship Type="http://schemas.openxmlformats.org/officeDocument/2006/relationships/hyperlink" Target="https://croquembouche.github.io/Intro2AV-CourseContent/localization/#ndt" TargetMode="External" Id="Ra4551b99250b4adc" /><Relationship Type="http://schemas.openxmlformats.org/officeDocument/2006/relationships/notesSlide" Target="/ppt/notesSlides/notesSlide31.xml" Id="R1a3b4019dc0543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d38d75adff1e44f5" /><Relationship Type="http://schemas.openxmlformats.org/officeDocument/2006/relationships/notesSlide" Target="/ppt/notesSlides/notesSlide32.xml" Id="R879e0053a322443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05c166fa031d43f7" /><Relationship Type="http://schemas.openxmlformats.org/officeDocument/2006/relationships/notesSlide" Target="/ppt/notesSlides/notesSlide33.xml" Id="Rcf738622835343c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7942243cb654d7c" /><Relationship Type="http://schemas.openxmlformats.org/officeDocument/2006/relationships/notesSlide" Target="/ppt/notesSlides/notesSlide34.xml" Id="Rdab0f2531fcf464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e26b85e41ad4ef0" /><Relationship Type="http://schemas.openxmlformats.org/officeDocument/2006/relationships/notesSlide" Target="/ppt/notesSlides/notesSlide35.xml" Id="R7d26982adddb471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dc24452701ab44a5" /><Relationship Type="http://schemas.openxmlformats.org/officeDocument/2006/relationships/hyperlink" Target="https://croquembouche.github.io/Intro2AV-CourseContent/localization/" TargetMode="External" Id="R75c983ac938d4417" /><Relationship Type="http://schemas.openxmlformats.org/officeDocument/2006/relationships/hyperlink" Target="https://croquembouche.github.io/Intro2AV-CourseContent/localization/gifs/" TargetMode="External" Id="R61acbb174a564aa6" /><Relationship Type="http://schemas.openxmlformats.org/officeDocument/2006/relationships/notesSlide" Target="/ppt/notesSlides/notesSlide36.xml" Id="Rcc1bbde50bf6448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LECTURE 5">
            <a:extLst xmlns:a="http://schemas.openxmlformats.org/drawingml/2006/main">
              <a:ext uri="{FF2B5EF4-FFF2-40B4-BE49-F238E27FC236}">
                <a16:creationId xmlns:a16="http://schemas.microsoft.com/office/drawing/2014/main" id="{D6EC88BD-7E57-41FA-8D5D-B558A367502B}"/>
              </a:ext>
            </a:extLst>
          </p:cNvPr>
          <p:cNvSpPr>
            <a:spLocks xmlns:a="http://schemas.openxmlformats.org/drawingml/2006/main" noGrp="1"/>
          </p:cNvSpPr>
          <p:nvPr/>
        </p:nvSpPr>
        <p:spPr>
          <a:xfrm xmlns:a="http://schemas.openxmlformats.org/drawingml/2006/main">
            <a:off x="619125" y="90487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LECTURE 5</a:t>
            </a:r>
          </a:p>
        </p:txBody>
      </p:sp>
      <p:sp>
        <p:nvSpPr>
          <p:cNvPr id="2" name="Localization">
            <a:extLst xmlns:a="http://schemas.openxmlformats.org/drawingml/2006/main">
              <a:ext uri="{FF2B5EF4-FFF2-40B4-BE49-F238E27FC236}">
                <a16:creationId xmlns:a16="http://schemas.microsoft.com/office/drawing/2014/main" id="{2E4DBCB9-F55A-4363-A2A2-0229FFCE84A3}"/>
              </a:ext>
            </a:extLst>
          </p:cNvPr>
          <p:cNvSpPr>
            <a:spLocks xmlns:a="http://schemas.openxmlformats.org/drawingml/2006/main" noGrp="1"/>
          </p:cNvSpPr>
          <p:nvPr/>
        </p:nvSpPr>
        <p:spPr>
          <a:xfrm xmlns:a="http://schemas.openxmlformats.org/drawingml/2006/main">
            <a:off x="619125" y="1524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Localization</a:t>
            </a:r>
          </a:p>
        </p:txBody>
      </p:sp>
      <p:sp>
        <p:nvSpPr>
          <p:cNvPr id="3" name="for autonomous driving">
            <a:extLst xmlns:a="http://schemas.openxmlformats.org/drawingml/2006/main">
              <a:ext uri="{FF2B5EF4-FFF2-40B4-BE49-F238E27FC236}">
                <a16:creationId xmlns:a16="http://schemas.microsoft.com/office/drawing/2014/main" id="{A4CA4B25-1793-46D1-94D9-E62569CDFA0B}"/>
              </a:ext>
            </a:extLst>
          </p:cNvPr>
          <p:cNvSpPr>
            <a:spLocks xmlns:a="http://schemas.openxmlformats.org/drawingml/2006/main" noGrp="1"/>
          </p:cNvSpPr>
          <p:nvPr/>
        </p:nvSpPr>
        <p:spPr>
          <a:xfrm xmlns:a="http://schemas.openxmlformats.org/drawingml/2006/main">
            <a:off x="619125" y="23336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for autonomous driving</a:t>
            </a:r>
          </a:p>
        </p:txBody>
      </p:sp>
      <p:sp>
        <p:nvSpPr>
          <p:cNvPr id="4" name="ICP → AMCL → NDT">
            <a:extLst xmlns:a="http://schemas.openxmlformats.org/drawingml/2006/main">
              <a:ext uri="{FF2B5EF4-FFF2-40B4-BE49-F238E27FC236}">
                <a16:creationId xmlns:a16="http://schemas.microsoft.com/office/drawing/2014/main" id="{251E4FA3-73F3-43CD-8E16-11FCCAB04A3A}"/>
              </a:ext>
            </a:extLst>
          </p:cNvPr>
          <p:cNvSpPr>
            <a:spLocks xmlns:a="http://schemas.openxmlformats.org/drawingml/2006/main" noGrp="1"/>
          </p:cNvSpPr>
          <p:nvPr/>
        </p:nvSpPr>
        <p:spPr>
          <a:xfrm xmlns:a="http://schemas.openxmlformats.org/drawingml/2006/main">
            <a:off x="619125" y="314325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ICP → AMCL → NDT</a:t>
            </a:r>
          </a:p>
        </p:txBody>
      </p:sp>
      <p:sp>
        <p:nvSpPr>
          <p:cNvPr id="5" name="Introduction to Autonomous Driving · Fall 2026">
            <a:extLst xmlns:a="http://schemas.openxmlformats.org/drawingml/2006/main">
              <a:ext uri="{FF2B5EF4-FFF2-40B4-BE49-F238E27FC236}">
                <a16:creationId xmlns:a16="http://schemas.microsoft.com/office/drawing/2014/main" id="{1A7DA80B-9389-48F3-8606-520656103393}"/>
              </a:ext>
            </a:extLst>
          </p:cNvPr>
          <p:cNvSpPr>
            <a:spLocks xmlns:a="http://schemas.openxmlformats.org/drawingml/2006/main" noGrp="1"/>
          </p:cNvSpPr>
          <p:nvPr/>
        </p:nvSpPr>
        <p:spPr>
          <a:xfrm xmlns:a="http://schemas.openxmlformats.org/drawingml/2006/main">
            <a:off x="619125" y="4000500"/>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Introduction to Autonomous Driving · Fall 2026</a:t>
            </a:r>
          </a:p>
        </p:txBody>
      </p:sp>
      <p:sp>
        <p:nvSpPr>
          <p:cNvPr id="6" name="1">
            <a:extLst xmlns:a="http://schemas.openxmlformats.org/drawingml/2006/main">
              <a:ext uri="{FF2B5EF4-FFF2-40B4-BE49-F238E27FC236}">
                <a16:creationId xmlns:a16="http://schemas.microsoft.com/office/drawing/2014/main" id="{4885FC0E-8550-48BE-AC6F-4EF75D5EA01D}"/>
              </a:ext>
            </a:extLst>
          </p:cNvPr>
          <p:cNvSpPr>
            <a:spLocks xmlns:a="http://schemas.openxmlformats.org/drawingml/2006/main" noGrp="1"/>
          </p:cNvSpPr>
          <p:nvPr/>
        </p:nvSpPr>
        <p:spPr>
          <a:xfrm xmlns:a="http://schemas.openxmlformats.org/drawingml/2006/main">
            <a:off x="8429625" y="4829175"/>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a:t>
            </a:r>
          </a:p>
        </p:txBody>
      </p:sp>
    </p:spTree>
    <p:extLst>
      <p:ext uri="{BB962C8B-B14F-4D97-AF65-F5344CB8AC3E}">
        <p14:creationId xmlns:p14="http://schemas.microsoft.com/office/powerpoint/2010/main" val="10595838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Localization in the autonomy stack">
            <a:extLst xmlns:a="http://schemas.openxmlformats.org/drawingml/2006/main">
              <a:ext uri="{FF2B5EF4-FFF2-40B4-BE49-F238E27FC236}">
                <a16:creationId xmlns:a16="http://schemas.microsoft.com/office/drawing/2014/main" id="{ADF23F6E-2E4C-4F31-8897-078396B30A7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Localization in the autonomy stack</a:t>
            </a:r>
          </a:p>
        </p:txBody>
      </p:sp>
      <p:sp>
        <p:nvSpPr>
          <p:cNvPr id="2" name="2">
            <a:extLst xmlns:a="http://schemas.openxmlformats.org/drawingml/2006/main">
              <a:ext uri="{FF2B5EF4-FFF2-40B4-BE49-F238E27FC236}">
                <a16:creationId xmlns:a16="http://schemas.microsoft.com/office/drawing/2014/main" id="{7EFC971F-9FC2-4506-AADE-92749B96B08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a:t>
            </a:r>
          </a:p>
        </p:txBody>
      </p:sp>
      <p:sp>
        <p:nvSpPr>
          <p:cNvPr id="3" name="Localization estimates the vehicle’s position and heading in a ma">
            <a:extLst xmlns:a="http://schemas.openxmlformats.org/drawingml/2006/main">
              <a:ext uri="{FF2B5EF4-FFF2-40B4-BE49-F238E27FC236}">
                <a16:creationId xmlns:a16="http://schemas.microsoft.com/office/drawing/2014/main" id="{92AB15DF-2512-4079-96A2-5E14CAF28407}"/>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Localization estimates the vehicle’s position and heading in a map.</a:t>
            </a:r>
          </a:p>
        </p:txBody>
      </p:sp>
      <p:sp>
        <p:nvSpPr>
          <p:cNvPr id="4" name="LiDAR measures nearby surfaces in the sensor frame.">
            <a:extLst xmlns:a="http://schemas.openxmlformats.org/drawingml/2006/main">
              <a:ext uri="{FF2B5EF4-FFF2-40B4-BE49-F238E27FC236}">
                <a16:creationId xmlns:a16="http://schemas.microsoft.com/office/drawing/2014/main" id="{CA9A156A-522A-4F90-A2F7-7B21B8C284C3}"/>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LiDAR measures nearby surfaces in the sensor frame.</a:t>
            </a:r>
          </a:p>
        </p:txBody>
      </p:sp>
      <p:sp>
        <p:nvSpPr>
          <p:cNvPr id="5" name="The estimated pose places those measurements in the map.">
            <a:extLst xmlns:a="http://schemas.openxmlformats.org/drawingml/2006/main">
              <a:ext uri="{FF2B5EF4-FFF2-40B4-BE49-F238E27FC236}">
                <a16:creationId xmlns:a16="http://schemas.microsoft.com/office/drawing/2014/main" id="{331DFE17-8BE9-4C58-B905-170CBF009ED9}"/>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estimated pose places those measurements in the map.</a:t>
            </a:r>
          </a:p>
        </p:txBody>
      </p:sp>
    </p:spTree>
    <p:extLst>
      <p:ext uri="{BB962C8B-B14F-4D97-AF65-F5344CB8AC3E}">
        <p14:creationId xmlns:p14="http://schemas.microsoft.com/office/powerpoint/2010/main" val="18088388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The pose we want to estimate">
            <a:extLst xmlns:a="http://schemas.openxmlformats.org/drawingml/2006/main">
              <a:ext uri="{FF2B5EF4-FFF2-40B4-BE49-F238E27FC236}">
                <a16:creationId xmlns:a16="http://schemas.microsoft.com/office/drawing/2014/main" id="{FD311261-CCF4-41D7-91AE-FCE3E9CDE50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pose we want to estimate</a:t>
            </a:r>
          </a:p>
        </p:txBody>
      </p:sp>
      <p:sp>
        <p:nvSpPr>
          <p:cNvPr id="2" name="3">
            <a:extLst xmlns:a="http://schemas.openxmlformats.org/drawingml/2006/main">
              <a:ext uri="{FF2B5EF4-FFF2-40B4-BE49-F238E27FC236}">
                <a16:creationId xmlns:a16="http://schemas.microsoft.com/office/drawing/2014/main" id="{4E06FF20-B394-4B6B-ADE9-D5D1719E36E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a:t>
            </a:r>
          </a:p>
        </p:txBody>
      </p:sp>
      <p:sp>
        <p:nvSpPr>
          <p:cNvPr id="3" name="q_map = R(θ) p_sensor + t">
            <a:extLst xmlns:a="http://schemas.openxmlformats.org/drawingml/2006/main">
              <a:ext uri="{FF2B5EF4-FFF2-40B4-BE49-F238E27FC236}">
                <a16:creationId xmlns:a16="http://schemas.microsoft.com/office/drawing/2014/main" id="{CE1BCACD-2E5A-4321-9DE2-488DCA6DE164}"/>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q_map = R(θ) p_sensor + t</a:t>
            </a:r>
          </a:p>
        </p:txBody>
      </p:sp>
      <p:sp>
        <p:nvSpPr>
          <p:cNvPr id="4" name="t = [x, y]ᵀ">
            <a:extLst xmlns:a="http://schemas.openxmlformats.org/drawingml/2006/main">
              <a:ext uri="{FF2B5EF4-FFF2-40B4-BE49-F238E27FC236}">
                <a16:creationId xmlns:a16="http://schemas.microsoft.com/office/drawing/2014/main" id="{143CADFB-1836-454C-B8AC-DAB29C7890F5}"/>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t = [x, y]ᵀ</a:t>
            </a:r>
          </a:p>
        </p:txBody>
      </p:sp>
      <p:sp>
        <p:nvSpPr>
          <p:cNvPr id="5" name="T_map,base = T_map,sensor (T_base,sensor)⁻¹">
            <a:extLst xmlns:a="http://schemas.openxmlformats.org/drawingml/2006/main">
              <a:ext uri="{FF2B5EF4-FFF2-40B4-BE49-F238E27FC236}">
                <a16:creationId xmlns:a16="http://schemas.microsoft.com/office/drawing/2014/main" id="{7221522D-A494-4C60-AD30-381AB241AB2F}"/>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00539F"/>
                </a:solidFill>
                <a:latin typeface="Arial"/>
                <a:ea typeface="Arial"/>
                <a:cs typeface="Arial"/>
              </a:defRPr>
            </a:pPr>
            <a:r>
              <a:rPr sz="2100" b="0">
                <a:solidFill>
                  <a:srgbClr val="00539F"/>
                </a:solidFill>
                <a:latin typeface="Arial"/>
                <a:ea typeface="Arial"/>
                <a:cs typeface="Arial"/>
              </a:rPr>
              <a:t>T_map,base = T_map,sensor (T_base,sensor)⁻¹</a:t>
            </a:r>
          </a:p>
        </p:txBody>
      </p:sp>
      <p:sp>
        <p:nvSpPr>
          <p:cNvPr id="6" name="In 2D, estimate x, y, and heading θ.&#10;Calibration supplies the fix">
            <a:extLst xmlns:a="http://schemas.openxmlformats.org/drawingml/2006/main">
              <a:ext uri="{FF2B5EF4-FFF2-40B4-BE49-F238E27FC236}">
                <a16:creationId xmlns:a16="http://schemas.microsoft.com/office/drawing/2014/main" id="{E43AC7F9-1F39-4DE7-B440-332AE6D5BA15}"/>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In 2D, estimate x, y, and heading θ.</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Calibration supplies the fixed sensor-to-vehicle transform.</a:t>
            </a:r>
          </a:p>
        </p:txBody>
      </p:sp>
    </p:spTree>
    <p:extLst>
      <p:ext uri="{BB962C8B-B14F-4D97-AF65-F5344CB8AC3E}">
        <p14:creationId xmlns:p14="http://schemas.microsoft.com/office/powerpoint/2010/main" val="18088388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ICP: align the scan with the map">
            <a:extLst xmlns:a="http://schemas.openxmlformats.org/drawingml/2006/main">
              <a:ext uri="{FF2B5EF4-FFF2-40B4-BE49-F238E27FC236}">
                <a16:creationId xmlns:a16="http://schemas.microsoft.com/office/drawing/2014/main" id="{445CF45A-4541-4C82-8D54-F52DF14E66A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ICP: align the scan with the map</a:t>
            </a:r>
          </a:p>
        </p:txBody>
      </p:sp>
      <p:sp>
        <p:nvSpPr>
          <p:cNvPr id="2" name="4">
            <a:extLst xmlns:a="http://schemas.openxmlformats.org/drawingml/2006/main">
              <a:ext uri="{FF2B5EF4-FFF2-40B4-BE49-F238E27FC236}">
                <a16:creationId xmlns:a16="http://schemas.microsoft.com/office/drawing/2014/main" id="{3748A996-767A-4475-831D-D80394176EC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c163576a66245bb"/>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Gray points belong to the map.&#10;&#10;Orange points are the scan under ">
            <a:extLst xmlns:a="http://schemas.openxmlformats.org/drawingml/2006/main">
              <a:ext uri="{FF2B5EF4-FFF2-40B4-BE49-F238E27FC236}">
                <a16:creationId xmlns:a16="http://schemas.microsoft.com/office/drawing/2014/main" id="{7EE4FB56-73AB-4031-B001-F2A8EABBF125}"/>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Gray points belong to the map.</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Orange points are the scan under the current pose guess.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We want one rigid transform that aligns them.</a:t>
            </a:r>
          </a:p>
        </p:txBody>
      </p:sp>
    </p:spTree>
    <p:extLst>
      <p:ext uri="{BB962C8B-B14F-4D97-AF65-F5344CB8AC3E}">
        <p14:creationId xmlns:p14="http://schemas.microsoft.com/office/powerpoint/2010/main" val="18088388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Nearest-point correspondences">
            <a:extLst xmlns:a="http://schemas.openxmlformats.org/drawingml/2006/main">
              <a:ext uri="{FF2B5EF4-FFF2-40B4-BE49-F238E27FC236}">
                <a16:creationId xmlns:a16="http://schemas.microsoft.com/office/drawing/2014/main" id="{7894AB76-1194-4DA0-A035-D4158A8F8FA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Nearest-point correspondences</a:t>
            </a:r>
          </a:p>
        </p:txBody>
      </p:sp>
      <p:sp>
        <p:nvSpPr>
          <p:cNvPr id="2" name="5">
            <a:extLst xmlns:a="http://schemas.openxmlformats.org/drawingml/2006/main">
              <a:ext uri="{FF2B5EF4-FFF2-40B4-BE49-F238E27FC236}">
                <a16:creationId xmlns:a16="http://schemas.microsoft.com/office/drawing/2014/main" id="{F3AD4AE9-F9A8-4B9F-A066-94C4FED0FE8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3a65d5d80d74704"/>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Place the scan using the current pose guess.&#10;&#10;Match each scan poi">
            <a:extLst xmlns:a="http://schemas.openxmlformats.org/drawingml/2006/main">
              <a:ext uri="{FF2B5EF4-FFF2-40B4-BE49-F238E27FC236}">
                <a16:creationId xmlns:a16="http://schemas.microsoft.com/office/drawing/2014/main" id="{B5C77AEB-E89E-4E63-ACF0-ECE62206AF53}"/>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Place the scan using the current pose guess.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Match each scan point to its nearest map point.</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Reject pairs farther apart than the distance gate.</a:t>
            </a:r>
          </a:p>
        </p:txBody>
      </p:sp>
    </p:spTree>
    <p:extLst>
      <p:ext uri="{BB962C8B-B14F-4D97-AF65-F5344CB8AC3E}">
        <p14:creationId xmlns:p14="http://schemas.microsoft.com/office/powerpoint/2010/main" val="18088388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The rigid alignment objective">
            <a:extLst xmlns:a="http://schemas.openxmlformats.org/drawingml/2006/main">
              <a:ext uri="{FF2B5EF4-FFF2-40B4-BE49-F238E27FC236}">
                <a16:creationId xmlns:a16="http://schemas.microsoft.com/office/drawing/2014/main" id="{2B7AE46C-79F8-4C85-AFAA-97BAFC3EF24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rigid alignment objective</a:t>
            </a:r>
          </a:p>
        </p:txBody>
      </p:sp>
      <p:sp>
        <p:nvSpPr>
          <p:cNvPr id="2" name="6">
            <a:extLst xmlns:a="http://schemas.openxmlformats.org/drawingml/2006/main">
              <a:ext uri="{FF2B5EF4-FFF2-40B4-BE49-F238E27FC236}">
                <a16:creationId xmlns:a16="http://schemas.microsoft.com/office/drawing/2014/main" id="{E13EA4AD-BB0A-4A5F-8EDD-DDEE81DF8AD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6</a:t>
            </a:r>
          </a:p>
        </p:txBody>
      </p:sp>
      <p:sp>
        <p:nvSpPr>
          <p:cNvPr id="3" name="c(i) = nearest map point to R pᵢ + t">
            <a:extLst xmlns:a="http://schemas.openxmlformats.org/drawingml/2006/main">
              <a:ext uri="{FF2B5EF4-FFF2-40B4-BE49-F238E27FC236}">
                <a16:creationId xmlns:a16="http://schemas.microsoft.com/office/drawing/2014/main" id="{2AB6AF72-BEA4-477E-B334-CC1871558138}"/>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c(i) = nearest map point to R pᵢ + t</a:t>
            </a:r>
          </a:p>
        </p:txBody>
      </p:sp>
      <p:sp>
        <p:nvSpPr>
          <p:cNvPr id="4" name="E(R, t) = Σᵢ ‖R pᵢ + t − q_c(i)‖²">
            <a:extLst xmlns:a="http://schemas.openxmlformats.org/drawingml/2006/main">
              <a:ext uri="{FF2B5EF4-FFF2-40B4-BE49-F238E27FC236}">
                <a16:creationId xmlns:a16="http://schemas.microsoft.com/office/drawing/2014/main" id="{72BDA68F-5E52-4C76-96D5-E7688CF21694}"/>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E(R, t) = Σᵢ ‖R pᵢ + t − q_c(i)‖²</a:t>
            </a:r>
          </a:p>
        </p:txBody>
      </p:sp>
      <p:sp>
        <p:nvSpPr>
          <p:cNvPr id="5" name="RᵀR = I,   det(R) = +1">
            <a:extLst xmlns:a="http://schemas.openxmlformats.org/drawingml/2006/main">
              <a:ext uri="{FF2B5EF4-FFF2-40B4-BE49-F238E27FC236}">
                <a16:creationId xmlns:a16="http://schemas.microsoft.com/office/drawing/2014/main" id="{7A8EA477-DB59-4DB3-BF82-F1E45556C666}"/>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RᵀR = I,   det(R) = +1</a:t>
            </a:r>
          </a:p>
        </p:txBody>
      </p:sp>
      <p:sp>
        <p:nvSpPr>
          <p:cNvPr id="6" name="Keep the current correspondences fixed during this solve.&#10;Find th">
            <a:extLst xmlns:a="http://schemas.openxmlformats.org/drawingml/2006/main">
              <a:ext uri="{FF2B5EF4-FFF2-40B4-BE49-F238E27FC236}">
                <a16:creationId xmlns:a16="http://schemas.microsoft.com/office/drawing/2014/main" id="{A6C463FA-6E27-4DAA-9E03-A7080C63ED56}"/>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Keep the current correspondences fixed during this solve.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Find the rotation and translation that minimize squared distances.</a:t>
            </a:r>
          </a:p>
        </p:txBody>
      </p:sp>
    </p:spTree>
    <p:extLst>
      <p:ext uri="{BB962C8B-B14F-4D97-AF65-F5344CB8AC3E}">
        <p14:creationId xmlns:p14="http://schemas.microsoft.com/office/powerpoint/2010/main" val="18088388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ICP: repeat matching and alignment">
            <a:extLst xmlns:a="http://schemas.openxmlformats.org/drawingml/2006/main">
              <a:ext uri="{FF2B5EF4-FFF2-40B4-BE49-F238E27FC236}">
                <a16:creationId xmlns:a16="http://schemas.microsoft.com/office/drawing/2014/main" id="{94E1D60A-402C-44DC-B7C2-75B4A7AFA38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ICP: repeat matching and alignment</a:t>
            </a:r>
          </a:p>
        </p:txBody>
      </p:sp>
      <p:sp>
        <p:nvSpPr>
          <p:cNvPr id="2" name="7">
            <a:extLst xmlns:a="http://schemas.openxmlformats.org/drawingml/2006/main">
              <a:ext uri="{FF2B5EF4-FFF2-40B4-BE49-F238E27FC236}">
                <a16:creationId xmlns:a16="http://schemas.microsoft.com/office/drawing/2014/main" id="{FE8EBEDA-8A5C-45FC-8806-59EE23CB43C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f52c929309f406e"/>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Associate points.&#10;&#10;Solve the rigid update.&#10;&#10;Apply the update, the">
            <a:extLst xmlns:a="http://schemas.openxmlformats.org/drawingml/2006/main">
              <a:ext uri="{FF2B5EF4-FFF2-40B4-BE49-F238E27FC236}">
                <a16:creationId xmlns:a16="http://schemas.microsoft.com/office/drawing/2014/main" id="{7DA9E2A5-A225-4DB8-BD7F-2FBFAB8338A1}"/>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Associate points.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Solve the rigid update.</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Apply the update, then associate again.</a:t>
            </a:r>
          </a:p>
        </p:txBody>
      </p:sp>
    </p:spTree>
    <p:extLst>
      <p:ext uri="{BB962C8B-B14F-4D97-AF65-F5344CB8AC3E}">
        <p14:creationId xmlns:p14="http://schemas.microsoft.com/office/powerpoint/2010/main" val="18088388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ICP benefits">
            <a:extLst xmlns:a="http://schemas.openxmlformats.org/drawingml/2006/main">
              <a:ext uri="{FF2B5EF4-FFF2-40B4-BE49-F238E27FC236}">
                <a16:creationId xmlns:a16="http://schemas.microsoft.com/office/drawing/2014/main" id="{E1D6900C-F34A-4FE2-9AE9-94E6ACC2A40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ICP benefits</a:t>
            </a:r>
          </a:p>
        </p:txBody>
      </p:sp>
      <p:sp>
        <p:nvSpPr>
          <p:cNvPr id="2" name="8">
            <a:extLst xmlns:a="http://schemas.openxmlformats.org/drawingml/2006/main">
              <a:ext uri="{FF2B5EF4-FFF2-40B4-BE49-F238E27FC236}">
                <a16:creationId xmlns:a16="http://schemas.microsoft.com/office/drawing/2014/main" id="{5D8F9475-B958-46AD-BF2C-D2418EA6DCA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84cef2769d242e9"/>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The objective is easy to visualize and inspect.&#10;&#10;A good initial g">
            <a:extLst xmlns:a="http://schemas.openxmlformats.org/drawingml/2006/main">
              <a:ext uri="{FF2B5EF4-FFF2-40B4-BE49-F238E27FC236}">
                <a16:creationId xmlns:a16="http://schemas.microsoft.com/office/drawing/2014/main" id="{92C71C67-05AB-4BFC-B1ED-A66715D4F1A6}"/>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objective is easy to visualize and inspect.</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 good initial guess can give an accurate local alignment.</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Point-to-point and point-to-plane variants support 2D or 3D registration.</a:t>
            </a:r>
          </a:p>
        </p:txBody>
      </p:sp>
    </p:spTree>
    <p:extLst>
      <p:ext uri="{BB962C8B-B14F-4D97-AF65-F5344CB8AC3E}">
        <p14:creationId xmlns:p14="http://schemas.microsoft.com/office/powerpoint/2010/main" val="18088388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ICP problem: a wrong initial guess">
            <a:extLst xmlns:a="http://schemas.openxmlformats.org/drawingml/2006/main">
              <a:ext uri="{FF2B5EF4-FFF2-40B4-BE49-F238E27FC236}">
                <a16:creationId xmlns:a16="http://schemas.microsoft.com/office/drawing/2014/main" id="{F5E1F923-26CC-48FC-8D45-AAE25F64AC6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ICP problem: a wrong initial guess</a:t>
            </a:r>
          </a:p>
        </p:txBody>
      </p:sp>
      <p:sp>
        <p:nvSpPr>
          <p:cNvPr id="2" name="9">
            <a:extLst xmlns:a="http://schemas.openxmlformats.org/drawingml/2006/main">
              <a:ext uri="{FF2B5EF4-FFF2-40B4-BE49-F238E27FC236}">
                <a16:creationId xmlns:a16="http://schemas.microsoft.com/office/drawing/2014/main" id="{DB5C6B0E-6DDE-480E-9A8F-8FAE5A98B12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8488209df6d4811"/>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A bad pose guess produces wrong point matches.&#10;&#10;The optimizer can">
            <a:extLst xmlns:a="http://schemas.openxmlformats.org/drawingml/2006/main">
              <a:ext uri="{FF2B5EF4-FFF2-40B4-BE49-F238E27FC236}">
                <a16:creationId xmlns:a16="http://schemas.microsoft.com/office/drawing/2014/main" id="{5181BAB4-BA8F-471F-95DE-27FA0FA8D712}"/>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 bad pose guess produces wrong point matches.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optimizer can settle at the wrong alignment.</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Small updates or a low residual do not prove the pose is correct.</a:t>
            </a:r>
          </a:p>
        </p:txBody>
      </p:sp>
    </p:spTree>
    <p:extLst>
      <p:ext uri="{BB962C8B-B14F-4D97-AF65-F5344CB8AC3E}">
        <p14:creationId xmlns:p14="http://schemas.microsoft.com/office/powerpoint/2010/main" val="18088388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ICP problems: geometry and moving objects">
            <a:extLst xmlns:a="http://schemas.openxmlformats.org/drawingml/2006/main">
              <a:ext uri="{FF2B5EF4-FFF2-40B4-BE49-F238E27FC236}">
                <a16:creationId xmlns:a16="http://schemas.microsoft.com/office/drawing/2014/main" id="{9A5C50FE-894D-4CA2-A0B4-2633B5F1110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ICP problems: geometry and moving objects</a:t>
            </a:r>
          </a:p>
        </p:txBody>
      </p:sp>
      <p:sp>
        <p:nvSpPr>
          <p:cNvPr id="2" name="10">
            <a:extLst xmlns:a="http://schemas.openxmlformats.org/drawingml/2006/main">
              <a:ext uri="{FF2B5EF4-FFF2-40B4-BE49-F238E27FC236}">
                <a16:creationId xmlns:a16="http://schemas.microsoft.com/office/drawing/2014/main" id="{213972AA-977E-40D3-A938-1242D409AEC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10</a:t>
            </a:r>
          </a:p>
        </p:txBody>
      </p:sp>
      <p:sp>
        <p:nvSpPr>
          <p:cNvPr id="3" name="A long wall or repeated corridor leaves some motion hard to obser">
            <a:extLst xmlns:a="http://schemas.openxmlformats.org/drawingml/2006/main">
              <a:ext uri="{FF2B5EF4-FFF2-40B4-BE49-F238E27FC236}">
                <a16:creationId xmlns:a16="http://schemas.microsoft.com/office/drawing/2014/main" id="{459D9E2D-C58A-43EF-9320-7FBA3340D0B6}"/>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long wall or repeated corridor leaves some motion hard to observe.</a:t>
            </a:r>
          </a:p>
        </p:txBody>
      </p:sp>
      <p:sp>
        <p:nvSpPr>
          <p:cNvPr id="4" name="Low overlap and moving objects create misleading matches.">
            <a:extLst xmlns:a="http://schemas.openxmlformats.org/drawingml/2006/main">
              <a:ext uri="{FF2B5EF4-FFF2-40B4-BE49-F238E27FC236}">
                <a16:creationId xmlns:a16="http://schemas.microsoft.com/office/drawing/2014/main" id="{B44F6B1F-5F10-4F17-ABC3-CDF08C43FA25}"/>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Low overlap and moving objects create misleading matches.</a:t>
            </a:r>
          </a:p>
        </p:txBody>
      </p:sp>
      <p:sp>
        <p:nvSpPr>
          <p:cNvPr id="5" name="Large point clouds increase correspondence-search work.">
            <a:extLst xmlns:a="http://schemas.openxmlformats.org/drawingml/2006/main">
              <a:ext uri="{FF2B5EF4-FFF2-40B4-BE49-F238E27FC236}">
                <a16:creationId xmlns:a16="http://schemas.microsoft.com/office/drawing/2014/main" id="{2853BE1B-32D7-4550-9310-5709856CA468}"/>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Large point clouds increase correspondence-search work.</a:t>
            </a:r>
          </a:p>
        </p:txBody>
      </p:sp>
    </p:spTree>
    <p:extLst>
      <p:ext uri="{BB962C8B-B14F-4D97-AF65-F5344CB8AC3E}">
        <p14:creationId xmlns:p14="http://schemas.microsoft.com/office/powerpoint/2010/main" val="18088388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ICP interactive demo">
            <a:extLst xmlns:a="http://schemas.openxmlformats.org/drawingml/2006/main">
              <a:ext uri="{FF2B5EF4-FFF2-40B4-BE49-F238E27FC236}">
                <a16:creationId xmlns:a16="http://schemas.microsoft.com/office/drawing/2014/main" id="{BD145DCD-358F-4CFC-AFAA-62E6F80E71C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ICP interactive demo</a:t>
            </a:r>
          </a:p>
        </p:txBody>
      </p:sp>
      <p:sp>
        <p:nvSpPr>
          <p:cNvPr id="2" name="11">
            <a:extLst xmlns:a="http://schemas.openxmlformats.org/drawingml/2006/main">
              <a:ext uri="{FF2B5EF4-FFF2-40B4-BE49-F238E27FC236}">
                <a16:creationId xmlns:a16="http://schemas.microsoft.com/office/drawing/2014/main" id="{7DA25495-91B8-45E2-86CD-6E8A8A179A2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c6072c750bc4607"/>
          <a:stretch xmlns:a="http://schemas.openxmlformats.org/drawingml/2006/main"/>
        </p:blipFill>
        <p:spPr>
          <a:xfrm xmlns:a="http://schemas.openxmlformats.org/drawingml/2006/main">
            <a:off x="1173745" y="1400175"/>
            <a:ext cx="3929485" cy="2667000"/>
          </a:xfrm>
          <a:prstGeom xmlns:a="http://schemas.openxmlformats.org/drawingml/2006/main" prst="rect">
            <a:avLst/>
          </a:prstGeom>
        </p:spPr>
      </p:pic>
      <p:sp>
        <p:nvSpPr>
          <p:cNvPr id="4" name="Drag the pose guess to a different wall or heading.&#10;&#10;Inspect a sc">
            <a:extLst xmlns:a="http://schemas.openxmlformats.org/drawingml/2006/main">
              <a:ext uri="{FF2B5EF4-FFF2-40B4-BE49-F238E27FC236}">
                <a16:creationId xmlns:a16="http://schemas.microsoft.com/office/drawing/2014/main" id="{CF51DC68-185A-4D12-8208-46620781BDD9}"/>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Drag the pose guess to a different wall or heading.</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Inspect a scan point and its nearest map match.</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Compare nearby and poor guesses, then change the gate.</a:t>
            </a:r>
          </a:p>
        </p:txBody>
      </p:sp>
      <p:sp>
        <p:nvSpPr>
          <p:cNvPr id="5" name="Open interactive demo">
            <a:extLst xmlns:a="http://schemas.openxmlformats.org/drawingml/2006/main">
              <a:ext uri="{FF2B5EF4-FFF2-40B4-BE49-F238E27FC236}">
                <a16:creationId xmlns:a16="http://schemas.microsoft.com/office/drawing/2014/main" id="{3B134559-0F34-4FE6-B687-3D1AD250D023}"/>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2f84b0bbb2374bf2"/>
              </a:rPr>
              <a:t>Open interactive demo</a:t>
            </a:r>
          </a:p>
        </p:txBody>
      </p:sp>
    </p:spTree>
    <p:extLst>
      <p:ext uri="{BB962C8B-B14F-4D97-AF65-F5344CB8AC3E}">
        <p14:creationId xmlns:p14="http://schemas.microsoft.com/office/powerpoint/2010/main" val="180883889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ICP limitation: only one pose hypothesis">
            <a:extLst xmlns:a="http://schemas.openxmlformats.org/drawingml/2006/main">
              <a:ext uri="{FF2B5EF4-FFF2-40B4-BE49-F238E27FC236}">
                <a16:creationId xmlns:a16="http://schemas.microsoft.com/office/drawing/2014/main" id="{BC06E920-B8BB-45CB-83B8-C98CF4A1881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ICP limitation: only one pose hypothesis</a:t>
            </a:r>
          </a:p>
        </p:txBody>
      </p:sp>
      <p:sp>
        <p:nvSpPr>
          <p:cNvPr id="2" name="12">
            <a:extLst xmlns:a="http://schemas.openxmlformats.org/drawingml/2006/main">
              <a:ext uri="{FF2B5EF4-FFF2-40B4-BE49-F238E27FC236}">
                <a16:creationId xmlns:a16="http://schemas.microsoft.com/office/drawing/2014/main" id="{F078A141-6DD4-4369-91EC-33EB51EE25E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12</a:t>
            </a:r>
          </a:p>
        </p:txBody>
      </p:sp>
      <p:sp>
        <p:nvSpPr>
          <p:cNvPr id="3" name="If the starting location is unknown, one pose guess may be insuff">
            <a:extLst xmlns:a="http://schemas.openxmlformats.org/drawingml/2006/main">
              <a:ext uri="{FF2B5EF4-FFF2-40B4-BE49-F238E27FC236}">
                <a16:creationId xmlns:a16="http://schemas.microsoft.com/office/drawing/2014/main" id="{56F27A7F-7CAB-4474-B17A-A04C7A5F2341}"/>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If the starting location is unknown, one pose guess may be insufficient.</a:t>
            </a:r>
          </a:p>
        </p:txBody>
      </p:sp>
      <p:sp>
        <p:nvSpPr>
          <p:cNvPr id="4" name="Keep several possible positions and headings instead.">
            <a:extLst xmlns:a="http://schemas.openxmlformats.org/drawingml/2006/main">
              <a:ext uri="{FF2B5EF4-FFF2-40B4-BE49-F238E27FC236}">
                <a16:creationId xmlns:a16="http://schemas.microsoft.com/office/drawing/2014/main" id="{CDCB2A68-7E05-4683-9552-F496DEF71CE1}"/>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Keep several possible positions and headings instead.</a:t>
            </a:r>
          </a:p>
        </p:txBody>
      </p:sp>
      <p:sp>
        <p:nvSpPr>
          <p:cNvPr id="5" name="AMCL updates those hypotheses using motion and repeated scans.">
            <a:extLst xmlns:a="http://schemas.openxmlformats.org/drawingml/2006/main">
              <a:ext uri="{FF2B5EF4-FFF2-40B4-BE49-F238E27FC236}">
                <a16:creationId xmlns:a16="http://schemas.microsoft.com/office/drawing/2014/main" id="{63B14ECE-3A59-42EA-A0C0-168FCB123912}"/>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AMCL updates those hypotheses using motion and repeated scans.</a:t>
            </a:r>
          </a:p>
        </p:txBody>
      </p:sp>
    </p:spTree>
    <p:extLst>
      <p:ext uri="{BB962C8B-B14F-4D97-AF65-F5344CB8AC3E}">
        <p14:creationId xmlns:p14="http://schemas.microsoft.com/office/powerpoint/2010/main" val="18088388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AMCL: a particle is a pose hypothesis">
            <a:extLst xmlns:a="http://schemas.openxmlformats.org/drawingml/2006/main">
              <a:ext uri="{FF2B5EF4-FFF2-40B4-BE49-F238E27FC236}">
                <a16:creationId xmlns:a16="http://schemas.microsoft.com/office/drawing/2014/main" id="{80C8EECA-34B2-4D58-BCB3-228C634ACC6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AMCL: a particle is a pose hypothesis</a:t>
            </a:r>
          </a:p>
        </p:txBody>
      </p:sp>
      <p:sp>
        <p:nvSpPr>
          <p:cNvPr id="2" name="13">
            <a:extLst xmlns:a="http://schemas.openxmlformats.org/drawingml/2006/main">
              <a:ext uri="{FF2B5EF4-FFF2-40B4-BE49-F238E27FC236}">
                <a16:creationId xmlns:a16="http://schemas.microsoft.com/office/drawing/2014/main" id="{156335BF-D650-4AA8-84C3-76555193D35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3b3883d8f114c41"/>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Each arrow represents x, y, and heading.&#10;&#10;Its weight describes co">
            <a:extLst xmlns:a="http://schemas.openxmlformats.org/drawingml/2006/main">
              <a:ext uri="{FF2B5EF4-FFF2-40B4-BE49-F238E27FC236}">
                <a16:creationId xmlns:a16="http://schemas.microsoft.com/office/drawing/2014/main" id="{1F6CC4F3-D61E-4252-B789-FF139684DF6D}"/>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Each arrow represents x, y, and heading.</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Its weight describes compatibility with the evidence.</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population approximates a pose distribution.</a:t>
            </a:r>
          </a:p>
        </p:txBody>
      </p:sp>
    </p:spTree>
    <p:extLst>
      <p:ext uri="{BB962C8B-B14F-4D97-AF65-F5344CB8AC3E}">
        <p14:creationId xmlns:p14="http://schemas.microsoft.com/office/powerpoint/2010/main" val="18088388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Motion prediction">
            <a:extLst xmlns:a="http://schemas.openxmlformats.org/drawingml/2006/main">
              <a:ext uri="{FF2B5EF4-FFF2-40B4-BE49-F238E27FC236}">
                <a16:creationId xmlns:a16="http://schemas.microsoft.com/office/drawing/2014/main" id="{6EFD74AD-A5AF-4717-9C69-54CF14E2D51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Motion prediction</a:t>
            </a:r>
          </a:p>
        </p:txBody>
      </p:sp>
      <p:sp>
        <p:nvSpPr>
          <p:cNvPr id="2" name="14">
            <a:extLst xmlns:a="http://schemas.openxmlformats.org/drawingml/2006/main">
              <a:ext uri="{FF2B5EF4-FFF2-40B4-BE49-F238E27FC236}">
                <a16:creationId xmlns:a16="http://schemas.microsoft.com/office/drawing/2014/main" id="{5B7FD98B-E060-4319-9910-4AAFDA3470C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14</a:t>
            </a:r>
          </a:p>
        </p:txBody>
      </p:sp>
      <p:sp>
        <p:nvSpPr>
          <p:cNvPr id="3" name="bel̄(xₜ) = ∫ p(xₜ | uₜ, xₜ₋₁) bel(xₜ₋₁) dxₜ₋₁">
            <a:extLst xmlns:a="http://schemas.openxmlformats.org/drawingml/2006/main">
              <a:ext uri="{FF2B5EF4-FFF2-40B4-BE49-F238E27FC236}">
                <a16:creationId xmlns:a16="http://schemas.microsoft.com/office/drawing/2014/main" id="{BB364B82-9D56-4F24-BB74-A92767504FE7}"/>
              </a:ext>
            </a:extLst>
          </p:cNvPr>
          <p:cNvSpPr>
            <a:spLocks xmlns:a="http://schemas.openxmlformats.org/drawingml/2006/main" noGrp="1"/>
          </p:cNvSpPr>
          <p:nvPr/>
        </p:nvSpPr>
        <p:spPr>
          <a:xfrm xmlns:a="http://schemas.openxmlformats.org/drawingml/2006/main">
            <a:off x="714375" y="1476375"/>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1">
                <a:solidFill>
                  <a:srgbClr val="00539F"/>
                </a:solidFill>
                <a:latin typeface="Arial"/>
                <a:ea typeface="Arial"/>
                <a:cs typeface="Arial"/>
              </a:defRPr>
            </a:pPr>
            <a:r>
              <a:rPr sz="2100" b="1">
                <a:solidFill>
                  <a:srgbClr val="00539F"/>
                </a:solidFill>
                <a:latin typeface="Arial"/>
                <a:ea typeface="Arial"/>
                <a:cs typeface="Arial"/>
              </a:rPr>
              <a:t>bel̄(xₜ) = ∫ p(xₜ | uₜ, xₜ₋₁) bel(xₜ₋₁) dxₜ₋₁</a:t>
            </a:r>
          </a:p>
        </p:txBody>
      </p:sp>
      <p:sp>
        <p:nvSpPr>
          <p:cNvPr id="4" name="Particle motion: xₜ⁽ⁱ⁾ ~ p(xₜ | uₜ, xₜ₋₁⁽ⁱ⁾)">
            <a:extLst xmlns:a="http://schemas.openxmlformats.org/drawingml/2006/main">
              <a:ext uri="{FF2B5EF4-FFF2-40B4-BE49-F238E27FC236}">
                <a16:creationId xmlns:a16="http://schemas.microsoft.com/office/drawing/2014/main" id="{7C01A5B5-9749-4691-A2B8-CE6C49E50060}"/>
              </a:ext>
            </a:extLst>
          </p:cNvPr>
          <p:cNvSpPr>
            <a:spLocks xmlns:a="http://schemas.openxmlformats.org/drawingml/2006/main" noGrp="1"/>
          </p:cNvSpPr>
          <p:nvPr/>
        </p:nvSpPr>
        <p:spPr>
          <a:xfrm xmlns:a="http://schemas.openxmlformats.org/drawingml/2006/main">
            <a:off x="714375" y="2547938"/>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00539F"/>
                </a:solidFill>
                <a:latin typeface="Arial"/>
                <a:ea typeface="Arial"/>
                <a:cs typeface="Arial"/>
              </a:defRPr>
            </a:pPr>
            <a:r>
              <a:rPr sz="2100" b="0">
                <a:solidFill>
                  <a:srgbClr val="00539F"/>
                </a:solidFill>
                <a:latin typeface="Arial"/>
                <a:ea typeface="Arial"/>
                <a:cs typeface="Arial"/>
              </a:rPr>
              <a:t>Particle motion: xₜ⁽ⁱ⁾ ~ p(xₜ | uₜ, xₜ₋₁⁽ⁱ⁾)</a:t>
            </a:r>
          </a:p>
        </p:txBody>
      </p:sp>
      <p:sp>
        <p:nvSpPr>
          <p:cNvPr id="5" name="Odometry predicts how each hypothesis moves.&#10;Motion noise spreads">
            <a:extLst xmlns:a="http://schemas.openxmlformats.org/drawingml/2006/main">
              <a:ext uri="{FF2B5EF4-FFF2-40B4-BE49-F238E27FC236}">
                <a16:creationId xmlns:a16="http://schemas.microsoft.com/office/drawing/2014/main" id="{23DB487E-939A-4B19-9A71-0982FD1F9097}"/>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Odometry predicts how each hypothesis moves.</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Motion noise spreads the hypotheses.</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Uncertainty grows before the next informative measurement.</a:t>
            </a:r>
          </a:p>
        </p:txBody>
      </p:sp>
    </p:spTree>
    <p:extLst>
      <p:ext uri="{BB962C8B-B14F-4D97-AF65-F5344CB8AC3E}">
        <p14:creationId xmlns:p14="http://schemas.microsoft.com/office/powerpoint/2010/main" val="18088388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Measurement weighting">
            <a:extLst xmlns:a="http://schemas.openxmlformats.org/drawingml/2006/main">
              <a:ext uri="{FF2B5EF4-FFF2-40B4-BE49-F238E27FC236}">
                <a16:creationId xmlns:a16="http://schemas.microsoft.com/office/drawing/2014/main" id="{B4BE2905-4306-4012-A0C3-A44633C32D8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Measurement weighting</a:t>
            </a:r>
          </a:p>
        </p:txBody>
      </p:sp>
      <p:sp>
        <p:nvSpPr>
          <p:cNvPr id="2" name="15">
            <a:extLst xmlns:a="http://schemas.openxmlformats.org/drawingml/2006/main">
              <a:ext uri="{FF2B5EF4-FFF2-40B4-BE49-F238E27FC236}">
                <a16:creationId xmlns:a16="http://schemas.microsoft.com/office/drawing/2014/main" id="{3DA83F27-EB54-43B2-8AC0-5A8B22EC6C5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6c68fe508f643e1"/>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Place the measured scan at each candidate pose.&#10;&#10;Endpoints near o">
            <a:extLst xmlns:a="http://schemas.openxmlformats.org/drawingml/2006/main">
              <a:ext uri="{FF2B5EF4-FFF2-40B4-BE49-F238E27FC236}">
                <a16:creationId xmlns:a16="http://schemas.microsoft.com/office/drawing/2014/main" id="{961E3791-A812-4304-A6F4-216218687100}"/>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Place the measured scan at each candidate pose.</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Endpoints near occupied map geometry earn larger likelihoods.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Normalize the particle weights after the update.</a:t>
            </a:r>
          </a:p>
        </p:txBody>
      </p:sp>
    </p:spTree>
    <p:extLst>
      <p:ext uri="{BB962C8B-B14F-4D97-AF65-F5344CB8AC3E}">
        <p14:creationId xmlns:p14="http://schemas.microsoft.com/office/powerpoint/2010/main" val="18088388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 name="The Bayesian measurement update">
            <a:extLst xmlns:a="http://schemas.openxmlformats.org/drawingml/2006/main">
              <a:ext uri="{FF2B5EF4-FFF2-40B4-BE49-F238E27FC236}">
                <a16:creationId xmlns:a16="http://schemas.microsoft.com/office/drawing/2014/main" id="{A4C0E246-4C7F-45AC-939E-F75DF447691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Bayesian measurement update</a:t>
            </a:r>
          </a:p>
        </p:txBody>
      </p:sp>
      <p:sp>
        <p:nvSpPr>
          <p:cNvPr id="2" name="16">
            <a:extLst xmlns:a="http://schemas.openxmlformats.org/drawingml/2006/main">
              <a:ext uri="{FF2B5EF4-FFF2-40B4-BE49-F238E27FC236}">
                <a16:creationId xmlns:a16="http://schemas.microsoft.com/office/drawing/2014/main" id="{99390F3D-9072-460A-B3B1-0542A5AB979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16</a:t>
            </a:r>
          </a:p>
        </p:txBody>
      </p:sp>
      <p:sp>
        <p:nvSpPr>
          <p:cNvPr id="3" name="bel(xₜ) ∝ p(zₜ | xₜ, m) bel̄(xₜ)">
            <a:extLst xmlns:a="http://schemas.openxmlformats.org/drawingml/2006/main">
              <a:ext uri="{FF2B5EF4-FFF2-40B4-BE49-F238E27FC236}">
                <a16:creationId xmlns:a16="http://schemas.microsoft.com/office/drawing/2014/main" id="{DEDC02E9-95A8-4212-BF2F-8EC425264D08}"/>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bel(xₜ) ∝ p(zₜ | xₜ, m) bel̄(xₜ)</a:t>
            </a:r>
          </a:p>
        </p:txBody>
      </p:sp>
      <p:sp>
        <p:nvSpPr>
          <p:cNvPr id="4" name="wₜ⁽ⁱ⁾ ∝ wₜ₋₁⁽ⁱ⁾ p(zₜ | xₜ⁽ⁱ⁾, m)">
            <a:extLst xmlns:a="http://schemas.openxmlformats.org/drawingml/2006/main">
              <a:ext uri="{FF2B5EF4-FFF2-40B4-BE49-F238E27FC236}">
                <a16:creationId xmlns:a16="http://schemas.microsoft.com/office/drawing/2014/main" id="{6BDBD667-4003-4AD6-9C8B-A815F5FF9221}"/>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wₜ⁽ⁱ⁾ ∝ wₜ₋₁⁽ⁱ⁾ p(zₜ | xₜ⁽ⁱ⁾, m)</a:t>
            </a:r>
          </a:p>
        </p:txBody>
      </p:sp>
      <p:sp>
        <p:nvSpPr>
          <p:cNvPr id="5" name="Σᵢ wₜ⁽ⁱ⁾ = 1">
            <a:extLst xmlns:a="http://schemas.openxmlformats.org/drawingml/2006/main">
              <a:ext uri="{FF2B5EF4-FFF2-40B4-BE49-F238E27FC236}">
                <a16:creationId xmlns:a16="http://schemas.microsoft.com/office/drawing/2014/main" id="{C5B8626A-2705-4F16-9D9F-8885DEFA7412}"/>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Σᵢ wₜ⁽ⁱ⁾ = 1</a:t>
            </a:r>
          </a:p>
        </p:txBody>
      </p:sp>
      <p:sp>
        <p:nvSpPr>
          <p:cNvPr id="6" name="The prior carries history into the current update.&#10;The likelihood">
            <a:extLst xmlns:a="http://schemas.openxmlformats.org/drawingml/2006/main">
              <a:ext uri="{FF2B5EF4-FFF2-40B4-BE49-F238E27FC236}">
                <a16:creationId xmlns:a16="http://schemas.microsoft.com/office/drawing/2014/main" id="{81F03A1F-E162-4781-BD0A-00F9F8DCEDAF}"/>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prior carries history into the current update.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likelihood scores the current observation.</a:t>
            </a:r>
          </a:p>
        </p:txBody>
      </p:sp>
    </p:spTree>
    <p:extLst>
      <p:ext uri="{BB962C8B-B14F-4D97-AF65-F5344CB8AC3E}">
        <p14:creationId xmlns:p14="http://schemas.microsoft.com/office/powerpoint/2010/main" val="180883889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Resampling concentrates hypotheses">
            <a:extLst xmlns:a="http://schemas.openxmlformats.org/drawingml/2006/main">
              <a:ext uri="{FF2B5EF4-FFF2-40B4-BE49-F238E27FC236}">
                <a16:creationId xmlns:a16="http://schemas.microsoft.com/office/drawing/2014/main" id="{0D1EE128-9FAA-4774-BA31-5E0E892C97C1}"/>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Resampling concentrates hypotheses</a:t>
            </a:r>
          </a:p>
        </p:txBody>
      </p:sp>
      <p:sp>
        <p:nvSpPr>
          <p:cNvPr id="2" name="17">
            <a:extLst xmlns:a="http://schemas.openxmlformats.org/drawingml/2006/main">
              <a:ext uri="{FF2B5EF4-FFF2-40B4-BE49-F238E27FC236}">
                <a16:creationId xmlns:a16="http://schemas.microsoft.com/office/drawing/2014/main" id="{79CCE4D3-A5AD-4B9F-A6F6-F517339240E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f15f7e04a06475c"/>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Draw new particles according to the normalized weights.&#10;&#10;Strong h">
            <a:extLst xmlns:a="http://schemas.openxmlformats.org/drawingml/2006/main">
              <a:ext uri="{FF2B5EF4-FFF2-40B4-BE49-F238E27FC236}">
                <a16:creationId xmlns:a16="http://schemas.microsoft.com/office/drawing/2014/main" id="{E48F2B73-4892-44DE-93C1-57D30E63F56E}"/>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Draw new particles according to the normalized weights.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Strong hypotheses are likely to be copied.</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After resampling, the new particles have equal weights.</a:t>
            </a:r>
          </a:p>
        </p:txBody>
      </p:sp>
    </p:spTree>
    <p:extLst>
      <p:ext uri="{BB962C8B-B14F-4D97-AF65-F5344CB8AC3E}">
        <p14:creationId xmlns:p14="http://schemas.microsoft.com/office/powerpoint/2010/main" val="180883889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The adaptive part of AMCL">
            <a:extLst xmlns:a="http://schemas.openxmlformats.org/drawingml/2006/main">
              <a:ext uri="{FF2B5EF4-FFF2-40B4-BE49-F238E27FC236}">
                <a16:creationId xmlns:a16="http://schemas.microsoft.com/office/drawing/2014/main" id="{731D47A0-DA71-425E-A9DF-1157A3109BE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adaptive part of AMCL</a:t>
            </a:r>
          </a:p>
        </p:txBody>
      </p:sp>
      <p:sp>
        <p:nvSpPr>
          <p:cNvPr id="2" name="18">
            <a:extLst xmlns:a="http://schemas.openxmlformats.org/drawingml/2006/main">
              <a:ext uri="{FF2B5EF4-FFF2-40B4-BE49-F238E27FC236}">
                <a16:creationId xmlns:a16="http://schemas.microsoft.com/office/drawing/2014/main" id="{5FCE201B-6917-4FDF-A8D8-7619C539D23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18</a:t>
            </a:r>
          </a:p>
        </p:txBody>
      </p:sp>
      <p:sp>
        <p:nvSpPr>
          <p:cNvPr id="3" name="N ≈ (k − 1)/(2ε) ×">
            <a:extLst xmlns:a="http://schemas.openxmlformats.org/drawingml/2006/main">
              <a:ext uri="{FF2B5EF4-FFF2-40B4-BE49-F238E27FC236}">
                <a16:creationId xmlns:a16="http://schemas.microsoft.com/office/drawing/2014/main" id="{567BC471-6159-426D-968E-0651C7C502B3}"/>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N ≈ (k − 1)/(2ε) ×</a:t>
            </a:r>
          </a:p>
        </p:txBody>
      </p:sp>
      <p:sp>
        <p:nvSpPr>
          <p:cNvPr id="4" name="[1 − 2/(9(k − 1)) + z √(2/(9(k − 1)))]³">
            <a:extLst xmlns:a="http://schemas.openxmlformats.org/drawingml/2006/main">
              <a:ext uri="{FF2B5EF4-FFF2-40B4-BE49-F238E27FC236}">
                <a16:creationId xmlns:a16="http://schemas.microsoft.com/office/drawing/2014/main" id="{3DDDA8C4-BD7D-48D9-9DF0-1F8FA847357D}"/>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[1 − 2/(9(k − 1)) + z √(2/(9(k − 1)))]³</a:t>
            </a:r>
          </a:p>
        </p:txBody>
      </p:sp>
      <p:sp>
        <p:nvSpPr>
          <p:cNvPr id="5" name="k: occupied pose bins; ε: approximation tolerance">
            <a:extLst xmlns:a="http://schemas.openxmlformats.org/drawingml/2006/main">
              <a:ext uri="{FF2B5EF4-FFF2-40B4-BE49-F238E27FC236}">
                <a16:creationId xmlns:a16="http://schemas.microsoft.com/office/drawing/2014/main" id="{8E64BEEA-B88C-4C94-A175-91C7510F70B3}"/>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00539F"/>
                </a:solidFill>
                <a:latin typeface="Arial"/>
                <a:ea typeface="Arial"/>
                <a:cs typeface="Arial"/>
              </a:defRPr>
            </a:pPr>
            <a:r>
              <a:rPr sz="2100" b="0">
                <a:solidFill>
                  <a:srgbClr val="00539F"/>
                </a:solidFill>
                <a:latin typeface="Arial"/>
                <a:ea typeface="Arial"/>
                <a:cs typeface="Arial"/>
              </a:rPr>
              <a:t>k: occupied pose bins; ε: approximation tolerance</a:t>
            </a:r>
          </a:p>
        </p:txBody>
      </p:sp>
      <p:sp>
        <p:nvSpPr>
          <p:cNvPr id="6" name="KLD sampling counts occupied bins in pose space.&#10;More occupied bi">
            <a:extLst xmlns:a="http://schemas.openxmlformats.org/drawingml/2006/main">
              <a:ext uri="{FF2B5EF4-FFF2-40B4-BE49-F238E27FC236}">
                <a16:creationId xmlns:a16="http://schemas.microsoft.com/office/drawing/2014/main" id="{8FE61D19-511D-4FA1-8802-9820A3CCD49F}"/>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KLD sampling counts occupied bins in pose space.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More occupied bins generally require more samples.</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sample count stays inside configured limits.</a:t>
            </a:r>
          </a:p>
        </p:txBody>
      </p:sp>
    </p:spTree>
    <p:extLst>
      <p:ext uri="{BB962C8B-B14F-4D97-AF65-F5344CB8AC3E}">
        <p14:creationId xmlns:p14="http://schemas.microsoft.com/office/powerpoint/2010/main" val="180883889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AMCL benefits">
            <a:extLst xmlns:a="http://schemas.openxmlformats.org/drawingml/2006/main">
              <a:ext uri="{FF2B5EF4-FFF2-40B4-BE49-F238E27FC236}">
                <a16:creationId xmlns:a16="http://schemas.microsoft.com/office/drawing/2014/main" id="{787CF22F-706D-4657-B383-551149F325D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AMCL benefits</a:t>
            </a:r>
          </a:p>
        </p:txBody>
      </p:sp>
      <p:sp>
        <p:nvSpPr>
          <p:cNvPr id="2" name="19">
            <a:extLst xmlns:a="http://schemas.openxmlformats.org/drawingml/2006/main">
              <a:ext uri="{FF2B5EF4-FFF2-40B4-BE49-F238E27FC236}">
                <a16:creationId xmlns:a16="http://schemas.microsoft.com/office/drawing/2014/main" id="{BCCCDD32-0669-44E3-918B-21E31D8C216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435bdbdada48c3"/>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Particles can represent several possible locations.&#10;&#10;Odometry and">
            <a:extLst xmlns:a="http://schemas.openxmlformats.org/drawingml/2006/main">
              <a:ext uri="{FF2B5EF4-FFF2-40B4-BE49-F238E27FC236}">
                <a16:creationId xmlns:a16="http://schemas.microsoft.com/office/drawing/2014/main" id="{5043F54F-AECF-4700-BC09-6E74BEF350A1}"/>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Particles can represent several possible locations.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Odometry and successive scans refine the pose over time.</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Adaptive sampling adjusts the particle count to the belief.</a:t>
            </a:r>
          </a:p>
        </p:txBody>
      </p:sp>
    </p:spTree>
    <p:extLst>
      <p:ext uri="{BB962C8B-B14F-4D97-AF65-F5344CB8AC3E}">
        <p14:creationId xmlns:p14="http://schemas.microsoft.com/office/powerpoint/2010/main" val="180883889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AMCL problem: losing the correct hypothesis">
            <a:extLst xmlns:a="http://schemas.openxmlformats.org/drawingml/2006/main">
              <a:ext uri="{FF2B5EF4-FFF2-40B4-BE49-F238E27FC236}">
                <a16:creationId xmlns:a16="http://schemas.microsoft.com/office/drawing/2014/main" id="{19A986BA-5CF6-4E5F-93D6-750244D1F60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AMCL problem: losing the correct hypothesis</a:t>
            </a:r>
          </a:p>
        </p:txBody>
      </p:sp>
      <p:sp>
        <p:nvSpPr>
          <p:cNvPr id="2" name="20">
            <a:extLst xmlns:a="http://schemas.openxmlformats.org/drawingml/2006/main">
              <a:ext uri="{FF2B5EF4-FFF2-40B4-BE49-F238E27FC236}">
                <a16:creationId xmlns:a16="http://schemas.microsoft.com/office/drawing/2014/main" id="{FD663D94-AD69-4B43-998E-68FEB080C377}"/>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20</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93dd8a68f8d4a7c"/>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The true pose changes without matching odometry.&#10;&#10;The particle cl">
            <a:extLst xmlns:a="http://schemas.openxmlformats.org/drawingml/2006/main">
              <a:ext uri="{FF2B5EF4-FFF2-40B4-BE49-F238E27FC236}">
                <a16:creationId xmlns:a16="http://schemas.microsoft.com/office/drawing/2014/main" id="{D488F709-30CB-402A-990C-2AE4C70798CE}"/>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true pose changes without matching odometry.</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particle cloud remains around the old estimate.</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next scan is inconsistent with those hypotheses.</a:t>
            </a:r>
          </a:p>
        </p:txBody>
      </p:sp>
    </p:spTree>
    <p:extLst>
      <p:ext uri="{BB962C8B-B14F-4D97-AF65-F5344CB8AC3E}">
        <p14:creationId xmlns:p14="http://schemas.microsoft.com/office/powerpoint/2010/main" val="18088388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AMCL recovery: global reinitialization">
            <a:extLst xmlns:a="http://schemas.openxmlformats.org/drawingml/2006/main">
              <a:ext uri="{FF2B5EF4-FFF2-40B4-BE49-F238E27FC236}">
                <a16:creationId xmlns:a16="http://schemas.microsoft.com/office/drawing/2014/main" id="{431BAD20-850F-4262-B763-2A6EC46FDA9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AMCL recovery: global reinitialization</a:t>
            </a:r>
          </a:p>
        </p:txBody>
      </p:sp>
      <p:sp>
        <p:nvSpPr>
          <p:cNvPr id="2" name="21">
            <a:extLst xmlns:a="http://schemas.openxmlformats.org/drawingml/2006/main">
              <a:ext uri="{FF2B5EF4-FFF2-40B4-BE49-F238E27FC236}">
                <a16:creationId xmlns:a16="http://schemas.microsoft.com/office/drawing/2014/main" id="{9F24EFE4-C3B5-4B68-996E-86A4E43FE067}"/>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249227666a4614"/>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Sample positions and headings across the map.&#10;&#10;New scans favor hy">
            <a:extLst xmlns:a="http://schemas.openxmlformats.org/drawingml/2006/main">
              <a:ext uri="{FF2B5EF4-FFF2-40B4-BE49-F238E27FC236}">
                <a16:creationId xmlns:a16="http://schemas.microsoft.com/office/drawing/2014/main" id="{6240F394-0C50-47D8-9446-5B483EC34E1D}"/>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Sample positions and headings across the map.</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New scans favor hypotheses that agree with the map.</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Recovery depends on covering the right region and observing useful geometry.</a:t>
            </a:r>
          </a:p>
        </p:txBody>
      </p:sp>
    </p:spTree>
    <p:extLst>
      <p:ext uri="{BB962C8B-B14F-4D97-AF65-F5344CB8AC3E}">
        <p14:creationId xmlns:p14="http://schemas.microsoft.com/office/powerpoint/2010/main" val="180883889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AMCL problems: coverage, maps, and scale">
            <a:extLst xmlns:a="http://schemas.openxmlformats.org/drawingml/2006/main">
              <a:ext uri="{FF2B5EF4-FFF2-40B4-BE49-F238E27FC236}">
                <a16:creationId xmlns:a16="http://schemas.microsoft.com/office/drawing/2014/main" id="{9899B2EB-1222-4CE3-AB8B-16DEA603F831}"/>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AMCL problems: coverage, maps, and scale</a:t>
            </a:r>
          </a:p>
        </p:txBody>
      </p:sp>
      <p:sp>
        <p:nvSpPr>
          <p:cNvPr id="2" name="22">
            <a:extLst xmlns:a="http://schemas.openxmlformats.org/drawingml/2006/main">
              <a:ext uri="{FF2B5EF4-FFF2-40B4-BE49-F238E27FC236}">
                <a16:creationId xmlns:a16="http://schemas.microsoft.com/office/drawing/2014/main" id="{947A142A-8367-4880-A326-9EFC78B2BDE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22</a:t>
            </a:r>
          </a:p>
        </p:txBody>
      </p:sp>
      <p:sp>
        <p:nvSpPr>
          <p:cNvPr id="3" name="A large search area needs more particles to cover plausible poses">
            <a:extLst xmlns:a="http://schemas.openxmlformats.org/drawingml/2006/main">
              <a:ext uri="{FF2B5EF4-FFF2-40B4-BE49-F238E27FC236}">
                <a16:creationId xmlns:a16="http://schemas.microsoft.com/office/drawing/2014/main" id="{86879D71-BE78-4673-B4DC-18F97A39BAE2}"/>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large search area needs more particles to cover plausible poses.</a:t>
            </a:r>
          </a:p>
        </p:txBody>
      </p:sp>
      <p:sp>
        <p:nvSpPr>
          <p:cNvPr id="4" name="Repeated layouts or changed obstacles can keep the belief wrong.">
            <a:extLst xmlns:a="http://schemas.openxmlformats.org/drawingml/2006/main">
              <a:ext uri="{FF2B5EF4-FFF2-40B4-BE49-F238E27FC236}">
                <a16:creationId xmlns:a16="http://schemas.microsoft.com/office/drawing/2014/main" id="{9E0A7210-8316-49C8-BF72-749598D7D80B}"/>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Repeated layouts or changed obstacles can keep the belief wrong.</a:t>
            </a:r>
          </a:p>
        </p:txBody>
      </p:sp>
      <p:sp>
        <p:nvSpPr>
          <p:cNvPr id="5" name="Standard 2D AMCL does not model a vehicle’s full 3D pose.">
            <a:extLst xmlns:a="http://schemas.openxmlformats.org/drawingml/2006/main">
              <a:ext uri="{FF2B5EF4-FFF2-40B4-BE49-F238E27FC236}">
                <a16:creationId xmlns:a16="http://schemas.microsoft.com/office/drawing/2014/main" id="{128BAD4E-8F89-4C31-8C2A-5F093952BE4A}"/>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Standard 2D AMCL does not model a vehicle’s full 3D pose.</a:t>
            </a:r>
          </a:p>
        </p:txBody>
      </p:sp>
    </p:spTree>
    <p:extLst>
      <p:ext uri="{BB962C8B-B14F-4D97-AF65-F5344CB8AC3E}">
        <p14:creationId xmlns:p14="http://schemas.microsoft.com/office/powerpoint/2010/main" val="180883889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AMCL interactive demo">
            <a:extLst xmlns:a="http://schemas.openxmlformats.org/drawingml/2006/main">
              <a:ext uri="{FF2B5EF4-FFF2-40B4-BE49-F238E27FC236}">
                <a16:creationId xmlns:a16="http://schemas.microsoft.com/office/drawing/2014/main" id="{7FAB30B6-8821-4715-841B-F3FFAC76ADD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AMCL interactive demo</a:t>
            </a:r>
          </a:p>
        </p:txBody>
      </p:sp>
      <p:sp>
        <p:nvSpPr>
          <p:cNvPr id="2" name="23">
            <a:extLst xmlns:a="http://schemas.openxmlformats.org/drawingml/2006/main">
              <a:ext uri="{FF2B5EF4-FFF2-40B4-BE49-F238E27FC236}">
                <a16:creationId xmlns:a16="http://schemas.microsoft.com/office/drawing/2014/main" id="{EFF42461-4266-4606-99CF-FDDC12ACFCC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23</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310c53e5b724916"/>
          <a:stretch xmlns:a="http://schemas.openxmlformats.org/drawingml/2006/main"/>
        </p:blipFill>
        <p:spPr>
          <a:xfrm xmlns:a="http://schemas.openxmlformats.org/drawingml/2006/main">
            <a:off x="1173745" y="1400175"/>
            <a:ext cx="3929485" cy="2667000"/>
          </a:xfrm>
          <a:prstGeom xmlns:a="http://schemas.openxmlformats.org/drawingml/2006/main" prst="rect">
            <a:avLst/>
          </a:prstGeom>
        </p:spPr>
      </p:pic>
      <p:sp>
        <p:nvSpPr>
          <p:cNvPr id="4" name="Place the vehicle and particle prior in different locations.&#10;&#10;Dri">
            <a:extLst xmlns:a="http://schemas.openxmlformats.org/drawingml/2006/main">
              <a:ext uri="{FF2B5EF4-FFF2-40B4-BE49-F238E27FC236}">
                <a16:creationId xmlns:a16="http://schemas.microsoft.com/office/drawing/2014/main" id="{A5DB9F79-2B19-4F3E-AC29-745C461792FF}"/>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Place the vehicle and particle prior in different locations.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Drive through the map and inspect particle weights.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Compare a local prior with global reinitialization.</a:t>
            </a:r>
          </a:p>
        </p:txBody>
      </p:sp>
      <p:sp>
        <p:nvSpPr>
          <p:cNvPr id="5" name="Open interactive demo">
            <a:extLst xmlns:a="http://schemas.openxmlformats.org/drawingml/2006/main">
              <a:ext uri="{FF2B5EF4-FFF2-40B4-BE49-F238E27FC236}">
                <a16:creationId xmlns:a16="http://schemas.microsoft.com/office/drawing/2014/main" id="{5688E71A-28F1-4982-9A44-A4395682CC58}"/>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2447cdb69e82440f"/>
              </a:rPr>
              <a:t>Open interactive demo</a:t>
            </a:r>
          </a:p>
        </p:txBody>
      </p:sp>
    </p:spTree>
    <p:extLst>
      <p:ext uri="{BB962C8B-B14F-4D97-AF65-F5344CB8AC3E}">
        <p14:creationId xmlns:p14="http://schemas.microsoft.com/office/powerpoint/2010/main" val="180883889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 name="NDT: match against local map distributions">
            <a:extLst xmlns:a="http://schemas.openxmlformats.org/drawingml/2006/main">
              <a:ext uri="{FF2B5EF4-FFF2-40B4-BE49-F238E27FC236}">
                <a16:creationId xmlns:a16="http://schemas.microsoft.com/office/drawing/2014/main" id="{1C34C48C-AE8C-4117-83CE-1DBA3ADB57A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NDT: match against local map distributions</a:t>
            </a:r>
          </a:p>
        </p:txBody>
      </p:sp>
      <p:sp>
        <p:nvSpPr>
          <p:cNvPr id="2" name="24">
            <a:extLst xmlns:a="http://schemas.openxmlformats.org/drawingml/2006/main">
              <a:ext uri="{FF2B5EF4-FFF2-40B4-BE49-F238E27FC236}">
                <a16:creationId xmlns:a16="http://schemas.microsoft.com/office/drawing/2014/main" id="{BB515059-6CC8-4A17-9F7B-99740C91F2E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234bc6297f4c79"/>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AMCL handles pose uncertainty; it is not the only way to match a ">
            <a:extLst xmlns:a="http://schemas.openxmlformats.org/drawingml/2006/main">
              <a:ext uri="{FF2B5EF4-FFF2-40B4-BE49-F238E27FC236}">
                <a16:creationId xmlns:a16="http://schemas.microsoft.com/office/drawing/2014/main" id="{71CE2933-D6E8-463E-9132-B9E1F949F064}"/>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AMCL handles pose uncertainty; it is not the only way to match a scan.</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For local alignment, summarize map regions with Gaussians.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NDT scores scan points against those distributions.</a:t>
            </a:r>
          </a:p>
        </p:txBody>
      </p:sp>
    </p:spTree>
    <p:extLst>
      <p:ext uri="{BB962C8B-B14F-4D97-AF65-F5344CB8AC3E}">
        <p14:creationId xmlns:p14="http://schemas.microsoft.com/office/powerpoint/2010/main" val="18088388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7" name="Cell mean and covariance">
            <a:extLst xmlns:a="http://schemas.openxmlformats.org/drawingml/2006/main">
              <a:ext uri="{FF2B5EF4-FFF2-40B4-BE49-F238E27FC236}">
                <a16:creationId xmlns:a16="http://schemas.microsoft.com/office/drawing/2014/main" id="{DAB55B0A-AC6B-46C2-8AE8-03956AA58D6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Cell mean and covariance</a:t>
            </a:r>
          </a:p>
        </p:txBody>
      </p:sp>
      <p:sp>
        <p:nvSpPr>
          <p:cNvPr id="2" name="25">
            <a:extLst xmlns:a="http://schemas.openxmlformats.org/drawingml/2006/main">
              <a:ext uri="{FF2B5EF4-FFF2-40B4-BE49-F238E27FC236}">
                <a16:creationId xmlns:a16="http://schemas.microsoft.com/office/drawing/2014/main" id="{A5BBF260-CFFC-4922-984A-384284070EE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25</a:t>
            </a:r>
          </a:p>
        </p:txBody>
      </p:sp>
      <p:sp>
        <p:nvSpPr>
          <p:cNvPr id="3" name="μ = (1/n) Σⱼ qⱼ">
            <a:extLst xmlns:a="http://schemas.openxmlformats.org/drawingml/2006/main">
              <a:ext uri="{FF2B5EF4-FFF2-40B4-BE49-F238E27FC236}">
                <a16:creationId xmlns:a16="http://schemas.microsoft.com/office/drawing/2014/main" id="{A767C9A6-8438-4381-B617-F4D7002417C9}"/>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μ = (1/n) Σⱼ qⱼ</a:t>
            </a:r>
          </a:p>
        </p:txBody>
      </p:sp>
      <p:sp>
        <p:nvSpPr>
          <p:cNvPr id="4" name="Σ = (1/(n − 1)) Σⱼ (qⱼ − μ)(qⱼ − μ)ᵀ">
            <a:extLst xmlns:a="http://schemas.openxmlformats.org/drawingml/2006/main">
              <a:ext uri="{FF2B5EF4-FFF2-40B4-BE49-F238E27FC236}">
                <a16:creationId xmlns:a16="http://schemas.microsoft.com/office/drawing/2014/main" id="{04F0C980-D94C-4170-81F7-1509440477C3}"/>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Σ = (1/(n − 1)) Σⱼ (qⱼ − μ)(qⱼ − μ)ᵀ</a:t>
            </a:r>
          </a:p>
        </p:txBody>
      </p:sp>
      <p:sp>
        <p:nvSpPr>
          <p:cNvPr id="5" name="Σ_regularized = Σ + λI">
            <a:extLst xmlns:a="http://schemas.openxmlformats.org/drawingml/2006/main">
              <a:ext uri="{FF2B5EF4-FFF2-40B4-BE49-F238E27FC236}">
                <a16:creationId xmlns:a16="http://schemas.microsoft.com/office/drawing/2014/main" id="{F89D5861-01CB-48C3-921A-C92FAB93D001}"/>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Σ_regularized = Σ + λI</a:t>
            </a:r>
          </a:p>
        </p:txBody>
      </p:sp>
      <p:sp>
        <p:nvSpPr>
          <p:cNvPr id="6" name="The mean locates the local point cluster.&#10;Covariance describes it">
            <a:extLst xmlns:a="http://schemas.openxmlformats.org/drawingml/2006/main">
              <a:ext uri="{FF2B5EF4-FFF2-40B4-BE49-F238E27FC236}">
                <a16:creationId xmlns:a16="http://schemas.microsoft.com/office/drawing/2014/main" id="{0A71ECA2-2022-45F7-96E5-18395B1B1E98}"/>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mean locates the local point cluster.</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Covariance describes its spread and orientation.</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Thin wall distributions need numerical regularization.</a:t>
            </a:r>
          </a:p>
        </p:txBody>
      </p:sp>
    </p:spTree>
    <p:extLst>
      <p:ext uri="{BB962C8B-B14F-4D97-AF65-F5344CB8AC3E}">
        <p14:creationId xmlns:p14="http://schemas.microsoft.com/office/powerpoint/2010/main" val="180883889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7" name="Scoring a transformed scan point">
            <a:extLst xmlns:a="http://schemas.openxmlformats.org/drawingml/2006/main">
              <a:ext uri="{FF2B5EF4-FFF2-40B4-BE49-F238E27FC236}">
                <a16:creationId xmlns:a16="http://schemas.microsoft.com/office/drawing/2014/main" id="{4E5E76B8-8730-4BFA-9617-45F9D036EED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Scoring a transformed scan point</a:t>
            </a:r>
          </a:p>
        </p:txBody>
      </p:sp>
      <p:sp>
        <p:nvSpPr>
          <p:cNvPr id="2" name="26">
            <a:extLst xmlns:a="http://schemas.openxmlformats.org/drawingml/2006/main">
              <a:ext uri="{FF2B5EF4-FFF2-40B4-BE49-F238E27FC236}">
                <a16:creationId xmlns:a16="http://schemas.microsoft.com/office/drawing/2014/main" id="{3EE7E35A-A86B-4261-A30D-7B2D6452DFA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26</a:t>
            </a:r>
          </a:p>
        </p:txBody>
      </p:sp>
      <p:sp>
        <p:nvSpPr>
          <p:cNvPr id="3" name="r = R p + t − μ">
            <a:extLst xmlns:a="http://schemas.openxmlformats.org/drawingml/2006/main">
              <a:ext uri="{FF2B5EF4-FFF2-40B4-BE49-F238E27FC236}">
                <a16:creationId xmlns:a16="http://schemas.microsoft.com/office/drawing/2014/main" id="{AB1419CC-896D-4788-8859-B53E5DE303B0}"/>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r = R p + t − μ</a:t>
            </a:r>
          </a:p>
        </p:txBody>
      </p:sp>
      <p:sp>
        <p:nvSpPr>
          <p:cNvPr id="4" name="d² = rᵀ Σ⁻¹ r">
            <a:extLst xmlns:a="http://schemas.openxmlformats.org/drawingml/2006/main">
              <a:ext uri="{FF2B5EF4-FFF2-40B4-BE49-F238E27FC236}">
                <a16:creationId xmlns:a16="http://schemas.microsoft.com/office/drawing/2014/main" id="{299A0848-AAA9-4919-A395-6F0C9C59521D}"/>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d² = rᵀ Σ⁻¹ r</a:t>
            </a:r>
          </a:p>
        </p:txBody>
      </p:sp>
      <p:sp>
        <p:nvSpPr>
          <p:cNvPr id="5" name="Gaussian score ∝ exp(−d² / 2)">
            <a:extLst xmlns:a="http://schemas.openxmlformats.org/drawingml/2006/main">
              <a:ext uri="{FF2B5EF4-FFF2-40B4-BE49-F238E27FC236}">
                <a16:creationId xmlns:a16="http://schemas.microsoft.com/office/drawing/2014/main" id="{2B545B16-E479-4BD7-8E34-3B9A4D1BB997}"/>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Gaussian score ∝ exp(−d² / 2)</a:t>
            </a:r>
          </a:p>
        </p:txBody>
      </p:sp>
      <p:sp>
        <p:nvSpPr>
          <p:cNvPr id="6" name="Measure displacement from a cell mean.&#10;Scale that displacement by">
            <a:extLst xmlns:a="http://schemas.openxmlformats.org/drawingml/2006/main">
              <a:ext uri="{FF2B5EF4-FFF2-40B4-BE49-F238E27FC236}">
                <a16:creationId xmlns:a16="http://schemas.microsoft.com/office/drawing/2014/main" id="{897EED65-2491-484E-ABDA-835700838E0F}"/>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Measure displacement from a cell mean.</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Scale that displacement by the cell covariance.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High Gaussian scores indicate better geometric agreement.</a:t>
            </a:r>
          </a:p>
        </p:txBody>
      </p:sp>
    </p:spTree>
    <p:extLst>
      <p:ext uri="{BB962C8B-B14F-4D97-AF65-F5344CB8AC3E}">
        <p14:creationId xmlns:p14="http://schemas.microsoft.com/office/powerpoint/2010/main" val="180883889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 name="NDT pose optimization">
            <a:extLst xmlns:a="http://schemas.openxmlformats.org/drawingml/2006/main">
              <a:ext uri="{FF2B5EF4-FFF2-40B4-BE49-F238E27FC236}">
                <a16:creationId xmlns:a16="http://schemas.microsoft.com/office/drawing/2014/main" id="{3E5B8603-3445-467E-BBE9-63F62AFDA2A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NDT pose optimization</a:t>
            </a:r>
          </a:p>
        </p:txBody>
      </p:sp>
      <p:sp>
        <p:nvSpPr>
          <p:cNvPr id="2" name="27">
            <a:extLst xmlns:a="http://schemas.openxmlformats.org/drawingml/2006/main">
              <a:ext uri="{FF2B5EF4-FFF2-40B4-BE49-F238E27FC236}">
                <a16:creationId xmlns:a16="http://schemas.microsoft.com/office/drawing/2014/main" id="{B7DC87DA-1BFE-426D-A7C9-EB531505DE9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ed9b5d0c0994bb3"/>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Transform the scan using the current pose.&#10;&#10;Evaluate agreement wi">
            <a:extLst xmlns:a="http://schemas.openxmlformats.org/drawingml/2006/main">
              <a:ext uri="{FF2B5EF4-FFF2-40B4-BE49-F238E27FC236}">
                <a16:creationId xmlns:a16="http://schemas.microsoft.com/office/drawing/2014/main" id="{76F86F77-B077-4CEC-867F-AB64567304B3}"/>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Transform the scan using the current pose.</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Evaluate agreement with the map distributions.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Change pose to improve the aggregate score.</a:t>
            </a:r>
          </a:p>
        </p:txBody>
      </p:sp>
    </p:spTree>
    <p:extLst>
      <p:ext uri="{BB962C8B-B14F-4D97-AF65-F5344CB8AC3E}">
        <p14:creationId xmlns:p14="http://schemas.microsoft.com/office/powerpoint/2010/main" val="180883889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NDT benefits">
            <a:extLst xmlns:a="http://schemas.openxmlformats.org/drawingml/2006/main">
              <a:ext uri="{FF2B5EF4-FFF2-40B4-BE49-F238E27FC236}">
                <a16:creationId xmlns:a16="http://schemas.microsoft.com/office/drawing/2014/main" id="{91852A23-B898-4A44-90CE-D6C6DA2E644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NDT benefits</a:t>
            </a:r>
          </a:p>
        </p:txBody>
      </p:sp>
      <p:sp>
        <p:nvSpPr>
          <p:cNvPr id="2" name="28">
            <a:extLst xmlns:a="http://schemas.openxmlformats.org/drawingml/2006/main">
              <a:ext uri="{FF2B5EF4-FFF2-40B4-BE49-F238E27FC236}">
                <a16:creationId xmlns:a16="http://schemas.microsoft.com/office/drawing/2014/main" id="{2727F402-336E-4A9E-BF59-E8CC5AB3822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28</a:t>
            </a:r>
          </a:p>
        </p:txBody>
      </p:sp>
      <p:sp>
        <p:nvSpPr>
          <p:cNvPr id="3" name="Each supported map cell summarizes many points with a mean and co">
            <a:extLst xmlns:a="http://schemas.openxmlformats.org/drawingml/2006/main">
              <a:ext uri="{FF2B5EF4-FFF2-40B4-BE49-F238E27FC236}">
                <a16:creationId xmlns:a16="http://schemas.microsoft.com/office/drawing/2014/main" id="{B85EDD8A-CAB0-4F05-9ABD-BC52D367449B}"/>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Each supported map cell summarizes many points with a mean and covariance.</a:t>
            </a:r>
          </a:p>
        </p:txBody>
      </p:sp>
      <p:sp>
        <p:nvSpPr>
          <p:cNvPr id="4" name="The score reflects local surface orientation and spread.">
            <a:extLst xmlns:a="http://schemas.openxmlformats.org/drawingml/2006/main">
              <a:ext uri="{FF2B5EF4-FFF2-40B4-BE49-F238E27FC236}">
                <a16:creationId xmlns:a16="http://schemas.microsoft.com/office/drawing/2014/main" id="{464E765C-7A20-4170-9281-8D02FAC86490}"/>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score reflects local surface orientation and spread.</a:t>
            </a:r>
          </a:p>
        </p:txBody>
      </p:sp>
      <p:sp>
        <p:nvSpPr>
          <p:cNvPr id="5" name="A precomputed 3D map can support repeated LiDAR localization.">
            <a:extLst xmlns:a="http://schemas.openxmlformats.org/drawingml/2006/main">
              <a:ext uri="{FF2B5EF4-FFF2-40B4-BE49-F238E27FC236}">
                <a16:creationId xmlns:a16="http://schemas.microsoft.com/office/drawing/2014/main" id="{BAC0F641-306B-4B20-9DC4-FA503F59AABE}"/>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precomputed 3D map can support repeated LiDAR localization.</a:t>
            </a:r>
          </a:p>
        </p:txBody>
      </p:sp>
    </p:spTree>
    <p:extLst>
      <p:ext uri="{BB962C8B-B14F-4D97-AF65-F5344CB8AC3E}">
        <p14:creationId xmlns:p14="http://schemas.microsoft.com/office/powerpoint/2010/main" val="180883889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NDT problem: choosing the cell size">
            <a:extLst xmlns:a="http://schemas.openxmlformats.org/drawingml/2006/main">
              <a:ext uri="{FF2B5EF4-FFF2-40B4-BE49-F238E27FC236}">
                <a16:creationId xmlns:a16="http://schemas.microsoft.com/office/drawing/2014/main" id="{0B8E5605-748E-4A6E-B2EE-FDF7C890AA3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NDT problem: choosing the cell size</a:t>
            </a:r>
          </a:p>
        </p:txBody>
      </p:sp>
      <p:sp>
        <p:nvSpPr>
          <p:cNvPr id="2" name="29">
            <a:extLst xmlns:a="http://schemas.openxmlformats.org/drawingml/2006/main">
              <a:ext uri="{FF2B5EF4-FFF2-40B4-BE49-F238E27FC236}">
                <a16:creationId xmlns:a16="http://schemas.microsoft.com/office/drawing/2014/main" id="{6262A4D5-3EF2-4C4B-A06D-C83815BC6BB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2cb39926a834a99"/>
          <a:stretch xmlns:a="http://schemas.openxmlformats.org/drawingml/2006/main"/>
        </p:blipFill>
        <p:spPr>
          <a:xfrm xmlns:a="http://schemas.openxmlformats.org/drawingml/2006/main">
            <a:off x="984288" y="1400175"/>
            <a:ext cx="4308400" cy="2924175"/>
          </a:xfrm>
          <a:prstGeom xmlns:a="http://schemas.openxmlformats.org/drawingml/2006/main" prst="rect">
            <a:avLst/>
          </a:prstGeom>
        </p:spPr>
      </p:pic>
      <p:sp>
        <p:nvSpPr>
          <p:cNvPr id="4" name="Fine cells preserve local detail but may be undersupported.&#10;&#10;Coar">
            <a:extLst xmlns:a="http://schemas.openxmlformats.org/drawingml/2006/main">
              <a:ext uri="{FF2B5EF4-FFF2-40B4-BE49-F238E27FC236}">
                <a16:creationId xmlns:a16="http://schemas.microsoft.com/office/drawing/2014/main" id="{794191DD-2C9A-4866-9F3F-FE553A4D469B}"/>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Fine cells preserve local detail but may be undersupported.</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Coarse cells combine more geometry into each Gaussian.</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Initialization and scene structure still affect convergence.</a:t>
            </a:r>
          </a:p>
        </p:txBody>
      </p:sp>
    </p:spTree>
    <p:extLst>
      <p:ext uri="{BB962C8B-B14F-4D97-AF65-F5344CB8AC3E}">
        <p14:creationId xmlns:p14="http://schemas.microsoft.com/office/powerpoint/2010/main" val="180883889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6" name="NDT problems: initialization and map mismatch">
            <a:extLst xmlns:a="http://schemas.openxmlformats.org/drawingml/2006/main">
              <a:ext uri="{FF2B5EF4-FFF2-40B4-BE49-F238E27FC236}">
                <a16:creationId xmlns:a16="http://schemas.microsoft.com/office/drawing/2014/main" id="{06A8FD75-C95C-4B7F-B77B-A59049709EE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NDT problems: initialization and map mismatch</a:t>
            </a:r>
          </a:p>
        </p:txBody>
      </p:sp>
      <p:sp>
        <p:nvSpPr>
          <p:cNvPr id="2" name="30">
            <a:extLst xmlns:a="http://schemas.openxmlformats.org/drawingml/2006/main">
              <a:ext uri="{FF2B5EF4-FFF2-40B4-BE49-F238E27FC236}">
                <a16:creationId xmlns:a16="http://schemas.microsoft.com/office/drawing/2014/main" id="{186CEFCC-5213-4773-A6BC-B836BE2B77C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30</a:t>
            </a:r>
          </a:p>
        </p:txBody>
      </p:sp>
      <p:sp>
        <p:nvSpPr>
          <p:cNvPr id="3" name="A poor initial pose can still lead to the wrong solution.">
            <a:extLst xmlns:a="http://schemas.openxmlformats.org/drawingml/2006/main">
              <a:ext uri="{FF2B5EF4-FFF2-40B4-BE49-F238E27FC236}">
                <a16:creationId xmlns:a16="http://schemas.microsoft.com/office/drawing/2014/main" id="{129610A3-D49D-437B-A305-2EE3263E09CD}"/>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poor initial pose can still lead to the wrong solution.</a:t>
            </a:r>
          </a:p>
        </p:txBody>
      </p:sp>
      <p:sp>
        <p:nvSpPr>
          <p:cNvPr id="4" name="Sparse or repetitive geometry can leave the alignment weak.">
            <a:extLst xmlns:a="http://schemas.openxmlformats.org/drawingml/2006/main">
              <a:ext uri="{FF2B5EF4-FFF2-40B4-BE49-F238E27FC236}">
                <a16:creationId xmlns:a16="http://schemas.microsoft.com/office/drawing/2014/main" id="{7892AEED-E280-4265-8FD9-806880504806}"/>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Sparse or repetitive geometry can leave the alignment weak.</a:t>
            </a:r>
          </a:p>
        </p:txBody>
      </p:sp>
      <p:sp>
        <p:nvSpPr>
          <p:cNvPr id="5" name="Moving objects and map changes can distort the scan score.">
            <a:extLst xmlns:a="http://schemas.openxmlformats.org/drawingml/2006/main">
              <a:ext uri="{FF2B5EF4-FFF2-40B4-BE49-F238E27FC236}">
                <a16:creationId xmlns:a16="http://schemas.microsoft.com/office/drawing/2014/main" id="{6BD69D35-48C6-442A-9500-C46ADF7E6475}"/>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Moving objects and map changes can distort the scan score.</a:t>
            </a:r>
          </a:p>
        </p:txBody>
      </p:sp>
    </p:spTree>
    <p:extLst>
      <p:ext uri="{BB962C8B-B14F-4D97-AF65-F5344CB8AC3E}">
        <p14:creationId xmlns:p14="http://schemas.microsoft.com/office/powerpoint/2010/main" val="180883889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6" name="NDT interactive demo">
            <a:extLst xmlns:a="http://schemas.openxmlformats.org/drawingml/2006/main">
              <a:ext uri="{FF2B5EF4-FFF2-40B4-BE49-F238E27FC236}">
                <a16:creationId xmlns:a16="http://schemas.microsoft.com/office/drawing/2014/main" id="{AEA4BF07-165C-4155-92E2-C6A965CE4BB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NDT interactive demo</a:t>
            </a:r>
          </a:p>
        </p:txBody>
      </p:sp>
      <p:sp>
        <p:nvSpPr>
          <p:cNvPr id="2" name="31">
            <a:extLst xmlns:a="http://schemas.openxmlformats.org/drawingml/2006/main">
              <a:ext uri="{FF2B5EF4-FFF2-40B4-BE49-F238E27FC236}">
                <a16:creationId xmlns:a16="http://schemas.microsoft.com/office/drawing/2014/main" id="{E3F560B0-3616-41D6-9F64-5D5BB13F253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84fa2e5b91443cc"/>
          <a:stretch xmlns:a="http://schemas.openxmlformats.org/drawingml/2006/main"/>
        </p:blipFill>
        <p:spPr>
          <a:xfrm xmlns:a="http://schemas.openxmlformats.org/drawingml/2006/main">
            <a:off x="1173745" y="1400175"/>
            <a:ext cx="3929485" cy="2667000"/>
          </a:xfrm>
          <a:prstGeom xmlns:a="http://schemas.openxmlformats.org/drawingml/2006/main" prst="rect">
            <a:avLst/>
          </a:prstGeom>
        </p:spPr>
      </p:pic>
      <p:sp>
        <p:nvSpPr>
          <p:cNvPr id="4" name="Change cell size and inspect a cell’s statistics.&#10;&#10;Move the vehic">
            <a:extLst xmlns:a="http://schemas.openxmlformats.org/drawingml/2006/main">
              <a:ext uri="{FF2B5EF4-FFF2-40B4-BE49-F238E27FC236}">
                <a16:creationId xmlns:a16="http://schemas.microsoft.com/office/drawing/2014/main" id="{8A70D5AA-2AB4-4EC2-BA4C-87226ACEC005}"/>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Change cell size and inspect a cell’s statistics.</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Move the vehicle, then align the new scan.</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Try a poor pose guess and watch for a wrong solution.</a:t>
            </a:r>
          </a:p>
        </p:txBody>
      </p:sp>
      <p:sp>
        <p:nvSpPr>
          <p:cNvPr id="5" name="Open interactive demo">
            <a:extLst xmlns:a="http://schemas.openxmlformats.org/drawingml/2006/main">
              <a:ext uri="{FF2B5EF4-FFF2-40B4-BE49-F238E27FC236}">
                <a16:creationId xmlns:a16="http://schemas.microsoft.com/office/drawing/2014/main" id="{49D5BAB2-274C-4D4F-849E-20710550146C}"/>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a4551b99250b4adc"/>
              </a:rPr>
              <a:t>Open interactive demo</a:t>
            </a:r>
          </a:p>
        </p:txBody>
      </p:sp>
    </p:spTree>
    <p:extLst>
      <p:ext uri="{BB962C8B-B14F-4D97-AF65-F5344CB8AC3E}">
        <p14:creationId xmlns:p14="http://schemas.microsoft.com/office/powerpoint/2010/main" val="180883889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4" name="Indoor localization: useful starting points">
            <a:extLst xmlns:a="http://schemas.openxmlformats.org/drawingml/2006/main">
              <a:ext uri="{FF2B5EF4-FFF2-40B4-BE49-F238E27FC236}">
                <a16:creationId xmlns:a16="http://schemas.microsoft.com/office/drawing/2014/main" id="{3157FEF3-94DF-432F-907E-BEB07DD4A42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Indoor localization: useful starting points</a:t>
            </a:r>
          </a:p>
        </p:txBody>
      </p:sp>
      <p:sp>
        <p:nvSpPr>
          <p:cNvPr id="2" name="32">
            <a:extLst xmlns:a="http://schemas.openxmlformats.org/drawingml/2006/main">
              <a:ext uri="{FF2B5EF4-FFF2-40B4-BE49-F238E27FC236}">
                <a16:creationId xmlns:a16="http://schemas.microsoft.com/office/drawing/2014/main" id="{73663218-C75D-440B-92B2-FE67F21DB31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32</a:t>
            </a:r>
          </a:p>
        </p:txBody>
      </p:sp>
      <p:graphicFrame>
        <p:nvGraphicFramePr>
          <p:cNvPr id="6" name=""/>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05000"/>
                <a:gridCol w="2762250"/>
                <a:gridCol w="3429000"/>
              </a:tblGrid>
              <a:tr h="714375">
                <a:tc>
                  <a:txBody>
                    <a:bodyPr lIns="114300" tIns="85725" rIns="114300" bIns="85725">
                      <a:noAutofit/>
                    </a:bodyPr>
                    <a:lstStyle/>
                    <a:p>
                      <a:r>
                        <a:rPr sz="1500" b="1">
                          <a:solidFill>
                            <a:srgbClr val="FFFFFF"/>
                          </a:solidFill>
                          <a:latin typeface="Arial"/>
                          <a:ea typeface="Arial"/>
                          <a:cs typeface="Arial"/>
                        </a:rPr>
                        <a:t>Situation</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Candidate</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What it needs</a:t>
                      </a:r>
                    </a:p>
                  </a:txBody>
                  <a:tcPr marL="91440" marR="91440" marT="45720" marB="45720" anchor="ctr">
                    <a:solidFill>
                      <a:srgbClr val="00539F"/>
                    </a:solidFill>
                  </a:tcPr>
                </a:tc>
              </a:tr>
              <a:tr h="714375">
                <a:tc>
                  <a:txBody>
                    <a:bodyPr lIns="114300" tIns="85725" rIns="114300" bIns="85725">
                      <a:noAutofit/>
                    </a:bodyPr>
                    <a:lstStyle/>
                    <a:p>
                      <a:r>
                        <a:rPr sz="1500" b="0">
                          <a:solidFill>
                            <a:srgbClr val="17324D"/>
                          </a:solidFill>
                          <a:latin typeface="Arial"/>
                          <a:ea typeface="Arial"/>
                          <a:cs typeface="Arial"/>
                        </a:rPr>
                        <a:t>2D mobile robot</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AMCL</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Occupancy map; odometry</a:t>
                      </a:r>
                    </a:p>
                  </a:txBody>
                  <a:tcPr marL="91440" marR="91440" marT="45720" marB="45720" anchor="ctr">
                    <a:solidFill>
                      <a:srgbClr val="FFFFFF"/>
                    </a:solidFill>
                  </a:tcPr>
                </a:tc>
              </a:tr>
              <a:tr h="714375">
                <a:tc>
                  <a:txBody>
                    <a:bodyPr lIns="114300" tIns="85725" rIns="114300" bIns="85725">
                      <a:noAutofit/>
                    </a:bodyPr>
                    <a:lstStyle/>
                    <a:p>
                      <a:r>
                        <a:rPr sz="1500" b="0">
                          <a:solidFill>
                            <a:srgbClr val="17324D"/>
                          </a:solidFill>
                          <a:latin typeface="Arial"/>
                          <a:ea typeface="Arial"/>
                          <a:cs typeface="Arial"/>
                        </a:rPr>
                        <a:t>Local scan alignment</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ICP</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Good guess; scan overlap</a:t>
                      </a:r>
                    </a:p>
                  </a:txBody>
                  <a:tcPr marL="91440" marR="91440" marT="45720" marB="45720" anchor="ctr">
                    <a:solidFill>
                      <a:srgbClr val="F1F6FA"/>
                    </a:solidFill>
                  </a:tcPr>
                </a:tc>
              </a:tr>
              <a:tr h="714375">
                <a:tc>
                  <a:txBody>
                    <a:bodyPr lIns="114300" tIns="85725" rIns="114300" bIns="85725">
                      <a:noAutofit/>
                    </a:bodyPr>
                    <a:lstStyle/>
                    <a:p>
                      <a:r>
                        <a:rPr sz="1500" b="0">
                          <a:solidFill>
                            <a:srgbClr val="17324D"/>
                          </a:solidFill>
                          <a:latin typeface="Arial"/>
                          <a:ea typeface="Arial"/>
                          <a:cs typeface="Arial"/>
                        </a:rPr>
                        <a:t>3D mapped building</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NDT</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Dense map; useful geometry</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0883889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 name="Outdoor localization: map and sensor matter">
            <a:extLst xmlns:a="http://schemas.openxmlformats.org/drawingml/2006/main">
              <a:ext uri="{FF2B5EF4-FFF2-40B4-BE49-F238E27FC236}">
                <a16:creationId xmlns:a16="http://schemas.microsoft.com/office/drawing/2014/main" id="{B3668BB4-F3A3-4AF9-9940-A89E691AF74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Outdoor localization: map and sensor matter</a:t>
            </a:r>
          </a:p>
        </p:txBody>
      </p:sp>
      <p:sp>
        <p:nvSpPr>
          <p:cNvPr id="2" name="33">
            <a:extLst xmlns:a="http://schemas.openxmlformats.org/drawingml/2006/main">
              <a:ext uri="{FF2B5EF4-FFF2-40B4-BE49-F238E27FC236}">
                <a16:creationId xmlns:a16="http://schemas.microsoft.com/office/drawing/2014/main" id="{EC23E054-336A-4E3F-A797-B85E649AAB1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33</a:t>
            </a:r>
          </a:p>
        </p:txBody>
      </p:sp>
      <p:graphicFrame>
        <p:nvGraphicFramePr>
          <p:cNvPr id="6" name=""/>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05000"/>
                <a:gridCol w="2762250"/>
                <a:gridCol w="3429000"/>
              </a:tblGrid>
              <a:tr h="714375">
                <a:tc>
                  <a:txBody>
                    <a:bodyPr lIns="114300" tIns="85725" rIns="114300" bIns="85725">
                      <a:noAutofit/>
                    </a:bodyPr>
                    <a:lstStyle/>
                    <a:p>
                      <a:r>
                        <a:rPr sz="1500" b="1">
                          <a:solidFill>
                            <a:srgbClr val="FFFFFF"/>
                          </a:solidFill>
                          <a:latin typeface="Arial"/>
                          <a:ea typeface="Arial"/>
                          <a:cs typeface="Arial"/>
                        </a:rPr>
                        <a:t>Situation</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Candidate</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What it needs</a:t>
                      </a:r>
                    </a:p>
                  </a:txBody>
                  <a:tcPr marL="91440" marR="91440" marT="45720" marB="45720" anchor="ctr">
                    <a:solidFill>
                      <a:srgbClr val="00539F"/>
                    </a:solidFill>
                  </a:tcPr>
                </a:tc>
              </a:tr>
              <a:tr h="714375">
                <a:tc>
                  <a:txBody>
                    <a:bodyPr lIns="114300" tIns="85725" rIns="114300" bIns="85725">
                      <a:noAutofit/>
                    </a:bodyPr>
                    <a:lstStyle/>
                    <a:p>
                      <a:r>
                        <a:rPr sz="1500" b="0">
                          <a:solidFill>
                            <a:srgbClr val="17324D"/>
                          </a:solidFill>
                          <a:latin typeface="Arial"/>
                          <a:ea typeface="Arial"/>
                          <a:cs typeface="Arial"/>
                        </a:rPr>
                        <a:t>Mapped urban route</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NDT or ICP</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Stable 3D structure; prior</a:t>
                      </a:r>
                    </a:p>
                  </a:txBody>
                  <a:tcPr marL="91440" marR="91440" marT="45720" marB="45720" anchor="ctr">
                    <a:solidFill>
                      <a:srgbClr val="FFFFFF"/>
                    </a:solidFill>
                  </a:tcPr>
                </a:tc>
              </a:tr>
              <a:tr h="714375">
                <a:tc>
                  <a:txBody>
                    <a:bodyPr lIns="114300" tIns="85725" rIns="114300" bIns="85725">
                      <a:noAutofit/>
                    </a:bodyPr>
                    <a:lstStyle/>
                    <a:p>
                      <a:r>
                        <a:rPr sz="1500" b="0">
                          <a:solidFill>
                            <a:srgbClr val="17324D"/>
                          </a:solidFill>
                          <a:latin typeface="Arial"/>
                          <a:ea typeface="Arial"/>
                          <a:cs typeface="Arial"/>
                        </a:rPr>
                        <a:t>Flat mapped campus</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AMCL possible</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Useful 2D map; odometry</a:t>
                      </a:r>
                    </a:p>
                  </a:txBody>
                  <a:tcPr marL="91440" marR="91440" marT="45720" marB="45720" anchor="ctr">
                    <a:solidFill>
                      <a:srgbClr val="F1F6FA"/>
                    </a:solidFill>
                  </a:tcPr>
                </a:tc>
              </a:tr>
              <a:tr h="714375">
                <a:tc>
                  <a:txBody>
                    <a:bodyPr lIns="114300" tIns="85725" rIns="114300" bIns="85725">
                      <a:noAutofit/>
                    </a:bodyPr>
                    <a:lstStyle/>
                    <a:p>
                      <a:r>
                        <a:rPr sz="1500" b="0">
                          <a:solidFill>
                            <a:srgbClr val="17324D"/>
                          </a:solidFill>
                          <a:latin typeface="Arial"/>
                          <a:ea typeface="Arial"/>
                          <a:cs typeface="Arial"/>
                        </a:rPr>
                        <a:t>Open, sparse terrain</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Additional sensors</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GNSS/IMU; more constraints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0883889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4" name="Static and dynamic environments">
            <a:extLst xmlns:a="http://schemas.openxmlformats.org/drawingml/2006/main">
              <a:ext uri="{FF2B5EF4-FFF2-40B4-BE49-F238E27FC236}">
                <a16:creationId xmlns:a16="http://schemas.microsoft.com/office/drawing/2014/main" id="{AF006633-2723-4D65-915A-35ACAAF45E9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Static and dynamic environments</a:t>
            </a:r>
          </a:p>
        </p:txBody>
      </p:sp>
      <p:sp>
        <p:nvSpPr>
          <p:cNvPr id="2" name="34">
            <a:extLst xmlns:a="http://schemas.openxmlformats.org/drawingml/2006/main">
              <a:ext uri="{FF2B5EF4-FFF2-40B4-BE49-F238E27FC236}">
                <a16:creationId xmlns:a16="http://schemas.microsoft.com/office/drawing/2014/main" id="{C849C8F1-FB0D-451E-9A7E-8186A96E31B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34</a:t>
            </a:r>
          </a:p>
        </p:txBody>
      </p:sp>
      <p:graphicFrame>
        <p:nvGraphicFramePr>
          <p:cNvPr id="6" name=""/>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05000"/>
                <a:gridCol w="2762250"/>
                <a:gridCol w="3429000"/>
              </a:tblGrid>
              <a:tr h="714375">
                <a:tc>
                  <a:txBody>
                    <a:bodyPr lIns="114300" tIns="85725" rIns="114300" bIns="85725">
                      <a:noAutofit/>
                    </a:bodyPr>
                    <a:lstStyle/>
                    <a:p>
                      <a:r>
                        <a:rPr sz="1500" b="1">
                          <a:solidFill>
                            <a:srgbClr val="FFFFFF"/>
                          </a:solidFill>
                          <a:latin typeface="Arial"/>
                          <a:ea typeface="Arial"/>
                          <a:cs typeface="Arial"/>
                        </a:rPr>
                        <a:t>Scene</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Effect</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Practical response</a:t>
                      </a:r>
                    </a:p>
                  </a:txBody>
                  <a:tcPr marL="91440" marR="91440" marT="45720" marB="45720" anchor="ctr">
                    <a:solidFill>
                      <a:srgbClr val="00539F"/>
                    </a:solidFill>
                  </a:tcPr>
                </a:tc>
              </a:tr>
              <a:tr h="714375">
                <a:tc>
                  <a:txBody>
                    <a:bodyPr lIns="114300" tIns="85725" rIns="114300" bIns="85725">
                      <a:noAutofit/>
                    </a:bodyPr>
                    <a:lstStyle/>
                    <a:p>
                      <a:r>
                        <a:rPr sz="1500" b="0">
                          <a:solidFill>
                            <a:srgbClr val="17324D"/>
                          </a:solidFill>
                          <a:latin typeface="Arial"/>
                          <a:ea typeface="Arial"/>
                          <a:cs typeface="Arial"/>
                        </a:rPr>
                        <a:t>Mostly static</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Map agreement is useful</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Any method; match assumptions</a:t>
                      </a:r>
                    </a:p>
                  </a:txBody>
                  <a:tcPr marL="91440" marR="91440" marT="45720" marB="45720" anchor="ctr">
                    <a:solidFill>
                      <a:srgbClr val="FFFFFF"/>
                    </a:solidFill>
                  </a:tcPr>
                </a:tc>
              </a:tr>
              <a:tr h="714375">
                <a:tc>
                  <a:txBody>
                    <a:bodyPr lIns="114300" tIns="85725" rIns="114300" bIns="85725">
                      <a:noAutofit/>
                    </a:bodyPr>
                    <a:lstStyle/>
                    <a:p>
                      <a:r>
                        <a:rPr sz="1500" b="0">
                          <a:solidFill>
                            <a:srgbClr val="17324D"/>
                          </a:solidFill>
                          <a:latin typeface="Arial"/>
                          <a:ea typeface="Arial"/>
                          <a:cs typeface="Arial"/>
                        </a:rPr>
                        <a:t>People / traffic</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Occlusion and outliers</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Use stable returns; reject outliers</a:t>
                      </a:r>
                    </a:p>
                  </a:txBody>
                  <a:tcPr marL="91440" marR="91440" marT="45720" marB="45720" anchor="ctr">
                    <a:solidFill>
                      <a:srgbClr val="F1F6FA"/>
                    </a:solidFill>
                  </a:tcPr>
                </a:tc>
              </a:tr>
              <a:tr h="714375">
                <a:tc>
                  <a:txBody>
                    <a:bodyPr lIns="114300" tIns="85725" rIns="114300" bIns="85725">
                      <a:noAutofit/>
                    </a:bodyPr>
                    <a:lstStyle/>
                    <a:p>
                      <a:r>
                        <a:rPr sz="1500" b="0">
                          <a:solidFill>
                            <a:srgbClr val="17324D"/>
                          </a:solidFill>
                          <a:latin typeface="Arial"/>
                          <a:ea typeface="Arial"/>
                          <a:cs typeface="Arial"/>
                        </a:rPr>
                        <a:t>Changed layout</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The map may be wrong</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Update map; check localization</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0883889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 name="Choosing a localization method">
            <a:extLst xmlns:a="http://schemas.openxmlformats.org/drawingml/2006/main">
              <a:ext uri="{FF2B5EF4-FFF2-40B4-BE49-F238E27FC236}">
                <a16:creationId xmlns:a16="http://schemas.microsoft.com/office/drawing/2014/main" id="{B6C2EB20-10BE-4FD7-BA6C-D0E796350F8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Choosing a localization method</a:t>
            </a:r>
          </a:p>
        </p:txBody>
      </p:sp>
      <p:sp>
        <p:nvSpPr>
          <p:cNvPr id="2" name="35">
            <a:extLst xmlns:a="http://schemas.openxmlformats.org/drawingml/2006/main">
              <a:ext uri="{FF2B5EF4-FFF2-40B4-BE49-F238E27FC236}">
                <a16:creationId xmlns:a16="http://schemas.microsoft.com/office/drawing/2014/main" id="{73750919-9E6F-4ED5-B0DA-24584092E2C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35</a:t>
            </a:r>
          </a:p>
        </p:txBody>
      </p:sp>
      <p:graphicFrame>
        <p:nvGraphicFramePr>
          <p:cNvPr id="6" name=""/>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05000"/>
                <a:gridCol w="2762250"/>
                <a:gridCol w="3429000"/>
              </a:tblGrid>
              <a:tr h="714375">
                <a:tc>
                  <a:txBody>
                    <a:bodyPr lIns="114300" tIns="85725" rIns="114300" bIns="85725">
                      <a:noAutofit/>
                    </a:bodyPr>
                    <a:lstStyle/>
                    <a:p>
                      <a:r>
                        <a:rPr sz="1500" b="1">
                          <a:solidFill>
                            <a:srgbClr val="FFFFFF"/>
                          </a:solidFill>
                          <a:latin typeface="Arial"/>
                          <a:ea typeface="Arial"/>
                          <a:cs typeface="Arial"/>
                        </a:rPr>
                        <a:t>Method</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Best fit</a:t>
                      </a:r>
                    </a:p>
                  </a:txBody>
                  <a:tcPr marL="91440" marR="91440" marT="45720" marB="45720" anchor="ctr">
                    <a:solidFill>
                      <a:srgbClr val="00539F"/>
                    </a:solidFill>
                  </a:tcPr>
                </a:tc>
                <a:tc>
                  <a:txBody>
                    <a:bodyPr lIns="114300" tIns="85725" rIns="114300" bIns="85725">
                      <a:noAutofit/>
                    </a:bodyPr>
                    <a:lstStyle/>
                    <a:p>
                      <a:r>
                        <a:rPr sz="1500" b="1">
                          <a:solidFill>
                            <a:srgbClr val="FFFFFF"/>
                          </a:solidFill>
                          <a:latin typeface="Arial"/>
                          <a:ea typeface="Arial"/>
                          <a:cs typeface="Arial"/>
                        </a:rPr>
                        <a:t>Main limitation</a:t>
                      </a:r>
                    </a:p>
                  </a:txBody>
                  <a:tcPr marL="91440" marR="91440" marT="45720" marB="45720" anchor="ctr">
                    <a:solidFill>
                      <a:srgbClr val="00539F"/>
                    </a:solidFill>
                  </a:tcPr>
                </a:tc>
              </a:tr>
              <a:tr h="714375">
                <a:tc>
                  <a:txBody>
                    <a:bodyPr lIns="114300" tIns="85725" rIns="114300" bIns="85725">
                      <a:noAutofit/>
                    </a:bodyPr>
                    <a:lstStyle/>
                    <a:p>
                      <a:r>
                        <a:rPr sz="1500" b="0">
                          <a:solidFill>
                            <a:srgbClr val="17324D"/>
                          </a:solidFill>
                          <a:latin typeface="Arial"/>
                          <a:ea typeface="Arial"/>
                          <a:cs typeface="Arial"/>
                        </a:rPr>
                        <a:t>ICP</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Local geometric alignment</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Wrong matches / initial pose</a:t>
                      </a:r>
                    </a:p>
                  </a:txBody>
                  <a:tcPr marL="91440" marR="91440" marT="45720" marB="45720" anchor="ctr">
                    <a:solidFill>
                      <a:srgbClr val="FFFFFF"/>
                    </a:solidFill>
                  </a:tcPr>
                </a:tc>
              </a:tr>
              <a:tr h="714375">
                <a:tc>
                  <a:txBody>
                    <a:bodyPr lIns="114300" tIns="85725" rIns="114300" bIns="85725">
                      <a:noAutofit/>
                    </a:bodyPr>
                    <a:lstStyle/>
                    <a:p>
                      <a:r>
                        <a:rPr sz="1500" b="0">
                          <a:solidFill>
                            <a:srgbClr val="17324D"/>
                          </a:solidFill>
                          <a:latin typeface="Arial"/>
                          <a:ea typeface="Arial"/>
                          <a:cs typeface="Arial"/>
                        </a:rPr>
                        <a:t>AMCL</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2D tracking or global belief</a:t>
                      </a:r>
                    </a:p>
                  </a:txBody>
                  <a:tcPr marL="91440" marR="91440" marT="45720" marB="45720" anchor="ctr">
                    <a:solidFill>
                      <a:srgbClr val="F1F6FA"/>
                    </a:solidFill>
                  </a:tcPr>
                </a:tc>
                <a:tc>
                  <a:txBody>
                    <a:bodyPr lIns="114300" tIns="85725" rIns="114300" bIns="85725">
                      <a:noAutofit/>
                    </a:bodyPr>
                    <a:lstStyle/>
                    <a:p>
                      <a:r>
                        <a:rPr sz="1500" b="0">
                          <a:solidFill>
                            <a:srgbClr val="17324D"/>
                          </a:solidFill>
                          <a:latin typeface="Arial"/>
                          <a:ea typeface="Arial"/>
                          <a:cs typeface="Arial"/>
                        </a:rPr>
                        <a:t>Particle coverage / map fit</a:t>
                      </a:r>
                    </a:p>
                  </a:txBody>
                  <a:tcPr marL="91440" marR="91440" marT="45720" marB="45720" anchor="ctr">
                    <a:solidFill>
                      <a:srgbClr val="F1F6FA"/>
                    </a:solidFill>
                  </a:tcPr>
                </a:tc>
              </a:tr>
              <a:tr h="714375">
                <a:tc>
                  <a:txBody>
                    <a:bodyPr lIns="114300" tIns="85725" rIns="114300" bIns="85725">
                      <a:noAutofit/>
                    </a:bodyPr>
                    <a:lstStyle/>
                    <a:p>
                      <a:r>
                        <a:rPr sz="1500" b="0">
                          <a:solidFill>
                            <a:srgbClr val="17324D"/>
                          </a:solidFill>
                          <a:latin typeface="Arial"/>
                          <a:ea typeface="Arial"/>
                          <a:cs typeface="Arial"/>
                        </a:rPr>
                        <a:t>NDT</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Local alignment to a 3D map</a:t>
                      </a:r>
                    </a:p>
                  </a:txBody>
                  <a:tcPr marL="91440" marR="91440" marT="45720" marB="45720" anchor="ctr">
                    <a:solidFill>
                      <a:srgbClr val="FFFFFF"/>
                    </a:solidFill>
                  </a:tcPr>
                </a:tc>
                <a:tc>
                  <a:txBody>
                    <a:bodyPr lIns="114300" tIns="85725" rIns="114300" bIns="85725">
                      <a:noAutofit/>
                    </a:bodyPr>
                    <a:lstStyle/>
                    <a:p>
                      <a:r>
                        <a:rPr sz="1500" b="0">
                          <a:solidFill>
                            <a:srgbClr val="17324D"/>
                          </a:solidFill>
                          <a:latin typeface="Arial"/>
                          <a:ea typeface="Arial"/>
                          <a:cs typeface="Arial"/>
                        </a:rPr>
                        <a:t>Cell scale / initial pose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0883889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8" name="Discussion and demo links">
            <a:extLst xmlns:a="http://schemas.openxmlformats.org/drawingml/2006/main">
              <a:ext uri="{FF2B5EF4-FFF2-40B4-BE49-F238E27FC236}">
                <a16:creationId xmlns:a16="http://schemas.microsoft.com/office/drawing/2014/main" id="{CAD6D993-6995-42E0-B9C4-8196CCB65F5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Discussion and demo links</a:t>
            </a:r>
          </a:p>
        </p:txBody>
      </p:sp>
      <p:sp>
        <p:nvSpPr>
          <p:cNvPr id="2" name="36">
            <a:extLst xmlns:a="http://schemas.openxmlformats.org/drawingml/2006/main">
              <a:ext uri="{FF2B5EF4-FFF2-40B4-BE49-F238E27FC236}">
                <a16:creationId xmlns:a16="http://schemas.microsoft.com/office/drawing/2014/main" id="{30633BDB-708E-4D1F-BE5C-A5644A4A344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36</a:t>
            </a:r>
          </a:p>
        </p:txBody>
      </p:sp>
      <p:sp>
        <p:nvSpPr>
          <p:cNvPr id="3" name="Why can both ICP and NDT converge to a wrong pose?">
            <a:extLst xmlns:a="http://schemas.openxmlformats.org/drawingml/2006/main">
              <a:ext uri="{FF2B5EF4-FFF2-40B4-BE49-F238E27FC236}">
                <a16:creationId xmlns:a16="http://schemas.microsoft.com/office/drawing/2014/main" id="{6615A80F-C0AA-4D93-9524-B297ACC05EC0}"/>
              </a:ext>
            </a:extLst>
          </p:cNvPr>
          <p:cNvSpPr>
            <a:spLocks xmlns:a="http://schemas.openxmlformats.org/drawingml/2006/main" noGrp="1"/>
          </p:cNvSpPr>
          <p:nvPr/>
        </p:nvSpPr>
        <p:spPr>
          <a:xfrm xmlns:a="http://schemas.openxmlformats.org/drawingml/2006/main">
            <a:off x="571500" y="142875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Why can both ICP and NDT converge to a wrong pose?</a:t>
            </a:r>
          </a:p>
        </p:txBody>
      </p:sp>
      <p:sp>
        <p:nvSpPr>
          <p:cNvPr id="4" name="When does keeping several pose hypotheses help?">
            <a:extLst xmlns:a="http://schemas.openxmlformats.org/drawingml/2006/main">
              <a:ext uri="{FF2B5EF4-FFF2-40B4-BE49-F238E27FC236}">
                <a16:creationId xmlns:a16="http://schemas.microsoft.com/office/drawing/2014/main" id="{0B26D582-D001-420B-92A7-52CF4AD14489}"/>
              </a:ext>
            </a:extLst>
          </p:cNvPr>
          <p:cNvSpPr>
            <a:spLocks xmlns:a="http://schemas.openxmlformats.org/drawingml/2006/main" noGrp="1"/>
          </p:cNvSpPr>
          <p:nvPr/>
        </p:nvSpPr>
        <p:spPr>
          <a:xfrm xmlns:a="http://schemas.openxmlformats.org/drawingml/2006/main">
            <a:off x="571500" y="194310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When does keeping several pose hypotheses help?</a:t>
            </a:r>
          </a:p>
        </p:txBody>
      </p:sp>
      <p:sp>
        <p:nvSpPr>
          <p:cNvPr id="5" name="What changes when moving objects hide most of the map?">
            <a:extLst xmlns:a="http://schemas.openxmlformats.org/drawingml/2006/main">
              <a:ext uri="{FF2B5EF4-FFF2-40B4-BE49-F238E27FC236}">
                <a16:creationId xmlns:a16="http://schemas.microsoft.com/office/drawing/2014/main" id="{7B33B82D-4BE3-407F-81C8-650305B9DAF3}"/>
              </a:ext>
            </a:extLst>
          </p:cNvPr>
          <p:cNvSpPr>
            <a:spLocks xmlns:a="http://schemas.openxmlformats.org/drawingml/2006/main" noGrp="1"/>
          </p:cNvSpPr>
          <p:nvPr/>
        </p:nvSpPr>
        <p:spPr>
          <a:xfrm xmlns:a="http://schemas.openxmlformats.org/drawingml/2006/main">
            <a:off x="571500" y="245745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What changes when moving objects hide most of the map?</a:t>
            </a:r>
          </a:p>
        </p:txBody>
      </p:sp>
      <p:sp>
        <p:nvSpPr>
          <p:cNvPr id="6" name="Open Localization demos">
            <a:extLst xmlns:a="http://schemas.openxmlformats.org/drawingml/2006/main">
              <a:ext uri="{FF2B5EF4-FFF2-40B4-BE49-F238E27FC236}">
                <a16:creationId xmlns:a16="http://schemas.microsoft.com/office/drawing/2014/main" id="{DD94633C-B194-4E17-AF6B-BD21E2190C59}"/>
              </a:ext>
            </a:extLst>
          </p:cNvPr>
          <p:cNvSpPr>
            <a:spLocks xmlns:a="http://schemas.openxmlformats.org/drawingml/2006/main" noGrp="1"/>
          </p:cNvSpPr>
          <p:nvPr/>
        </p:nvSpPr>
        <p:spPr>
          <a:xfrm xmlns:a="http://schemas.openxmlformats.org/drawingml/2006/main">
            <a:off x="571500" y="33337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75c983ac938d4417"/>
              </a:rPr>
              <a:t>Open Localization demos</a:t>
            </a:r>
          </a:p>
        </p:txBody>
      </p:sp>
      <p:sp>
        <p:nvSpPr>
          <p:cNvPr id="7" name="Download the lecture GIFs">
            <a:extLst xmlns:a="http://schemas.openxmlformats.org/drawingml/2006/main">
              <a:ext uri="{FF2B5EF4-FFF2-40B4-BE49-F238E27FC236}">
                <a16:creationId xmlns:a16="http://schemas.microsoft.com/office/drawing/2014/main" id="{1BB5FACF-681E-465C-A6AE-46241CF891FC}"/>
              </a:ext>
            </a:extLst>
          </p:cNvPr>
          <p:cNvSpPr>
            <a:spLocks xmlns:a="http://schemas.openxmlformats.org/drawingml/2006/main" noGrp="1"/>
          </p:cNvSpPr>
          <p:nvPr/>
        </p:nvSpPr>
        <p:spPr>
          <a:xfrm xmlns:a="http://schemas.openxmlformats.org/drawingml/2006/main">
            <a:off x="571500" y="38100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61acbb174a564aa6"/>
              </a:rPr>
              <a:t>Download the lecture GIFs</a:t>
            </a:r>
          </a:p>
        </p:txBody>
      </p:sp>
    </p:spTree>
    <p:extLst>
      <p:ext uri="{BB962C8B-B14F-4D97-AF65-F5344CB8AC3E}">
        <p14:creationId xmlns:p14="http://schemas.microsoft.com/office/powerpoint/2010/main" val="1808838893"/>
      </p:ext>
    </p:extLst>
  </p:cSld>
</p:sld>
</file>

<file path=ppt/theme/theme1.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2026-09-14T18:11:09.2260000Z</dcterms:created>
  <dcterms:modified xsi:type="dcterms:W3CDTF">2026-09-14T18:11:09.2260000Z</dcterms:modified>
</coreProperties>
</file>